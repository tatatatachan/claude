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6616" y="137160"/>
            <a:ext cx="2103120" cy="36576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1枚まとめ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109728"/>
            <a:ext cx="9144000" cy="420624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銅めぐりインターンシップ（仮）：全体像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91072"/>
            <a:ext cx="11612880" cy="31089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7A6E66"/>
                </a:solidFill>
                <a:latin typeface="Yu Gothic"/>
              </a:rPr>
              <a:t>出典：議事録・企画スライド・各シート。プログラム設計・ゲームは当方の提案（案）。日程は未確定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85800"/>
            <a:ext cx="11430000" cy="6400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3400" b="1">
                <a:solidFill>
                  <a:srgbClr val="333333"/>
                </a:solidFill>
                <a:latin typeface="Yu Gothic"/>
              </a:rPr>
              <a:t>銅のめぐりを、経営する。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0">
                <a:solidFill>
                  <a:srgbClr val="7A6E66"/>
                </a:solidFill>
                <a:latin typeface="Yu Gothic"/>
              </a:rPr>
              <a:t>越境の力で、分断された銅の循環をつなごう　／　合言葉：100年後のために働く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28800"/>
            <a:ext cx="3749039" cy="141732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856231"/>
            <a:ext cx="3749039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Yu Gothic"/>
              </a:rPr>
              <a:t>誰に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221992"/>
            <a:ext cx="3749039" cy="10058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Bef>
                <a:spcPts val="300"/>
              </a:spcBef>
            </a:pPr>
            <a:r>
              <a:rPr sz="1250" b="0">
                <a:solidFill>
                  <a:srgbClr val="3A2A24"/>
                </a:solidFill>
                <a:latin typeface="Yu Gothic"/>
              </a:rPr>
              <a:t>ぐるぐる人材（28卒）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3A2A24"/>
                </a:solidFill>
                <a:latin typeface="Yu Gothic"/>
              </a:rPr>
              <a:t>資源・環境・循環系の学生が中心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828800"/>
            <a:ext cx="3749039" cy="141732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1856231"/>
            <a:ext cx="3749039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Yu Gothic"/>
              </a:rPr>
              <a:t>何を体験する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221992"/>
            <a:ext cx="3749039" cy="10058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Bef>
                <a:spcPts val="300"/>
              </a:spcBef>
            </a:pPr>
            <a:r>
              <a:rPr sz="1250" b="0">
                <a:solidFill>
                  <a:srgbClr val="3A2A24"/>
                </a:solidFill>
                <a:latin typeface="Yu Gothic"/>
              </a:rPr>
              <a:t>見る・測る・読む・動かす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3A2A24"/>
                </a:solidFill>
                <a:latin typeface="Yu Gothic"/>
              </a:rPr>
              <a:t>（4つの分析を、ゲームの中で）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828800"/>
            <a:ext cx="3749039" cy="141732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1856231"/>
            <a:ext cx="3749039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Yu Gothic"/>
              </a:rPr>
              <a:t>何を持ち帰る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221992"/>
            <a:ext cx="3749039" cy="10058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Bef>
                <a:spcPts val="300"/>
              </a:spcBef>
            </a:pPr>
            <a:r>
              <a:rPr sz="1250" b="0">
                <a:solidFill>
                  <a:srgbClr val="3A2A24"/>
                </a:solidFill>
                <a:latin typeface="Yu Gothic"/>
              </a:rPr>
              <a:t>答えより、深まった問い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3A2A24"/>
                </a:solidFill>
                <a:latin typeface="Yu Gothic"/>
              </a:rPr>
              <a:t>自分は循環のどこに立つか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429000"/>
            <a:ext cx="3749039" cy="41148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Part0　12月上旬　オンライン60分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840480"/>
            <a:ext cx="3749039" cy="13716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137160" rIns="137160"/>
          <a:lstStyle/>
          <a:p>
            <a:pPr algn="l">
              <a:spcBef>
                <a:spcPts val="300"/>
              </a:spcBef>
            </a:pPr>
            <a:r>
              <a:rPr sz="1250" b="0">
                <a:solidFill>
                  <a:srgbClr val="3A2A24"/>
                </a:solidFill>
                <a:latin typeface="Yu Gothic"/>
              </a:rPr>
              <a:t>銅業界の課題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3A2A24"/>
                </a:solidFill>
                <a:latin typeface="Yu Gothic"/>
              </a:rPr>
              <a:t>計算ワーク（可採年数×リサイクル率）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3A2A24"/>
                </a:solidFill>
                <a:latin typeface="Yu Gothic"/>
              </a:rPr>
              <a:t>価値循環モデルを見る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3429000"/>
            <a:ext cx="3749039" cy="41148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Part1　12月中旬　オンライン100分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0" y="3840480"/>
            <a:ext cx="3749039" cy="13716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137160" rIns="137160"/>
          <a:lstStyle/>
          <a:p>
            <a:pPr algn="l">
              <a:spcBef>
                <a:spcPts val="300"/>
              </a:spcBef>
            </a:pPr>
            <a:r>
              <a:rPr sz="1250" b="0">
                <a:solidFill>
                  <a:srgbClr val="3A2A24"/>
                </a:solidFill>
                <a:latin typeface="Yu Gothic"/>
              </a:rPr>
              <a:t>関係者3名のトーク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3A2A24"/>
                </a:solidFill>
                <a:latin typeface="Yu Gothic"/>
              </a:rPr>
              <a:t>（産廃・加工・精錬）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3A2A24"/>
                </a:solidFill>
                <a:latin typeface="Yu Gothic"/>
              </a:rPr>
              <a:t>チームで地図をつくる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3429000"/>
            <a:ext cx="3749039" cy="41148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Part2　1月　現場訪問 13:00〜18:00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0" y="3840480"/>
            <a:ext cx="3749039" cy="13716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137160" rIns="137160"/>
          <a:lstStyle/>
          <a:p>
            <a:pPr algn="l">
              <a:spcBef>
                <a:spcPts val="300"/>
              </a:spcBef>
            </a:pPr>
            <a:r>
              <a:rPr sz="1250" b="0">
                <a:solidFill>
                  <a:srgbClr val="3A2A24"/>
                </a:solidFill>
                <a:latin typeface="Yu Gothic"/>
              </a:rPr>
              <a:t>カードゲーム「めぐる発電所」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3A2A24"/>
                </a:solidFill>
                <a:latin typeface="Yu Gothic"/>
              </a:rPr>
              <a:t>工場オリエンテーリング（6ポイント）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3A2A24"/>
                </a:solidFill>
                <a:latin typeface="Yu Gothic"/>
              </a:rPr>
              <a:t>ピッチ・社長講評・懇親会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349240"/>
            <a:ext cx="5577840" cy="868680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5367528"/>
            <a:ext cx="5577840" cy="822960"/>
          </a:xfrm>
          <a:prstGeom prst="rect">
            <a:avLst/>
          </a:prstGeom>
          <a:noFill/>
        </p:spPr>
        <p:txBody>
          <a:bodyPr wrap="square" anchor="t" lIns="137160" rIns="137160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Yu Gothic"/>
              </a:rPr>
              <a:t>ゲームの結果</a:t>
            </a:r>
          </a:p>
          <a:p>
            <a:pPr algn="l">
              <a:spcBef>
                <a:spcPts val="200"/>
              </a:spcBef>
            </a:pPr>
            <a:r>
              <a:rPr sz="1250" b="0">
                <a:solidFill>
                  <a:srgbClr val="3A2A24"/>
                </a:solidFill>
                <a:latin typeface="Yu Gothic"/>
              </a:rPr>
              <a:t>供給量の数字と、街の暮らしの変化（A〜D）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5349240"/>
            <a:ext cx="5577840" cy="868680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5367528"/>
            <a:ext cx="5577840" cy="822960"/>
          </a:xfrm>
          <a:prstGeom prst="rect">
            <a:avLst/>
          </a:prstGeom>
          <a:noFill/>
        </p:spPr>
        <p:txBody>
          <a:bodyPr wrap="square" anchor="t" lIns="137160" rIns="137160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Yu Gothic"/>
              </a:rPr>
              <a:t>清峰にとって</a:t>
            </a:r>
          </a:p>
          <a:p>
            <a:pPr algn="l">
              <a:spcBef>
                <a:spcPts val="200"/>
              </a:spcBef>
            </a:pPr>
            <a:r>
              <a:rPr sz="1250" b="0">
                <a:solidFill>
                  <a:srgbClr val="3A2A24"/>
                </a:solidFill>
                <a:latin typeface="Yu Gothic"/>
              </a:rPr>
              <a:t>ぐるぐる人材と出会い、社長と問いを深められる人を見つける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