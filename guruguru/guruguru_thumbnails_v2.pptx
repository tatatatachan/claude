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F06142"/>
                </a:solidFill>
                <a:latin typeface="Yu Gothic"/>
              </a:rPr>
              <a:t>KIYOMINE × Beyond the wall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0" y="365760"/>
            <a:ext cx="3108960" cy="45720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28卒 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200" b="1">
                <a:solidFill>
                  <a:srgbClr val="F06142"/>
                </a:solidFill>
                <a:latin typeface="Yu Gothic"/>
              </a:rPr>
              <a:t>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1064240" cy="1188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5200" b="1">
                <a:solidFill>
                  <a:srgbClr val="F06142"/>
                </a:solidFill>
                <a:latin typeface="Yu Gothic"/>
              </a:rPr>
              <a:t>銅産業の同業者が、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11064240" cy="1188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5200" b="1">
                <a:solidFill>
                  <a:srgbClr val="F06142"/>
                </a:solidFill>
                <a:latin typeface="Yu Gothic"/>
              </a:rPr>
              <a:t>一堂に会する！？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4572000"/>
            <a:ext cx="5669280" cy="54864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800600"/>
            <a:ext cx="1106424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800" b="0">
                <a:solidFill>
                  <a:srgbClr val="3A2A24"/>
                </a:solidFill>
                <a:latin typeface="Yu Gothic"/>
              </a:rPr>
              <a:t>銅めぐりツアー（仮）｜越境の力で、分断をつなごう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5486400"/>
            <a:ext cx="7772400" cy="5943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Yu Gothic"/>
              </a:rPr>
              <a:t>12月 オンライン ＋ 1月 現場訪問（つくば）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F06142"/>
                </a:solidFill>
                <a:latin typeface="Yu Gothic"/>
              </a:rPr>
              <a:t>KIYOMINE × Beyond the wall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0" y="365760"/>
            <a:ext cx="3108960" cy="45720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28卒 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603504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800" b="1">
                <a:solidFill>
                  <a:srgbClr val="F06142"/>
                </a:solidFill>
                <a:latin typeface="Yu Gothic"/>
              </a:rPr>
              <a:t>銅めぐりツアー（仮）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035040" cy="23774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5000" b="1">
                <a:solidFill>
                  <a:srgbClr val="F06142"/>
                </a:solidFill>
                <a:latin typeface="Yu Gothic"/>
              </a:rPr>
              <a:t>社会の</a:t>
            </a:r>
          </a:p>
          <a:p>
            <a:pPr algn="l"/>
            <a:r>
              <a:rPr sz="5000" b="1">
                <a:solidFill>
                  <a:srgbClr val="F06142"/>
                </a:solidFill>
                <a:latin typeface="Yu Gothic"/>
              </a:rPr>
              <a:t>銅脈を</a:t>
            </a:r>
          </a:p>
          <a:p>
            <a:pPr algn="l"/>
            <a:r>
              <a:rPr sz="5000" b="1">
                <a:solidFill>
                  <a:srgbClr val="F06142"/>
                </a:solidFill>
                <a:latin typeface="Yu Gothic"/>
              </a:rPr>
              <a:t>動かせ！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585216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0">
                <a:solidFill>
                  <a:srgbClr val="3A2A24"/>
                </a:solidFill>
                <a:latin typeface="Yu Gothic"/>
              </a:rPr>
              <a:t>分断された銅の循環を、つなぎ直す。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57800"/>
            <a:ext cx="5669280" cy="8229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12月 オンライン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1月 現場訪問（つくば）</a:t>
            </a:r>
          </a:p>
        </p:txBody>
      </p:sp>
      <p:sp>
        <p:nvSpPr>
          <p:cNvPr id="9" name="Oval 8"/>
          <p:cNvSpPr/>
          <p:nvPr/>
        </p:nvSpPr>
        <p:spPr>
          <a:xfrm>
            <a:off x="7315200" y="1828800"/>
            <a:ext cx="3657600" cy="3657600"/>
          </a:xfrm>
          <a:prstGeom prst="ellipse">
            <a:avLst/>
          </a:prstGeom>
          <a:noFill/>
          <a:ln w="38100">
            <a:solidFill>
              <a:srgbClr val="FF5D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40496" y="1225295"/>
            <a:ext cx="1207008" cy="12070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5D3B"/>
            </a:solidFill>
          </a:ln>
        </p:spPr>
        <p:txBody>
          <a:bodyPr rtlCol="0" anchor="ctr" lIns="18288" rIns="18288"/>
          <a:lstStyle/>
          <a:p>
            <a:pPr algn="ctr"/>
            <a:r>
              <a:rPr sz="1300" b="1">
                <a:solidFill>
                  <a:srgbClr val="3A2A24"/>
                </a:solidFill>
                <a:latin typeface="Yu Gothic"/>
              </a:rPr>
              <a:t>銅鉱石</a:t>
            </a:r>
          </a:p>
        </p:txBody>
      </p:sp>
      <p:sp>
        <p:nvSpPr>
          <p:cNvPr id="11" name="Oval 10"/>
          <p:cNvSpPr/>
          <p:nvPr/>
        </p:nvSpPr>
        <p:spPr>
          <a:xfrm>
            <a:off x="10279788" y="2488965"/>
            <a:ext cx="1207008" cy="12070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5D3B"/>
            </a:solidFill>
          </a:ln>
        </p:spPr>
        <p:txBody>
          <a:bodyPr rtlCol="0" anchor="ctr" lIns="18288" rIns="18288"/>
          <a:lstStyle/>
          <a:p>
            <a:pPr algn="ctr"/>
            <a:r>
              <a:rPr sz="1300" b="1">
                <a:solidFill>
                  <a:srgbClr val="3A2A24"/>
                </a:solidFill>
                <a:latin typeface="Yu Gothic"/>
              </a:rPr>
              <a:t>電気銅</a:t>
            </a:r>
          </a:p>
        </p:txBody>
      </p:sp>
      <p:sp>
        <p:nvSpPr>
          <p:cNvPr id="12" name="Oval 11"/>
          <p:cNvSpPr/>
          <p:nvPr/>
        </p:nvSpPr>
        <p:spPr>
          <a:xfrm>
            <a:off x="9615437" y="4533626"/>
            <a:ext cx="1207008" cy="1207008"/>
          </a:xfrm>
          <a:prstGeom prst="ellipse">
            <a:avLst/>
          </a:prstGeom>
          <a:solidFill>
            <a:srgbClr val="FF5D3B"/>
          </a:solidFill>
          <a:ln w="25400">
            <a:solidFill>
              <a:srgbClr val="FF5D3B"/>
            </a:solidFill>
          </a:ln>
        </p:spPr>
        <p:txBody>
          <a:bodyPr rtlCol="0" anchor="ctr" lIns="18288" r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インゴット</a:t>
            </a:r>
          </a:p>
        </p:txBody>
      </p:sp>
      <p:sp>
        <p:nvSpPr>
          <p:cNvPr id="13" name="Oval 12"/>
          <p:cNvSpPr/>
          <p:nvPr/>
        </p:nvSpPr>
        <p:spPr>
          <a:xfrm>
            <a:off x="7465554" y="4533626"/>
            <a:ext cx="1207008" cy="12070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5D3B"/>
            </a:solidFill>
          </a:ln>
        </p:spPr>
        <p:txBody>
          <a:bodyPr rtlCol="0" anchor="ctr" lIns="18288" rIns="18288"/>
          <a:lstStyle/>
          <a:p>
            <a:pPr algn="ctr"/>
            <a:r>
              <a:rPr sz="1300" b="1">
                <a:solidFill>
                  <a:srgbClr val="3A2A24"/>
                </a:solidFill>
                <a:latin typeface="Yu Gothic"/>
              </a:rPr>
              <a:t>銅製品</a:t>
            </a:r>
          </a:p>
        </p:txBody>
      </p:sp>
      <p:sp>
        <p:nvSpPr>
          <p:cNvPr id="14" name="Oval 13"/>
          <p:cNvSpPr/>
          <p:nvPr/>
        </p:nvSpPr>
        <p:spPr>
          <a:xfrm>
            <a:off x="6801203" y="2488965"/>
            <a:ext cx="1207008" cy="12070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5D3B"/>
            </a:solidFill>
          </a:ln>
        </p:spPr>
        <p:txBody>
          <a:bodyPr rtlCol="0" anchor="ctr" lIns="18288" rIns="18288"/>
          <a:lstStyle/>
          <a:p>
            <a:pPr algn="ctr"/>
            <a:r>
              <a:rPr sz="1300" b="1">
                <a:solidFill>
                  <a:srgbClr val="3A2A24"/>
                </a:solidFill>
                <a:latin typeface="Yu Gothic"/>
              </a:rPr>
              <a:t>銅産廃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291840"/>
            <a:ext cx="1645920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400" b="1">
                <a:solidFill>
                  <a:srgbClr val="F06142"/>
                </a:solidFill>
                <a:latin typeface="Yu Gothic"/>
              </a:rPr>
              <a:t>めぐり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F06142"/>
                </a:solidFill>
                <a:latin typeface="Yu Gothic"/>
              </a:rPr>
              <a:t>KIYOMINE × Beyond the wall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0" y="365760"/>
            <a:ext cx="3108960" cy="45720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28卒 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800" b="1">
                <a:solidFill>
                  <a:srgbClr val="F06142"/>
                </a:solidFill>
                <a:latin typeface="Yu Gothic"/>
              </a:rPr>
              <a:t>銅めぐりツアー（仮）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1106424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3600" b="1">
                <a:solidFill>
                  <a:srgbClr val="3A2A24"/>
                </a:solidFill>
                <a:latin typeface="Yu Gothic"/>
              </a:rPr>
              <a:t>銅は、あと何年使える？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1064240" cy="20116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1000" b="1">
                <a:solidFill>
                  <a:srgbClr val="F06142"/>
                </a:solidFill>
                <a:latin typeface="Yu Gothic"/>
              </a:rPr>
              <a:t>約40年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800" b="0">
                <a:solidFill>
                  <a:srgbClr val="3A2A24"/>
                </a:solidFill>
                <a:latin typeface="Yu Gothic"/>
              </a:rPr>
              <a:t>循環をつなげば、その先が変わる。現場で確かめよう。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5349240"/>
            <a:ext cx="7772400" cy="5943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Yu Gothic"/>
              </a:rPr>
              <a:t>12月 オンライン ＋ 1月 現場訪問（つくば）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