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巻物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巨大な巻物：銅の歴史から、清峰の歴史へ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2240280" cy="822960"/>
          </a:xfrm>
          <a:prstGeom prst="rect">
            <a:avLst/>
          </a:prstGeom>
          <a:solidFill>
            <a:srgbClr val="FBE3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2402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立ち上がり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1898〜1961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017520"/>
            <a:ext cx="2240280" cy="822960"/>
          </a:xfrm>
          <a:prstGeom prst="rect">
            <a:avLst/>
          </a:prstGeom>
          <a:solidFill>
            <a:srgbClr val="F8C9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017520"/>
            <a:ext cx="22402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合金と危機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1969〜2012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017520"/>
            <a:ext cx="2240280" cy="822960"/>
          </a:xfrm>
          <a:prstGeom prst="rect">
            <a:avLst/>
          </a:prstGeom>
          <a:solidFill>
            <a:srgbClr val="F5A8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017520"/>
            <a:ext cx="22402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環境と継承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2013〜2021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017520"/>
            <a:ext cx="2240280" cy="822960"/>
          </a:xfrm>
          <a:prstGeom prst="rect">
            <a:avLst/>
          </a:prstGeom>
          <a:solidFill>
            <a:srgbClr val="F28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017520"/>
            <a:ext cx="22402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いま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2022〜2026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3017520"/>
            <a:ext cx="2240280" cy="8229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017520"/>
            <a:ext cx="22402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未来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〜2050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77724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Yu Gothic"/>
              </a:rPr>
              <a:t>世の中（道の上）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14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清峰（道の下）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737360"/>
            <a:ext cx="27432" cy="128015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23444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1894〜1904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日清・日露戦争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560320"/>
            <a:ext cx="27432" cy="45719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205740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1923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関東大震災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1737360"/>
            <a:ext cx="27432" cy="128015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123444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1973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石油危機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2560320"/>
            <a:ext cx="27432" cy="45719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05740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2008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リーマン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737360"/>
            <a:ext cx="27432" cy="128015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123444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2011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震災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60320"/>
            <a:ext cx="27432" cy="45719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05740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2015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パリ協定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1737360"/>
            <a:ext cx="27432" cy="128015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23444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2020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コロナ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2560320"/>
            <a:ext cx="27432" cy="45719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05740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2022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資源高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384280" y="1737360"/>
            <a:ext cx="27432" cy="128015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1234440"/>
            <a:ext cx="13716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Yu Gothic"/>
              </a:rPr>
              <a:t>2050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脱炭素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3840480"/>
            <a:ext cx="27432" cy="685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52628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1898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創業・日本初の洋白板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65960" y="3840480"/>
            <a:ext cx="27432" cy="123443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07492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1937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洋白条・線棒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3840480"/>
            <a:ext cx="27432" cy="685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452628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1961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つくば工場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3840480"/>
            <a:ext cx="27432" cy="123443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507492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1969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コルソン合金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80" y="3840480"/>
            <a:ext cx="27432" cy="685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452628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2010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KA1025特許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3840480"/>
            <a:ext cx="27432" cy="123443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507492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2012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KA250特許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3840480"/>
            <a:ext cx="27432" cy="685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452628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2013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錫リフローめっき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9559" y="3840480"/>
            <a:ext cx="27432" cy="123443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59" y="507492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2015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MB115・MF202継承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3840480"/>
            <a:ext cx="27432" cy="685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452628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2019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CU STAR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38359" y="3840480"/>
            <a:ext cx="27432" cy="123443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59" y="507492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Yu Gothic"/>
              </a:rPr>
              <a:t>2021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ISO14001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44200" y="3840480"/>
            <a:ext cx="27432" cy="685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0" y="452628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FF5D3B"/>
                </a:solidFill>
                <a:latin typeface="Yu Gothic"/>
              </a:rPr>
              <a:t>2026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今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75719" y="3840480"/>
            <a:ext cx="27432" cy="123443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9919" y="5074920"/>
            <a:ext cx="1371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1">
                <a:solidFill>
                  <a:srgbClr val="FF5D3B"/>
                </a:solidFill>
                <a:latin typeface="Yu Gothic"/>
              </a:rPr>
              <a:t>2050</a:t>
            </a:r>
          </a:p>
          <a:p>
            <a:pPr algn="ctr"/>
            <a:r>
              <a:rPr sz="1050" b="0">
                <a:solidFill>
                  <a:srgbClr val="3A2A24"/>
                </a:solidFill>
                <a:latin typeface="Yu Gothic"/>
              </a:rPr>
              <a:t>学生が書く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897880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7A6E66"/>
                </a:solidFill>
                <a:latin typeface="Yu Gothic"/>
              </a:rPr>
              <a:t>床に広げる超巨大な地図（横13m級を想定）。左から右へ歩いてたどる。出来事は約21か所（仮）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巻物 序盤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巻物（序盤）：立ち上がりの時代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0" cy="5120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365760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序盤を開く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657600" cy="29260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1898〜1961。創業と洋白、つくば工場の設立。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学生は「なぜ洋白？なぜつくば？」を地図から推理する。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原料（スクラップ）と配合を、実物で確かめる。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43400"/>
            <a:ext cx="3383280" cy="14173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70832"/>
            <a:ext cx="3383280" cy="13716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ここで手に入れる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道具カード No.1 原料／No.2 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77724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77724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77724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1898　清峰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16128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創業・日本初の洋白板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52704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洋食器などに使われた。洋白の生産量は国内1位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77724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77724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77724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1937　清峰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116128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洋白条・線棒の製造開始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152704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東京都江戸川区へ移転。品種が広がる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51460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51460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51460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1961　清峰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89864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つくば工場を設立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26440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会津の鋳造を、製造の合理化でつくばに集約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251460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2514600"/>
            <a:ext cx="3794760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251460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1894〜1904　世の中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289864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日清・日露戦争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326440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創業はこの2つの戦争の間（資料の補足より）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943600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7A6E66"/>
                </a:solidFill>
                <a:latin typeface="Yu Gothic"/>
              </a:rPr>
              <a:t>※右は巻かれたまま。開いた分だけ、先を知れる演出にする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巻物 中盤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巻物（中盤）：合金と危機、そして継承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0" cy="5120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365760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中盤を開く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657600" cy="29260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1969〜2021。合金の開発、危機、事業の継承。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危機と、そのあとに起きた逆転を、ペアで見つける。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結晶構造と、スクラップ行きの理由を確かめる。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43400"/>
            <a:ext cx="3383280" cy="14173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70832"/>
            <a:ext cx="3383280" cy="13716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ここで手に入れる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道具カード No.4 熱処理／No.5 品質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77724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77724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77724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1969　清峰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16128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コルソン合金の製造開始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52704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強度と導電率のバランスを狙う合金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77724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777240"/>
            <a:ext cx="3794760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77724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2008　世の中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116128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リーマンショック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152704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需要が落ちた時代（一般知識）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51460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51460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51460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2010〜12　清峰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89864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KA1025・KA250の特許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26440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オリジナル合金を開発。同時期の動き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251460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251460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251460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2013　清峰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289864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錫リフローめっき導入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326440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材料に付加価値をつける一貫生産へ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251959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251959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251959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2015　清峰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636007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MB115・MF202を継承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00176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取引先の事業終息を受け、顧客と製法を引き継ぐ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0728" y="4251959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0728" y="4251959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0728" y="4251959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2021　清峰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8" y="4636007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ISO14001登録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8" y="500176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環境への配慮を、仕組みにした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943600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7A6E66"/>
                </a:solidFill>
                <a:latin typeface="Yu Gothic"/>
              </a:rPr>
              <a:t>※危機カードと朗報カードは、巻物の上の出来事とつながっている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巻物 終盤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巻物（終盤）：いま、そして未来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0" cy="5120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365760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終盤を開く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657600" cy="29260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2022〜2050。資源の変動、老朽設備、銅の有限性。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最後の出来事「2050」は、学生が自分で書き込む。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次の設備の置き場を、歩いて決める。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43400"/>
            <a:ext cx="3383280" cy="14173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70832"/>
            <a:ext cx="3383280" cy="13716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ここで手に入れる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道具カード No.6 未来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77724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777240"/>
            <a:ext cx="3794760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77724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2022　世の中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16128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資源・エネルギーの高騰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52704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原料コストが動く（一般知識）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77724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77724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77724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2026　清峰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116128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今：設備と分析のこれから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152704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古い設備が多く、分析機器・評価が現場に届ききっていない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51460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514600"/>
            <a:ext cx="3794760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51460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〜2040頃　世の中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89864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銅は確認埋蔵量で約40年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26440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可採年数は動く数字。出典確認が必要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2514600"/>
            <a:ext cx="3794760" cy="16276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2514600"/>
            <a:ext cx="3794760" cy="32918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2514600"/>
            <a:ext cx="3794760" cy="329184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2050　清峰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2898648"/>
            <a:ext cx="379476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学生が書く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3264408"/>
            <a:ext cx="3794760" cy="868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分断された銅の循環を、どうつなぐか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943600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7A6E66"/>
                </a:solidFill>
                <a:latin typeface="Yu Gothic"/>
              </a:rPr>
              <a:t>※巻物の最後の一手は、空白にしておく（学生が決める）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タイムテーブル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当日のタイムテーブル：午前は工場を歩き、午後は決める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出典：時間・立入範囲・関係者の参加方法は先方確認が必要（仮）。見学ルートは既存案（8・9・6/10・3号棟）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3000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開始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777240"/>
            <a:ext cx="1143000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所要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777240"/>
            <a:ext cx="3977640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場所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777240"/>
            <a:ext cx="4983480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10:00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18872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30分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8872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作戦室（会議室）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18872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イントロ：不安を出す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8308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10:30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78308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60分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78308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工場 8・9号棟　①②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78308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原料とインゴットを読む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7744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11:30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37744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60分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37744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関係者トーク　③（任意）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37744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循環のつなぎ目を聞く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7180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12:30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297180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60分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97180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作戦室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7180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昼食（社員と）／発見を共有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13:30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356616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90分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56616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6・10・3号棟、守衛所　④⑤⑥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56616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熱処理・品質・未来を見る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6052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15:00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416052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60分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16052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作戦室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16052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最終ミッション：方針を決める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5488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16:00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475488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40分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475488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座談会ルーム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475488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座談会：本音を聞く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49240"/>
            <a:ext cx="1143000" cy="5486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16:40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4480" y="5349240"/>
            <a:ext cx="114300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20分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349240"/>
            <a:ext cx="397764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作戦室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5349240"/>
            <a:ext cx="498348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アンケート・選考の案内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進行表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進行表（1／4）：10:00〜11:30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出典：清峰の沿革・製品は既存会社説明資料。一般知識・想定は原典確認が必要。内容は当方の提案（案）。時間・立入範囲は先方確認が必要（仮）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10:00〜10:30　作戦室（会議室）　30分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自己紹介（地元のおすすめ／わたしのものづくり遍歴）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今日のミッションと流れを説明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学生：チケットを見せ、初期アイテムとフリップボードを受け取る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社員：運営と先輩社員を紹介。各チームにファシリ1名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ネームプレート、交通費（受領印）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巨大な地図、銅のニュースの見出しパネル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10:30〜11:30　工場 8・9号棟 ①②　60分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①原料：スクラップの種類と量を読む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②配合：成分ブロックで、戻せる・戻せないを確かめる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学生：推理をメモし、チームで話す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社員：原料と歴史を説明し、安全を管理する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保護具、成分ブロック（銅・錫・ニッケル）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人の作業は撮影NG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進行表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進行表（2／4）：11:30〜13:30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出典：清峰の沿革・製品は既存会社説明資料。一般知識・想定は原典確認が必要。内容は当方の提案（案）。時間・立入範囲は先方確認が必要（仮）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11:30〜12:30　関係者トーク ③（任意）　60分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産廃・回収・加工の方から、つなぎ目の話を聞く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用途パネルで、銅が使われる先を探す（需要カード）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学生：質問を1つ用意して聞く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社員：橋渡し。関係者が話す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関係者との調整（出席・オンライン接続）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難しい場合は、資料や動画で代替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12:30〜13:30　作戦室（会議室）　60分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社員と一緒に昼食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午前の発見を、メモに整理する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学生：メモの整理と休憩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社員：同席し、午前の発見を聞く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お弁当、お茶・おしぼり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午後の予告スライド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進行表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進行表（3／4）：13:30〜16:00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出典：清峰の沿革・製品は既存会社説明資料。一般知識・想定は原典確認が必要。内容は当方の提案（案）。時間・立入範囲は先方確認が必要（仮）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13:30〜15:00　工場 6・10・3号棟、守衛所 ④⑤⑥　90分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④熱処理：結晶構造の違いを写真と照らす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⑤品質：なぜスクラップ行きか、社員に聞く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⑥未来：スクラップを量り、次の設備の置き場を決める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学生：発見を3つメモし、社員に質問を1つ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社員：生産・設備・品質が案内。当時を知る社員が継承の話をする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保護具、無線、結晶構造の写真、計量器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全体マップ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15:00〜16:00　作戦室（会議室）　60分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集めたカードを並べ、危機のニュースが1枚届く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運用方針を1つ選ぶ（4種）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学生：選んだ理由を、カードと現場で見たもので話す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社員：ファシリ。社長が、次の転換への思いを語る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ミッションシート、結果シート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運用方針カード、事件カード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進行表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進行表（4／4）：16:00〜17:00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出典：清峰の沿革・製品は既存会社説明資料。一般知識・想定は原典確認が必要。内容は当方の提案（案）。時間・立入範囲は先方確認が必要（仮）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16:00〜16:40　座談会ルーム　40分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話題カードで話題を引く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話題サイコロ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学生：暮らしや働き方の不安を、直接聞く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社員：本音で答える（会社の課題や、向いていない人も）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07007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2435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27631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座談会ルーム、カード一式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話題サイコロ、付箋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11430000" cy="384048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16:40〜17:00　作戦室（会議室）　20分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循環の見方の変化アンケート（事前と同じ質問）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選考のルートを案内する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学生と社員の動き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学生：アンケートに回答する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社員：お見送りと、片付け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950208"/>
            <a:ext cx="3749039" cy="2221991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986784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準備・注意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749039" cy="1764791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アンケート（QRまたは紙）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3A2A24"/>
                </a:solidFill>
                <a:latin typeface="Yu Gothic"/>
              </a:rPr>
              <a:t>選考の案内資料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円の活動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採用を「線」から「円」へ。選考のあとも、つながり続ける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出典：学生管理シート（27卒中心）の集計、visions資料。円の考え方は当方の提案（案）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3035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Yu Gothic"/>
              </a:rPr>
              <a:t>通常の採用活動（線）：企業待ち型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興味・応募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カジュアル面談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書類選考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面接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内定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入社決定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234440"/>
            <a:ext cx="228600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選考が終わると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接点が消える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5303520" cy="18288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5303520" cy="17373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清峰の現状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学生管理シート24名のうち、12名がエントリー段階で止まっている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333333"/>
                </a:solidFill>
                <a:latin typeface="Yu Gothic"/>
              </a:rPr>
              <a:t>→ 年次に関係なく、仲間として関わり続ける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868680"/>
            <a:ext cx="5303520" cy="5303520"/>
          </a:xfrm>
          <a:prstGeom prst="ellipse">
            <a:avLst/>
          </a:prstGeom>
          <a:solidFill>
            <a:srgbClr val="FDF0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1417320"/>
            <a:ext cx="4206240" cy="4206240"/>
          </a:xfrm>
          <a:prstGeom prst="ellipse">
            <a:avLst/>
          </a:prstGeom>
          <a:solidFill>
            <a:srgbClr val="FBE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59" y="1965960"/>
            <a:ext cx="3108960" cy="3108960"/>
          </a:xfrm>
          <a:prstGeom prst="ellipse">
            <a:avLst/>
          </a:prstGeom>
          <a:solidFill>
            <a:srgbClr val="F9C8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514600"/>
            <a:ext cx="2011680" cy="2011680"/>
          </a:xfrm>
          <a:prstGeom prst="ellipse">
            <a:avLst/>
          </a:prstGeom>
          <a:solidFill>
            <a:srgbClr val="F59E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91440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認知層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清峰・銅めぐりを知る人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46304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関心層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発信をよく見ている人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01168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ファン層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周囲に清峰を勧める人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6032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実践層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ISで挑戦を実践する人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017520"/>
            <a:ext cx="1005840" cy="100584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3017520"/>
            <a:ext cx="1005840" cy="10058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清峰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Yu Gothic"/>
              </a:rPr>
              <a:t>社員・内定者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6080760"/>
            <a:ext cx="59436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000" b="0">
                <a:solidFill>
                  <a:srgbClr val="7A6E66"/>
                </a:solidFill>
                <a:latin typeface="Yu Gothic"/>
              </a:rPr>
              <a:t>白い点は、選考（応募〜入社）の出入口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4354" y="2915624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1307" y="267004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35155" y="4978151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ミッション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分断された銅の循環を、つなぐ土地になる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出典：議事録の企画（同業者が一堂に会する）を延長した構想。PHASE1が2026年度の象徴IS。PHASE2・3は想定で、連携先・時期は未定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3749039" cy="3657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800" b="1">
                <a:solidFill>
                  <a:srgbClr val="FF5D3B"/>
                </a:solidFill>
                <a:latin typeface="Yu Gothic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749039" cy="32004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Yu Gothic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749039" cy="9144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象徴IS「銅タイムトラベル（仮）」を開催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749039" cy="1828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・工場を歩いて学ぶ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・次の一手を学生が決める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・座談会で暮らしを知る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3474720" cy="10058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3474720" cy="10058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つながる相手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学生　／　清峰の社員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868680"/>
            <a:ext cx="3749039" cy="3657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800" b="1">
                <a:solidFill>
                  <a:srgbClr val="FF5D3B"/>
                </a:solidFill>
                <a:latin typeface="Yu Gothic"/>
              </a:rPr>
              <a:t>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280160"/>
            <a:ext cx="3749039" cy="32004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Yu Gothic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645920"/>
            <a:ext cx="3749039" cy="9144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同業者・周辺大学と連動する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43200"/>
            <a:ext cx="3749039" cy="1828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・産廃・加工・精錬が一堂に会する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・周辺大学と共同開催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・採用を超えた仲間づくり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846320"/>
            <a:ext cx="3474720" cy="10058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846320"/>
            <a:ext cx="3474720" cy="10058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つながる相手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同業者　／　周辺大学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82296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868680"/>
            <a:ext cx="3749039" cy="3657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800" b="1">
                <a:solidFill>
                  <a:srgbClr val="FF5D3B"/>
                </a:solidFill>
                <a:latin typeface="Yu Gothic"/>
              </a:rPr>
              <a:t>2028〜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1280160"/>
            <a:ext cx="3749039" cy="32004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Yu Gothic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645920"/>
            <a:ext cx="3749039" cy="9144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産官学で、銅の循環を動かす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3749039" cy="1828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・産官学が同じ円に入る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・循環の物語を共有する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・土地のブランドを発信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4846320"/>
            <a:ext cx="3474720" cy="10058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846320"/>
            <a:ext cx="3474720" cy="10058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つながる相手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自治体・県　／　産官学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産官学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産官学の円で、銅のめぐりを、みんなの物語にする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出典：構想段階。連携先・時期は未定。同業者の範囲は、企画スライド（産廃・加工・精錬）より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377440"/>
            <a:ext cx="3017520" cy="201168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3017520" cy="20116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清峰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つくば工場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731520"/>
            <a:ext cx="2834640" cy="1371600"/>
          </a:xfrm>
          <a:prstGeom prst="ellipse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731520"/>
            <a:ext cx="283464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官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自治体・県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743200"/>
            <a:ext cx="2926080" cy="1371600"/>
          </a:xfrm>
          <a:prstGeom prst="ellipse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292608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学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周辺大学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43200"/>
            <a:ext cx="3108960" cy="1371600"/>
          </a:xfrm>
          <a:prstGeom prst="ellipse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10896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産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精錬所・回収業者・加工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63440"/>
            <a:ext cx="2834640" cy="1371600"/>
          </a:xfrm>
          <a:prstGeom prst="ellipse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663440"/>
            <a:ext cx="283464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学生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ぐるぐる人材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Yu Gothic"/>
              </a:rPr>
              <a:t>分断された銅の循環を、産官学でつなぐ。それが、清峰のコーポレートブランディング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読後感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読後感は、不安を認めてから、「逆転」で明るくする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出典：議事録（課題感の強調）、銅の可採年数のワーク。内容は当方の提案（案）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59536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1　最初：不安を出す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3749039" cy="3749039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・銅は、あと約40年？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・リサイクルは、本当に回っている？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・工場は、単純作業？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822960"/>
            <a:ext cx="3749039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859536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2　途中：朗報を見つける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43584"/>
            <a:ext cx="3749039" cy="3749039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・説明はしない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・歩く中で、学生が自分で見つける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・危機のあとに、逆転があった話にする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822960"/>
            <a:ext cx="3749039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859536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3　最後：自分で書く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243584"/>
            <a:ext cx="3749039" cy="3749039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・「明るいニュースがあった」を、自分の言葉にする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・2050年の「銅の新聞」の一面を書く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12080"/>
            <a:ext cx="11430000" cy="7315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朗報だけにしない。課題は隠さず、必ず「危機→逆転」のペアで見せる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ニュース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ニュースは、危機のあとの「逆転」とセットで届ける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出典：清峰の沿革・製品は既存会社説明資料。一般知識・想定は原典確認が必要。内容は当方の提案（案）。「同時期」は因果関係ではなく、同じ時期の動き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50749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危機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777240"/>
            <a:ext cx="502919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777240"/>
            <a:ext cx="57150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逆転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5074920" cy="7772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銅は、確認埋蔵量で約40年といわれる【要確認】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207008"/>
            <a:ext cx="502919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07008"/>
            <a:ext cx="5715000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工場内で戻す銅が、最も安く早い（議事録・シート）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29968"/>
            <a:ext cx="5074920" cy="7772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2008年 リーマンショックで需要が落ちる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029968"/>
            <a:ext cx="502919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029968"/>
            <a:ext cx="5715000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同時期の2010年、KA1025の特許を取得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52928"/>
            <a:ext cx="5074920" cy="7772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2011年 震災で、電力・物流が不安定に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852928"/>
            <a:ext cx="502919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852928"/>
            <a:ext cx="5715000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同時期の2012年、KA250の特許を取得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75888"/>
            <a:ext cx="5074920" cy="7772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2015年 取引先の事業が終息する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675888"/>
            <a:ext cx="502919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675888"/>
            <a:ext cx="5715000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清峰が顧客と製法を引き継ぐ（MB115・MF202）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98848"/>
            <a:ext cx="5074920" cy="7772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品位が混ざったスクラップは、元に戻せない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4498848"/>
            <a:ext cx="502919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498848"/>
            <a:ext cx="5715000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まだ答えは出ていない。学生が考える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ルールの全体：目的、チーム、勝ち方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出典：ゲーム設計は当方の提案（案）。数値はゲーム用の仮の指数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40233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59536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3749039" cy="3566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清峰の運転を、時代ごとに引き継ぐ。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納期と品質を守りながら、時代に合った運用方針を選ぶ。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822960"/>
            <a:ext cx="3749039" cy="40233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859536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チーム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43584"/>
            <a:ext cx="3749039" cy="3566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3〜4人で1チーム。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役割は、生産（運転）・設備（保全・投資）・経営（予算）。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822960"/>
            <a:ext cx="3749039" cy="40233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859536"/>
            <a:ext cx="3749039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勝ち方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243584"/>
            <a:ext cx="3749039" cy="3566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順位より、方針の変遷を重視。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最後に、安定・資金・循環の3軸の形を見比べる。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最終ミッションでは、今（R4）と未来（R5）を使う。過去（R1〜R3）は、巻物と道具カードで代替する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1ラウンドは6つの手順で進む（約20分）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6858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順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777240"/>
            <a:ext cx="59893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やること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777240"/>
            <a:ext cx="34290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使うカード・道具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07040" y="777240"/>
            <a:ext cx="11430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時間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68580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207008"/>
            <a:ext cx="59893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時代の説明。ニュース速報（事件）が届く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207008"/>
            <a:ext cx="3429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事件カード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1207008"/>
            <a:ext cx="1143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3分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65960"/>
            <a:ext cx="68580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1965960"/>
            <a:ext cx="59893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納入先の需要を確認する（コネクタ・リレーなど）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65960"/>
            <a:ext cx="3429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需要カード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1965960"/>
            <a:ext cx="1143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2分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24912"/>
            <a:ext cx="68580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724912"/>
            <a:ext cx="59893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運用方針を1つ選ぶ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724912"/>
            <a:ext cx="3429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運用方針カード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2724912"/>
            <a:ext cx="1143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3分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83864"/>
            <a:ext cx="68580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483864"/>
            <a:ext cx="59893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予算で設備を買う・更新する（貯めてもよい）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483864"/>
            <a:ext cx="3429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設備カード・資金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3483864"/>
            <a:ext cx="1143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5分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42816"/>
            <a:ext cx="68580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242816"/>
            <a:ext cx="59893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どの設備で、新規銅と戻り銅をどう使うか決める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242816"/>
            <a:ext cx="3429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運転計画シート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4242816"/>
            <a:ext cx="1143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4分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01768"/>
            <a:ext cx="68580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5001768"/>
            <a:ext cx="59893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結果判定。メーターを確認し、方針を振り返る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5001768"/>
            <a:ext cx="3429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メーター・結果シート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7040" y="5001768"/>
            <a:ext cx="11430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3分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メーターは4つ。すべてを守ることは、基本できない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出典：古い設備の話は、現場の声（設備がかなり昔から使われている）より。評価は順位より方針の変遷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2788920" cy="47548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59536"/>
            <a:ext cx="278892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供給安定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2788920" cy="4297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・納期と品質を満たせたか。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・満たせないと、大きなペナルティ。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・→「止めない・外さない」が最優先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822960"/>
            <a:ext cx="2788920" cy="47548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859536"/>
            <a:ext cx="278892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資金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243584"/>
            <a:ext cx="2788920" cy="4297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・売上、運転コスト、投資、修繕費で増減。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・ゼロになると、投資できない。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22960"/>
            <a:ext cx="2788920" cy="47548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859536"/>
            <a:ext cx="278892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銅の循環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243584"/>
            <a:ext cx="2788920" cy="4297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・使った銅のうち、戻り銅の割合。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・時代で、評価の重みが変わる。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822960"/>
            <a:ext cx="2788920" cy="47548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859536"/>
            <a:ext cx="2788920" cy="3657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設備の老朽度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243584"/>
            <a:ext cx="2788920" cy="4297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・古い設備ほど、修繕費と不良リスクが上がる。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・古い設備を抱える現実を表す。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69280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最後に、安定・資金・循環の3軸の形を見比べる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時代ボード：事件・需要・設備・「時代の空気」を並べる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出典：清峰の設備年は既存資料。事件・需要・時代の空気は仮説で、原典確認が必要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96596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時代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777240"/>
            <a:ext cx="269748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事件（例）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777240"/>
            <a:ext cx="196596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納入先の需要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777240"/>
            <a:ext cx="25146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解禁される設備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777240"/>
            <a:ext cx="20574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時代の空気【仮説】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07008"/>
            <a:ext cx="1965960" cy="8686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R1　1960〜70年代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207008"/>
            <a:ext cx="269748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石油危機（1973）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207008"/>
            <a:ext cx="196596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成長で増える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207008"/>
            <a:ext cx="25146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圧延・焼鈍の基本設備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207008"/>
            <a:ext cx="20574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拡大・量産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21408"/>
            <a:ext cx="1965960" cy="8686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R2　1990〜2000年代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121408"/>
            <a:ext cx="269748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バブル崩壊、リーマン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121408"/>
            <a:ext cx="196596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一時的に落ちる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121408"/>
            <a:ext cx="25146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品質管理の仕組み（ISO9001）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121408"/>
            <a:ext cx="20574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品質・コスト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35808"/>
            <a:ext cx="1965960" cy="8686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R3　2010年代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035808"/>
            <a:ext cx="269748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震災、取引先の事業終息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035808"/>
            <a:ext cx="196596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安定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035808"/>
            <a:ext cx="25146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錫リフローめっき（2013）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035808"/>
            <a:ext cx="20574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付加価値・継承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50208"/>
            <a:ext cx="1965960" cy="8686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R4　2026年（今）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950208"/>
            <a:ext cx="269748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資源高、銅価格の変動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3950208"/>
            <a:ext cx="196596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変動する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950208"/>
            <a:ext cx="25146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分析機器・AI検査（案）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3950208"/>
            <a:ext cx="20574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コスト・安定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64608"/>
            <a:ext cx="1965960" cy="8686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R5　2035〜50年（未来）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4864608"/>
            <a:ext cx="269748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銅の逼迫、電動化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864608"/>
            <a:ext cx="196596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不確実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864608"/>
            <a:ext cx="25146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分離設備、共同回収網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4864608"/>
            <a:ext cx="2057400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循環・投資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需要カード：納入先の事情で、運転の難しさが変わる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出典：製品・特性は既存会社説明資料。見せてよい範囲は、清峰への確認が必要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2461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納入先（用途）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777240"/>
            <a:ext cx="38862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求められること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777240"/>
            <a:ext cx="41605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ゲームでの特徴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24612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コネクタ・端子（電機・電子）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07008"/>
            <a:ext cx="38862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ばね性・導電率（りん青銅など）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207008"/>
            <a:ext cx="41605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需要の波が大きい。小ロットで納期が厳しい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324612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リレー・モーター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965960"/>
            <a:ext cx="38862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導電率と強度のバランス（KA250・MB115）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965960"/>
            <a:ext cx="41605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品質基準が高い。不良は信用のペナルティ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24912"/>
            <a:ext cx="324612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シールドケース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724912"/>
            <a:ext cx="38862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耐熱変色（洋白、250〜300℃）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724912"/>
            <a:ext cx="41605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高温での耐性が評価の決め手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83864"/>
            <a:ext cx="324612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楽器・装身具・眼鏡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483864"/>
            <a:ext cx="38862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色・加工性（洋白）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483864"/>
            <a:ext cx="41605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少量多品種。急な仕様変更がある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42816"/>
            <a:ext cx="3246120" cy="713232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切削加工部品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242816"/>
            <a:ext cx="388620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切削性（快削材）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242816"/>
            <a:ext cx="4160520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加工しやすさが決め手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40680"/>
            <a:ext cx="11430000" cy="7315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定修カード：ラウンドによって、設備1台が点検・故障で止まる。止まる設備を前提に、納期を守る運転計画を考える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ペアカード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危機と逆転のペアカード（1／2）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出典：※「同時期」は因果関係ではなく、同じ時期の動き。一般知識の出来事は、使う前に原典で確認する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79476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危機（ネガ）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777240"/>
            <a:ext cx="41605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逆転（ポジ）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777240"/>
            <a:ext cx="333756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ゲーム上の効果（仮）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1973年 石油危機で、原料・エネルギーが高騰【一般知識】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07008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省エネと、高付加価値の材料へ需要が移る【要確認】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207008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運転コスト2倍。新設備が解禁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02536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2008年 リーマンショックで需要が落ちる【一般知識】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02536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同時期の2010年、KA1025の特許を取得（清峰）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002536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需要-30%。合金開発の評価が上がる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98064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2011年 震災で、電力・物流が不安定に【一般知識】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798064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同時期の2012年、KA250の特許を取得（清峰）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798064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購入電力が不安定。設備1台が停止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93592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2015年 取引先（三菱電機メテックス）の事業が終息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593592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清峰が顧客と製法を引き継ぐ（MB115・MF202）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593592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需要が増える。継承ボーナス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2020年 コロナ禍で需要が急変【一般知識】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389120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超抗菌銅材料（CU STAR、2019年取得）に注目【同時期・要確認】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389120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需要の波。抗菌材の評価が上がる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84648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環境への要請が強まる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5184648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2021年 ISO14001登録。工場内の循環を仕組みに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5184648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循環の評価が2倍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ペアカード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危機と逆転のペアカード（2／2）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出典：※想定・構想は、実在の出来事ではない。一般知識・数字は、使う前に原典で確認する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79476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危機（ネガ）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777240"/>
            <a:ext cx="41605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逆転（ポジ）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777240"/>
            <a:ext cx="333756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ゲーム上の効果（仮）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2022年 資源・エネルギーの高騰【一般知識】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07008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工場内で戻す銅が、最も安く早い【仮説・議事録より】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207008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全設備のコスト+1。戻り銅の価値が上がる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02536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銅の価格が大きく動く【要確認】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02536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発生銅屑を再利用し、原料コストを抑える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002536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新規銅のコストが変動。戻り銅が有利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98064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品位が混ざり、スクラップが戻せない（錫・ニッケル）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798064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剥離・分離の技術で、戻せるようになる【技術課題】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798064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分離設備が解禁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93592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人手不足と、設備の老朽化【現場の声】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593592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分析機器・評価の仕組みを、現場に届ける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593592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老朽度が上がる。検査設備で安定+1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回収業者が撤退する【想定】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389120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共同回収網で、同業者がつながる【構想】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389120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回収コストが上がる。共同回収で緩和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84648"/>
            <a:ext cx="3794760" cy="74980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銅は確認埋蔵量で約40年といわれる【要確認】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5184648"/>
            <a:ext cx="416052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【未確定】まだ逆転していない。学生が書く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5184648"/>
            <a:ext cx="3337560" cy="74980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R4の最終ミッションのお題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