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56616" y="137160"/>
            <a:ext cx="2103120" cy="365760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ゲーム概要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06040" y="109728"/>
            <a:ext cx="9144000" cy="420624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000" b="1">
                <a:solidFill>
                  <a:srgbClr val="333333"/>
                </a:solidFill>
                <a:latin typeface="Yu Gothic"/>
              </a:rPr>
              <a:t>めぐる発電所（仮）：銅をめぐらせ、街に電気を届ける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291072"/>
            <a:ext cx="11612880" cy="310896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 b="0">
                <a:solidFill>
                  <a:srgbClr val="7A6E66"/>
                </a:solidFill>
                <a:latin typeface="Yu Gothic"/>
              </a:rPr>
              <a:t>出典：ゲーム設計は当方の提案（案）。数値は架空で、実データを使う場合は出典確認が必要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777240"/>
            <a:ext cx="3703320" cy="233172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" y="822960"/>
            <a:ext cx="3703320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600" b="1">
                <a:solidFill>
                  <a:srgbClr val="333333"/>
                </a:solidFill>
                <a:latin typeface="Yu Gothic"/>
              </a:rPr>
              <a:t>目的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1280160"/>
            <a:ext cx="3703320" cy="18288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spcBef>
                <a:spcPts val="600"/>
              </a:spcBef>
            </a:pPr>
            <a:r>
              <a:rPr sz="1400" b="0">
                <a:solidFill>
                  <a:srgbClr val="3A2A24"/>
                </a:solidFill>
                <a:latin typeface="Yu Gothic"/>
              </a:rPr>
              <a:t>自分たちの発電所をつくる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3A2A24"/>
                </a:solidFill>
                <a:latin typeface="Yu Gothic"/>
              </a:rPr>
              <a:t>街の電力を、約42年支える</a:t>
            </a:r>
          </a:p>
        </p:txBody>
      </p:sp>
      <p:sp>
        <p:nvSpPr>
          <p:cNvPr id="9" name="Rectangle 8"/>
          <p:cNvSpPr/>
          <p:nvPr/>
        </p:nvSpPr>
        <p:spPr>
          <a:xfrm>
            <a:off x="4251960" y="777240"/>
            <a:ext cx="3703320" cy="233172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251960" y="822960"/>
            <a:ext cx="3703320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600" b="1">
                <a:solidFill>
                  <a:srgbClr val="333333"/>
                </a:solidFill>
                <a:latin typeface="Yu Gothic"/>
              </a:rPr>
              <a:t>制約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251960" y="1280160"/>
            <a:ext cx="3703320" cy="18288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spcBef>
                <a:spcPts val="600"/>
              </a:spcBef>
            </a:pPr>
            <a:r>
              <a:rPr sz="1400" b="0">
                <a:solidFill>
                  <a:srgbClr val="3A2A24"/>
                </a:solidFill>
                <a:latin typeface="Yu Gothic"/>
              </a:rPr>
              <a:t>銅は世界で共有（山札）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3A2A24"/>
                </a:solidFill>
                <a:latin typeface="Yu Gothic"/>
              </a:rPr>
              <a:t>使い切れば、誰も建てられない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138160" y="777240"/>
            <a:ext cx="3657600" cy="233172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138160" y="822960"/>
            <a:ext cx="3657600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600" b="1">
                <a:solidFill>
                  <a:srgbClr val="333333"/>
                </a:solidFill>
                <a:latin typeface="Yu Gothic"/>
              </a:rPr>
              <a:t>結果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38160" y="1280160"/>
            <a:ext cx="3657600" cy="18288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spcBef>
                <a:spcPts val="600"/>
              </a:spcBef>
            </a:pPr>
            <a:r>
              <a:rPr sz="1400" b="0">
                <a:solidFill>
                  <a:srgbClr val="3A2A24"/>
                </a:solidFill>
                <a:latin typeface="Yu Gothic"/>
              </a:rPr>
              <a:t>供給量が数字で返る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3A2A24"/>
                </a:solidFill>
                <a:latin typeface="Yu Gothic"/>
              </a:rPr>
              <a:t>街の暮らしの変化が物語で返る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3246120"/>
            <a:ext cx="1143000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600" b="1">
                <a:solidFill>
                  <a:srgbClr val="333333"/>
                </a:solidFill>
                <a:latin typeface="Yu Gothic"/>
              </a:rPr>
              <a:t>チーム（4人×4〜5チーム）：役割ごとに目標が対立する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703320"/>
            <a:ext cx="2788920" cy="457200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</a:rPr>
              <a:t>社長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4160520"/>
            <a:ext cx="2788920" cy="5486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400" b="0">
                <a:solidFill>
                  <a:srgbClr val="3A2A24"/>
                </a:solidFill>
                <a:latin typeface="Yu Gothic"/>
              </a:rPr>
              <a:t>目標：最終決断・調整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46120" y="3703320"/>
            <a:ext cx="2788920" cy="457200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</a:rPr>
              <a:t>財務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246120" y="4160520"/>
            <a:ext cx="2788920" cy="5486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400" b="0">
                <a:solidFill>
                  <a:srgbClr val="3A2A24"/>
                </a:solidFill>
                <a:latin typeface="Yu Gothic"/>
              </a:rPr>
              <a:t>目標：現金・利益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79" y="3703320"/>
            <a:ext cx="2788920" cy="457200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</a:rPr>
              <a:t>運用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79" y="4160520"/>
            <a:ext cx="2788920" cy="5486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400" b="0">
                <a:solidFill>
                  <a:srgbClr val="3A2A24"/>
                </a:solidFill>
                <a:latin typeface="Yu Gothic"/>
              </a:rPr>
              <a:t>目標：安定供給・稼働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006840" y="3703320"/>
            <a:ext cx="2788920" cy="457200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</a:rPr>
              <a:t>社会</a:t>
            </a:r>
          </a:p>
        </p:txBody>
      </p:sp>
      <p:sp>
        <p:nvSpPr>
          <p:cNvPr id="23" name="Rectangle 22"/>
          <p:cNvSpPr/>
          <p:nvPr/>
        </p:nvSpPr>
        <p:spPr>
          <a:xfrm>
            <a:off x="9006840" y="4160520"/>
            <a:ext cx="2788920" cy="54864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400" b="0">
                <a:solidFill>
                  <a:srgbClr val="3A2A24"/>
                </a:solidFill>
                <a:latin typeface="Yu Gothic"/>
              </a:rPr>
              <a:t>目標：暮らし・環境・地域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937760"/>
            <a:ext cx="11430000" cy="1188720"/>
          </a:xfrm>
          <a:prstGeom prst="rect">
            <a:avLst/>
          </a:prstGeom>
          <a:solidFill>
            <a:srgbClr val="F9ECE6"/>
          </a:solidFill>
          <a:ln>
            <a:noFill/>
          </a:ln>
          <a:effectLst/>
        </p:spPr>
        <p:txBody>
          <a:bodyPr rtlCol="0" anchor="t" wrap="square" lIns="182880" rIns="182880"/>
          <a:lstStyle/>
          <a:p>
            <a:pPr algn="l"/>
            <a:r>
              <a:rPr sz="1500" b="1">
                <a:solidFill>
                  <a:srgbClr val="333333"/>
                </a:solidFill>
                <a:latin typeface="Yu Gothic"/>
              </a:rPr>
              <a:t>4つの分析は、ゲームの中に埋め込む</a:t>
            </a:r>
          </a:p>
          <a:p>
            <a:pPr algn="l">
              <a:spcBef>
                <a:spcPts val="400"/>
              </a:spcBef>
            </a:pPr>
            <a:r>
              <a:rPr sz="1400" b="0">
                <a:solidFill>
                  <a:srgbClr val="3A2A24"/>
                </a:solidFill>
                <a:latin typeface="Yu Gothic"/>
              </a:rPr>
              <a:t>① 見る＝市場マップ　② 測る＝銅の収支表　③ 読む＝取引・交渉　④ 動かす＝経営課題への打ち手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56616" y="137160"/>
            <a:ext cx="2103120" cy="365760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ラウンド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06040" y="109728"/>
            <a:ext cx="9144000" cy="420624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000" b="1">
                <a:solidFill>
                  <a:srgbClr val="333333"/>
                </a:solidFill>
                <a:latin typeface="Yu Gothic"/>
              </a:rPr>
              <a:t>1ラウンド＝約7年、全6ラウンド（約42年）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291072"/>
            <a:ext cx="11612880" cy="310896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 b="0">
                <a:solidFill>
                  <a:srgbClr val="7A6E66"/>
                </a:solidFill>
                <a:latin typeface="Yu Gothic"/>
              </a:rPr>
              <a:t>出典：ゲーム設計は当方の提案（案）。数値は架空で、実データを使う場合は出典確認が必要</a:t>
            </a:r>
          </a:p>
        </p:txBody>
      </p:sp>
      <p:sp>
        <p:nvSpPr>
          <p:cNvPr id="6" name="Pentagon 5"/>
          <p:cNvSpPr/>
          <p:nvPr/>
        </p:nvSpPr>
        <p:spPr>
          <a:xfrm>
            <a:off x="365760" y="868680"/>
            <a:ext cx="2377440" cy="731520"/>
          </a:xfrm>
          <a:prstGeom prst="homePlate">
            <a:avLst/>
          </a:prstGeom>
          <a:solidFill>
            <a:srgbClr val="F9ECE6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600" b="1">
                <a:solidFill>
                  <a:srgbClr val="3A2A24"/>
                </a:solidFill>
                <a:latin typeface="Yu Gothic"/>
              </a:rPr>
              <a:t>① 市場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1691640"/>
            <a:ext cx="2194560" cy="82296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300" b="0">
                <a:solidFill>
                  <a:srgbClr val="3A2A24"/>
                </a:solidFill>
                <a:latin typeface="Yu Gothic"/>
              </a:rPr>
              <a:t>銅価格・需要</a:t>
            </a:r>
          </a:p>
          <a:p>
            <a:pPr algn="ctr"/>
            <a:r>
              <a:rPr sz="1300" b="0">
                <a:solidFill>
                  <a:srgbClr val="3A2A24"/>
                </a:solidFill>
                <a:latin typeface="Yu Gothic"/>
              </a:rPr>
              <a:t>カードを引く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2560320"/>
            <a:ext cx="219456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300" b="1">
                <a:solidFill>
                  <a:srgbClr val="333333"/>
                </a:solidFill>
                <a:latin typeface="Yu Gothic"/>
              </a:rPr>
              <a:t>① 見る</a:t>
            </a:r>
          </a:p>
        </p:txBody>
      </p:sp>
      <p:sp>
        <p:nvSpPr>
          <p:cNvPr id="9" name="Chevron 8"/>
          <p:cNvSpPr/>
          <p:nvPr/>
        </p:nvSpPr>
        <p:spPr>
          <a:xfrm>
            <a:off x="2651760" y="868680"/>
            <a:ext cx="2377440" cy="731520"/>
          </a:xfrm>
          <a:prstGeom prst="chevron">
            <a:avLst/>
          </a:prstGeom>
          <a:solidFill>
            <a:srgbClr val="F9ECE6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600" b="1">
                <a:solidFill>
                  <a:srgbClr val="3A2A24"/>
                </a:solidFill>
                <a:latin typeface="Yu Gothic"/>
              </a:rPr>
              <a:t>② 調達</a:t>
            </a:r>
          </a:p>
        </p:txBody>
      </p:sp>
      <p:sp>
        <p:nvSpPr>
          <p:cNvPr id="10" name="Rectangle 9"/>
          <p:cNvSpPr/>
          <p:nvPr/>
        </p:nvSpPr>
        <p:spPr>
          <a:xfrm>
            <a:off x="2743200" y="1691640"/>
            <a:ext cx="2194560" cy="82296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300" b="0">
                <a:solidFill>
                  <a:srgbClr val="3A2A24"/>
                </a:solidFill>
                <a:latin typeface="Yu Gothic"/>
              </a:rPr>
              <a:t>新規銅・リサイクル銅</a:t>
            </a:r>
          </a:p>
          <a:p>
            <a:pPr algn="ctr"/>
            <a:r>
              <a:rPr sz="1300" b="0">
                <a:solidFill>
                  <a:srgbClr val="3A2A24"/>
                </a:solidFill>
                <a:latin typeface="Yu Gothic"/>
              </a:rPr>
              <a:t>入札と交渉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2560320"/>
            <a:ext cx="219456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300" b="1">
                <a:solidFill>
                  <a:srgbClr val="333333"/>
                </a:solidFill>
                <a:latin typeface="Yu Gothic"/>
              </a:rPr>
              <a:t>③ 読む</a:t>
            </a:r>
          </a:p>
        </p:txBody>
      </p:sp>
      <p:sp>
        <p:nvSpPr>
          <p:cNvPr id="12" name="Chevron 11"/>
          <p:cNvSpPr/>
          <p:nvPr/>
        </p:nvSpPr>
        <p:spPr>
          <a:xfrm>
            <a:off x="4937760" y="868680"/>
            <a:ext cx="2377440" cy="731520"/>
          </a:xfrm>
          <a:prstGeom prst="chevron">
            <a:avLst/>
          </a:prstGeom>
          <a:solidFill>
            <a:srgbClr val="F9ECE6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600" b="1">
                <a:solidFill>
                  <a:srgbClr val="3A2A24"/>
                </a:solidFill>
                <a:latin typeface="Yu Gothic"/>
              </a:rPr>
              <a:t>③ 建設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0" y="1691640"/>
            <a:ext cx="2194560" cy="82296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300" b="0">
                <a:solidFill>
                  <a:srgbClr val="3A2A24"/>
                </a:solidFill>
                <a:latin typeface="Yu Gothic"/>
              </a:rPr>
              <a:t>発電所・設備を</a:t>
            </a:r>
          </a:p>
          <a:p>
            <a:pPr algn="ctr"/>
            <a:r>
              <a:rPr sz="1300" b="0">
                <a:solidFill>
                  <a:srgbClr val="3A2A24"/>
                </a:solidFill>
                <a:latin typeface="Yu Gothic"/>
              </a:rPr>
              <a:t>建てる／更新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0" y="2560320"/>
            <a:ext cx="219456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300" b="1">
                <a:solidFill>
                  <a:srgbClr val="333333"/>
                </a:solidFill>
                <a:latin typeface="Yu Gothic"/>
              </a:rPr>
              <a:t>② 測る</a:t>
            </a:r>
          </a:p>
        </p:txBody>
      </p:sp>
      <p:sp>
        <p:nvSpPr>
          <p:cNvPr id="15" name="Chevron 14"/>
          <p:cNvSpPr/>
          <p:nvPr/>
        </p:nvSpPr>
        <p:spPr>
          <a:xfrm>
            <a:off x="7223760" y="868680"/>
            <a:ext cx="2377440" cy="731520"/>
          </a:xfrm>
          <a:prstGeom prst="chevron">
            <a:avLst/>
          </a:prstGeom>
          <a:solidFill>
            <a:srgbClr val="FF5D3B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600" b="1">
                <a:solidFill>
                  <a:srgbClr val="FFFFFF"/>
                </a:solidFill>
                <a:latin typeface="Yu Gothic"/>
              </a:rPr>
              <a:t>④ 課題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0" y="1691640"/>
            <a:ext cx="2194560" cy="82296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300" b="0">
                <a:solidFill>
                  <a:srgbClr val="3A2A24"/>
                </a:solidFill>
                <a:latin typeface="Yu Gothic"/>
              </a:rPr>
              <a:t>経営課題</a:t>
            </a:r>
          </a:p>
          <a:p>
            <a:pPr algn="ctr"/>
            <a:r>
              <a:rPr sz="1300" b="0">
                <a:solidFill>
                  <a:srgbClr val="3A2A24"/>
                </a:solidFill>
                <a:latin typeface="Yu Gothic"/>
              </a:rPr>
              <a:t>カードが降る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2560320"/>
            <a:ext cx="219456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300" b="1">
                <a:solidFill>
                  <a:srgbClr val="333333"/>
                </a:solidFill>
                <a:latin typeface="Yu Gothic"/>
              </a:rPr>
              <a:t>④ 動かす</a:t>
            </a:r>
          </a:p>
        </p:txBody>
      </p:sp>
      <p:sp>
        <p:nvSpPr>
          <p:cNvPr id="18" name="Chevron 17"/>
          <p:cNvSpPr/>
          <p:nvPr/>
        </p:nvSpPr>
        <p:spPr>
          <a:xfrm>
            <a:off x="9509760" y="868680"/>
            <a:ext cx="2377440" cy="731520"/>
          </a:xfrm>
          <a:prstGeom prst="chevron">
            <a:avLst/>
          </a:prstGeom>
          <a:solidFill>
            <a:srgbClr val="F9ECE6"/>
          </a:solidFill>
          <a:ln>
            <a:noFill/>
          </a:ln>
        </p:spPr>
        <p:txBody>
          <a:bodyPr rtlCol="0" anchor="ctr"/>
          <a:lstStyle/>
          <a:p>
            <a:pPr algn="ctr"/>
            <a:r>
              <a:rPr sz="1600" b="1">
                <a:solidFill>
                  <a:srgbClr val="3A2A24"/>
                </a:solidFill>
                <a:latin typeface="Yu Gothic"/>
              </a:rPr>
              <a:t>⑤ 決算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601200" y="1691640"/>
            <a:ext cx="2194560" cy="82296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300" b="0">
                <a:solidFill>
                  <a:srgbClr val="3A2A24"/>
                </a:solidFill>
                <a:latin typeface="Yu Gothic"/>
              </a:rPr>
              <a:t>供給量を計算</a:t>
            </a:r>
          </a:p>
          <a:p>
            <a:pPr algn="ctr"/>
            <a:r>
              <a:rPr sz="1300" b="0">
                <a:solidFill>
                  <a:srgbClr val="3A2A24"/>
                </a:solidFill>
                <a:latin typeface="Yu Gothic"/>
              </a:rPr>
              <a:t>旧設備を回収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601200" y="2560320"/>
            <a:ext cx="219456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ctr"/>
            <a:r>
              <a:rPr sz="1300" b="1">
                <a:solidFill>
                  <a:srgbClr val="333333"/>
                </a:solidFill>
                <a:latin typeface="Yu Gothic"/>
              </a:rPr>
              <a:t>② 測る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200400"/>
            <a:ext cx="5577840" cy="29260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65760" y="3246120"/>
            <a:ext cx="5577840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600" b="1">
                <a:solidFill>
                  <a:srgbClr val="333333"/>
                </a:solidFill>
                <a:latin typeface="Yu Gothic"/>
              </a:rPr>
              <a:t>世界の銅は、全チームで共有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3703320"/>
            <a:ext cx="5577840" cy="23774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spcBef>
                <a:spcPts val="800"/>
              </a:spcBef>
            </a:pPr>
            <a:r>
              <a:rPr sz="1400" b="0">
                <a:solidFill>
                  <a:srgbClr val="3A2A24"/>
                </a:solidFill>
                <a:latin typeface="Yu Gothic"/>
              </a:rPr>
              <a:t>新規銅の山札は、全員の共有資源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rgbClr val="3A2A24"/>
                </a:solidFill>
                <a:latin typeface="Yu Gothic"/>
              </a:rPr>
              <a:t>尽きた年から、新規調達は不可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rgbClr val="3A2A24"/>
                </a:solidFill>
                <a:latin typeface="Yu Gothic"/>
              </a:rPr>
              <a:t>リサイクル銅だけが頼りになる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rgbClr val="3A2A24"/>
                </a:solidFill>
                <a:latin typeface="Yu Gothic"/>
              </a:rPr>
              <a:t>→ 取りすぎるか、分け合うか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3200400"/>
            <a:ext cx="5669280" cy="29260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0" y="3246120"/>
            <a:ext cx="5669280" cy="41148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600" b="1">
                <a:solidFill>
                  <a:srgbClr val="333333"/>
                </a:solidFill>
                <a:latin typeface="Yu Gothic"/>
              </a:rPr>
              <a:t>毎ラウンドの記録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26480" y="3703320"/>
            <a:ext cx="5669280" cy="237744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>
              <a:spcBef>
                <a:spcPts val="800"/>
              </a:spcBef>
            </a:pPr>
            <a:r>
              <a:rPr sz="1400" b="0">
                <a:solidFill>
                  <a:srgbClr val="3A2A24"/>
                </a:solidFill>
                <a:latin typeface="Yu Gothic"/>
              </a:rPr>
              <a:t>銅の収支表（入った量／出た量／戻った量）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rgbClr val="3A2A24"/>
                </a:solidFill>
                <a:latin typeface="Yu Gothic"/>
              </a:rPr>
              <a:t>現金と借入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rgbClr val="3A2A24"/>
                </a:solidFill>
                <a:latin typeface="Yu Gothic"/>
              </a:rPr>
              <a:t>街の需要と、供給量</a:t>
            </a:r>
          </a:p>
          <a:p>
            <a:pPr algn="l">
              <a:spcBef>
                <a:spcPts val="800"/>
              </a:spcBef>
            </a:pPr>
            <a:r>
              <a:rPr sz="1400" b="0">
                <a:solidFill>
                  <a:srgbClr val="3A2A24"/>
                </a:solidFill>
                <a:latin typeface="Yu Gothic"/>
              </a:rPr>
              <a:t>暮らし指標（安定・手頃・環境）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56616" y="137160"/>
            <a:ext cx="2103120" cy="365760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カード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06040" y="109728"/>
            <a:ext cx="9144000" cy="420624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000" b="1">
                <a:solidFill>
                  <a:srgbClr val="333333"/>
                </a:solidFill>
                <a:latin typeface="Yu Gothic"/>
              </a:rPr>
              <a:t>カードの種類と、品位のルール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291072"/>
            <a:ext cx="11612880" cy="310896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 b="0">
                <a:solidFill>
                  <a:srgbClr val="7A6E66"/>
                </a:solidFill>
                <a:latin typeface="Yu Gothic"/>
              </a:rPr>
              <a:t>出典：ゲーム設計は当方の提案（案）。数値は架空で、実データを使う場合は出典確認が必要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777240"/>
            <a:ext cx="2057400" cy="384048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種類</a:t>
            </a:r>
          </a:p>
        </p:txBody>
      </p:sp>
      <p:sp>
        <p:nvSpPr>
          <p:cNvPr id="7" name="Rectangle 6"/>
          <p:cNvSpPr/>
          <p:nvPr/>
        </p:nvSpPr>
        <p:spPr>
          <a:xfrm>
            <a:off x="2468879" y="777240"/>
            <a:ext cx="5623560" cy="384048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中身</a:t>
            </a:r>
          </a:p>
        </p:txBody>
      </p:sp>
      <p:sp>
        <p:nvSpPr>
          <p:cNvPr id="8" name="Rectangle 7"/>
          <p:cNvSpPr/>
          <p:nvPr/>
        </p:nvSpPr>
        <p:spPr>
          <a:xfrm>
            <a:off x="8138160" y="777240"/>
            <a:ext cx="3611880" cy="384048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ねらい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207008"/>
            <a:ext cx="2057400" cy="640080"/>
          </a:xfrm>
          <a:prstGeom prst="rect">
            <a:avLst/>
          </a:prstGeom>
          <a:solidFill>
            <a:srgbClr val="F9ECE6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250" b="1">
                <a:solidFill>
                  <a:srgbClr val="333333"/>
                </a:solidFill>
                <a:latin typeface="Yu Gothic"/>
              </a:rPr>
              <a:t>資源カード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68879" y="1207008"/>
            <a:ext cx="5623560" cy="6400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250" b="0">
                <a:solidFill>
                  <a:srgbClr val="3A2A24"/>
                </a:solidFill>
                <a:latin typeface="Yu Gothic"/>
              </a:rPr>
              <a:t>新規銅／リサイクル銅（品位A・B・C）／資金／人材／信用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138160" y="1207008"/>
            <a:ext cx="3611880" cy="6400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250" b="0">
                <a:solidFill>
                  <a:srgbClr val="3A2A24"/>
                </a:solidFill>
                <a:latin typeface="Yu Gothic"/>
              </a:rPr>
              <a:t>銅の収支を“数える”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892808"/>
            <a:ext cx="2057400" cy="640080"/>
          </a:xfrm>
          <a:prstGeom prst="rect">
            <a:avLst/>
          </a:prstGeom>
          <a:solidFill>
            <a:srgbClr val="F9ECE6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250" b="1">
                <a:solidFill>
                  <a:srgbClr val="333333"/>
                </a:solidFill>
                <a:latin typeface="Yu Gothic"/>
              </a:rPr>
              <a:t>発電所カード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468879" y="1892808"/>
            <a:ext cx="5623560" cy="6400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250" b="0">
                <a:solidFill>
                  <a:srgbClr val="3A2A24"/>
                </a:solidFill>
                <a:latin typeface="Yu Gothic"/>
              </a:rPr>
              <a:t>建設銅量・コスト・発電量・安定度・環境負荷・寿命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138160" y="1892808"/>
            <a:ext cx="3611880" cy="6400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250" b="0">
                <a:solidFill>
                  <a:srgbClr val="3A2A24"/>
                </a:solidFill>
                <a:latin typeface="Yu Gothic"/>
              </a:rPr>
              <a:t>トレードオフを選ぶ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578608"/>
            <a:ext cx="2057400" cy="640080"/>
          </a:xfrm>
          <a:prstGeom prst="rect">
            <a:avLst/>
          </a:prstGeom>
          <a:solidFill>
            <a:srgbClr val="F9ECE6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250" b="1">
                <a:solidFill>
                  <a:srgbClr val="333333"/>
                </a:solidFill>
                <a:latin typeface="Yu Gothic"/>
              </a:rPr>
              <a:t>設備カード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468879" y="2578608"/>
            <a:ext cx="5623560" cy="6400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250" b="0">
                <a:solidFill>
                  <a:srgbClr val="3A2A24"/>
                </a:solidFill>
                <a:latin typeface="Yu Gothic"/>
              </a:rPr>
              <a:t>送電網／蓄電池／分離設備／回収網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38160" y="2578608"/>
            <a:ext cx="3611880" cy="6400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250" b="0">
                <a:solidFill>
                  <a:srgbClr val="3A2A24"/>
                </a:solidFill>
                <a:latin typeface="Yu Gothic"/>
              </a:rPr>
              <a:t>投資の順番を考える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264408"/>
            <a:ext cx="2057400" cy="640080"/>
          </a:xfrm>
          <a:prstGeom prst="rect">
            <a:avLst/>
          </a:prstGeom>
          <a:solidFill>
            <a:srgbClr val="F9ECE6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250" b="1">
                <a:solidFill>
                  <a:srgbClr val="333333"/>
                </a:solidFill>
                <a:latin typeface="Yu Gothic"/>
              </a:rPr>
              <a:t>役割カード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468879" y="3264408"/>
            <a:ext cx="5623560" cy="6400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250" b="0">
                <a:solidFill>
                  <a:srgbClr val="3A2A24"/>
                </a:solidFill>
                <a:latin typeface="Yu Gothic"/>
              </a:rPr>
              <a:t>社長・財務・運用・社会（目標が対立）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138160" y="3264408"/>
            <a:ext cx="3611880" cy="6400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250" b="0">
                <a:solidFill>
                  <a:srgbClr val="3A2A24"/>
                </a:solidFill>
                <a:latin typeface="Yu Gothic"/>
              </a:rPr>
              <a:t>チーム内で合意をつくる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950208"/>
            <a:ext cx="2057400" cy="640080"/>
          </a:xfrm>
          <a:prstGeom prst="rect">
            <a:avLst/>
          </a:prstGeom>
          <a:solidFill>
            <a:srgbClr val="F9ECE6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250" b="1">
                <a:solidFill>
                  <a:srgbClr val="333333"/>
                </a:solidFill>
                <a:latin typeface="Yu Gothic"/>
              </a:rPr>
              <a:t>課題カード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68879" y="3950208"/>
            <a:ext cx="5623560" cy="6400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250" b="0">
                <a:solidFill>
                  <a:srgbClr val="3A2A24"/>
                </a:solidFill>
                <a:latin typeface="Yu Gothic"/>
              </a:rPr>
              <a:t>全員共通＋チームごとの秘密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138160" y="3950208"/>
            <a:ext cx="3611880" cy="64008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250" b="0">
                <a:solidFill>
                  <a:srgbClr val="3A2A24"/>
                </a:solidFill>
                <a:latin typeface="Yu Gothic"/>
              </a:rPr>
              <a:t>不確実性に向き合う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709160"/>
            <a:ext cx="11430000" cy="1463040"/>
          </a:xfrm>
          <a:prstGeom prst="rect">
            <a:avLst/>
          </a:prstGeom>
          <a:solidFill>
            <a:srgbClr val="F9EC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65760" y="4754880"/>
            <a:ext cx="11430000" cy="411480"/>
          </a:xfrm>
          <a:prstGeom prst="rect">
            <a:avLst/>
          </a:prstGeom>
          <a:noFill/>
        </p:spPr>
        <p:txBody>
          <a:bodyPr wrap="square" anchor="t" lIns="182880" rIns="182880">
            <a:spAutoFit/>
          </a:bodyPr>
          <a:lstStyle/>
          <a:p>
            <a:pPr algn="l"/>
            <a:r>
              <a:rPr sz="1600" b="1">
                <a:solidFill>
                  <a:srgbClr val="333333"/>
                </a:solidFill>
                <a:latin typeface="Yu Gothic"/>
              </a:rPr>
              <a:t>品位のルール（戻せるもの／戻せないもの）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5212080"/>
            <a:ext cx="11430000" cy="914400"/>
          </a:xfrm>
          <a:prstGeom prst="rect">
            <a:avLst/>
          </a:prstGeom>
          <a:noFill/>
        </p:spPr>
        <p:txBody>
          <a:bodyPr wrap="square" anchor="t" lIns="182880" rIns="182880">
            <a:spAutoFit/>
          </a:bodyPr>
          <a:lstStyle/>
          <a:p>
            <a:pPr algn="l">
              <a:spcBef>
                <a:spcPts val="500"/>
              </a:spcBef>
            </a:pPr>
            <a:r>
              <a:rPr sz="1400" b="0">
                <a:solidFill>
                  <a:srgbClr val="3A2A24"/>
                </a:solidFill>
                <a:latin typeface="Yu Gothic"/>
              </a:rPr>
              <a:t>品位A（純銅）：そのまま使える　／　品位B（錫が混ざる）：配合で調整</a:t>
            </a:r>
          </a:p>
          <a:p>
            <a:pPr algn="l">
              <a:spcBef>
                <a:spcPts val="500"/>
              </a:spcBef>
            </a:pPr>
            <a:r>
              <a:rPr sz="1400" b="0">
                <a:solidFill>
                  <a:srgbClr val="3A2A24"/>
                </a:solidFill>
                <a:latin typeface="Yu Gothic"/>
              </a:rPr>
              <a:t>品位C（ニッケルめっき付き）：分離設備がないと使えない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56616" y="137160"/>
            <a:ext cx="2103120" cy="365760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経営課題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06040" y="109728"/>
            <a:ext cx="9144000" cy="420624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000" b="1">
                <a:solidFill>
                  <a:srgbClr val="333333"/>
                </a:solidFill>
                <a:latin typeface="Yu Gothic"/>
              </a:rPr>
              <a:t>経営課題カード：正解のないジレンマ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291072"/>
            <a:ext cx="11612880" cy="310896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 b="0">
                <a:solidFill>
                  <a:srgbClr val="7A6E66"/>
                </a:solidFill>
                <a:latin typeface="Yu Gothic"/>
              </a:rPr>
              <a:t>出典：ゲーム設計は当方の提案（案）。数値は架空で、実データを使う場合は出典確認が必要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777240"/>
            <a:ext cx="3246120" cy="384048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課題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0" y="777240"/>
            <a:ext cx="6812280" cy="384048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ジレンマ</a:t>
            </a:r>
          </a:p>
        </p:txBody>
      </p:sp>
      <p:sp>
        <p:nvSpPr>
          <p:cNvPr id="8" name="Rectangle 7"/>
          <p:cNvSpPr/>
          <p:nvPr/>
        </p:nvSpPr>
        <p:spPr>
          <a:xfrm>
            <a:off x="10515600" y="777240"/>
            <a:ext cx="1234439" cy="384048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分析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207008"/>
            <a:ext cx="3246120" cy="475488"/>
          </a:xfrm>
          <a:prstGeom prst="rect">
            <a:avLst/>
          </a:prstGeom>
          <a:solidFill>
            <a:srgbClr val="F9ECE6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300" b="1">
                <a:solidFill>
                  <a:srgbClr val="333333"/>
                </a:solidFill>
                <a:latin typeface="Yu Gothic"/>
              </a:rPr>
              <a:t>銅価格が2倍に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0" y="1207008"/>
            <a:ext cx="6812280" cy="47548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300" b="0">
                <a:solidFill>
                  <a:srgbClr val="3A2A24"/>
                </a:solidFill>
                <a:latin typeface="Yu Gothic"/>
              </a:rPr>
              <a:t>建設を止める？借金して進める？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515600" y="1207008"/>
            <a:ext cx="1234439" cy="47548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300" b="0">
                <a:solidFill>
                  <a:srgbClr val="3A2A24"/>
                </a:solidFill>
                <a:latin typeface="Yu Gothic"/>
              </a:rPr>
              <a:t>② 測る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728216"/>
            <a:ext cx="3246120" cy="475488"/>
          </a:xfrm>
          <a:prstGeom prst="rect">
            <a:avLst/>
          </a:prstGeom>
          <a:solidFill>
            <a:srgbClr val="F9ECE6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300" b="1">
                <a:solidFill>
                  <a:srgbClr val="333333"/>
                </a:solidFill>
                <a:latin typeface="Yu Gothic"/>
              </a:rPr>
              <a:t>需要が急増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0" y="1728216"/>
            <a:ext cx="6812280" cy="47548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300" b="0">
                <a:solidFill>
                  <a:srgbClr val="3A2A24"/>
                </a:solidFill>
                <a:latin typeface="Yu Gothic"/>
              </a:rPr>
              <a:t>品質を削って増産？不足を許す？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515600" y="1728216"/>
            <a:ext cx="1234439" cy="47548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300" b="0">
                <a:solidFill>
                  <a:srgbClr val="3A2A24"/>
                </a:solidFill>
                <a:latin typeface="Yu Gothic"/>
              </a:rPr>
              <a:t>④ 動かす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249424"/>
            <a:ext cx="3246120" cy="475488"/>
          </a:xfrm>
          <a:prstGeom prst="rect">
            <a:avLst/>
          </a:prstGeom>
          <a:solidFill>
            <a:srgbClr val="F9ECE6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300" b="1">
                <a:solidFill>
                  <a:srgbClr val="333333"/>
                </a:solidFill>
                <a:latin typeface="Yu Gothic"/>
              </a:rPr>
              <a:t>安いスクラップが大量に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0" y="2249424"/>
            <a:ext cx="6812280" cy="47548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300" b="0">
                <a:solidFill>
                  <a:srgbClr val="3A2A24"/>
                </a:solidFill>
                <a:latin typeface="Yu Gothic"/>
              </a:rPr>
              <a:t>使う？分離設備に投資する？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515600" y="2249424"/>
            <a:ext cx="1234439" cy="47548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300" b="0">
                <a:solidFill>
                  <a:srgbClr val="3A2A24"/>
                </a:solidFill>
                <a:latin typeface="Yu Gothic"/>
              </a:rPr>
              <a:t>② 測る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770632"/>
            <a:ext cx="3246120" cy="475488"/>
          </a:xfrm>
          <a:prstGeom prst="rect">
            <a:avLst/>
          </a:prstGeom>
          <a:solidFill>
            <a:srgbClr val="F9ECE6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300" b="1">
                <a:solidFill>
                  <a:srgbClr val="333333"/>
                </a:solidFill>
                <a:latin typeface="Yu Gothic"/>
              </a:rPr>
              <a:t>回収業者が撤退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0" y="2770632"/>
            <a:ext cx="6812280" cy="47548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300" b="0">
                <a:solidFill>
                  <a:srgbClr val="3A2A24"/>
                </a:solidFill>
                <a:latin typeface="Yu Gothic"/>
              </a:rPr>
              <a:t>自前の回収網？他チームと共同？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515600" y="2770632"/>
            <a:ext cx="1234439" cy="47548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300" b="0">
                <a:solidFill>
                  <a:srgbClr val="3A2A24"/>
                </a:solidFill>
                <a:latin typeface="Yu Gothic"/>
              </a:rPr>
              <a:t>① ③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291840"/>
            <a:ext cx="3246120" cy="475488"/>
          </a:xfrm>
          <a:prstGeom prst="rect">
            <a:avLst/>
          </a:prstGeom>
          <a:solidFill>
            <a:srgbClr val="F9ECE6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300" b="1">
                <a:solidFill>
                  <a:srgbClr val="333333"/>
                </a:solidFill>
                <a:latin typeface="Yu Gothic"/>
              </a:rPr>
              <a:t>ベテランが退職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0" y="3291840"/>
            <a:ext cx="6812280" cy="47548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300" b="0">
                <a:solidFill>
                  <a:srgbClr val="3A2A24"/>
                </a:solidFill>
                <a:latin typeface="Yu Gothic"/>
              </a:rPr>
              <a:t>技能を継ぐ？自動化に投資する？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515600" y="3291840"/>
            <a:ext cx="1234439" cy="47548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300" b="0">
                <a:solidFill>
                  <a:srgbClr val="3A2A24"/>
                </a:solidFill>
                <a:latin typeface="Yu Gothic"/>
              </a:rPr>
              <a:t>④ 動かす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813048"/>
            <a:ext cx="3246120" cy="475488"/>
          </a:xfrm>
          <a:prstGeom prst="rect">
            <a:avLst/>
          </a:prstGeom>
          <a:solidFill>
            <a:srgbClr val="F9ECE6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300" b="1">
                <a:solidFill>
                  <a:srgbClr val="333333"/>
                </a:solidFill>
                <a:latin typeface="Yu Gothic"/>
              </a:rPr>
              <a:t>住民が立地に反対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657600" y="3813048"/>
            <a:ext cx="6812280" cy="47548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300" b="0">
                <a:solidFill>
                  <a:srgbClr val="3A2A24"/>
                </a:solidFill>
                <a:latin typeface="Yu Gothic"/>
              </a:rPr>
              <a:t>補償する？別の場所にする？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515600" y="3813048"/>
            <a:ext cx="1234439" cy="47548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300" b="0">
                <a:solidFill>
                  <a:srgbClr val="3A2A24"/>
                </a:solidFill>
                <a:latin typeface="Yu Gothic"/>
              </a:rPr>
              <a:t>① 見る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4334256"/>
            <a:ext cx="3246120" cy="475488"/>
          </a:xfrm>
          <a:prstGeom prst="rect">
            <a:avLst/>
          </a:prstGeom>
          <a:solidFill>
            <a:srgbClr val="F9ECE6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300" b="1">
                <a:solidFill>
                  <a:srgbClr val="333333"/>
                </a:solidFill>
                <a:latin typeface="Yu Gothic"/>
              </a:rPr>
              <a:t>取引先が値上げを要求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57600" y="4334256"/>
            <a:ext cx="6812280" cy="47548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300" b="0">
                <a:solidFill>
                  <a:srgbClr val="3A2A24"/>
                </a:solidFill>
                <a:latin typeface="Yu Gothic"/>
              </a:rPr>
              <a:t>受ける？別の調達先を探す？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515600" y="4334256"/>
            <a:ext cx="1234439" cy="47548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300" b="0">
                <a:solidFill>
                  <a:srgbClr val="3A2A24"/>
                </a:solidFill>
                <a:latin typeface="Yu Gothic"/>
              </a:rPr>
              <a:t>③ 読む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855464"/>
            <a:ext cx="3246120" cy="475488"/>
          </a:xfrm>
          <a:prstGeom prst="rect">
            <a:avLst/>
          </a:prstGeom>
          <a:solidFill>
            <a:srgbClr val="F9ECE6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300" b="1">
                <a:solidFill>
                  <a:srgbClr val="333333"/>
                </a:solidFill>
                <a:latin typeface="Yu Gothic"/>
              </a:rPr>
              <a:t>資金繰りが悪化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657600" y="4855464"/>
            <a:ext cx="6812280" cy="47548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300" b="0">
                <a:solidFill>
                  <a:srgbClr val="3A2A24"/>
                </a:solidFill>
                <a:latin typeface="Yu Gothic"/>
              </a:rPr>
              <a:t>資産を売る？増資を受ける？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515600" y="4855464"/>
            <a:ext cx="1234439" cy="47548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300" b="0">
                <a:solidFill>
                  <a:srgbClr val="3A2A24"/>
                </a:solidFill>
                <a:latin typeface="Yu Gothic"/>
              </a:rPr>
              <a:t>② 測る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5760720"/>
            <a:ext cx="1143000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400" b="1">
                <a:solidFill>
                  <a:srgbClr val="333333"/>
                </a:solidFill>
                <a:latin typeface="Yu Gothic"/>
              </a:rPr>
              <a:t>役割ごとの秘密の目標で、チーム内でも意見が割れる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56616" y="137160"/>
            <a:ext cx="2103120" cy="365760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オリエン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06040" y="109728"/>
            <a:ext cx="9144000" cy="420624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000" b="1">
                <a:solidFill>
                  <a:srgbClr val="333333"/>
                </a:solidFill>
                <a:latin typeface="Yu Gothic"/>
              </a:rPr>
              <a:t>オリエンテーリング：工場の学びが、ゲームの力になる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291072"/>
            <a:ext cx="11612880" cy="310896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 b="0">
                <a:solidFill>
                  <a:srgbClr val="7A6E66"/>
                </a:solidFill>
                <a:latin typeface="Yu Gothic"/>
              </a:rPr>
              <a:t>出典：ゲーム設計は当方の提案（案）。数値は架空で、実データを使う場合は出典確認が必要。見学ルートは既存案（8・9・6/10・3号棟）。人の作業は撮影NG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777240"/>
            <a:ext cx="3429000" cy="384048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チェックポイント</a:t>
            </a:r>
          </a:p>
        </p:txBody>
      </p:sp>
      <p:sp>
        <p:nvSpPr>
          <p:cNvPr id="7" name="Rectangle 6"/>
          <p:cNvSpPr/>
          <p:nvPr/>
        </p:nvSpPr>
        <p:spPr>
          <a:xfrm>
            <a:off x="3840480" y="777240"/>
            <a:ext cx="4617720" cy="384048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ミッション</a:t>
            </a:r>
          </a:p>
        </p:txBody>
      </p:sp>
      <p:sp>
        <p:nvSpPr>
          <p:cNvPr id="8" name="Rectangle 7"/>
          <p:cNvSpPr/>
          <p:nvPr/>
        </p:nvSpPr>
        <p:spPr>
          <a:xfrm>
            <a:off x="8503920" y="777240"/>
            <a:ext cx="3246120" cy="384048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獲得するもの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207008"/>
            <a:ext cx="3429000" cy="566928"/>
          </a:xfrm>
          <a:prstGeom prst="rect">
            <a:avLst/>
          </a:prstGeom>
          <a:solidFill>
            <a:srgbClr val="F9ECE6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300" b="1">
                <a:solidFill>
                  <a:srgbClr val="333333"/>
                </a:solidFill>
                <a:latin typeface="Yu Gothic"/>
              </a:rPr>
              <a:t>CP1　原材料（8号棟）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3840480" y="1207008"/>
            <a:ext cx="4617720" cy="56692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300" b="0">
                <a:solidFill>
                  <a:srgbClr val="3A2A24"/>
                </a:solidFill>
                <a:latin typeface="Yu Gothic"/>
              </a:rPr>
              <a:t>スクラップの種類を見分ける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503920" y="1207008"/>
            <a:ext cx="3246120" cy="56692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300" b="0">
                <a:solidFill>
                  <a:srgbClr val="3A2A24"/>
                </a:solidFill>
                <a:latin typeface="Yu Gothic"/>
              </a:rPr>
              <a:t>リサイクル銅カード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819656"/>
            <a:ext cx="3429000" cy="566928"/>
          </a:xfrm>
          <a:prstGeom prst="rect">
            <a:avLst/>
          </a:prstGeom>
          <a:solidFill>
            <a:srgbClr val="F9ECE6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300" b="1">
                <a:solidFill>
                  <a:srgbClr val="333333"/>
                </a:solidFill>
                <a:latin typeface="Yu Gothic"/>
              </a:rPr>
              <a:t>CP2　インゴット（9号棟）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840480" y="1819656"/>
            <a:ext cx="4617720" cy="56692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300" b="0">
                <a:solidFill>
                  <a:srgbClr val="3A2A24"/>
                </a:solidFill>
                <a:latin typeface="Yu Gothic"/>
              </a:rPr>
              <a:t>成分ブロックで配合を組む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03920" y="1819656"/>
            <a:ext cx="3246120" cy="56692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300" b="0">
                <a:solidFill>
                  <a:srgbClr val="3A2A24"/>
                </a:solidFill>
                <a:latin typeface="Yu Gothic"/>
              </a:rPr>
              <a:t>配合カード（品位UP）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432304"/>
            <a:ext cx="3429000" cy="566928"/>
          </a:xfrm>
          <a:prstGeom prst="rect">
            <a:avLst/>
          </a:prstGeom>
          <a:solidFill>
            <a:srgbClr val="F9ECE6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300" b="1">
                <a:solidFill>
                  <a:srgbClr val="333333"/>
                </a:solidFill>
                <a:latin typeface="Yu Gothic"/>
              </a:rPr>
              <a:t>CP3　圧延・熱処理（6・10号棟）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840480" y="2432304"/>
            <a:ext cx="4617720" cy="56692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300" b="0">
                <a:solidFill>
                  <a:srgbClr val="3A2A24"/>
                </a:solidFill>
                <a:latin typeface="Yu Gothic"/>
              </a:rPr>
              <a:t>結晶構造の写真と照合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503920" y="2432304"/>
            <a:ext cx="3246120" cy="56692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300" b="0">
                <a:solidFill>
                  <a:srgbClr val="3A2A24"/>
                </a:solidFill>
                <a:latin typeface="Yu Gothic"/>
              </a:rPr>
              <a:t>高効率の設備カード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3044952"/>
            <a:ext cx="3429000" cy="566928"/>
          </a:xfrm>
          <a:prstGeom prst="rect">
            <a:avLst/>
          </a:prstGeom>
          <a:solidFill>
            <a:srgbClr val="F9ECE6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300" b="1">
                <a:solidFill>
                  <a:srgbClr val="333333"/>
                </a:solidFill>
                <a:latin typeface="Yu Gothic"/>
              </a:rPr>
              <a:t>CP4　品質（3号棟）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40480" y="3044952"/>
            <a:ext cx="4617720" cy="56692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300" b="0">
                <a:solidFill>
                  <a:srgbClr val="3A2A24"/>
                </a:solidFill>
                <a:latin typeface="Yu Gothic"/>
              </a:rPr>
              <a:t>社員に聞く：なぜスクラップ行き？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503920" y="3044952"/>
            <a:ext cx="3246120" cy="56692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300" b="0">
                <a:solidFill>
                  <a:srgbClr val="3A2A24"/>
                </a:solidFill>
                <a:latin typeface="Yu Gothic"/>
              </a:rPr>
              <a:t>課題カード（現場の本音）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657600"/>
            <a:ext cx="3429000" cy="566928"/>
          </a:xfrm>
          <a:prstGeom prst="rect">
            <a:avLst/>
          </a:prstGeom>
          <a:solidFill>
            <a:srgbClr val="F9ECE6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300" b="1">
                <a:solidFill>
                  <a:srgbClr val="333333"/>
                </a:solidFill>
                <a:latin typeface="Yu Gothic"/>
              </a:rPr>
              <a:t>CP5　守衛所（理念）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840480" y="3657600"/>
            <a:ext cx="4617720" cy="56692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300" b="0">
                <a:solidFill>
                  <a:srgbClr val="3A2A24"/>
                </a:solidFill>
                <a:latin typeface="Yu Gothic"/>
              </a:rPr>
              <a:t>スクラップを量って寄付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503920" y="3657600"/>
            <a:ext cx="3246120" cy="56692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300" b="0">
                <a:solidFill>
                  <a:srgbClr val="3A2A24"/>
                </a:solidFill>
                <a:latin typeface="Yu Gothic"/>
              </a:rPr>
              <a:t>信用カード（実重量を換算）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4270248"/>
            <a:ext cx="3429000" cy="566928"/>
          </a:xfrm>
          <a:prstGeom prst="rect">
            <a:avLst/>
          </a:prstGeom>
          <a:solidFill>
            <a:srgbClr val="F9ECE6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300" b="1">
                <a:solidFill>
                  <a:srgbClr val="333333"/>
                </a:solidFill>
                <a:latin typeface="Yu Gothic"/>
              </a:rPr>
              <a:t>CP6　自由課題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40480" y="4270248"/>
            <a:ext cx="4617720" cy="56692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300" b="0">
                <a:solidFill>
                  <a:srgbClr val="3A2A24"/>
                </a:solidFill>
                <a:latin typeface="Yu Gothic"/>
              </a:rPr>
              <a:t>もったいないポイントを撮影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503920" y="4270248"/>
            <a:ext cx="3246120" cy="566928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300" b="0">
                <a:solidFill>
                  <a:srgbClr val="3A2A24"/>
                </a:solidFill>
                <a:latin typeface="Yu Gothic"/>
              </a:rPr>
              <a:t>改善案カード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5074920"/>
            <a:ext cx="11430000" cy="1143000"/>
          </a:xfrm>
          <a:prstGeom prst="rect">
            <a:avLst/>
          </a:prstGeom>
          <a:solidFill>
            <a:srgbClr val="F9ECE6"/>
          </a:solidFill>
          <a:ln>
            <a:noFill/>
          </a:ln>
          <a:effectLst/>
        </p:spPr>
        <p:txBody>
          <a:bodyPr rtlCol="0" anchor="t" wrap="square" lIns="182880" rIns="182880"/>
          <a:lstStyle/>
          <a:p>
            <a:pPr algn="l"/>
            <a:r>
              <a:rPr sz="1500" b="1">
                <a:solidFill>
                  <a:srgbClr val="333333"/>
                </a:solidFill>
                <a:latin typeface="Yu Gothic"/>
              </a:rPr>
              <a:t>4人で手分けして回り、戻って情報を持ち寄る</a:t>
            </a:r>
          </a:p>
          <a:p>
            <a:pPr algn="l">
              <a:spcBef>
                <a:spcPts val="400"/>
              </a:spcBef>
            </a:pPr>
            <a:r>
              <a:rPr sz="1300" b="0">
                <a:solidFill>
                  <a:srgbClr val="3A2A24"/>
                </a:solidFill>
                <a:latin typeface="Yu Gothic"/>
              </a:rPr>
              <a:t>安全：保護具・立入禁止区域・社員の同行を事前に確認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56616" y="137160"/>
            <a:ext cx="2103120" cy="365760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結果判定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06040" y="109728"/>
            <a:ext cx="9144000" cy="420624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000" b="1">
                <a:solidFill>
                  <a:srgbClr val="333333"/>
                </a:solidFill>
                <a:latin typeface="Yu Gothic"/>
              </a:rPr>
              <a:t>結果：供給量と、街の暮らしの変化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291072"/>
            <a:ext cx="11612880" cy="310896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 b="0">
                <a:solidFill>
                  <a:srgbClr val="7A6E66"/>
                </a:solidFill>
                <a:latin typeface="Yu Gothic"/>
              </a:rPr>
              <a:t>出典：ゲーム設計は当方の提案（案）。数値は架空で、実データを使う場合は出典確認が必要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777240"/>
            <a:ext cx="11430000" cy="45720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600" b="1">
                <a:solidFill>
                  <a:srgbClr val="333333"/>
                </a:solidFill>
                <a:latin typeface="Yu Gothic"/>
              </a:rPr>
              <a:t>供給率（発電量÷需要）と、暮らし3指標（安定・手頃・環境）で判定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1325880"/>
            <a:ext cx="1143000" cy="384048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判定</a:t>
            </a:r>
          </a:p>
        </p:txBody>
      </p:sp>
      <p:sp>
        <p:nvSpPr>
          <p:cNvPr id="8" name="Rectangle 7"/>
          <p:cNvSpPr/>
          <p:nvPr/>
        </p:nvSpPr>
        <p:spPr>
          <a:xfrm>
            <a:off x="1554480" y="1325880"/>
            <a:ext cx="3063240" cy="384048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条件</a:t>
            </a:r>
          </a:p>
        </p:txBody>
      </p:sp>
      <p:sp>
        <p:nvSpPr>
          <p:cNvPr id="9" name="Rectangle 8"/>
          <p:cNvSpPr/>
          <p:nvPr/>
        </p:nvSpPr>
        <p:spPr>
          <a:xfrm>
            <a:off x="4663440" y="1325880"/>
            <a:ext cx="7086600" cy="384048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街の姿（読み上げ）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1755648"/>
            <a:ext cx="1143000" cy="685800"/>
          </a:xfrm>
          <a:prstGeom prst="rect">
            <a:avLst/>
          </a:prstGeom>
          <a:solidFill>
            <a:srgbClr val="F9ECE6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400" b="1">
                <a:solidFill>
                  <a:srgbClr val="333333"/>
                </a:solidFill>
                <a:latin typeface="Yu Gothic"/>
              </a:rPr>
              <a:t>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554480" y="1755648"/>
            <a:ext cx="3063240" cy="6858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400" b="0">
                <a:solidFill>
                  <a:srgbClr val="3A2A24"/>
                </a:solidFill>
                <a:latin typeface="Yu Gothic"/>
              </a:rPr>
              <a:t>供給100％以上、3指標とも良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40" y="1755648"/>
            <a:ext cx="7086600" cy="6858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400" b="0">
                <a:solidFill>
                  <a:srgbClr val="3A2A24"/>
                </a:solidFill>
                <a:latin typeface="Yu Gothic"/>
              </a:rPr>
              <a:t>夜も明るい街。新しい産業が育つ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2487168"/>
            <a:ext cx="1143000" cy="685800"/>
          </a:xfrm>
          <a:prstGeom prst="rect">
            <a:avLst/>
          </a:prstGeom>
          <a:solidFill>
            <a:srgbClr val="F9ECE6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400" b="1">
                <a:solidFill>
                  <a:srgbClr val="333333"/>
                </a:solidFill>
                <a:latin typeface="Yu Gothic"/>
              </a:rPr>
              <a:t>B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554480" y="2487168"/>
            <a:ext cx="3063240" cy="6858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400" b="0">
                <a:solidFill>
                  <a:srgbClr val="3A2A24"/>
                </a:solidFill>
                <a:latin typeface="Yu Gothic"/>
              </a:rPr>
              <a:t>供給100％前後、料金が重い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663440" y="2487168"/>
            <a:ext cx="7086600" cy="6858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400" b="0">
                <a:solidFill>
                  <a:srgbClr val="3A2A24"/>
                </a:solidFill>
                <a:latin typeface="Yu Gothic"/>
              </a:rPr>
              <a:t>安定している。ただ、暮らしは重い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218687"/>
            <a:ext cx="1143000" cy="685800"/>
          </a:xfrm>
          <a:prstGeom prst="rect">
            <a:avLst/>
          </a:prstGeom>
          <a:solidFill>
            <a:srgbClr val="F9ECE6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400" b="1">
                <a:solidFill>
                  <a:srgbClr val="333333"/>
                </a:solidFill>
                <a:latin typeface="Yu Gothic"/>
              </a:rPr>
              <a:t>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554480" y="3218687"/>
            <a:ext cx="3063240" cy="6858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400" b="0">
                <a:solidFill>
                  <a:srgbClr val="3A2A24"/>
                </a:solidFill>
                <a:latin typeface="Yu Gothic"/>
              </a:rPr>
              <a:t>供給80％台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663440" y="3218687"/>
            <a:ext cx="7086600" cy="6858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400" b="0">
                <a:solidFill>
                  <a:srgbClr val="3A2A24"/>
                </a:solidFill>
                <a:latin typeface="Yu Gothic"/>
              </a:rPr>
              <a:t>計画停電が続き、工場が街を離れる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65760" y="3950207"/>
            <a:ext cx="1143000" cy="685800"/>
          </a:xfrm>
          <a:prstGeom prst="rect">
            <a:avLst/>
          </a:prstGeom>
          <a:solidFill>
            <a:srgbClr val="F9ECE6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400" b="1">
                <a:solidFill>
                  <a:srgbClr val="333333"/>
                </a:solidFill>
                <a:latin typeface="Yu Gothic"/>
              </a:rPr>
              <a:t>D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554480" y="3950207"/>
            <a:ext cx="3063240" cy="6858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400" b="0">
                <a:solidFill>
                  <a:srgbClr val="3A2A24"/>
                </a:solidFill>
                <a:latin typeface="Yu Gothic"/>
              </a:rPr>
              <a:t>供給80％未満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663440" y="3950207"/>
            <a:ext cx="7086600" cy="685800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400" b="0">
                <a:solidFill>
                  <a:srgbClr val="3A2A24"/>
                </a:solidFill>
                <a:latin typeface="Yu Gothic"/>
              </a:rPr>
              <a:t>電気が足りない街。暮らしが昔に戻る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65760" y="4572000"/>
            <a:ext cx="11430000" cy="1600200"/>
          </a:xfrm>
          <a:prstGeom prst="rect">
            <a:avLst/>
          </a:prstGeom>
          <a:solidFill>
            <a:srgbClr val="F9ECE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365760" y="4617720"/>
            <a:ext cx="11430000" cy="411480"/>
          </a:xfrm>
          <a:prstGeom prst="rect">
            <a:avLst/>
          </a:prstGeom>
          <a:noFill/>
        </p:spPr>
        <p:txBody>
          <a:bodyPr wrap="square" anchor="t" lIns="182880" rIns="182880">
            <a:spAutoFit/>
          </a:bodyPr>
          <a:lstStyle/>
          <a:p>
            <a:pPr algn="l"/>
            <a:r>
              <a:rPr sz="1600" b="1">
                <a:solidFill>
                  <a:srgbClr val="333333"/>
                </a:solidFill>
                <a:latin typeface="Yu Gothic"/>
              </a:rPr>
              <a:t>最後に、世界の銅を発表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5074920"/>
            <a:ext cx="11430000" cy="1097280"/>
          </a:xfrm>
          <a:prstGeom prst="rect">
            <a:avLst/>
          </a:prstGeom>
          <a:noFill/>
        </p:spPr>
        <p:txBody>
          <a:bodyPr wrap="square" anchor="t" lIns="182880" rIns="182880">
            <a:spAutoFit/>
          </a:bodyPr>
          <a:lstStyle/>
          <a:p>
            <a:pPr algn="l">
              <a:spcBef>
                <a:spcPts val="600"/>
              </a:spcBef>
            </a:pPr>
            <a:r>
              <a:rPr sz="1400" b="0">
                <a:solidFill>
                  <a:srgbClr val="3A2A24"/>
                </a:solidFill>
                <a:latin typeface="Yu Gothic"/>
              </a:rPr>
              <a:t>全チームの合計で、銅が尽きたのは何ラウンド目か</a:t>
            </a:r>
          </a:p>
          <a:p>
            <a:pPr algn="l">
              <a:spcBef>
                <a:spcPts val="600"/>
              </a:spcBef>
            </a:pPr>
            <a:r>
              <a:rPr sz="1400" b="0">
                <a:solidFill>
                  <a:srgbClr val="3A2A24"/>
                </a:solidFill>
                <a:latin typeface="Yu Gothic"/>
              </a:rPr>
              <a:t>競争したか、分け合ったか　→ 「越境の力」を体験で確かめる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6766560"/>
            <a:ext cx="12191695" cy="91440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356616" y="137160"/>
            <a:ext cx="2103120" cy="365760"/>
          </a:xfrm>
          <a:prstGeom prst="rect">
            <a:avLst/>
          </a:prstGeom>
          <a:solidFill>
            <a:srgbClr val="FF5D3B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タイムテーブル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606040" y="109728"/>
            <a:ext cx="9144000" cy="420624"/>
          </a:xfrm>
          <a:prstGeom prst="rect">
            <a:avLst/>
          </a:prstGeom>
          <a:noFill/>
        </p:spPr>
        <p:txBody>
          <a:bodyPr wrap="square" anchor="ctr" lIns="73152" rIns="73152">
            <a:spAutoFit/>
          </a:bodyPr>
          <a:lstStyle/>
          <a:p>
            <a:pPr algn="l"/>
            <a:r>
              <a:rPr sz="2000" b="1">
                <a:solidFill>
                  <a:srgbClr val="333333"/>
                </a:solidFill>
                <a:latin typeface="Yu Gothic"/>
              </a:rPr>
              <a:t>Part2のタイムテーブル（13:00〜18:00）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6291072"/>
            <a:ext cx="11612880" cy="310896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900" b="0">
                <a:solidFill>
                  <a:srgbClr val="7A6E66"/>
                </a:solidFill>
                <a:latin typeface="Yu Gothic"/>
              </a:rPr>
              <a:t>出典：ゲーム設計は当方の提案（案）。数値は架空で、実データを使う場合は出典確認が必要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777240"/>
            <a:ext cx="1965960" cy="347472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時間</a:t>
            </a:r>
          </a:p>
        </p:txBody>
      </p:sp>
      <p:sp>
        <p:nvSpPr>
          <p:cNvPr id="7" name="Rectangle 6"/>
          <p:cNvSpPr/>
          <p:nvPr/>
        </p:nvSpPr>
        <p:spPr>
          <a:xfrm>
            <a:off x="2377440" y="777240"/>
            <a:ext cx="8458200" cy="347472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内容</a:t>
            </a:r>
          </a:p>
        </p:txBody>
      </p:sp>
      <p:sp>
        <p:nvSpPr>
          <p:cNvPr id="8" name="Rectangle 7"/>
          <p:cNvSpPr/>
          <p:nvPr/>
        </p:nvSpPr>
        <p:spPr>
          <a:xfrm>
            <a:off x="10881360" y="777240"/>
            <a:ext cx="868680" cy="347472"/>
          </a:xfrm>
          <a:prstGeom prst="rect">
            <a:avLst/>
          </a:prstGeom>
          <a:solidFill>
            <a:srgbClr val="333333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ctr"/>
            <a:r>
              <a:rPr sz="1300" b="1">
                <a:solidFill>
                  <a:srgbClr val="FFFFFF"/>
                </a:solidFill>
                <a:latin typeface="Yu Gothic"/>
              </a:rPr>
              <a:t>分</a:t>
            </a:r>
          </a:p>
        </p:txBody>
      </p:sp>
      <p:sp>
        <p:nvSpPr>
          <p:cNvPr id="9" name="Rectangle 8"/>
          <p:cNvSpPr/>
          <p:nvPr/>
        </p:nvSpPr>
        <p:spPr>
          <a:xfrm>
            <a:off x="365760" y="1170432"/>
            <a:ext cx="1965960" cy="420624"/>
          </a:xfrm>
          <a:prstGeom prst="rect">
            <a:avLst/>
          </a:prstGeom>
          <a:solidFill>
            <a:srgbClr val="F9ECE6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300" b="1">
                <a:solidFill>
                  <a:srgbClr val="333333"/>
                </a:solidFill>
                <a:latin typeface="Yu Gothic"/>
              </a:rPr>
              <a:t>13:00</a:t>
            </a:r>
          </a:p>
        </p:txBody>
      </p:sp>
      <p:sp>
        <p:nvSpPr>
          <p:cNvPr id="10" name="Rectangle 9"/>
          <p:cNvSpPr/>
          <p:nvPr/>
        </p:nvSpPr>
        <p:spPr>
          <a:xfrm>
            <a:off x="2377440" y="1170432"/>
            <a:ext cx="8458200" cy="420624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300" b="0">
                <a:solidFill>
                  <a:srgbClr val="3A2A24"/>
                </a:solidFill>
                <a:latin typeface="Yu Gothic"/>
              </a:rPr>
              <a:t>チーム結成・役割カード</a:t>
            </a:r>
          </a:p>
        </p:txBody>
      </p:sp>
      <p:sp>
        <p:nvSpPr>
          <p:cNvPr id="11" name="Rectangle 10"/>
          <p:cNvSpPr/>
          <p:nvPr/>
        </p:nvSpPr>
        <p:spPr>
          <a:xfrm>
            <a:off x="10881360" y="1170432"/>
            <a:ext cx="868680" cy="420624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300" b="0">
                <a:solidFill>
                  <a:srgbClr val="3A2A24"/>
                </a:solidFill>
                <a:latin typeface="Yu Gothic"/>
              </a:rPr>
              <a:t>10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65760" y="1636776"/>
            <a:ext cx="1965960" cy="420624"/>
          </a:xfrm>
          <a:prstGeom prst="rect">
            <a:avLst/>
          </a:prstGeom>
          <a:solidFill>
            <a:srgbClr val="F9ECE6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300" b="1">
                <a:solidFill>
                  <a:srgbClr val="333333"/>
                </a:solidFill>
                <a:latin typeface="Yu Gothic"/>
              </a:rPr>
              <a:t>13:10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377440" y="1636776"/>
            <a:ext cx="8458200" cy="420624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300" b="0">
                <a:solidFill>
                  <a:srgbClr val="3A2A24"/>
                </a:solidFill>
                <a:latin typeface="Yu Gothic"/>
              </a:rPr>
              <a:t>ルール説明＋ラウンド1（体験）</a:t>
            </a:r>
          </a:p>
        </p:txBody>
      </p:sp>
      <p:sp>
        <p:nvSpPr>
          <p:cNvPr id="14" name="Rectangle 13"/>
          <p:cNvSpPr/>
          <p:nvPr/>
        </p:nvSpPr>
        <p:spPr>
          <a:xfrm>
            <a:off x="10881360" y="1636776"/>
            <a:ext cx="868680" cy="420624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300" b="0">
                <a:solidFill>
                  <a:srgbClr val="3A2A24"/>
                </a:solidFill>
                <a:latin typeface="Yu Gothic"/>
              </a:rPr>
              <a:t>25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65760" y="2103120"/>
            <a:ext cx="1965960" cy="420624"/>
          </a:xfrm>
          <a:prstGeom prst="rect">
            <a:avLst/>
          </a:prstGeom>
          <a:solidFill>
            <a:srgbClr val="F9ECE6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300" b="1">
                <a:solidFill>
                  <a:srgbClr val="333333"/>
                </a:solidFill>
                <a:latin typeface="Yu Gothic"/>
              </a:rPr>
              <a:t>13:35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377440" y="2103120"/>
            <a:ext cx="8458200" cy="420624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300" b="0">
                <a:solidFill>
                  <a:srgbClr val="3A2A24"/>
                </a:solidFill>
                <a:latin typeface="Yu Gothic"/>
              </a:rPr>
              <a:t>オリエンテーリング（CP1〜6）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881360" y="2103120"/>
            <a:ext cx="868680" cy="420624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300" b="0">
                <a:solidFill>
                  <a:srgbClr val="3A2A24"/>
                </a:solidFill>
                <a:latin typeface="Yu Gothic"/>
              </a:rPr>
              <a:t>60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65760" y="2569463"/>
            <a:ext cx="1965960" cy="420624"/>
          </a:xfrm>
          <a:prstGeom prst="rect">
            <a:avLst/>
          </a:prstGeom>
          <a:solidFill>
            <a:srgbClr val="F9ECE6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300" b="1">
                <a:solidFill>
                  <a:srgbClr val="333333"/>
                </a:solidFill>
                <a:latin typeface="Yu Gothic"/>
              </a:rPr>
              <a:t>14:35</a:t>
            </a:r>
          </a:p>
        </p:txBody>
      </p:sp>
      <p:sp>
        <p:nvSpPr>
          <p:cNvPr id="19" name="Rectangle 18"/>
          <p:cNvSpPr/>
          <p:nvPr/>
        </p:nvSpPr>
        <p:spPr>
          <a:xfrm>
            <a:off x="2377440" y="2569463"/>
            <a:ext cx="8458200" cy="420624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300" b="0">
                <a:solidFill>
                  <a:srgbClr val="3A2A24"/>
                </a:solidFill>
                <a:latin typeface="Yu Gothic"/>
              </a:rPr>
              <a:t>休憩</a:t>
            </a:r>
          </a:p>
        </p:txBody>
      </p:sp>
      <p:sp>
        <p:nvSpPr>
          <p:cNvPr id="20" name="Rectangle 19"/>
          <p:cNvSpPr/>
          <p:nvPr/>
        </p:nvSpPr>
        <p:spPr>
          <a:xfrm>
            <a:off x="10881360" y="2569463"/>
            <a:ext cx="868680" cy="420624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300" b="0">
                <a:solidFill>
                  <a:srgbClr val="3A2A24"/>
                </a:solidFill>
                <a:latin typeface="Yu Gothic"/>
              </a:rPr>
              <a:t>10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035807"/>
            <a:ext cx="1965960" cy="420624"/>
          </a:xfrm>
          <a:prstGeom prst="rect">
            <a:avLst/>
          </a:prstGeom>
          <a:solidFill>
            <a:srgbClr val="F9ECE6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300" b="1">
                <a:solidFill>
                  <a:srgbClr val="333333"/>
                </a:solidFill>
                <a:latin typeface="Yu Gothic"/>
              </a:rPr>
              <a:t>14:45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377440" y="3035807"/>
            <a:ext cx="8458200" cy="420624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300" b="0">
                <a:solidFill>
                  <a:srgbClr val="3A2A24"/>
                </a:solidFill>
                <a:latin typeface="Yu Gothic"/>
              </a:rPr>
              <a:t>ラウンド2〜5（経営課題が降る）</a:t>
            </a:r>
          </a:p>
        </p:txBody>
      </p:sp>
      <p:sp>
        <p:nvSpPr>
          <p:cNvPr id="23" name="Rectangle 22"/>
          <p:cNvSpPr/>
          <p:nvPr/>
        </p:nvSpPr>
        <p:spPr>
          <a:xfrm>
            <a:off x="10881360" y="3035807"/>
            <a:ext cx="868680" cy="420624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300" b="0">
                <a:solidFill>
                  <a:srgbClr val="3A2A24"/>
                </a:solidFill>
                <a:latin typeface="Yu Gothic"/>
              </a:rPr>
              <a:t>60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65760" y="3502151"/>
            <a:ext cx="1965960" cy="420624"/>
          </a:xfrm>
          <a:prstGeom prst="rect">
            <a:avLst/>
          </a:prstGeom>
          <a:solidFill>
            <a:srgbClr val="F9ECE6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300" b="1">
                <a:solidFill>
                  <a:srgbClr val="333333"/>
                </a:solidFill>
                <a:latin typeface="Yu Gothic"/>
              </a:rPr>
              <a:t>15:45</a:t>
            </a:r>
          </a:p>
        </p:txBody>
      </p:sp>
      <p:sp>
        <p:nvSpPr>
          <p:cNvPr id="25" name="Rectangle 24"/>
          <p:cNvSpPr/>
          <p:nvPr/>
        </p:nvSpPr>
        <p:spPr>
          <a:xfrm>
            <a:off x="2377440" y="3502151"/>
            <a:ext cx="8458200" cy="420624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300" b="0">
                <a:solidFill>
                  <a:srgbClr val="3A2A24"/>
                </a:solidFill>
                <a:latin typeface="Yu Gothic"/>
              </a:rPr>
              <a:t>休憩</a:t>
            </a:r>
          </a:p>
        </p:txBody>
      </p:sp>
      <p:sp>
        <p:nvSpPr>
          <p:cNvPr id="26" name="Rectangle 25"/>
          <p:cNvSpPr/>
          <p:nvPr/>
        </p:nvSpPr>
        <p:spPr>
          <a:xfrm>
            <a:off x="10881360" y="3502151"/>
            <a:ext cx="868680" cy="420624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300" b="0">
                <a:solidFill>
                  <a:srgbClr val="3A2A24"/>
                </a:solidFill>
                <a:latin typeface="Yu Gothic"/>
              </a:rPr>
              <a:t>5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3968495"/>
            <a:ext cx="1965960" cy="420624"/>
          </a:xfrm>
          <a:prstGeom prst="rect">
            <a:avLst/>
          </a:prstGeom>
          <a:solidFill>
            <a:srgbClr val="F9ECE6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300" b="1">
                <a:solidFill>
                  <a:srgbClr val="333333"/>
                </a:solidFill>
                <a:latin typeface="Yu Gothic"/>
              </a:rPr>
              <a:t>15:50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377440" y="3968495"/>
            <a:ext cx="8458200" cy="420624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300" b="0">
                <a:solidFill>
                  <a:srgbClr val="3A2A24"/>
                </a:solidFill>
                <a:latin typeface="Yu Gothic"/>
              </a:rPr>
              <a:t>ラウンド6＋最終決算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881360" y="3968495"/>
            <a:ext cx="868680" cy="420624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300" b="0">
                <a:solidFill>
                  <a:srgbClr val="3A2A24"/>
                </a:solidFill>
                <a:latin typeface="Yu Gothic"/>
              </a:rPr>
              <a:t>25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" y="4434839"/>
            <a:ext cx="1965960" cy="420624"/>
          </a:xfrm>
          <a:prstGeom prst="rect">
            <a:avLst/>
          </a:prstGeom>
          <a:solidFill>
            <a:srgbClr val="F9ECE6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300" b="1">
                <a:solidFill>
                  <a:srgbClr val="333333"/>
                </a:solidFill>
                <a:latin typeface="Yu Gothic"/>
              </a:rPr>
              <a:t>16:15</a:t>
            </a:r>
          </a:p>
        </p:txBody>
      </p:sp>
      <p:sp>
        <p:nvSpPr>
          <p:cNvPr id="31" name="Rectangle 30"/>
          <p:cNvSpPr/>
          <p:nvPr/>
        </p:nvSpPr>
        <p:spPr>
          <a:xfrm>
            <a:off x="2377440" y="4434839"/>
            <a:ext cx="8458200" cy="420624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300" b="0">
                <a:solidFill>
                  <a:srgbClr val="3A2A24"/>
                </a:solidFill>
                <a:latin typeface="Yu Gothic"/>
              </a:rPr>
              <a:t>結果発表（街の暮らし・世界の銅）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10881360" y="4434839"/>
            <a:ext cx="868680" cy="420624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300" b="0">
                <a:solidFill>
                  <a:srgbClr val="3A2A24"/>
                </a:solidFill>
                <a:latin typeface="Yu Gothic"/>
              </a:rPr>
              <a:t>15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65760" y="4901183"/>
            <a:ext cx="1965960" cy="420624"/>
          </a:xfrm>
          <a:prstGeom prst="rect">
            <a:avLst/>
          </a:prstGeom>
          <a:solidFill>
            <a:srgbClr val="F9ECE6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300" b="1">
                <a:solidFill>
                  <a:srgbClr val="333333"/>
                </a:solidFill>
                <a:latin typeface="Yu Gothic"/>
              </a:rPr>
              <a:t>16:30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377440" y="4901183"/>
            <a:ext cx="8458200" cy="420624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300" b="0">
                <a:solidFill>
                  <a:srgbClr val="3A2A24"/>
                </a:solidFill>
                <a:latin typeface="Yu Gothic"/>
              </a:rPr>
              <a:t>振り返り（4つの分析）＋社長講評</a:t>
            </a:r>
          </a:p>
        </p:txBody>
      </p:sp>
      <p:sp>
        <p:nvSpPr>
          <p:cNvPr id="35" name="Rectangle 34"/>
          <p:cNvSpPr/>
          <p:nvPr/>
        </p:nvSpPr>
        <p:spPr>
          <a:xfrm>
            <a:off x="10881360" y="4901183"/>
            <a:ext cx="868680" cy="420624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300" b="0">
                <a:solidFill>
                  <a:srgbClr val="3A2A24"/>
                </a:solidFill>
                <a:latin typeface="Yu Gothic"/>
              </a:rPr>
              <a:t>25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65760" y="5367527"/>
            <a:ext cx="1965960" cy="420624"/>
          </a:xfrm>
          <a:prstGeom prst="rect">
            <a:avLst/>
          </a:prstGeom>
          <a:solidFill>
            <a:srgbClr val="F9ECE6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300" b="1">
                <a:solidFill>
                  <a:srgbClr val="333333"/>
                </a:solidFill>
                <a:latin typeface="Yu Gothic"/>
              </a:rPr>
              <a:t>16:55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377440" y="5367527"/>
            <a:ext cx="8458200" cy="420624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300" b="0">
                <a:solidFill>
                  <a:srgbClr val="3A2A24"/>
                </a:solidFill>
                <a:latin typeface="Yu Gothic"/>
              </a:rPr>
              <a:t>クロージング → 懇親会</a:t>
            </a:r>
          </a:p>
        </p:txBody>
      </p:sp>
      <p:sp>
        <p:nvSpPr>
          <p:cNvPr id="38" name="Rectangle 37"/>
          <p:cNvSpPr/>
          <p:nvPr/>
        </p:nvSpPr>
        <p:spPr>
          <a:xfrm>
            <a:off x="10881360" y="5367527"/>
            <a:ext cx="868680" cy="420624"/>
          </a:xfrm>
          <a:prstGeom prst="rect">
            <a:avLst/>
          </a:prstGeom>
          <a:solidFill>
            <a:srgbClr val="F4F4F4"/>
          </a:solidFill>
          <a:ln>
            <a:noFill/>
          </a:ln>
          <a:effectLst/>
        </p:spPr>
        <p:txBody>
          <a:bodyPr rtlCol="0" anchor="ctr" wrap="square" lIns="73152" rIns="73152"/>
          <a:lstStyle/>
          <a:p>
            <a:pPr algn="l"/>
            <a:r>
              <a:rPr sz="1300" b="0">
                <a:solidFill>
                  <a:srgbClr val="3A2A24"/>
                </a:solidFill>
                <a:latin typeface="Yu Gothic"/>
              </a:rPr>
              <a:t/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5760" y="5897880"/>
            <a:ext cx="11430000" cy="365760"/>
          </a:xfrm>
          <a:prstGeom prst="rect">
            <a:avLst/>
          </a:prstGeom>
          <a:noFill/>
        </p:spPr>
        <p:txBody>
          <a:bodyPr wrap="square" anchor="t" lIns="73152" rIns="73152">
            <a:spAutoFit/>
          </a:bodyPr>
          <a:lstStyle/>
          <a:p>
            <a:pPr algn="l"/>
            <a:r>
              <a:rPr sz="1300" b="1">
                <a:solidFill>
                  <a:srgbClr val="333333"/>
                </a:solidFill>
                <a:latin typeface="Yu Gothic"/>
              </a:rPr>
              <a:t>最大のリスクは、ルールが重いこと。事前にルールブックを配り、テストプレイを2回行う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