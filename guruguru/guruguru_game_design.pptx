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ゲーム概要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めぐる発電所（仮）：銅をめぐらせ、街に電気を届ける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7033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370332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自分たちの発電所をつくる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街の電力を、約42年支える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777240"/>
            <a:ext cx="37033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制約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280160"/>
            <a:ext cx="370332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銅は世界で共有（山札）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使い切れば、誰も建てられない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7772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8229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280160"/>
            <a:ext cx="3657600" cy="1828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供給量が数字で返る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街の暮らしの変化が物語で返る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チーム（4人×4〜5チーム）：役割ごとに目標が対立する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2788920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社長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27889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3A2A24"/>
                </a:solidFill>
                <a:latin typeface="Yu Gothic"/>
              </a:rPr>
              <a:t>目標：最終決断・調整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703320"/>
            <a:ext cx="2788920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財務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4160520"/>
            <a:ext cx="27889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3A2A24"/>
                </a:solidFill>
                <a:latin typeface="Yu Gothic"/>
              </a:rPr>
              <a:t>目標：現金・利益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3703320"/>
            <a:ext cx="2788920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運用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4160520"/>
            <a:ext cx="27889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3A2A24"/>
                </a:solidFill>
                <a:latin typeface="Yu Gothic"/>
              </a:rPr>
              <a:t>目標：安定供給・稼働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3703320"/>
            <a:ext cx="2788920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社会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4160520"/>
            <a:ext cx="27889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3A2A24"/>
                </a:solidFill>
                <a:latin typeface="Yu Gothic"/>
              </a:rPr>
              <a:t>目標：暮らし・環境・地域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37760"/>
            <a:ext cx="11430000" cy="118872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4つの分析は、ゲームの中に埋め込む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① 見る＝市場マップ　② 測る＝銅の収支表　③ 読む＝取引・交渉　④ 動かす＝経営課題への打ち手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ラウンド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1ラウンド＝約7年、全6ラウンド（約42年）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Pentagon 5"/>
          <p:cNvSpPr/>
          <p:nvPr/>
        </p:nvSpPr>
        <p:spPr>
          <a:xfrm>
            <a:off x="365760" y="868680"/>
            <a:ext cx="2377440" cy="731520"/>
          </a:xfrm>
          <a:prstGeom prst="homePlate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600" b="1">
                <a:solidFill>
                  <a:srgbClr val="3A2A24"/>
                </a:solidFill>
                <a:latin typeface="Yu Gothic"/>
              </a:rPr>
              <a:t>① 市場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21945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銅価格・需要</a:t>
            </a:r>
          </a:p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カードを引く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1945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300" b="1">
                <a:solidFill>
                  <a:srgbClr val="F06142"/>
                </a:solidFill>
                <a:latin typeface="Yu Gothic"/>
              </a:rPr>
              <a:t>① 見る</a:t>
            </a:r>
          </a:p>
        </p:txBody>
      </p:sp>
      <p:sp>
        <p:nvSpPr>
          <p:cNvPr id="9" name="Chevron 8"/>
          <p:cNvSpPr/>
          <p:nvPr/>
        </p:nvSpPr>
        <p:spPr>
          <a:xfrm>
            <a:off x="2651760" y="86868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600" b="1">
                <a:solidFill>
                  <a:srgbClr val="3A2A24"/>
                </a:solidFill>
                <a:latin typeface="Yu Gothic"/>
              </a:rPr>
              <a:t>② 調達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691640"/>
            <a:ext cx="21945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新規銅・リサイクル銅</a:t>
            </a:r>
          </a:p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入札と交渉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560320"/>
            <a:ext cx="21945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300" b="1">
                <a:solidFill>
                  <a:srgbClr val="F06142"/>
                </a:solidFill>
                <a:latin typeface="Yu Gothic"/>
              </a:rPr>
              <a:t>③ 読む</a:t>
            </a:r>
          </a:p>
        </p:txBody>
      </p:sp>
      <p:sp>
        <p:nvSpPr>
          <p:cNvPr id="12" name="Chevron 11"/>
          <p:cNvSpPr/>
          <p:nvPr/>
        </p:nvSpPr>
        <p:spPr>
          <a:xfrm>
            <a:off x="4937760" y="86868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600" b="1">
                <a:solidFill>
                  <a:srgbClr val="3A2A24"/>
                </a:solidFill>
                <a:latin typeface="Yu Gothic"/>
              </a:rPr>
              <a:t>③ 建設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91640"/>
            <a:ext cx="21945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発電所・設備を</a:t>
            </a:r>
          </a:p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建てる／更新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560320"/>
            <a:ext cx="21945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300" b="1">
                <a:solidFill>
                  <a:srgbClr val="F06142"/>
                </a:solidFill>
                <a:latin typeface="Yu Gothic"/>
              </a:rPr>
              <a:t>② 測る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3760" y="868680"/>
            <a:ext cx="2377440" cy="731520"/>
          </a:xfrm>
          <a:prstGeom prst="chevron">
            <a:avLst/>
          </a:prstGeom>
          <a:solidFill>
            <a:srgbClr val="FF5D3B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④ 課題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691640"/>
            <a:ext cx="21945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経営課題</a:t>
            </a:r>
          </a:p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カードが降る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560320"/>
            <a:ext cx="21945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300" b="1">
                <a:solidFill>
                  <a:srgbClr val="F06142"/>
                </a:solidFill>
                <a:latin typeface="Yu Gothic"/>
              </a:rPr>
              <a:t>④ 動かす</a:t>
            </a:r>
          </a:p>
        </p:txBody>
      </p:sp>
      <p:sp>
        <p:nvSpPr>
          <p:cNvPr id="18" name="Chevron 17"/>
          <p:cNvSpPr/>
          <p:nvPr/>
        </p:nvSpPr>
        <p:spPr>
          <a:xfrm>
            <a:off x="9509760" y="868680"/>
            <a:ext cx="2377440" cy="731520"/>
          </a:xfrm>
          <a:prstGeom prst="chevron">
            <a:avLst/>
          </a:prstGeom>
          <a:solidFill>
            <a:srgbClr val="FFE0D0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sz="1600" b="1">
                <a:solidFill>
                  <a:srgbClr val="3A2A24"/>
                </a:solidFill>
                <a:latin typeface="Yu Gothic"/>
              </a:rPr>
              <a:t>⑤ 決算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691640"/>
            <a:ext cx="219456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供給量を計算</a:t>
            </a:r>
          </a:p>
          <a:p>
            <a:pPr algn="ctr"/>
            <a:r>
              <a:rPr sz="1300" b="0">
                <a:solidFill>
                  <a:srgbClr val="3A2A24"/>
                </a:solidFill>
                <a:latin typeface="Yu Gothic"/>
              </a:rPr>
              <a:t>旧設備を回収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560320"/>
            <a:ext cx="219456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/>
            <a:r>
              <a:rPr sz="1300" b="1">
                <a:solidFill>
                  <a:srgbClr val="F06142"/>
                </a:solidFill>
                <a:latin typeface="Yu Gothic"/>
              </a:rPr>
              <a:t>② 測る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00400"/>
            <a:ext cx="557784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55778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世界の銅は、全チームで共有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03320"/>
            <a:ext cx="557784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新規銅の山札は、全員の共有資源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尽きた年から、新規調達は不可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リサイクル銅だけが頼りになる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→ 取りすぎるか、分け合うか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200400"/>
            <a:ext cx="56692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3246120"/>
            <a:ext cx="566928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毎ラウンドの記録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703320"/>
            <a:ext cx="566928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銅の収支表（入った量／出た量／戻った量）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現金と借入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街の需要と、供給量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暮らし指標（安定・手頃・環境）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カード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カードの種類と、品位のルール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20574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種類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79" y="777240"/>
            <a:ext cx="562356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中身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777240"/>
            <a:ext cx="361188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ねらい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07008"/>
            <a:ext cx="2057400" cy="6400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1">
                <a:solidFill>
                  <a:srgbClr val="F06142"/>
                </a:solidFill>
                <a:latin typeface="Yu Gothic"/>
              </a:rPr>
              <a:t>資源カード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79" y="120700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新規銅／リサイクル銅（品位A・B・C）／資金／人材／信用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207008"/>
            <a:ext cx="36118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銅の収支を“数える”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92808"/>
            <a:ext cx="2057400" cy="6400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1">
                <a:solidFill>
                  <a:srgbClr val="F06142"/>
                </a:solidFill>
                <a:latin typeface="Yu Gothic"/>
              </a:rPr>
              <a:t>発電所カード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79" y="189280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建設銅量・コスト・発電量・安定度・環境負荷・寿命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92808"/>
            <a:ext cx="36118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トレードオフを選ぶ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78608"/>
            <a:ext cx="2057400" cy="6400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1">
                <a:solidFill>
                  <a:srgbClr val="F06142"/>
                </a:solidFill>
                <a:latin typeface="Yu Gothic"/>
              </a:rPr>
              <a:t>設備カード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79" y="257860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送電網／蓄電池／分離設備／回収網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578608"/>
            <a:ext cx="36118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投資の順番を考える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64408"/>
            <a:ext cx="2057400" cy="6400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1">
                <a:solidFill>
                  <a:srgbClr val="F06142"/>
                </a:solidFill>
                <a:latin typeface="Yu Gothic"/>
              </a:rPr>
              <a:t>役割カード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79" y="326440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社長・財務・運用・社会（目標が対立）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3264408"/>
            <a:ext cx="36118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チーム内で合意をつくる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50208"/>
            <a:ext cx="2057400" cy="64008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1">
                <a:solidFill>
                  <a:srgbClr val="F06142"/>
                </a:solidFill>
                <a:latin typeface="Yu Gothic"/>
              </a:rPr>
              <a:t>課題カード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3950208"/>
            <a:ext cx="56235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全員共通＋チームごとの秘密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3950208"/>
            <a:ext cx="36118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3A2A24"/>
                </a:solidFill>
                <a:latin typeface="Yu Gothic"/>
              </a:rPr>
              <a:t>不確実性に向き合う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09160"/>
            <a:ext cx="11430000" cy="146304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754880"/>
            <a:ext cx="11430000" cy="411480"/>
          </a:xfrm>
          <a:prstGeom prst="rect">
            <a:avLst/>
          </a:prstGeom>
          <a:noFill/>
        </p:spPr>
        <p:txBody>
          <a:bodyPr wrap="square" anchor="t" lIns="182880" rIns="182880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品位のルール（戻せるもの／戻せないもの）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212080"/>
            <a:ext cx="11430000" cy="914400"/>
          </a:xfrm>
          <a:prstGeom prst="rect">
            <a:avLst/>
          </a:prstGeom>
          <a:noFill/>
        </p:spPr>
        <p:txBody>
          <a:bodyPr wrap="square" anchor="t" lIns="182880" rIns="182880">
            <a:spAutoFit/>
          </a:bodyPr>
          <a:lstStyle/>
          <a:p>
            <a:pPr algn="l">
              <a:spcBef>
                <a:spcPts val="5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品位A（純銅）：そのまま使える　／　品位B（錫が混ざる）：配合で調整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品位C（ニッケルめっき付き）：分離設備がないと使えない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経営課題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経営課題カード：正解のないジレンマ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2461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777240"/>
            <a:ext cx="681228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ジレンマ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0" y="777240"/>
            <a:ext cx="1234439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07008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銅価格が2倍に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07008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建設を止める？借金して進める？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0" y="1207008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② 測る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28216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需要が急増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728216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品質を削って増産？不足を許す？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728216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④ 動かす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9424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安いスクラップが大量に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249424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使う？分離設備に投資する？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0" y="2249424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② 測る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0632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回収業者が撤退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770632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自前の回収網？他チームと共同？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0" y="2770632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① 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91840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ベテランが退職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291840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技能を継ぐ？自動化に投資する？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0" y="3291840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④ 動かす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13048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住民が立地に反対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813048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補償する？別の場所にする？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3813048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① 見る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34256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取引先が値上げを要求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334256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受ける？別の調達先を探す？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4334256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③ 読む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855464"/>
            <a:ext cx="3246120" cy="47548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資金繰りが悪化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4855464"/>
            <a:ext cx="681228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資産を売る？増資を受ける？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4855464"/>
            <a:ext cx="123443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② 測る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役割ごとの秘密の目標で、チーム内でも意見が割れる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オリエン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オリエンテーリング：工場の学びが、ゲームの力になる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出典：ゲーム設計は当方の提案（案）。数値は架空で、実データを使う場合は出典確認が必要。見学ルートは既存案（8・9・6/10・3号棟）。人の作業は撮影NG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4290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チェックポイント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777240"/>
            <a:ext cx="46177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ミッション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777240"/>
            <a:ext cx="324612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獲得するもの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07008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CP1　原材料（8号棟）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207008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スクラップの種類を見分ける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207008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リサイクル銅カード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19656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CP2　インゴット（9号棟）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819656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成分ブロックで配合を組む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819656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配合カード（品位UP）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32304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CP3　圧延・熱処理（6・10号棟）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432304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結晶構造の写真と照合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2432304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高効率の設備カード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44952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CP4　品質（3号棟）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44952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社員に聞く：なぜスクラップ行き？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3044952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課題カード（現場の本音）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57600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CP5　守衛所（理念）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3657600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スクラップを量って寄付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57600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信用カード（実重量を換算）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70248"/>
            <a:ext cx="3429000" cy="566928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CP6　自由課題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4270248"/>
            <a:ext cx="46177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もったいないポイントを撮影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4270248"/>
            <a:ext cx="32461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改善案カード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11430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500" b="1">
                <a:solidFill>
                  <a:srgbClr val="F06142"/>
                </a:solidFill>
                <a:latin typeface="Yu Gothic"/>
              </a:rPr>
              <a:t>4人で手分けして回り、戻って情報を持ち寄る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安全：保護具・立入禁止区域・社員の同行を事前に確認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結果判定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結果：供給量と、街の暮らしの変化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供給率（発電量÷需要）と、暮らし3指標（安定・手頃・環境）で判定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判定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325880"/>
            <a:ext cx="306324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条件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25880"/>
            <a:ext cx="7086600" cy="384048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街の姿（読み上げ）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55648"/>
            <a:ext cx="1143000" cy="6858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1755648"/>
            <a:ext cx="3063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供給100％以上、3指標とも良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755648"/>
            <a:ext cx="7086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夜も明るい街。新しい産業が育つ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87168"/>
            <a:ext cx="1143000" cy="6858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2487168"/>
            <a:ext cx="3063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供給100％前後、料金が重い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487168"/>
            <a:ext cx="7086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安定している。ただ、暮らしは重い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18687"/>
            <a:ext cx="1143000" cy="6858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3218687"/>
            <a:ext cx="3063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供給80％台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218687"/>
            <a:ext cx="7086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計画停電が続き、工場が街を離れる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50207"/>
            <a:ext cx="1143000" cy="6858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F06142"/>
                </a:solidFill>
                <a:latin typeface="Yu Gothic"/>
              </a:rPr>
              <a:t>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3950207"/>
            <a:ext cx="3063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供給80％未満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950207"/>
            <a:ext cx="70866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400" b="0">
                <a:solidFill>
                  <a:srgbClr val="3A2A24"/>
                </a:solidFill>
                <a:latin typeface="Yu Gothic"/>
              </a:rPr>
              <a:t>電気が足りない街。暮らしが昔に戻る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72000"/>
            <a:ext cx="11430000" cy="1600200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1430000" cy="411480"/>
          </a:xfrm>
          <a:prstGeom prst="rect">
            <a:avLst/>
          </a:prstGeom>
          <a:noFill/>
        </p:spPr>
        <p:txBody>
          <a:bodyPr wrap="square" anchor="t" lIns="182880" rIns="182880">
            <a:spAutoFit/>
          </a:bodyPr>
          <a:lstStyle/>
          <a:p>
            <a:pPr algn="l"/>
            <a:r>
              <a:rPr sz="1600" b="1">
                <a:solidFill>
                  <a:srgbClr val="F06142"/>
                </a:solidFill>
                <a:latin typeface="Yu Gothic"/>
              </a:rPr>
              <a:t>最後に、世界の銅を発表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1430000" cy="1097280"/>
          </a:xfrm>
          <a:prstGeom prst="rect">
            <a:avLst/>
          </a:prstGeom>
          <a:noFill/>
        </p:spPr>
        <p:txBody>
          <a:bodyPr wrap="square" anchor="t" lIns="182880" rIns="182880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全チームの合計で、銅が尽きたのは何ラウンド目か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競争したか、分け合ったか　→ 「越境の力」を体験で確かめる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タイムテーブル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F06142"/>
                </a:solidFill>
                <a:latin typeface="Yu Gothic"/>
              </a:rPr>
              <a:t>Part2のタイムテーブル（13:00〜18:00）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出典：ゲーム設計は当方の提案（案）。数値は架空で、実データを使う場合は出典確認が必要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965960" cy="347472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時間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777240"/>
            <a:ext cx="8458200" cy="347472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81360" y="777240"/>
            <a:ext cx="868680" cy="347472"/>
          </a:xfrm>
          <a:prstGeom prst="rect">
            <a:avLst/>
          </a:prstGeom>
          <a:solidFill>
            <a:srgbClr val="F06142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13:00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1170432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チーム結成・役割カード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81360" y="1170432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36776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13:10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1636776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ルール説明＋ラウンド1（体験）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81360" y="1636776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13:35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103120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オリエンテーリング（CP1〜6）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81360" y="2103120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9463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14:35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2569463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休憩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81360" y="2569463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35807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14:45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3035807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ラウンド2〜5（経営課題が降る）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81360" y="3035807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02151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15:45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3502151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休憩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81360" y="3502151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68495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15:50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3968495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ラウンド6＋最終決算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881360" y="3968495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34839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16:15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0" y="4434839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結果発表（街の暮らし・世界の銅）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81360" y="4434839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901183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16:30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4901183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振り返り（4つの分析）＋社長講評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81360" y="4901183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367527"/>
            <a:ext cx="1965960" cy="420624"/>
          </a:xfrm>
          <a:prstGeom prst="rect">
            <a:avLst/>
          </a:prstGeom>
          <a:solidFill>
            <a:srgbClr val="FFE0D0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0" y="5367527"/>
            <a:ext cx="8458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クロージング → 懇親会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881360" y="5367527"/>
            <a:ext cx="8686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300" b="1">
                <a:solidFill>
                  <a:srgbClr val="F06142"/>
                </a:solidFill>
                <a:latin typeface="Yu Gothic"/>
              </a:rPr>
              <a:t>最大のリスクは、ルールが重いこと。事前にルールブックを配り、テストプレイを2回行う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