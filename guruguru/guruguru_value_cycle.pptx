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gradFill rotWithShape="1">
            <a:gsLst>
              <a:gs pos="0">
                <a:srgbClr val="3FA9D6"/>
              </a:gs>
              <a:gs pos="100000">
                <a:srgbClr val="FFE9C8"/>
              </a:gs>
            </a:gsLst>
            <a:lin scaled="0" ang="54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822960"/>
            <a:ext cx="2011680" cy="2011680"/>
          </a:xfrm>
          <a:prstGeom prst="ellipse">
            <a:avLst/>
          </a:prstGeom>
          <a:solidFill>
            <a:srgbClr val="FFE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1097280"/>
            <a:ext cx="1463040" cy="1463040"/>
          </a:xfrm>
          <a:prstGeom prst="ellipse">
            <a:avLst/>
          </a:prstGeom>
          <a:solidFill>
            <a:srgbClr val="FFF7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920240"/>
            <a:ext cx="12191695" cy="4937760"/>
          </a:xfrm>
          <a:prstGeom prst="rect">
            <a:avLst/>
          </a:prstGeom>
          <a:gradFill rotWithShape="1">
            <a:gsLst>
              <a:gs pos="0">
                <a:srgbClr val="86C9AC"/>
              </a:gs>
              <a:gs pos="100000">
                <a:srgbClr val="175C55"/>
              </a:gs>
            </a:gsLst>
            <a:lin scaled="0" ang="54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70304" y="3167133"/>
            <a:ext cx="646435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9198" y="4873744"/>
            <a:ext cx="340231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48849" y="2118808"/>
            <a:ext cx="535188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71262" y="3150188"/>
            <a:ext cx="747329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8274" y="5958187"/>
            <a:ext cx="917120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4508" y="2759790"/>
            <a:ext cx="1147434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0288" y="4497224"/>
            <a:ext cx="949652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5904" y="2356006"/>
            <a:ext cx="868871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7300" y="3462343"/>
            <a:ext cx="1144901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1886" y="4262037"/>
            <a:ext cx="1158265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12383" y="5387699"/>
            <a:ext cx="671589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2674" y="5792389"/>
            <a:ext cx="1215370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2813" y="6155941"/>
            <a:ext cx="411082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23721" y="3069305"/>
            <a:ext cx="713029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68255" y="4979736"/>
            <a:ext cx="784525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2994" y="3856864"/>
            <a:ext cx="862810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417706" y="4782023"/>
            <a:ext cx="960284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66967" y="6389482"/>
            <a:ext cx="1271097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79142" y="5187843"/>
            <a:ext cx="1139983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23400" y="6555907"/>
            <a:ext cx="846751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32463" y="5386242"/>
            <a:ext cx="1110784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83120" y="4732033"/>
            <a:ext cx="338151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03990" y="6039709"/>
            <a:ext cx="363355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29111" y="5790928"/>
            <a:ext cx="425965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57589" y="3427944"/>
            <a:ext cx="1152183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80299" y="2263477"/>
            <a:ext cx="319522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13068" y="5407804"/>
            <a:ext cx="1160369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23170" y="6630536"/>
            <a:ext cx="1278660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6813" y="3501527"/>
            <a:ext cx="877585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74157" y="2203728"/>
            <a:ext cx="684638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99637" y="4904276"/>
            <a:ext cx="317003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5779" y="6104235"/>
            <a:ext cx="1238577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52676" y="6238918"/>
            <a:ext cx="737418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18525" y="4482729"/>
            <a:ext cx="873448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44746" y="4665480"/>
            <a:ext cx="1220434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67947" y="4421889"/>
            <a:ext cx="998837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68954" y="3165599"/>
            <a:ext cx="1257827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18708" y="4487645"/>
            <a:ext cx="285844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82034" y="3993708"/>
            <a:ext cx="294489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83630" y="4929136"/>
            <a:ext cx="334751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71876" y="4982967"/>
            <a:ext cx="957568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45084" y="3701621"/>
            <a:ext cx="1016664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7932" y="2160846"/>
            <a:ext cx="954288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893290" y="6549717"/>
            <a:ext cx="733296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87153" y="4821289"/>
            <a:ext cx="640400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53185" y="3515520"/>
            <a:ext cx="873419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5430" y="3458315"/>
            <a:ext cx="1051103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58671" y="2182945"/>
            <a:ext cx="1013786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63956" y="3503144"/>
            <a:ext cx="1082821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59052" y="3170540"/>
            <a:ext cx="712096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73362" y="5312790"/>
            <a:ext cx="598166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03568" y="3613840"/>
            <a:ext cx="715311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50398" y="6047137"/>
            <a:ext cx="612996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95302" y="5089719"/>
            <a:ext cx="728056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93164" y="3106803"/>
            <a:ext cx="807040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95235" y="2947202"/>
            <a:ext cx="1117693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09782" y="2913543"/>
            <a:ext cx="1086260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89251" y="5051035"/>
            <a:ext cx="621619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63602" y="2662197"/>
            <a:ext cx="1072818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990500" y="3322005"/>
            <a:ext cx="693660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18284" y="4014977"/>
            <a:ext cx="1200308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710" y="2784886"/>
            <a:ext cx="1223096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370666" y="6161125"/>
            <a:ext cx="711208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684720" y="6488419"/>
            <a:ext cx="497707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39973" y="5534101"/>
            <a:ext cx="941179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330178" y="4477795"/>
            <a:ext cx="617380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84237" y="3118175"/>
            <a:ext cx="866435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334577" y="3395859"/>
            <a:ext cx="319660" cy="16459"/>
          </a:xfrm>
          <a:prstGeom prst="rect">
            <a:avLst/>
          </a:prstGeom>
          <a:solidFill>
            <a:srgbClr val="A6DA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992487" y="6271327"/>
            <a:ext cx="1203570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365549" y="6238487"/>
            <a:ext cx="854642" cy="16459"/>
          </a:xfrm>
          <a:prstGeom prst="rect">
            <a:avLst/>
          </a:prstGeom>
          <a:solidFill>
            <a:srgbClr val="4F9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spc="500">
                <a:solidFill>
                  <a:srgbClr val="FFFFFF"/>
                </a:solidFill>
                <a:latin typeface="Yu Mincho"/>
              </a:rPr>
              <a:t>地球資源を輝かせていく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566928"/>
            <a:ext cx="8686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0" b="1">
                <a:solidFill>
                  <a:srgbClr val="FFFFFF"/>
                </a:solidFill>
                <a:latin typeface="Yu Mincho"/>
              </a:rPr>
              <a:t>価値循環モデル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2331464" y="2534522"/>
            <a:ext cx="2012191" cy="51595"/>
          </a:xfrm>
          <a:prstGeom prst="line">
            <a:avLst/>
          </a:prstGeom>
          <a:ln w="38100">
            <a:solidFill>
              <a:srgbClr val="FFFF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2944368" y="2414015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44368" y="2414015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銅鉱石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020290" y="2678172"/>
            <a:ext cx="3229899" cy="587255"/>
          </a:xfrm>
          <a:prstGeom prst="line">
            <a:avLst/>
          </a:prstGeom>
          <a:ln w="38100">
            <a:solidFill>
              <a:srgbClr val="FFFF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7242048" y="2825496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42048" y="2825496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電気銅</a:t>
            </a:r>
          </a:p>
        </p:txBody>
      </p:sp>
      <p:cxnSp>
        <p:nvCxnSpPr>
          <p:cNvPr id="84" name="Connector 83"/>
          <p:cNvCxnSpPr/>
          <p:nvPr/>
        </p:nvCxnSpPr>
        <p:spPr>
          <a:xfrm flipH="1">
            <a:off x="10241232" y="4034669"/>
            <a:ext cx="365855" cy="937501"/>
          </a:xfrm>
          <a:prstGeom prst="line">
            <a:avLst/>
          </a:prstGeom>
          <a:ln w="38100">
            <a:solidFill>
              <a:srgbClr val="FFFF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10108691" y="4357116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108691" y="4357116"/>
            <a:ext cx="6309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製品</a:t>
            </a:r>
          </a:p>
        </p:txBody>
      </p:sp>
      <p:cxnSp>
        <p:nvCxnSpPr>
          <p:cNvPr id="87" name="Connector 86"/>
          <p:cNvCxnSpPr/>
          <p:nvPr/>
        </p:nvCxnSpPr>
        <p:spPr>
          <a:xfrm flipH="1">
            <a:off x="6993894" y="5347861"/>
            <a:ext cx="1648451" cy="94197"/>
          </a:xfrm>
          <a:prstGeom prst="line">
            <a:avLst/>
          </a:prstGeom>
          <a:ln w="38100">
            <a:solidFill>
              <a:srgbClr val="FFFF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7502652" y="5248656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02652" y="5248656"/>
            <a:ext cx="6309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使用</a:t>
            </a:r>
          </a:p>
        </p:txBody>
      </p:sp>
      <p:cxnSp>
        <p:nvCxnSpPr>
          <p:cNvPr id="90" name="Connector 89"/>
          <p:cNvCxnSpPr/>
          <p:nvPr/>
        </p:nvCxnSpPr>
        <p:spPr>
          <a:xfrm flipH="1" flipV="1">
            <a:off x="3975419" y="5316513"/>
            <a:ext cx="1467481" cy="111173"/>
          </a:xfrm>
          <a:prstGeom prst="line">
            <a:avLst/>
          </a:prstGeom>
          <a:ln w="38100">
            <a:solidFill>
              <a:srgbClr val="FFFF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4393692" y="5225796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93692" y="5225796"/>
            <a:ext cx="6309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廃棄</a:t>
            </a:r>
          </a:p>
        </p:txBody>
      </p:sp>
      <p:cxnSp>
        <p:nvCxnSpPr>
          <p:cNvPr id="93" name="Connector 92"/>
          <p:cNvCxnSpPr/>
          <p:nvPr/>
        </p:nvCxnSpPr>
        <p:spPr>
          <a:xfrm flipH="1" flipV="1">
            <a:off x="1852327" y="4379199"/>
            <a:ext cx="867345" cy="477041"/>
          </a:xfrm>
          <a:prstGeom prst="line">
            <a:avLst/>
          </a:prstGeom>
          <a:ln w="38100">
            <a:solidFill>
              <a:srgbClr val="FFFF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1970532" y="4471415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970532" y="4471415"/>
            <a:ext cx="6309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回収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2159762" y="2879846"/>
            <a:ext cx="2172715" cy="1006867"/>
          </a:xfrm>
          <a:prstGeom prst="line">
            <a:avLst/>
          </a:prstGeom>
          <a:ln w="38100">
            <a:solidFill>
              <a:srgbClr val="FFC85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2588844" y="3287319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588844" y="3287319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電気銅原料</a:t>
            </a:r>
          </a:p>
        </p:txBody>
      </p:sp>
      <p:cxnSp>
        <p:nvCxnSpPr>
          <p:cNvPr id="99" name="Connector 98"/>
          <p:cNvCxnSpPr/>
          <p:nvPr/>
        </p:nvCxnSpPr>
        <p:spPr>
          <a:xfrm flipV="1">
            <a:off x="2282007" y="3422910"/>
            <a:ext cx="6957425" cy="652259"/>
          </a:xfrm>
          <a:prstGeom prst="line">
            <a:avLst/>
          </a:prstGeom>
          <a:ln w="63500">
            <a:solidFill>
              <a:srgbClr val="FFC85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3448274" y="3746232"/>
            <a:ext cx="1563624" cy="292608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48274" y="3746232"/>
            <a:ext cx="15636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銅リサイクル原料</a:t>
            </a:r>
          </a:p>
        </p:txBody>
      </p:sp>
      <p:cxnSp>
        <p:nvCxnSpPr>
          <p:cNvPr id="102" name="Connector 101"/>
          <p:cNvCxnSpPr/>
          <p:nvPr/>
        </p:nvCxnSpPr>
        <p:spPr>
          <a:xfrm flipH="1">
            <a:off x="2282007" y="3660654"/>
            <a:ext cx="6957425" cy="652259"/>
          </a:xfrm>
          <a:prstGeom prst="line">
            <a:avLst/>
          </a:prstGeom>
          <a:ln w="38100">
            <a:solidFill>
              <a:srgbClr val="FFC85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3341725" y="4023112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341725" y="4023112"/>
            <a:ext cx="9418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A2A24"/>
                </a:solidFill>
                <a:latin typeface="Yu Gothic"/>
              </a:rPr>
              <a:t>発生銅屑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914900" y="4407408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FF5D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914900" y="4407408"/>
            <a:ext cx="1874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近いほど、安く・早い</a:t>
            </a:r>
          </a:p>
        </p:txBody>
      </p:sp>
      <p:sp>
        <p:nvSpPr>
          <p:cNvPr id="107" name="Oval 106"/>
          <p:cNvSpPr/>
          <p:nvPr/>
        </p:nvSpPr>
        <p:spPr>
          <a:xfrm>
            <a:off x="914400" y="3136391"/>
            <a:ext cx="1280160" cy="164592"/>
          </a:xfrm>
          <a:prstGeom prst="ellipse">
            <a:avLst/>
          </a:prstGeom>
          <a:solidFill>
            <a:srgbClr val="1452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536192" y="1920239"/>
            <a:ext cx="36576" cy="960120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Isosceles Triangle 108"/>
          <p:cNvSpPr/>
          <p:nvPr/>
        </p:nvSpPr>
        <p:spPr>
          <a:xfrm>
            <a:off x="1143000" y="1920239"/>
            <a:ext cx="777240" cy="868680"/>
          </a:xfrm>
          <a:prstGeom prst="triangle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ight Triangle 109"/>
          <p:cNvSpPr/>
          <p:nvPr/>
        </p:nvSpPr>
        <p:spPr>
          <a:xfrm>
            <a:off x="1609344" y="2286000"/>
            <a:ext cx="347472" cy="502920"/>
          </a:xfrm>
          <a:prstGeom prst="rtTriangle">
            <a:avLst/>
          </a:prstGeom>
          <a:solidFill>
            <a:srgbClr val="FFE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rapezoid 110"/>
          <p:cNvSpPr/>
          <p:nvPr/>
        </p:nvSpPr>
        <p:spPr>
          <a:xfrm rot="10800000">
            <a:off x="1051560" y="2807208"/>
            <a:ext cx="1005840" cy="310896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97280" y="2807208"/>
            <a:ext cx="914400" cy="45720"/>
          </a:xfrm>
          <a:prstGeom prst="rect">
            <a:avLst/>
          </a:prstGeom>
          <a:solidFill>
            <a:srgbClr val="C8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188719" y="324612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88719" y="3246120"/>
            <a:ext cx="731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A2A24"/>
                </a:solidFill>
                <a:latin typeface="Yu Gothic"/>
              </a:rPr>
              <a:t>鉱山</a:t>
            </a:r>
          </a:p>
        </p:txBody>
      </p:sp>
      <p:sp>
        <p:nvSpPr>
          <p:cNvPr id="115" name="Oval 114"/>
          <p:cNvSpPr/>
          <p:nvPr/>
        </p:nvSpPr>
        <p:spPr>
          <a:xfrm>
            <a:off x="4416552" y="3044952"/>
            <a:ext cx="1408176" cy="164592"/>
          </a:xfrm>
          <a:prstGeom prst="ellipse">
            <a:avLst/>
          </a:prstGeom>
          <a:solidFill>
            <a:srgbClr val="1452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102352" y="1741932"/>
            <a:ext cx="36576" cy="1056132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Isosceles Triangle 116"/>
          <p:cNvSpPr/>
          <p:nvPr/>
        </p:nvSpPr>
        <p:spPr>
          <a:xfrm>
            <a:off x="4668012" y="1741932"/>
            <a:ext cx="854964" cy="955547"/>
          </a:xfrm>
          <a:prstGeom prst="triangle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ight Triangle 117"/>
          <p:cNvSpPr/>
          <p:nvPr/>
        </p:nvSpPr>
        <p:spPr>
          <a:xfrm>
            <a:off x="5175503" y="2144268"/>
            <a:ext cx="382219" cy="553212"/>
          </a:xfrm>
          <a:prstGeom prst="rtTriangle">
            <a:avLst/>
          </a:prstGeom>
          <a:solidFill>
            <a:srgbClr val="FFE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Trapezoid 118"/>
          <p:cNvSpPr/>
          <p:nvPr/>
        </p:nvSpPr>
        <p:spPr>
          <a:xfrm rot="10800000">
            <a:off x="4567427" y="2715768"/>
            <a:ext cx="1106424" cy="310896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617720" y="2715768"/>
            <a:ext cx="1005840" cy="45720"/>
          </a:xfrm>
          <a:prstGeom prst="rect">
            <a:avLst/>
          </a:prstGeom>
          <a:solidFill>
            <a:srgbClr val="C8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4663440" y="31546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663440" y="3154680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A2A24"/>
                </a:solidFill>
                <a:latin typeface="Yu Gothic"/>
              </a:rPr>
              <a:t>精錬所</a:t>
            </a:r>
          </a:p>
        </p:txBody>
      </p:sp>
      <p:sp>
        <p:nvSpPr>
          <p:cNvPr id="123" name="Oval 122"/>
          <p:cNvSpPr/>
          <p:nvPr/>
        </p:nvSpPr>
        <p:spPr>
          <a:xfrm>
            <a:off x="9189720" y="3959352"/>
            <a:ext cx="1920239" cy="164592"/>
          </a:xfrm>
          <a:prstGeom prst="ellipse">
            <a:avLst/>
          </a:prstGeom>
          <a:solidFill>
            <a:srgbClr val="1452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131552" y="2308860"/>
            <a:ext cx="36576" cy="1440180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Isosceles Triangle 124"/>
          <p:cNvSpPr/>
          <p:nvPr/>
        </p:nvSpPr>
        <p:spPr>
          <a:xfrm>
            <a:off x="9532619" y="2308860"/>
            <a:ext cx="1165860" cy="1303019"/>
          </a:xfrm>
          <a:prstGeom prst="triangle">
            <a:avLst/>
          </a:prstGeom>
          <a:solidFill>
            <a:srgbClr val="FF5D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ight Triangle 125"/>
          <p:cNvSpPr/>
          <p:nvPr/>
        </p:nvSpPr>
        <p:spPr>
          <a:xfrm>
            <a:off x="10204704" y="2857500"/>
            <a:ext cx="521208" cy="754380"/>
          </a:xfrm>
          <a:prstGeom prst="rtTriangle">
            <a:avLst/>
          </a:prstGeom>
          <a:solidFill>
            <a:srgbClr val="FFE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rapezoid 126"/>
          <p:cNvSpPr/>
          <p:nvPr/>
        </p:nvSpPr>
        <p:spPr>
          <a:xfrm rot="10800000">
            <a:off x="9395460" y="3630168"/>
            <a:ext cx="1508760" cy="310896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464040" y="3630168"/>
            <a:ext cx="1371600" cy="45720"/>
          </a:xfrm>
          <a:prstGeom prst="rect">
            <a:avLst/>
          </a:prstGeom>
          <a:solidFill>
            <a:srgbClr val="C8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9784080" y="406908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784080" y="4069080"/>
            <a:ext cx="731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5D3B"/>
                </a:solidFill>
                <a:latin typeface="Yu Gothic"/>
              </a:rPr>
              <a:t>清峰</a:t>
            </a:r>
          </a:p>
        </p:txBody>
      </p:sp>
      <p:sp>
        <p:nvSpPr>
          <p:cNvPr id="131" name="Oval 130"/>
          <p:cNvSpPr/>
          <p:nvPr/>
        </p:nvSpPr>
        <p:spPr>
          <a:xfrm>
            <a:off x="8714232" y="5833872"/>
            <a:ext cx="1408176" cy="164592"/>
          </a:xfrm>
          <a:prstGeom prst="ellipse">
            <a:avLst/>
          </a:prstGeom>
          <a:solidFill>
            <a:srgbClr val="1452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400032" y="4530852"/>
            <a:ext cx="36576" cy="1056132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Isosceles Triangle 132"/>
          <p:cNvSpPr/>
          <p:nvPr/>
        </p:nvSpPr>
        <p:spPr>
          <a:xfrm>
            <a:off x="8965692" y="4530852"/>
            <a:ext cx="854964" cy="955547"/>
          </a:xfrm>
          <a:prstGeom prst="triangle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ight Triangle 133"/>
          <p:cNvSpPr/>
          <p:nvPr/>
        </p:nvSpPr>
        <p:spPr>
          <a:xfrm>
            <a:off x="9473184" y="4933188"/>
            <a:ext cx="382219" cy="553212"/>
          </a:xfrm>
          <a:prstGeom prst="rtTriangle">
            <a:avLst/>
          </a:prstGeom>
          <a:solidFill>
            <a:srgbClr val="FFE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Trapezoid 134"/>
          <p:cNvSpPr/>
          <p:nvPr/>
        </p:nvSpPr>
        <p:spPr>
          <a:xfrm rot="10800000">
            <a:off x="8865108" y="5504688"/>
            <a:ext cx="1106424" cy="310896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915400" y="5504688"/>
            <a:ext cx="1005840" cy="45720"/>
          </a:xfrm>
          <a:prstGeom prst="rect">
            <a:avLst/>
          </a:prstGeom>
          <a:solidFill>
            <a:srgbClr val="C8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778240" y="59436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778240" y="594360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A2A24"/>
                </a:solidFill>
                <a:latin typeface="Yu Gothic"/>
              </a:rPr>
              <a:t>製品・部品</a:t>
            </a:r>
          </a:p>
        </p:txBody>
      </p:sp>
      <p:sp>
        <p:nvSpPr>
          <p:cNvPr id="139" name="Oval 138"/>
          <p:cNvSpPr/>
          <p:nvPr/>
        </p:nvSpPr>
        <p:spPr>
          <a:xfrm>
            <a:off x="5513831" y="6016752"/>
            <a:ext cx="1408176" cy="164592"/>
          </a:xfrm>
          <a:prstGeom prst="ellipse">
            <a:avLst/>
          </a:prstGeom>
          <a:solidFill>
            <a:srgbClr val="1452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199632" y="4713732"/>
            <a:ext cx="36576" cy="1056132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Isosceles Triangle 140"/>
          <p:cNvSpPr/>
          <p:nvPr/>
        </p:nvSpPr>
        <p:spPr>
          <a:xfrm>
            <a:off x="5765292" y="4713732"/>
            <a:ext cx="854964" cy="955547"/>
          </a:xfrm>
          <a:prstGeom prst="triangle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Right Triangle 141"/>
          <p:cNvSpPr/>
          <p:nvPr/>
        </p:nvSpPr>
        <p:spPr>
          <a:xfrm>
            <a:off x="6272783" y="5116068"/>
            <a:ext cx="382219" cy="553212"/>
          </a:xfrm>
          <a:prstGeom prst="rtTriangle">
            <a:avLst/>
          </a:prstGeom>
          <a:solidFill>
            <a:srgbClr val="FFE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rapezoid 142"/>
          <p:cNvSpPr/>
          <p:nvPr/>
        </p:nvSpPr>
        <p:spPr>
          <a:xfrm rot="10800000">
            <a:off x="5664707" y="5687568"/>
            <a:ext cx="1106424" cy="310896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715000" y="5687568"/>
            <a:ext cx="1005840" cy="45720"/>
          </a:xfrm>
          <a:prstGeom prst="rect">
            <a:avLst/>
          </a:prstGeom>
          <a:solidFill>
            <a:srgbClr val="C8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5577840" y="61264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577840" y="612648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A2A24"/>
                </a:solidFill>
                <a:latin typeface="Yu Gothic"/>
              </a:rPr>
              <a:t>使用済製品</a:t>
            </a:r>
          </a:p>
        </p:txBody>
      </p:sp>
      <p:sp>
        <p:nvSpPr>
          <p:cNvPr id="147" name="Oval 146"/>
          <p:cNvSpPr/>
          <p:nvPr/>
        </p:nvSpPr>
        <p:spPr>
          <a:xfrm>
            <a:off x="2496312" y="5788152"/>
            <a:ext cx="1408176" cy="164592"/>
          </a:xfrm>
          <a:prstGeom prst="ellipse">
            <a:avLst/>
          </a:prstGeom>
          <a:solidFill>
            <a:srgbClr val="1452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182112" y="4485132"/>
            <a:ext cx="36576" cy="1056132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Isosceles Triangle 148"/>
          <p:cNvSpPr/>
          <p:nvPr/>
        </p:nvSpPr>
        <p:spPr>
          <a:xfrm>
            <a:off x="2747772" y="4485132"/>
            <a:ext cx="854964" cy="955547"/>
          </a:xfrm>
          <a:prstGeom prst="triangle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Right Triangle 149"/>
          <p:cNvSpPr/>
          <p:nvPr/>
        </p:nvSpPr>
        <p:spPr>
          <a:xfrm>
            <a:off x="3255264" y="4887468"/>
            <a:ext cx="382219" cy="553212"/>
          </a:xfrm>
          <a:prstGeom prst="rtTriangle">
            <a:avLst/>
          </a:prstGeom>
          <a:solidFill>
            <a:srgbClr val="FFE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Trapezoid 150"/>
          <p:cNvSpPr/>
          <p:nvPr/>
        </p:nvSpPr>
        <p:spPr>
          <a:xfrm rot="10800000">
            <a:off x="2647188" y="5458968"/>
            <a:ext cx="1106424" cy="310896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697480" y="5458968"/>
            <a:ext cx="1005840" cy="45720"/>
          </a:xfrm>
          <a:prstGeom prst="rect">
            <a:avLst/>
          </a:prstGeom>
          <a:solidFill>
            <a:srgbClr val="C8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2560320" y="58978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560320" y="589788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A2A24"/>
                </a:solidFill>
                <a:latin typeface="Yu Gothic"/>
              </a:rPr>
              <a:t>産業廃棄物</a:t>
            </a:r>
          </a:p>
        </p:txBody>
      </p:sp>
      <p:sp>
        <p:nvSpPr>
          <p:cNvPr id="155" name="Oval 154"/>
          <p:cNvSpPr/>
          <p:nvPr/>
        </p:nvSpPr>
        <p:spPr>
          <a:xfrm>
            <a:off x="667512" y="4782312"/>
            <a:ext cx="1408176" cy="164592"/>
          </a:xfrm>
          <a:prstGeom prst="ellipse">
            <a:avLst/>
          </a:prstGeom>
          <a:solidFill>
            <a:srgbClr val="1452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353312" y="3479291"/>
            <a:ext cx="36576" cy="1056132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Isosceles Triangle 156"/>
          <p:cNvSpPr/>
          <p:nvPr/>
        </p:nvSpPr>
        <p:spPr>
          <a:xfrm>
            <a:off x="918971" y="3479291"/>
            <a:ext cx="854964" cy="955547"/>
          </a:xfrm>
          <a:prstGeom prst="triangle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ight Triangle 157"/>
          <p:cNvSpPr/>
          <p:nvPr/>
        </p:nvSpPr>
        <p:spPr>
          <a:xfrm>
            <a:off x="1426464" y="3881627"/>
            <a:ext cx="382219" cy="553212"/>
          </a:xfrm>
          <a:prstGeom prst="rtTriangle">
            <a:avLst/>
          </a:prstGeom>
          <a:solidFill>
            <a:srgbClr val="FFE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Trapezoid 158"/>
          <p:cNvSpPr/>
          <p:nvPr/>
        </p:nvSpPr>
        <p:spPr>
          <a:xfrm rot="10800000">
            <a:off x="818387" y="4453127"/>
            <a:ext cx="1106424" cy="310896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68680" y="4453127"/>
            <a:ext cx="1005840" cy="45720"/>
          </a:xfrm>
          <a:prstGeom prst="rect">
            <a:avLst/>
          </a:prstGeom>
          <a:solidFill>
            <a:srgbClr val="C8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548639" y="489204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48639" y="489204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A2A24"/>
                </a:solidFill>
                <a:latin typeface="Yu Gothic"/>
              </a:rPr>
              <a:t>銅原料回収業者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白＝新しい銅　　金＝めぐる銅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132320" y="644652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Yu Gothic"/>
              </a:rPr>
              <a:t>銅めぐりインターンシップ（仮）｜28卒向け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