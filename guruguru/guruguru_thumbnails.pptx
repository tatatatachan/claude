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F06142"/>
                </a:solidFill>
                <a:latin typeface="Yu Gothic"/>
              </a:rPr>
              <a:t>KIYOMINE × Beyond the wall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0" y="365760"/>
            <a:ext cx="3108960" cy="45720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28卒 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1">
                <a:solidFill>
                  <a:srgbClr val="F06142"/>
                </a:solidFill>
                <a:latin typeface="Yu Gothic"/>
              </a:rPr>
              <a:t>銅めぐりツアー（仮）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22860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5400" b="1">
                <a:solidFill>
                  <a:srgbClr val="F06142"/>
                </a:solidFill>
                <a:latin typeface="Yu Gothic"/>
              </a:rPr>
              <a:t>社会の銅脈を</a:t>
            </a:r>
          </a:p>
          <a:p>
            <a:pPr algn="ctr"/>
            <a:r>
              <a:rPr sz="5400" b="1">
                <a:solidFill>
                  <a:srgbClr val="F06142"/>
                </a:solidFill>
                <a:latin typeface="Yu Gothic"/>
              </a:rPr>
              <a:t>動かせ！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>
                <a:solidFill>
                  <a:srgbClr val="3A2A24"/>
                </a:solidFill>
                <a:latin typeface="Yu Gothic"/>
              </a:rPr>
              <a:t>銅の循環を、つなぎ直す。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5257800"/>
            <a:ext cx="7772400" cy="6400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12月 オンライン ＋ 1月 現場訪問（つくば）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6126480"/>
            <a:ext cx="201168" cy="201168"/>
          </a:xfrm>
          <a:prstGeom prst="ellipse">
            <a:avLst/>
          </a:prstGeom>
          <a:solidFill>
            <a:srgbClr val="FFE0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60720" y="6126480"/>
            <a:ext cx="201168" cy="201168"/>
          </a:xfrm>
          <a:prstGeom prst="ellipse">
            <a:avLst/>
          </a:prstGeom>
          <a:solidFill>
            <a:srgbClr val="FFE0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80" y="6126480"/>
            <a:ext cx="201168" cy="201168"/>
          </a:xfrm>
          <a:prstGeom prst="ellipse">
            <a:avLst/>
          </a:prstGeom>
          <a:solidFill>
            <a:srgbClr val="FF5D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6126480"/>
            <a:ext cx="201168" cy="201168"/>
          </a:xfrm>
          <a:prstGeom prst="ellipse">
            <a:avLst/>
          </a:prstGeom>
          <a:solidFill>
            <a:srgbClr val="FFE0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0" y="6126480"/>
            <a:ext cx="201168" cy="201168"/>
          </a:xfrm>
          <a:prstGeom prst="ellipse">
            <a:avLst/>
          </a:prstGeom>
          <a:solidFill>
            <a:srgbClr val="FFE0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F06142"/>
                </a:solidFill>
                <a:latin typeface="Yu Gothic"/>
              </a:rPr>
              <a:t>KIYOMINE × Beyond the wall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0" y="365760"/>
            <a:ext cx="3108960" cy="45720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28卒 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1">
                <a:solidFill>
                  <a:srgbClr val="F06142"/>
                </a:solidFill>
                <a:latin typeface="Yu Gothic"/>
              </a:rPr>
              <a:t>銅めぐりツアー（仮）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22860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5400" b="1">
                <a:solidFill>
                  <a:srgbClr val="F06142"/>
                </a:solidFill>
                <a:latin typeface="Yu Gothic"/>
              </a:rPr>
              <a:t>資源のめぐりを</a:t>
            </a:r>
          </a:p>
          <a:p>
            <a:pPr algn="ctr"/>
            <a:r>
              <a:rPr sz="5400" b="1">
                <a:solidFill>
                  <a:srgbClr val="F06142"/>
                </a:solidFill>
                <a:latin typeface="Yu Gothic"/>
              </a:rPr>
              <a:t>追いかけろ！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>
                <a:solidFill>
                  <a:srgbClr val="3A2A24"/>
                </a:solidFill>
                <a:latin typeface="Yu Gothic"/>
              </a:rPr>
              <a:t>産廃・加工・精錬の現場へ。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5257800"/>
            <a:ext cx="7772400" cy="6400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12月 オンライン ＋ 1月 現場訪問（つくば）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6126480"/>
            <a:ext cx="201168" cy="201168"/>
          </a:xfrm>
          <a:prstGeom prst="ellipse">
            <a:avLst/>
          </a:prstGeom>
          <a:solidFill>
            <a:srgbClr val="FFE0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60720" y="6126480"/>
            <a:ext cx="201168" cy="201168"/>
          </a:xfrm>
          <a:prstGeom prst="ellipse">
            <a:avLst/>
          </a:prstGeom>
          <a:solidFill>
            <a:srgbClr val="FFE0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80" y="6126480"/>
            <a:ext cx="201168" cy="201168"/>
          </a:xfrm>
          <a:prstGeom prst="ellipse">
            <a:avLst/>
          </a:prstGeom>
          <a:solidFill>
            <a:srgbClr val="FF5D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6126480"/>
            <a:ext cx="201168" cy="201168"/>
          </a:xfrm>
          <a:prstGeom prst="ellipse">
            <a:avLst/>
          </a:prstGeom>
          <a:solidFill>
            <a:srgbClr val="FFE0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0" y="6126480"/>
            <a:ext cx="201168" cy="201168"/>
          </a:xfrm>
          <a:prstGeom prst="ellipse">
            <a:avLst/>
          </a:prstGeom>
          <a:solidFill>
            <a:srgbClr val="FFE0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54864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F06142"/>
                </a:solidFill>
                <a:latin typeface="Yu Gothic"/>
              </a:rPr>
              <a:t>KIYOMINE × Beyond the wall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8595360" y="365760"/>
            <a:ext cx="3108960" cy="45720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</a:rPr>
              <a:t>28卒 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1">
                <a:solidFill>
                  <a:srgbClr val="F06142"/>
                </a:solidFill>
                <a:latin typeface="Yu Gothic"/>
              </a:rPr>
              <a:t>銅めぐりツアー（仮）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1064240" cy="22860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5400" b="1">
                <a:solidFill>
                  <a:srgbClr val="F06142"/>
                </a:solidFill>
                <a:latin typeface="Yu Gothic"/>
              </a:rPr>
              <a:t>銅産業の同業者が、</a:t>
            </a:r>
          </a:p>
          <a:p>
            <a:pPr algn="ctr"/>
            <a:r>
              <a:rPr sz="5400" b="1">
                <a:solidFill>
                  <a:srgbClr val="F06142"/>
                </a:solidFill>
                <a:latin typeface="Yu Gothic"/>
              </a:rPr>
              <a:t>一堂に会する！？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1106424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2000" b="0">
                <a:solidFill>
                  <a:srgbClr val="3A2A24"/>
                </a:solidFill>
                <a:latin typeface="Yu Gothic"/>
              </a:rPr>
              <a:t>越境の力で、分断をつなごう。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5257800"/>
            <a:ext cx="7772400" cy="64008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12月 オンライン ＋ 1月 現場訪問（つくば）</a:t>
            </a:r>
          </a:p>
        </p:txBody>
      </p:sp>
      <p:sp>
        <p:nvSpPr>
          <p:cNvPr id="9" name="Oval 8"/>
          <p:cNvSpPr/>
          <p:nvPr/>
        </p:nvSpPr>
        <p:spPr>
          <a:xfrm>
            <a:off x="5394960" y="6126480"/>
            <a:ext cx="201168" cy="201168"/>
          </a:xfrm>
          <a:prstGeom prst="ellipse">
            <a:avLst/>
          </a:prstGeom>
          <a:solidFill>
            <a:srgbClr val="FFE0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60720" y="6126480"/>
            <a:ext cx="201168" cy="201168"/>
          </a:xfrm>
          <a:prstGeom prst="ellipse">
            <a:avLst/>
          </a:prstGeom>
          <a:solidFill>
            <a:srgbClr val="FFE0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80" y="6126480"/>
            <a:ext cx="201168" cy="201168"/>
          </a:xfrm>
          <a:prstGeom prst="ellipse">
            <a:avLst/>
          </a:prstGeom>
          <a:solidFill>
            <a:srgbClr val="FF5D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92240" y="6126480"/>
            <a:ext cx="201168" cy="201168"/>
          </a:xfrm>
          <a:prstGeom prst="ellipse">
            <a:avLst/>
          </a:prstGeom>
          <a:solidFill>
            <a:srgbClr val="FFE0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0" y="6126480"/>
            <a:ext cx="201168" cy="201168"/>
          </a:xfrm>
          <a:prstGeom prst="ellipse">
            <a:avLst/>
          </a:prstGeom>
          <a:solidFill>
            <a:srgbClr val="FFE0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