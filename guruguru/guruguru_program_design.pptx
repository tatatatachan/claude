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プログラム設計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F06142"/>
                </a:solidFill>
                <a:latin typeface="Yu Gothic"/>
              </a:rPr>
              <a:t>4つの分析 × デザイン思考：見る → 測る → 読む → 動かす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出典：経営学の分析枠組み（バリューチェーン／マテリアルフロー／5フォース／システム思考）を学生向けに平易化。進め方は当方の提案（案）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783080" cy="384048"/>
          </a:xfrm>
          <a:prstGeom prst="rect">
            <a:avLst/>
          </a:prstGeom>
          <a:solidFill>
            <a:srgbClr val="F06142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777240"/>
            <a:ext cx="1417320" cy="384048"/>
          </a:xfrm>
          <a:prstGeom prst="rect">
            <a:avLst/>
          </a:prstGeom>
          <a:solidFill>
            <a:srgbClr val="F06142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デザイン思考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777240"/>
            <a:ext cx="2788920" cy="384048"/>
          </a:xfrm>
          <a:prstGeom prst="rect">
            <a:avLst/>
          </a:prstGeom>
          <a:solidFill>
            <a:srgbClr val="F06142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学生への問い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777240"/>
            <a:ext cx="3337560" cy="384048"/>
          </a:xfrm>
          <a:prstGeom prst="rect">
            <a:avLst/>
          </a:prstGeom>
          <a:solidFill>
            <a:srgbClr val="F06142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やり方（ファシリ）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0" y="777240"/>
            <a:ext cx="1874520" cy="384048"/>
          </a:xfrm>
          <a:prstGeom prst="rect">
            <a:avLst/>
          </a:prstGeom>
          <a:solidFill>
            <a:srgbClr val="F06142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残るもの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216152"/>
            <a:ext cx="1783080" cy="1005840"/>
          </a:xfrm>
          <a:prstGeom prst="rect">
            <a:avLst/>
          </a:prstGeom>
          <a:solidFill>
            <a:srgbClr val="FFE0D0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F06142"/>
                </a:solidFill>
                <a:latin typeface="Yu Gothic"/>
              </a:rPr>
              <a:t>① 見る</a:t>
            </a:r>
          </a:p>
          <a:p>
            <a:pPr algn="l"/>
            <a:r>
              <a:rPr sz="1300" b="1">
                <a:solidFill>
                  <a:srgbClr val="F06142"/>
                </a:solidFill>
                <a:latin typeface="Yu Gothic"/>
              </a:rPr>
              <a:t>バリューチェーン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1216152"/>
            <a:ext cx="14173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共感・観察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216152"/>
            <a:ext cx="27889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誰が、何を受け取り、</a:t>
            </a:r>
          </a:p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何を渡している？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216152"/>
            <a:ext cx="33375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関係者の話を聞き、</a:t>
            </a:r>
          </a:p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図のノードごとに書き込む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0" y="1216152"/>
            <a:ext cx="18745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自分たちの地図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67712"/>
            <a:ext cx="1783080" cy="1005840"/>
          </a:xfrm>
          <a:prstGeom prst="rect">
            <a:avLst/>
          </a:prstGeom>
          <a:solidFill>
            <a:srgbClr val="FFE0D0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F06142"/>
                </a:solidFill>
                <a:latin typeface="Yu Gothic"/>
              </a:rPr>
              <a:t>② 測る</a:t>
            </a:r>
          </a:p>
          <a:p>
            <a:pPr algn="l"/>
            <a:r>
              <a:rPr sz="1300" b="1">
                <a:solidFill>
                  <a:srgbClr val="F06142"/>
                </a:solidFill>
                <a:latin typeface="Yu Gothic"/>
              </a:rPr>
              <a:t>物質収支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2267712"/>
            <a:ext cx="14173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問題の定義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267712"/>
            <a:ext cx="27889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どれだけ戻る？</a:t>
            </a:r>
          </a:p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近いと何が変わる？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267712"/>
            <a:ext cx="33375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可採年数×リサイクル率の計算</a:t>
            </a:r>
          </a:p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スクラップを実際に量る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2267712"/>
            <a:ext cx="18745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数字入りの地図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19272"/>
            <a:ext cx="1783080" cy="1005840"/>
          </a:xfrm>
          <a:prstGeom prst="rect">
            <a:avLst/>
          </a:prstGeom>
          <a:solidFill>
            <a:srgbClr val="FFE0D0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F06142"/>
                </a:solidFill>
                <a:latin typeface="Yu Gothic"/>
              </a:rPr>
              <a:t>③ 読む</a:t>
            </a:r>
          </a:p>
          <a:p>
            <a:pPr algn="l"/>
            <a:r>
              <a:rPr sz="1300" b="1">
                <a:solidFill>
                  <a:srgbClr val="F06142"/>
                </a:solidFill>
                <a:latin typeface="Yu Gothic"/>
              </a:rPr>
              <a:t>交渉力（5フォース）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3319272"/>
            <a:ext cx="14173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問題の定義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3319272"/>
            <a:ext cx="27889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誰が条件を</a:t>
            </a:r>
          </a:p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決めている？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319272"/>
            <a:ext cx="33375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立場カードを背負い、</a:t>
            </a:r>
          </a:p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買取条件をロールプレイで交渉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3319272"/>
            <a:ext cx="18745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力関係のメモ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370831"/>
            <a:ext cx="1783080" cy="1005840"/>
          </a:xfrm>
          <a:prstGeom prst="rect">
            <a:avLst/>
          </a:prstGeom>
          <a:solidFill>
            <a:srgbClr val="FFE0D0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F06142"/>
                </a:solidFill>
                <a:latin typeface="Yu Gothic"/>
              </a:rPr>
              <a:t>④ 動かす</a:t>
            </a:r>
          </a:p>
          <a:p>
            <a:pPr algn="l"/>
            <a:r>
              <a:rPr sz="1300" b="1">
                <a:solidFill>
                  <a:srgbClr val="F06142"/>
                </a:solidFill>
                <a:latin typeface="Yu Gothic"/>
              </a:rPr>
              <a:t>システム思考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94560" y="4370831"/>
            <a:ext cx="14173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発想・試作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4370831"/>
            <a:ext cx="27889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どこに手を入れれば</a:t>
            </a:r>
          </a:p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全体が回る？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4370831"/>
            <a:ext cx="33375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もったいないワーク → 提案1枚</a:t>
            </a:r>
          </a:p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→ 社長にピッチ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20" y="4370831"/>
            <a:ext cx="18745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打ち手1枚＋記事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486400"/>
            <a:ext cx="11430000" cy="777240"/>
          </a:xfrm>
          <a:prstGeom prst="rect">
            <a:avLst/>
          </a:prstGeom>
          <a:solidFill>
            <a:srgbClr val="FFE0D0"/>
          </a:solidFill>
          <a:ln>
            <a:noFill/>
          </a:ln>
          <a:effectLst/>
        </p:spPr>
        <p:txBody>
          <a:bodyPr rtlCol="0" anchor="t" wrap="square" lIns="182880" rIns="182880"/>
          <a:lstStyle/>
          <a:p>
            <a:pPr algn="l"/>
            <a:r>
              <a:rPr sz="1400" b="1">
                <a:solidFill>
                  <a:srgbClr val="F06142"/>
                </a:solidFill>
                <a:latin typeface="Yu Gothic"/>
              </a:rPr>
              <a:t>デザイン経営の視点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相手の立場から始める／小さくつくって試す／違う立場の人と一緒に考える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進め方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F06142"/>
                </a:solidFill>
                <a:latin typeface="Yu Gothic"/>
              </a:rPr>
              <a:t>ファシリとコミュニケーションの設計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出典：銅巡りインターン議事録 / 地球資源を輝かせていくIS。時間配分・役割は当方の提案（案）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370332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370332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F06142"/>
                </a:solidFill>
                <a:latin typeface="Yu Gothic"/>
              </a:rPr>
              <a:t>チームのつくり方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3703320" cy="23774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6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越境チーム：学生3〜4名＋社員1名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役割カードで立場を背負う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（回収業者／精錬所／ユーザー／清峰）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同じ大学同士は分ける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777240"/>
            <a:ext cx="370332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822960"/>
            <a:ext cx="370332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F06142"/>
                </a:solidFill>
                <a:latin typeface="Yu Gothic"/>
              </a:rPr>
              <a:t>ファシリの3ルール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280160"/>
            <a:ext cx="3703320" cy="23774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6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答えより、問いを足す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全員が1人1分は話す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否定せず「もう一歩」を足す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777240"/>
            <a:ext cx="365760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822960"/>
            <a:ext cx="365760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F06142"/>
                </a:solidFill>
                <a:latin typeface="Yu Gothic"/>
              </a:rPr>
              <a:t>関係者への3つの質問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280160"/>
            <a:ext cx="3657600" cy="23774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6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最近、困っていることは？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次に渡す相手に望むことは？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理想の姿は？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9476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F06142"/>
                </a:solidFill>
                <a:latin typeface="Yu Gothic"/>
              </a:rPr>
              <a:t>3つのパートへの配置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06240"/>
            <a:ext cx="3749039" cy="45720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Part0　12月　オンライン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63440"/>
            <a:ext cx="3749039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137160" rIns="137160"/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② 測る（計算ワーク）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事前に図を見て、気になるノードを選ぶ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4206240"/>
            <a:ext cx="3749039" cy="45720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Part1　12月中旬　オンライン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4663440"/>
            <a:ext cx="3749039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137160" rIns="137160"/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① 見る（関係者トーク）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③ 読む（誰が条件を決める？）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4206240"/>
            <a:ext cx="3749039" cy="45720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Part2　1月　現場訪問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4663440"/>
            <a:ext cx="3749039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137160" rIns="137160"/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② 測る（スクラップ計量）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③ 読む（ロールプレイ）　④ 動かす（提案・ピッチ）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キャンバス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F06142"/>
                </a:solidFill>
                <a:latin typeface="Yu Gothic"/>
              </a:rPr>
              <a:t>共通キャンバス：価値循環モデルに書き込む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出典：できること、もっとある（地球資源を輝かせていく価値循環モデル）。書き込みのルールは当方の提案（案）</a:t>
            </a:r>
          </a:p>
        </p:txBody>
      </p:sp>
      <p:pic>
        <p:nvPicPr>
          <p:cNvPr id="6" name="Picture 5" descr="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4089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961120" y="822960"/>
            <a:ext cx="283464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850392"/>
            <a:ext cx="28346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F06142"/>
                </a:solidFill>
                <a:latin typeface="Yu Gothic"/>
              </a:rPr>
              <a:t>① 見る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216152"/>
            <a:ext cx="283464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ノードに「渡す／受け取る／困りごと」の付箋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938528"/>
            <a:ext cx="283464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965960"/>
            <a:ext cx="28346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F06142"/>
                </a:solidFill>
                <a:latin typeface="Yu Gothic"/>
              </a:rPr>
              <a:t>② 測る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331720"/>
            <a:ext cx="283464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矢印に量（t・％）と距離のメモ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3054096"/>
            <a:ext cx="283464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3081527"/>
            <a:ext cx="28346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F06142"/>
                </a:solidFill>
                <a:latin typeface="Yu Gothic"/>
              </a:rPr>
              <a:t>③ 読む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447288"/>
            <a:ext cx="283464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力が強い所に ◎、弱い所に 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4169663"/>
            <a:ext cx="283464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4197096"/>
            <a:ext cx="28346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F06142"/>
                </a:solidFill>
                <a:latin typeface="Yu Gothic"/>
              </a:rPr>
              <a:t>④ 動かす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4562855"/>
            <a:ext cx="283464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3A2A24"/>
                </a:solidFill>
                <a:latin typeface="Yu Gothic"/>
              </a:rPr>
              <a:t>つなぎ目・ロスに ⚡ と打ち手の付箋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74920"/>
            <a:ext cx="8412480" cy="1097280"/>
          </a:xfrm>
          <a:prstGeom prst="rect">
            <a:avLst/>
          </a:prstGeom>
          <a:solidFill>
            <a:srgbClr val="FFE0D0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500" b="1">
                <a:solidFill>
                  <a:srgbClr val="F06142"/>
                </a:solidFill>
                <a:latin typeface="Yu Gothic"/>
              </a:rPr>
              <a:t>チームごとに大判で印刷し、4色の付箋で重ねていく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最後に、自分たちの「描き直した地図」が持ち帰りになる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