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EE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FF5D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56616" y="137160"/>
            <a:ext cx="2103120" cy="365760"/>
          </a:xfrm>
          <a:prstGeom prst="rect">
            <a:avLst/>
          </a:prstGeom>
          <a:solidFill>
            <a:srgbClr val="FF5D3B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ぐるぐる人材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06040" y="109728"/>
            <a:ext cx="9144000" cy="420624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2000" b="1">
                <a:solidFill>
                  <a:srgbClr val="F06142"/>
                </a:solidFill>
                <a:latin typeface="Yu Gothic"/>
              </a:rPr>
              <a:t>ぐるぐる人材とは？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291072"/>
            <a:ext cx="11612880" cy="310896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900" b="0">
                <a:solidFill>
                  <a:srgbClr val="7A6E66"/>
                </a:solidFill>
                <a:latin typeface="Yu Gothic"/>
              </a:rPr>
              <a:t>出典：visions具体的なペルソナ像 / ジャーニー（専卒以上）/ SEEDS選定シート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77240"/>
            <a:ext cx="11430000" cy="5486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2200" b="1">
                <a:solidFill>
                  <a:srgbClr val="F06142"/>
                </a:solidFill>
                <a:latin typeface="Yu Gothic"/>
              </a:rPr>
              <a:t>仮説を回し、人をつなぎ、“めぐり”をつくる人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370332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508760"/>
            <a:ext cx="3703320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500" b="1">
                <a:solidFill>
                  <a:srgbClr val="F06142"/>
                </a:solidFill>
                <a:latin typeface="Yu Gothic"/>
              </a:rPr>
              <a:t>① visionsの定義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965960"/>
            <a:ext cx="3703320" cy="1463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spcBef>
                <a:spcPts val="400"/>
              </a:spcBef>
            </a:pPr>
            <a:r>
              <a:rPr sz="1500" b="0">
                <a:solidFill>
                  <a:srgbClr val="3A2A24"/>
                </a:solidFill>
                <a:latin typeface="Yu Gothic"/>
              </a:rPr>
              <a:t>PDCAを回すのが得意</a:t>
            </a:r>
          </a:p>
          <a:p>
            <a:pPr algn="l">
              <a:spcBef>
                <a:spcPts val="400"/>
              </a:spcBef>
            </a:pPr>
            <a:r>
              <a:rPr sz="1500" b="0">
                <a:solidFill>
                  <a:srgbClr val="3A2A24"/>
                </a:solidFill>
                <a:latin typeface="Yu Gothic"/>
              </a:rPr>
              <a:t>循環（関係作り）ができる</a:t>
            </a:r>
          </a:p>
          <a:p>
            <a:pPr algn="l">
              <a:spcBef>
                <a:spcPts val="400"/>
              </a:spcBef>
            </a:pPr>
            <a:r>
              <a:rPr sz="1500" b="0">
                <a:solidFill>
                  <a:srgbClr val="7A6E66"/>
                </a:solidFill>
                <a:latin typeface="Yu Gothic"/>
              </a:rPr>
              <a:t>↔ コツコツ＝深く積む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60" y="1463040"/>
            <a:ext cx="370332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1960" y="1508760"/>
            <a:ext cx="3703320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500" b="1">
                <a:solidFill>
                  <a:srgbClr val="F06142"/>
                </a:solidFill>
                <a:latin typeface="Yu Gothic"/>
              </a:rPr>
              <a:t>② 清峰SEEDSの⭐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51960" y="1965960"/>
            <a:ext cx="3703320" cy="1463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spcBef>
                <a:spcPts val="400"/>
              </a:spcBef>
            </a:pPr>
            <a:r>
              <a:rPr sz="1500" b="0">
                <a:solidFill>
                  <a:srgbClr val="3A2A24"/>
                </a:solidFill>
                <a:latin typeface="Yu Gothic"/>
              </a:rPr>
              <a:t>地域・社会への貢献</a:t>
            </a:r>
          </a:p>
          <a:p>
            <a:pPr algn="l">
              <a:spcBef>
                <a:spcPts val="400"/>
              </a:spcBef>
            </a:pPr>
            <a:r>
              <a:rPr sz="1500" b="0">
                <a:solidFill>
                  <a:srgbClr val="3A2A24"/>
                </a:solidFill>
                <a:latin typeface="Yu Gothic"/>
              </a:rPr>
              <a:t>明確な理念</a:t>
            </a:r>
          </a:p>
          <a:p>
            <a:pPr algn="l">
              <a:spcBef>
                <a:spcPts val="400"/>
              </a:spcBef>
            </a:pPr>
            <a:r>
              <a:rPr sz="1500" b="0">
                <a:solidFill>
                  <a:srgbClr val="3A2A24"/>
                </a:solidFill>
                <a:latin typeface="Yu Gothic"/>
              </a:rPr>
              <a:t>実は身近、支えるロマン</a:t>
            </a:r>
          </a:p>
          <a:p>
            <a:pPr algn="l">
              <a:spcBef>
                <a:spcPts val="400"/>
              </a:spcBef>
            </a:pPr>
            <a:r>
              <a:rPr sz="1500" b="0">
                <a:solidFill>
                  <a:srgbClr val="3A2A24"/>
                </a:solidFill>
                <a:latin typeface="Yu Gothic"/>
              </a:rPr>
              <a:t>どう作られるかの物語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463040"/>
            <a:ext cx="365760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1508760"/>
            <a:ext cx="3657600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500" b="1">
                <a:solidFill>
                  <a:srgbClr val="F06142"/>
                </a:solidFill>
                <a:latin typeface="Yu Gothic"/>
              </a:rPr>
              <a:t>③ ツアーでの見立て（案）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1965960"/>
            <a:ext cx="3657600" cy="1463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spcBef>
                <a:spcPts val="400"/>
              </a:spcBef>
            </a:pPr>
            <a:r>
              <a:rPr sz="1500" b="0">
                <a:solidFill>
                  <a:srgbClr val="3A2A24"/>
                </a:solidFill>
                <a:latin typeface="Yu Gothic"/>
              </a:rPr>
              <a:t>銅の流れを構造で捉える</a:t>
            </a:r>
          </a:p>
          <a:p>
            <a:pPr algn="l">
              <a:spcBef>
                <a:spcPts val="400"/>
              </a:spcBef>
            </a:pPr>
            <a:r>
              <a:rPr sz="1500" b="0">
                <a:solidFill>
                  <a:srgbClr val="3A2A24"/>
                </a:solidFill>
                <a:latin typeface="Yu Gothic"/>
              </a:rPr>
              <a:t>分断をつなぐことに燃える</a:t>
            </a:r>
          </a:p>
          <a:p>
            <a:pPr algn="l">
              <a:spcBef>
                <a:spcPts val="400"/>
              </a:spcBef>
            </a:pPr>
            <a:r>
              <a:rPr sz="1500" b="0">
                <a:solidFill>
                  <a:srgbClr val="3A2A24"/>
                </a:solidFill>
                <a:latin typeface="Yu Gothic"/>
              </a:rPr>
              <a:t>答えより問いを深める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611880"/>
            <a:ext cx="1143000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500" b="1">
                <a:solidFill>
                  <a:srgbClr val="F06142"/>
                </a:solidFill>
                <a:latin typeface="Yu Gothic"/>
              </a:rPr>
              <a:t>コツコツとの違い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4023360"/>
            <a:ext cx="2148840" cy="38404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400" b="1">
                <a:solidFill>
                  <a:srgbClr val="3A2A24"/>
                </a:solidFill>
                <a:latin typeface="Yu Gothic"/>
              </a:rPr>
              <a:t/>
            </a:r>
          </a:p>
        </p:txBody>
      </p:sp>
      <p:sp>
        <p:nvSpPr>
          <p:cNvPr id="18" name="Rectangle 17"/>
          <p:cNvSpPr/>
          <p:nvPr/>
        </p:nvSpPr>
        <p:spPr>
          <a:xfrm>
            <a:off x="2560320" y="4023360"/>
            <a:ext cx="4526280" cy="384048"/>
          </a:xfrm>
          <a:prstGeom prst="rect">
            <a:avLst/>
          </a:prstGeom>
          <a:solidFill>
            <a:srgbClr val="F06142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400" b="1">
                <a:solidFill>
                  <a:srgbClr val="FFFFFF"/>
                </a:solidFill>
                <a:latin typeface="Yu Gothic"/>
              </a:rPr>
              <a:t>コツコツ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32320" y="4023360"/>
            <a:ext cx="4617720" cy="384048"/>
          </a:xfrm>
          <a:prstGeom prst="rect">
            <a:avLst/>
          </a:prstGeom>
          <a:solidFill>
            <a:srgbClr val="F06142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400" b="1">
                <a:solidFill>
                  <a:srgbClr val="FFFFFF"/>
                </a:solidFill>
                <a:latin typeface="Yu Gothic"/>
              </a:rPr>
              <a:t>ぐるぐる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443984"/>
            <a:ext cx="2148840" cy="384048"/>
          </a:xfrm>
          <a:prstGeom prst="rect">
            <a:avLst/>
          </a:prstGeom>
          <a:solidFill>
            <a:srgbClr val="FFE0D0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400" b="1">
                <a:solidFill>
                  <a:srgbClr val="3A2A24"/>
                </a:solidFill>
                <a:latin typeface="Yu Gothic"/>
              </a:rPr>
              <a:t>関心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560320" y="4443984"/>
            <a:ext cx="452628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400" b="0">
                <a:solidFill>
                  <a:srgbClr val="3A2A24"/>
                </a:solidFill>
                <a:latin typeface="Yu Gothic"/>
              </a:rPr>
              <a:t>工程を極める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32320" y="4443984"/>
            <a:ext cx="461772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400" b="0">
                <a:solidFill>
                  <a:srgbClr val="3A2A24"/>
                </a:solidFill>
                <a:latin typeface="Yu Gothic"/>
              </a:rPr>
              <a:t>工程と会社のあいだ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864608"/>
            <a:ext cx="2148840" cy="384048"/>
          </a:xfrm>
          <a:prstGeom prst="rect">
            <a:avLst/>
          </a:prstGeom>
          <a:solidFill>
            <a:srgbClr val="FFE0D0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400" b="1">
                <a:solidFill>
                  <a:srgbClr val="3A2A24"/>
                </a:solidFill>
                <a:latin typeface="Yu Gothic"/>
              </a:rPr>
              <a:t>やりがい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560320" y="4864608"/>
            <a:ext cx="452628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400" b="0">
                <a:solidFill>
                  <a:srgbClr val="3A2A24"/>
                </a:solidFill>
                <a:latin typeface="Yu Gothic"/>
              </a:rPr>
              <a:t>綺麗に巻けた達成感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32320" y="4864608"/>
            <a:ext cx="461772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400" b="0">
                <a:solidFill>
                  <a:srgbClr val="3A2A24"/>
                </a:solidFill>
                <a:latin typeface="Yu Gothic"/>
              </a:rPr>
              <a:t>仮説検証・伝わる喜び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5285232"/>
            <a:ext cx="2148840" cy="384048"/>
          </a:xfrm>
          <a:prstGeom prst="rect">
            <a:avLst/>
          </a:prstGeom>
          <a:solidFill>
            <a:srgbClr val="FFE0D0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400" b="1">
                <a:solidFill>
                  <a:srgbClr val="3A2A24"/>
                </a:solidFill>
                <a:latin typeface="Yu Gothic"/>
              </a:rPr>
              <a:t>響く場面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560320" y="5285232"/>
            <a:ext cx="452628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400" b="0">
                <a:solidFill>
                  <a:srgbClr val="3A2A24"/>
                </a:solidFill>
                <a:latin typeface="Yu Gothic"/>
              </a:rPr>
              <a:t>工場見学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32320" y="5285232"/>
            <a:ext cx="461772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400" b="0">
                <a:solidFill>
                  <a:srgbClr val="3A2A24"/>
                </a:solidFill>
                <a:latin typeface="Yu Gothic"/>
              </a:rPr>
              <a:t>循環ワーク・対話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5705856"/>
            <a:ext cx="2148840" cy="384048"/>
          </a:xfrm>
          <a:prstGeom prst="rect">
            <a:avLst/>
          </a:prstGeom>
          <a:solidFill>
            <a:srgbClr val="FFE0D0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400" b="1">
                <a:solidFill>
                  <a:srgbClr val="3A2A24"/>
                </a:solidFill>
                <a:latin typeface="Yu Gothic"/>
              </a:rPr>
              <a:t>キャリア観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0" y="5705856"/>
            <a:ext cx="452628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400" b="0">
                <a:solidFill>
                  <a:srgbClr val="3A2A24"/>
                </a:solidFill>
                <a:latin typeface="Yu Gothic"/>
              </a:rPr>
              <a:t>一つを積み重ねる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0" y="5705856"/>
            <a:ext cx="461772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400" b="0">
                <a:solidFill>
                  <a:srgbClr val="3A2A24"/>
                </a:solidFill>
                <a:latin typeface="Yu Gothic"/>
              </a:rPr>
              <a:t>役に立つ／人と繋がる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EE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FF5D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56616" y="137160"/>
            <a:ext cx="2103120" cy="365760"/>
          </a:xfrm>
          <a:prstGeom prst="rect">
            <a:avLst/>
          </a:prstGeom>
          <a:solidFill>
            <a:srgbClr val="FF5D3B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現状データ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06040" y="109728"/>
            <a:ext cx="9144000" cy="420624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2000" b="1">
                <a:solidFill>
                  <a:srgbClr val="F06142"/>
                </a:solidFill>
                <a:latin typeface="Yu Gothic"/>
              </a:rPr>
              <a:t>清峰データで見えた、ぐるぐるの現在地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291072"/>
            <a:ext cx="11612880" cy="310896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900" b="0">
                <a:solidFill>
                  <a:srgbClr val="7A6E66"/>
                </a:solidFill>
                <a:latin typeface="Yu Gothic"/>
              </a:rPr>
              <a:t>出典：sch_0202 / 学生管理シート（27）/ 年間目標・実数 / visions学生リストアップ / 具体的なペルソナ像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822960"/>
            <a:ext cx="114300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841248"/>
            <a:ext cx="3017520" cy="530352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2600" b="1">
                <a:solidFill>
                  <a:srgbClr val="8C4A36"/>
                </a:solidFill>
                <a:latin typeface="Yu Gothic"/>
              </a:rPr>
              <a:t>0名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371600"/>
            <a:ext cx="3017520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1100" b="0">
                <a:solidFill>
                  <a:srgbClr val="7A6E66"/>
                </a:solidFill>
                <a:latin typeface="Yu Gothic"/>
              </a:rPr>
              <a:t>28卒のぐるぐる接点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841248"/>
            <a:ext cx="8046720" cy="877824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600" b="0">
                <a:solidFill>
                  <a:srgbClr val="3A2A24"/>
                </a:solidFill>
                <a:latin typeface="Yu Gothic"/>
              </a:rPr>
              <a:t>リストアップ表は空欄</a:t>
            </a:r>
          </a:p>
          <a:p>
            <a:pPr algn="l"/>
            <a:r>
              <a:rPr sz="1600" b="0">
                <a:solidFill>
                  <a:srgbClr val="3A2A24"/>
                </a:solidFill>
                <a:latin typeface="Yu Gothic"/>
              </a:rPr>
              <a:t>目標：10月30名 → 12月50名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828800"/>
            <a:ext cx="114300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847088"/>
            <a:ext cx="3017520" cy="530352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2600" b="1">
                <a:solidFill>
                  <a:srgbClr val="8C4A36"/>
                </a:solidFill>
                <a:latin typeface="Yu Gothic"/>
              </a:rPr>
              <a:t>1 / 5名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377440"/>
            <a:ext cx="3017520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1100" b="0">
                <a:solidFill>
                  <a:srgbClr val="7A6E66"/>
                </a:solidFill>
                <a:latin typeface="Yu Gothic"/>
              </a:rPr>
              <a:t>27卒の理系で説明会へ進んだ人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1847088"/>
            <a:ext cx="8046720" cy="877824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600" b="0">
                <a:solidFill>
                  <a:srgbClr val="3A2A24"/>
                </a:solidFill>
                <a:latin typeface="Yu Gothic"/>
              </a:rPr>
              <a:t>筑波大 地球学類のみ</a:t>
            </a:r>
          </a:p>
          <a:p>
            <a:pPr algn="l"/>
            <a:r>
              <a:rPr sz="1600" b="0">
                <a:solidFill>
                  <a:srgbClr val="3A2A24"/>
                </a:solidFill>
                <a:latin typeface="Yu Gothic"/>
              </a:rPr>
              <a:t>（のち内定承諾）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834640"/>
            <a:ext cx="114300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2852928"/>
            <a:ext cx="3017520" cy="530352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2600" b="1">
                <a:solidFill>
                  <a:srgbClr val="8C4A36"/>
                </a:solidFill>
                <a:latin typeface="Yu Gothic"/>
              </a:rPr>
              <a:t>理念で承諾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3383280"/>
            <a:ext cx="3017520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1100" b="0">
                <a:solidFill>
                  <a:srgbClr val="7A6E66"/>
                </a:solidFill>
                <a:latin typeface="Yu Gothic"/>
              </a:rPr>
              <a:t>成功事例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852928"/>
            <a:ext cx="8046720" cy="877824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600" b="0">
                <a:solidFill>
                  <a:srgbClr val="3A2A24"/>
                </a:solidFill>
                <a:latin typeface="Yu Gothic"/>
              </a:rPr>
              <a:t>「地球資源を輝かせていく」に共感</a:t>
            </a:r>
          </a:p>
          <a:p>
            <a:pPr algn="l"/>
            <a:r>
              <a:rPr sz="1600" b="0">
                <a:solidFill>
                  <a:srgbClr val="3A2A24"/>
                </a:solidFill>
                <a:latin typeface="Yu Gothic"/>
              </a:rPr>
              <a:t>ISに参加して承諾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840480"/>
            <a:ext cx="114300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3858768"/>
            <a:ext cx="3017520" cy="530352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2600" b="1">
                <a:solidFill>
                  <a:srgbClr val="8C4A36"/>
                </a:solidFill>
                <a:latin typeface="Yu Gothic"/>
              </a:rPr>
              <a:t>8 / 9名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4389120"/>
            <a:ext cx="3017520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1100" b="0">
                <a:solidFill>
                  <a:srgbClr val="7A6E66"/>
                </a:solidFill>
                <a:latin typeface="Yu Gothic"/>
              </a:rPr>
              <a:t>リスト学生の関心テーマ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3858768"/>
            <a:ext cx="8046720" cy="877824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1600" b="0">
                <a:solidFill>
                  <a:srgbClr val="3A2A24"/>
                </a:solidFill>
                <a:latin typeface="Yu Gothic"/>
              </a:rPr>
              <a:t>自然と共生・循環型社会</a:t>
            </a:r>
          </a:p>
          <a:p>
            <a:pPr algn="l"/>
            <a:r>
              <a:rPr sz="1600" b="0">
                <a:solidFill>
                  <a:srgbClr val="3A2A24"/>
                </a:solidFill>
                <a:latin typeface="Yu Gothic"/>
              </a:rPr>
              <a:t>清峰の最重要テーマと一致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937760"/>
            <a:ext cx="11430000" cy="1234440"/>
          </a:xfrm>
          <a:prstGeom prst="rect">
            <a:avLst/>
          </a:prstGeom>
          <a:solidFill>
            <a:srgbClr val="FFE0D0"/>
          </a:solidFill>
          <a:ln>
            <a:noFill/>
          </a:ln>
          <a:effectLst/>
        </p:spPr>
        <p:txBody>
          <a:bodyPr rtlCol="0" anchor="t" wrap="square" lIns="182880" rIns="182880"/>
          <a:lstStyle/>
          <a:p>
            <a:pPr algn="l"/>
            <a:r>
              <a:rPr sz="1600" b="1">
                <a:solidFill>
                  <a:srgbClr val="F06142"/>
                </a:solidFill>
                <a:latin typeface="Yu Gothic"/>
              </a:rPr>
              <a:t>示唆</a:t>
            </a:r>
          </a:p>
          <a:p>
            <a:pPr algn="l">
              <a:spcBef>
                <a:spcPts val="600"/>
              </a:spcBef>
            </a:pPr>
            <a:r>
              <a:rPr sz="1600" b="0">
                <a:solidFill>
                  <a:srgbClr val="3A2A24"/>
                </a:solidFill>
                <a:latin typeface="Yu Gothic"/>
              </a:rPr>
              <a:t>既存チャネルでは、ぐるぐる層に届いていない</a:t>
            </a:r>
          </a:p>
          <a:p>
            <a:pPr algn="l">
              <a:spcBef>
                <a:spcPts val="400"/>
              </a:spcBef>
            </a:pPr>
            <a:r>
              <a:rPr sz="1600" b="0">
                <a:solidFill>
                  <a:srgbClr val="3A2A24"/>
                </a:solidFill>
                <a:latin typeface="Yu Gothic"/>
              </a:rPr>
              <a:t>理念への共感が、最強の入口になる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EE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FF5D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56616" y="137160"/>
            <a:ext cx="2103120" cy="365760"/>
          </a:xfrm>
          <a:prstGeom prst="rect">
            <a:avLst/>
          </a:prstGeom>
          <a:solidFill>
            <a:srgbClr val="FF5D3B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ターゲット像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06040" y="109728"/>
            <a:ext cx="9144000" cy="420624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2000" b="1">
                <a:solidFill>
                  <a:srgbClr val="F06142"/>
                </a:solidFill>
                <a:latin typeface="Yu Gothic"/>
              </a:rPr>
              <a:t>ぐるぐるターゲット像：3タイプ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291072"/>
            <a:ext cx="11612880" cy="310896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900" b="0">
                <a:solidFill>
                  <a:srgbClr val="7A6E66"/>
                </a:solidFill>
                <a:latin typeface="Yu Gothic"/>
              </a:rPr>
              <a:t>出典：具体的なペルソナ像（visionsユーザー）/ 既存ペルソナ①〜③。タイプ分けは当方の整理（案）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777240"/>
            <a:ext cx="3749039" cy="4343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777240"/>
            <a:ext cx="3749039" cy="548640"/>
          </a:xfrm>
          <a:prstGeom prst="rect">
            <a:avLst/>
          </a:prstGeom>
          <a:solidFill>
            <a:srgbClr val="F06142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600" b="1">
                <a:solidFill>
                  <a:srgbClr val="FFFFFF"/>
                </a:solidFill>
                <a:latin typeface="Yu Gothic"/>
              </a:rPr>
              <a:t>A　資源めぐり探究型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417320"/>
            <a:ext cx="3749039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200" b="1">
                <a:solidFill>
                  <a:srgbClr val="F06142"/>
                </a:solidFill>
                <a:latin typeface="Yu Gothic"/>
              </a:rPr>
              <a:t>主ターゲット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783080"/>
            <a:ext cx="3749039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600" b="1">
                <a:solidFill>
                  <a:srgbClr val="3A2A24"/>
                </a:solidFill>
                <a:latin typeface="Yu Gothic"/>
              </a:rPr>
              <a:t>環境資源・物質循環・地球科学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286000"/>
            <a:ext cx="3749039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100" b="0">
                <a:solidFill>
                  <a:srgbClr val="7A6E66"/>
                </a:solidFill>
                <a:latin typeface="Yu Gothic"/>
              </a:rPr>
              <a:t>根拠：visions同志2名・筑波の承諾実績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834640"/>
            <a:ext cx="3749039" cy="21945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spcBef>
                <a:spcPts val="1000"/>
              </a:spcBef>
            </a:pPr>
            <a:r>
              <a:rPr sz="1600" b="0">
                <a:solidFill>
                  <a:srgbClr val="3A2A24"/>
                </a:solidFill>
                <a:latin typeface="Yu Gothic"/>
              </a:rPr>
              <a:t>・循環・ライフサイクルに関心</a:t>
            </a:r>
          </a:p>
          <a:p>
            <a:pPr algn="l">
              <a:spcBef>
                <a:spcPts val="1000"/>
              </a:spcBef>
            </a:pPr>
            <a:r>
              <a:rPr sz="1600" b="0">
                <a:solidFill>
                  <a:srgbClr val="3A2A24"/>
                </a:solidFill>
                <a:latin typeface="Yu Gothic"/>
              </a:rPr>
              <a:t>・銅の有限性を自分ごとに</a:t>
            </a:r>
          </a:p>
          <a:p>
            <a:pPr algn="l">
              <a:spcBef>
                <a:spcPts val="1000"/>
              </a:spcBef>
            </a:pPr>
            <a:r>
              <a:rPr sz="1600" b="0">
                <a:solidFill>
                  <a:srgbClr val="3A2A24"/>
                </a:solidFill>
                <a:latin typeface="Yu Gothic"/>
              </a:rPr>
              <a:t>・価値循環ワークで動く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0" y="777240"/>
            <a:ext cx="3749039" cy="4343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06240" y="777240"/>
            <a:ext cx="3749039" cy="548640"/>
          </a:xfrm>
          <a:prstGeom prst="rect">
            <a:avLst/>
          </a:prstGeom>
          <a:solidFill>
            <a:srgbClr val="8C4A36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600" b="1">
                <a:solidFill>
                  <a:srgbClr val="FFFFFF"/>
                </a:solidFill>
                <a:latin typeface="Yu Gothic"/>
              </a:rPr>
              <a:t>B　問い続ける・発信型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1417320"/>
            <a:ext cx="3749039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200" b="1">
                <a:solidFill>
                  <a:srgbClr val="8C4A36"/>
                </a:solidFill>
                <a:latin typeface="Yu Gothic"/>
              </a:rPr>
              <a:t>既存ペルソナ②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1783080"/>
            <a:ext cx="3749039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600" b="1">
                <a:solidFill>
                  <a:srgbClr val="3A2A24"/>
                </a:solidFill>
                <a:latin typeface="Yu Gothic"/>
              </a:rPr>
              <a:t>環境学・総合科学・農学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2286000"/>
            <a:ext cx="3749039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100" b="0">
                <a:solidFill>
                  <a:srgbClr val="7A6E66"/>
                </a:solidFill>
                <a:latin typeface="Yu Gothic"/>
              </a:rPr>
              <a:t>根拠：公立鳥取環境大ペルソナ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2834640"/>
            <a:ext cx="3749039" cy="21945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spcBef>
                <a:spcPts val="1000"/>
              </a:spcBef>
            </a:pPr>
            <a:r>
              <a:rPr sz="1600" b="0">
                <a:solidFill>
                  <a:srgbClr val="3A2A24"/>
                </a:solidFill>
                <a:latin typeface="Yu Gothic"/>
              </a:rPr>
              <a:t>・自然に向き合い問い続ける</a:t>
            </a:r>
          </a:p>
          <a:p>
            <a:pPr algn="l">
              <a:spcBef>
                <a:spcPts val="1000"/>
              </a:spcBef>
            </a:pPr>
            <a:r>
              <a:rPr sz="1600" b="0">
                <a:solidFill>
                  <a:srgbClr val="3A2A24"/>
                </a:solidFill>
                <a:latin typeface="Yu Gothic"/>
              </a:rPr>
              <a:t>・仮説検証・説明が好き</a:t>
            </a:r>
          </a:p>
          <a:p>
            <a:pPr algn="l">
              <a:spcBef>
                <a:spcPts val="1000"/>
              </a:spcBef>
            </a:pPr>
            <a:r>
              <a:rPr sz="1600" b="0">
                <a:solidFill>
                  <a:srgbClr val="3A2A24"/>
                </a:solidFill>
                <a:latin typeface="Yu Gothic"/>
              </a:rPr>
              <a:t>・議論と記事化で光る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46720" y="777240"/>
            <a:ext cx="3749039" cy="4343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0" y="777240"/>
            <a:ext cx="3749039" cy="548640"/>
          </a:xfrm>
          <a:prstGeom prst="rect">
            <a:avLst/>
          </a:prstGeom>
          <a:solidFill>
            <a:srgbClr val="988E86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600" b="1">
                <a:solidFill>
                  <a:srgbClr val="FFFFFF"/>
                </a:solidFill>
                <a:latin typeface="Yu Gothic"/>
              </a:rPr>
              <a:t>C　コツコツ×ぐるぐる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1417320"/>
            <a:ext cx="3749039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200" b="1">
                <a:solidFill>
                  <a:srgbClr val="988E86"/>
                </a:solidFill>
                <a:latin typeface="Yu Gothic"/>
              </a:rPr>
              <a:t>既存ペルソナ③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1783080"/>
            <a:ext cx="3749039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600" b="1">
                <a:solidFill>
                  <a:srgbClr val="3A2A24"/>
                </a:solidFill>
                <a:latin typeface="Yu Gothic"/>
              </a:rPr>
              <a:t>森林・農学・手仕事志向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2286000"/>
            <a:ext cx="3749039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100" b="0">
                <a:solidFill>
                  <a:srgbClr val="7A6E66"/>
                </a:solidFill>
                <a:latin typeface="Yu Gothic"/>
              </a:rPr>
              <a:t>根拠：信州大 農学部・筑波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2834640"/>
            <a:ext cx="3749039" cy="21945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spcBef>
                <a:spcPts val="1000"/>
              </a:spcBef>
            </a:pPr>
            <a:r>
              <a:rPr sz="1600" b="0">
                <a:solidFill>
                  <a:srgbClr val="3A2A24"/>
                </a:solidFill>
                <a:latin typeface="Yu Gothic"/>
              </a:rPr>
              <a:t>・手仕事＋改善を回す</a:t>
            </a:r>
          </a:p>
          <a:p>
            <a:pPr algn="l">
              <a:spcBef>
                <a:spcPts val="1000"/>
              </a:spcBef>
            </a:pPr>
            <a:r>
              <a:rPr sz="1600" b="0">
                <a:solidFill>
                  <a:srgbClr val="3A2A24"/>
                </a:solidFill>
                <a:latin typeface="Yu Gothic"/>
              </a:rPr>
              <a:t>・自然の課題を発信したい</a:t>
            </a:r>
          </a:p>
          <a:p>
            <a:pPr algn="l">
              <a:spcBef>
                <a:spcPts val="1000"/>
              </a:spcBef>
            </a:pPr>
            <a:r>
              <a:rPr sz="1600" b="0">
                <a:solidFill>
                  <a:srgbClr val="3A2A24"/>
                </a:solidFill>
                <a:latin typeface="Yu Gothic"/>
              </a:rPr>
              <a:t>・工場見学ワークで両面が出る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5257800"/>
            <a:ext cx="11430000" cy="914400"/>
          </a:xfrm>
          <a:prstGeom prst="rect">
            <a:avLst/>
          </a:prstGeom>
          <a:solidFill>
            <a:srgbClr val="FFE0D0"/>
          </a:solidFill>
          <a:ln>
            <a:noFill/>
          </a:ln>
          <a:effectLst/>
        </p:spPr>
        <p:txBody>
          <a:bodyPr rtlCol="0" anchor="t" wrap="square" lIns="182880" rIns="182880"/>
          <a:lstStyle/>
          <a:p>
            <a:pPr algn="l"/>
            <a:r>
              <a:rPr sz="1400" b="1">
                <a:solidFill>
                  <a:srgbClr val="F06142"/>
                </a:solidFill>
                <a:latin typeface="Yu Gothic"/>
              </a:rPr>
              <a:t>対象外（案）</a:t>
            </a:r>
          </a:p>
          <a:p>
            <a:pPr algn="l">
              <a:spcBef>
                <a:spcPts val="400"/>
              </a:spcBef>
            </a:pPr>
            <a:r>
              <a:rPr sz="1500" b="0">
                <a:solidFill>
                  <a:srgbClr val="3A2A24"/>
                </a:solidFill>
                <a:latin typeface="Yu Gothic"/>
              </a:rPr>
              <a:t>現場の人と関わる・手を動かす意志が見えない人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EE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FF5D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56616" y="137160"/>
            <a:ext cx="2103120" cy="365760"/>
          </a:xfrm>
          <a:prstGeom prst="rect">
            <a:avLst/>
          </a:prstGeom>
          <a:solidFill>
            <a:srgbClr val="FF5D3B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学校群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06040" y="109728"/>
            <a:ext cx="9144000" cy="420624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2000" b="1">
                <a:solidFill>
                  <a:srgbClr val="F06142"/>
                </a:solidFill>
                <a:latin typeface="Yu Gothic"/>
              </a:rPr>
              <a:t>ぐるぐる学校群と、日程の配慮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291072"/>
            <a:ext cx="11612880" cy="310896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900" b="0">
                <a:solidFill>
                  <a:srgbClr val="7A6E66"/>
                </a:solidFill>
                <a:latin typeface="Yu Gothic"/>
              </a:rPr>
              <a:t>出典：既存ペルソナ④学校群 / visions具体的なペルソナ像 / 年間目標・実数（各大学の年間スケジュール）。優先度は当方の提案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822960"/>
            <a:ext cx="7498079" cy="1691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822960"/>
            <a:ext cx="1005840" cy="1691640"/>
          </a:xfrm>
          <a:prstGeom prst="rect">
            <a:avLst/>
          </a:prstGeom>
          <a:solidFill>
            <a:srgbClr val="F06142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ctr"/>
            <a:r>
              <a:rPr sz="2800" b="1">
                <a:solidFill>
                  <a:srgbClr val="FFFFFF"/>
                </a:solidFill>
                <a:latin typeface="Yu Gothic"/>
              </a:rPr>
              <a:t>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868680"/>
            <a:ext cx="621792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500" b="1">
                <a:solidFill>
                  <a:srgbClr val="F06142"/>
                </a:solidFill>
                <a:latin typeface="Yu Gothic"/>
              </a:rPr>
              <a:t>資源・循環系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280160"/>
            <a:ext cx="3108960" cy="11887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spcBef>
                <a:spcPts val="600"/>
              </a:spcBef>
            </a:pPr>
            <a:r>
              <a:rPr sz="1500" b="0">
                <a:solidFill>
                  <a:srgbClr val="3A2A24"/>
                </a:solidFill>
                <a:latin typeface="Yu Gothic"/>
              </a:rPr>
              <a:t>早稲田大（環境資源工学）</a:t>
            </a:r>
          </a:p>
          <a:p>
            <a:pPr algn="l">
              <a:spcBef>
                <a:spcPts val="600"/>
              </a:spcBef>
            </a:pPr>
            <a:r>
              <a:rPr sz="1500" b="0">
                <a:solidFill>
                  <a:srgbClr val="3A2A24"/>
                </a:solidFill>
                <a:latin typeface="Yu Gothic"/>
              </a:rPr>
              <a:t>東京農工大院（物質循環）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1280160"/>
            <a:ext cx="3200400" cy="11887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spcBef>
                <a:spcPts val="600"/>
              </a:spcBef>
            </a:pPr>
            <a:r>
              <a:rPr sz="1500" b="0">
                <a:solidFill>
                  <a:srgbClr val="3A2A24"/>
                </a:solidFill>
                <a:latin typeface="Yu Gothic"/>
              </a:rPr>
              <a:t>筑波大（地球学類）</a:t>
            </a:r>
          </a:p>
          <a:p>
            <a:pPr algn="l">
              <a:spcBef>
                <a:spcPts val="600"/>
              </a:spcBef>
            </a:pPr>
            <a:r>
              <a:rPr sz="1500" b="0">
                <a:solidFill>
                  <a:srgbClr val="3A2A24"/>
                </a:solidFill>
                <a:latin typeface="Yu Gothic"/>
              </a:rPr>
              <a:t>秋田大・茨城大（理工）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606040"/>
            <a:ext cx="7498079" cy="1691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606040"/>
            <a:ext cx="1005840" cy="1691640"/>
          </a:xfrm>
          <a:prstGeom prst="rect">
            <a:avLst/>
          </a:prstGeom>
          <a:solidFill>
            <a:srgbClr val="8C4A36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ctr"/>
            <a:r>
              <a:rPr sz="2800" b="1">
                <a:solidFill>
                  <a:srgbClr val="FFFFFF"/>
                </a:solidFill>
                <a:latin typeface="Yu Gothic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651760"/>
            <a:ext cx="621792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500" b="1">
                <a:solidFill>
                  <a:srgbClr val="F06142"/>
                </a:solidFill>
                <a:latin typeface="Yu Gothic"/>
              </a:rPr>
              <a:t>環境・農・森林系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3063240"/>
            <a:ext cx="3108960" cy="11887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spcBef>
                <a:spcPts val="600"/>
              </a:spcBef>
            </a:pPr>
            <a:r>
              <a:rPr sz="1500" b="0">
                <a:solidFill>
                  <a:srgbClr val="3A2A24"/>
                </a:solidFill>
                <a:latin typeface="Yu Gothic"/>
              </a:rPr>
              <a:t>公立鳥取環境大</a:t>
            </a:r>
          </a:p>
          <a:p>
            <a:pPr algn="l">
              <a:spcBef>
                <a:spcPts val="600"/>
              </a:spcBef>
            </a:pPr>
            <a:r>
              <a:rPr sz="1500" b="0">
                <a:solidFill>
                  <a:srgbClr val="3A2A24"/>
                </a:solidFill>
                <a:latin typeface="Yu Gothic"/>
              </a:rPr>
              <a:t>信州大（農）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3063240"/>
            <a:ext cx="3200400" cy="11887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spcBef>
                <a:spcPts val="600"/>
              </a:spcBef>
            </a:pPr>
            <a:r>
              <a:rPr sz="1500" b="0">
                <a:solidFill>
                  <a:srgbClr val="3A2A24"/>
                </a:solidFill>
                <a:latin typeface="Yu Gothic"/>
              </a:rPr>
              <a:t>東京農業大</a:t>
            </a:r>
          </a:p>
          <a:p>
            <a:pPr algn="l">
              <a:spcBef>
                <a:spcPts val="600"/>
              </a:spcBef>
            </a:pPr>
            <a:r>
              <a:rPr sz="1500" b="0">
                <a:solidFill>
                  <a:srgbClr val="3A2A24"/>
                </a:solidFill>
                <a:latin typeface="Yu Gothic"/>
              </a:rPr>
              <a:t>宇都宮・群馬・福島の農・理工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389120"/>
            <a:ext cx="7498079" cy="1691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4389120"/>
            <a:ext cx="1005840" cy="1691640"/>
          </a:xfrm>
          <a:prstGeom prst="rect">
            <a:avLst/>
          </a:prstGeom>
          <a:solidFill>
            <a:srgbClr val="7A6E66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ctr"/>
            <a:r>
              <a:rPr sz="2800" b="1">
                <a:solidFill>
                  <a:srgbClr val="FFFFFF"/>
                </a:solidFill>
                <a:latin typeface="Yu Gothic"/>
              </a:rP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434840"/>
            <a:ext cx="621792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500" b="1">
                <a:solidFill>
                  <a:srgbClr val="F06142"/>
                </a:solidFill>
                <a:latin typeface="Yu Gothic"/>
              </a:rPr>
              <a:t>理系私立・公立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846320"/>
            <a:ext cx="3108960" cy="11887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spcBef>
                <a:spcPts val="600"/>
              </a:spcBef>
            </a:pPr>
            <a:r>
              <a:rPr sz="1500" b="0">
                <a:solidFill>
                  <a:srgbClr val="3A2A24"/>
                </a:solidFill>
                <a:latin typeface="Yu Gothic"/>
              </a:rPr>
              <a:t>都立大・横浜市大</a:t>
            </a:r>
          </a:p>
          <a:p>
            <a:pPr algn="l">
              <a:spcBef>
                <a:spcPts val="600"/>
              </a:spcBef>
            </a:pPr>
            <a:r>
              <a:rPr sz="1500" b="0">
                <a:solidFill>
                  <a:srgbClr val="3A2A24"/>
                </a:solidFill>
                <a:latin typeface="Yu Gothic"/>
              </a:rPr>
              <a:t>長野県立大・諏訪東京理科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4846320"/>
            <a:ext cx="3200400" cy="11887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spcBef>
                <a:spcPts val="600"/>
              </a:spcBef>
            </a:pPr>
            <a:r>
              <a:rPr sz="1500" b="0">
                <a:solidFill>
                  <a:srgbClr val="3A2A24"/>
                </a:solidFill>
                <a:latin typeface="Yu Gothic"/>
              </a:rPr>
              <a:t>明治・芝浦工・電機大</a:t>
            </a:r>
          </a:p>
          <a:p>
            <a:pPr algn="l">
              <a:spcBef>
                <a:spcPts val="600"/>
              </a:spcBef>
            </a:pPr>
            <a:r>
              <a:rPr sz="1500" b="0">
                <a:solidFill>
                  <a:srgbClr val="3A2A24"/>
                </a:solidFill>
                <a:latin typeface="Yu Gothic"/>
              </a:rPr>
              <a:t>日大・法政・東洋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46720" y="822960"/>
            <a:ext cx="3749039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0" y="868680"/>
            <a:ext cx="3749039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500" b="1">
                <a:solidFill>
                  <a:srgbClr val="F06142"/>
                </a:solidFill>
                <a:latin typeface="Yu Gothic"/>
              </a:rPr>
              <a:t>日程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1325880"/>
            <a:ext cx="3749039" cy="18288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spcBef>
                <a:spcPts val="400"/>
              </a:spcBef>
            </a:pPr>
            <a:r>
              <a:rPr sz="1400" b="0">
                <a:solidFill>
                  <a:srgbClr val="3A2A24"/>
                </a:solidFill>
                <a:latin typeface="Yu Gothic"/>
              </a:rPr>
              <a:t>オンライン：12月中旬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3A2A24"/>
                </a:solidFill>
                <a:latin typeface="Yu Gothic"/>
              </a:rPr>
              <a:t>現場訪問：1月上旬〜中旬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7A6E66"/>
                </a:solidFill>
                <a:latin typeface="Yu Gothic"/>
              </a:rPr>
              <a:t>期末・冬季休業を避ける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46720" y="3337560"/>
            <a:ext cx="3749039" cy="2926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0" y="3383279"/>
            <a:ext cx="3749039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500" b="1">
                <a:solidFill>
                  <a:srgbClr val="F06142"/>
                </a:solidFill>
                <a:latin typeface="Yu Gothic"/>
              </a:rPr>
              <a:t>visions検索基準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0" y="3840480"/>
            <a:ext cx="3749039" cy="23774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spcBef>
                <a:spcPts val="400"/>
              </a:spcBef>
            </a:pPr>
            <a:r>
              <a:rPr sz="1400" b="0">
                <a:solidFill>
                  <a:srgbClr val="3A2A24"/>
                </a:solidFill>
                <a:latin typeface="Yu Gothic"/>
              </a:rPr>
              <a:t>自然と共生・循環型社会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3A2A24"/>
                </a:solidFill>
                <a:latin typeface="Yu Gothic"/>
              </a:rPr>
              <a:t>積み重ねる／人の役に立つ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3A2A24"/>
                </a:solidFill>
                <a:latin typeface="Yu Gothic"/>
              </a:rPr>
              <a:t>環境・資源・物質・農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3A2A24"/>
                </a:solidFill>
                <a:latin typeface="Yu Gothic"/>
              </a:rPr>
              <a:t>目標：30 → 40 → 50名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EE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FF5D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56616" y="137160"/>
            <a:ext cx="2103120" cy="365760"/>
          </a:xfrm>
          <a:prstGeom prst="rect">
            <a:avLst/>
          </a:prstGeom>
          <a:solidFill>
            <a:srgbClr val="FF5D3B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ツアー接点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06040" y="109728"/>
            <a:ext cx="9144000" cy="420624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2000" b="1">
                <a:solidFill>
                  <a:srgbClr val="F06142"/>
                </a:solidFill>
                <a:latin typeface="Yu Gothic"/>
              </a:rPr>
              <a:t>ツアーでの、ぐるぐるの動きと見極め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291072"/>
            <a:ext cx="11612880" cy="310896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900" b="0">
                <a:solidFill>
                  <a:srgbClr val="7A6E66"/>
                </a:solidFill>
                <a:latin typeface="Yu Gothic"/>
              </a:rPr>
              <a:t>出典：地球資源を輝かせていくIS / 銅巡りインターン議事録・企画スライド。見極めポイントは当方の提案（案）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777240"/>
            <a:ext cx="2423160" cy="384048"/>
          </a:xfrm>
          <a:prstGeom prst="rect">
            <a:avLst/>
          </a:prstGeom>
          <a:solidFill>
            <a:srgbClr val="F06142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フェーズ</a:t>
            </a:r>
          </a:p>
        </p:txBody>
      </p:sp>
      <p:sp>
        <p:nvSpPr>
          <p:cNvPr id="7" name="Rectangle 6"/>
          <p:cNvSpPr/>
          <p:nvPr/>
        </p:nvSpPr>
        <p:spPr>
          <a:xfrm>
            <a:off x="2834640" y="777240"/>
            <a:ext cx="3337560" cy="384048"/>
          </a:xfrm>
          <a:prstGeom prst="rect">
            <a:avLst/>
          </a:prstGeom>
          <a:solidFill>
            <a:srgbClr val="F06142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内容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777240"/>
            <a:ext cx="2971800" cy="384048"/>
          </a:xfrm>
          <a:prstGeom prst="rect">
            <a:avLst/>
          </a:prstGeom>
          <a:solidFill>
            <a:srgbClr val="F06142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こころの動き</a:t>
            </a:r>
          </a:p>
        </p:txBody>
      </p:sp>
      <p:sp>
        <p:nvSpPr>
          <p:cNvPr id="9" name="Rectangle 8"/>
          <p:cNvSpPr/>
          <p:nvPr/>
        </p:nvSpPr>
        <p:spPr>
          <a:xfrm>
            <a:off x="9235440" y="777240"/>
            <a:ext cx="2514600" cy="384048"/>
          </a:xfrm>
          <a:prstGeom prst="rect">
            <a:avLst/>
          </a:prstGeom>
          <a:solidFill>
            <a:srgbClr val="F06142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見たい行動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216152"/>
            <a:ext cx="2423160" cy="914400"/>
          </a:xfrm>
          <a:prstGeom prst="rect">
            <a:avLst/>
          </a:prstGeom>
          <a:solidFill>
            <a:srgbClr val="FFE0D0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400" b="1">
                <a:solidFill>
                  <a:srgbClr val="F06142"/>
                </a:solidFill>
                <a:latin typeface="Yu Gothic"/>
              </a:rPr>
              <a:t>Part0　12月</a:t>
            </a:r>
          </a:p>
          <a:p>
            <a:pPr algn="l"/>
            <a:r>
              <a:rPr sz="1400" b="1">
                <a:solidFill>
                  <a:srgbClr val="F06142"/>
                </a:solidFill>
                <a:latin typeface="Yu Gothic"/>
              </a:rPr>
              <a:t>オンライン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34640" y="1216152"/>
            <a:ext cx="333756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400" b="0">
                <a:solidFill>
                  <a:srgbClr val="3A2A24"/>
                </a:solidFill>
                <a:latin typeface="Yu Gothic"/>
              </a:rPr>
              <a:t>銅業界の課題</a:t>
            </a:r>
          </a:p>
          <a:p>
            <a:pPr algn="l"/>
            <a:r>
              <a:rPr sz="1400" b="0">
                <a:solidFill>
                  <a:srgbClr val="3A2A24"/>
                </a:solidFill>
                <a:latin typeface="Yu Gothic"/>
              </a:rPr>
              <a:t>価値循環モデル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216152"/>
            <a:ext cx="29718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400" b="0">
                <a:solidFill>
                  <a:srgbClr val="3A2A24"/>
                </a:solidFill>
                <a:latin typeface="Yu Gothic"/>
              </a:rPr>
              <a:t>「銅は有限なんだ…！」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35440" y="1216152"/>
            <a:ext cx="25146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400" b="0">
                <a:solidFill>
                  <a:srgbClr val="3A2A24"/>
                </a:solidFill>
                <a:latin typeface="Yu Gothic"/>
              </a:rPr>
              <a:t>事前課題・質問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194560"/>
            <a:ext cx="2423160" cy="914400"/>
          </a:xfrm>
          <a:prstGeom prst="rect">
            <a:avLst/>
          </a:prstGeom>
          <a:solidFill>
            <a:srgbClr val="FFE0D0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400" b="1">
                <a:solidFill>
                  <a:srgbClr val="F06142"/>
                </a:solidFill>
                <a:latin typeface="Yu Gothic"/>
              </a:rPr>
              <a:t>Part1　12月中旬</a:t>
            </a:r>
          </a:p>
          <a:p>
            <a:pPr algn="l"/>
            <a:r>
              <a:rPr sz="1400" b="1">
                <a:solidFill>
                  <a:srgbClr val="F06142"/>
                </a:solidFill>
                <a:latin typeface="Yu Gothic"/>
              </a:rPr>
              <a:t>関係者トーク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34640" y="2194560"/>
            <a:ext cx="333756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400" b="0">
                <a:solidFill>
                  <a:srgbClr val="3A2A24"/>
                </a:solidFill>
                <a:latin typeface="Yu Gothic"/>
              </a:rPr>
              <a:t>産廃・加工・精錬所の</a:t>
            </a:r>
          </a:p>
          <a:p>
            <a:pPr algn="l"/>
            <a:r>
              <a:rPr sz="1400" b="0">
                <a:solidFill>
                  <a:srgbClr val="3A2A24"/>
                </a:solidFill>
                <a:latin typeface="Yu Gothic"/>
              </a:rPr>
              <a:t>方に話を聞く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2194560"/>
            <a:ext cx="29718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400" b="0">
                <a:solidFill>
                  <a:srgbClr val="3A2A24"/>
                </a:solidFill>
                <a:latin typeface="Yu Gothic"/>
              </a:rPr>
              <a:t>「立場で景色が違う」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35440" y="2194560"/>
            <a:ext cx="25146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400" b="0">
                <a:solidFill>
                  <a:srgbClr val="3A2A24"/>
                </a:solidFill>
                <a:latin typeface="Yu Gothic"/>
              </a:rPr>
              <a:t>聞く力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172968"/>
            <a:ext cx="2423160" cy="914400"/>
          </a:xfrm>
          <a:prstGeom prst="rect">
            <a:avLst/>
          </a:prstGeom>
          <a:solidFill>
            <a:srgbClr val="FFE0D0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400" b="1">
                <a:solidFill>
                  <a:srgbClr val="F06142"/>
                </a:solidFill>
                <a:latin typeface="Yu Gothic"/>
              </a:rPr>
              <a:t>Part2　1月</a:t>
            </a:r>
          </a:p>
          <a:p>
            <a:pPr algn="l"/>
            <a:r>
              <a:rPr sz="1400" b="1">
                <a:solidFill>
                  <a:srgbClr val="F06142"/>
                </a:solidFill>
                <a:latin typeface="Yu Gothic"/>
              </a:rPr>
              <a:t>工場見学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34640" y="3172968"/>
            <a:ext cx="333756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400" b="0">
                <a:solidFill>
                  <a:srgbClr val="3A2A24"/>
                </a:solidFill>
                <a:latin typeface="Yu Gothic"/>
              </a:rPr>
              <a:t>もったいない</a:t>
            </a:r>
          </a:p>
          <a:p>
            <a:pPr algn="l"/>
            <a:r>
              <a:rPr sz="1400" b="0">
                <a:solidFill>
                  <a:srgbClr val="3A2A24"/>
                </a:solidFill>
                <a:latin typeface="Yu Gothic"/>
              </a:rPr>
              <a:t>ポイントを探す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3172968"/>
            <a:ext cx="29718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400" b="0">
                <a:solidFill>
                  <a:srgbClr val="3A2A24"/>
                </a:solidFill>
                <a:latin typeface="Yu Gothic"/>
              </a:rPr>
              <a:t>「どこで回せる？」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235440" y="3172968"/>
            <a:ext cx="25146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400" b="0">
                <a:solidFill>
                  <a:srgbClr val="3A2A24"/>
                </a:solidFill>
                <a:latin typeface="Yu Gothic"/>
              </a:rPr>
              <a:t>観察の細かさ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151376"/>
            <a:ext cx="2423160" cy="914400"/>
          </a:xfrm>
          <a:prstGeom prst="rect">
            <a:avLst/>
          </a:prstGeom>
          <a:solidFill>
            <a:srgbClr val="FFE0D0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400" b="1">
                <a:solidFill>
                  <a:srgbClr val="F06142"/>
                </a:solidFill>
                <a:latin typeface="Yu Gothic"/>
              </a:rPr>
              <a:t>ディスカッション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834640" y="4151376"/>
            <a:ext cx="333756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400" b="0">
                <a:solidFill>
                  <a:srgbClr val="3A2A24"/>
                </a:solidFill>
                <a:latin typeface="Yu Gothic"/>
              </a:rPr>
              <a:t>改善案を発表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4151376"/>
            <a:ext cx="29718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400" b="0">
                <a:solidFill>
                  <a:srgbClr val="3A2A24"/>
                </a:solidFill>
                <a:latin typeface="Yu Gothic"/>
              </a:rPr>
              <a:t>「回し方を提案したい」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235440" y="4151376"/>
            <a:ext cx="25146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400" b="0">
                <a:solidFill>
                  <a:srgbClr val="3A2A24"/>
                </a:solidFill>
                <a:latin typeface="Yu Gothic"/>
              </a:rPr>
              <a:t>仮説と巻き込み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5129784"/>
            <a:ext cx="2423160" cy="914400"/>
          </a:xfrm>
          <a:prstGeom prst="rect">
            <a:avLst/>
          </a:prstGeom>
          <a:solidFill>
            <a:srgbClr val="FFE0D0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400" b="1">
                <a:solidFill>
                  <a:srgbClr val="F06142"/>
                </a:solidFill>
                <a:latin typeface="Yu Gothic"/>
              </a:rPr>
              <a:t>社長・社内懇親会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834640" y="5129784"/>
            <a:ext cx="333756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400" b="0">
                <a:solidFill>
                  <a:srgbClr val="3A2A24"/>
                </a:solidFill>
                <a:latin typeface="Yu Gothic"/>
              </a:rPr>
              <a:t>社長と問いを深める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5129784"/>
            <a:ext cx="29718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400" b="0">
                <a:solidFill>
                  <a:srgbClr val="3A2A24"/>
                </a:solidFill>
                <a:latin typeface="Yu Gothic"/>
              </a:rPr>
              <a:t>「問い続けたい」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235440" y="5129784"/>
            <a:ext cx="25146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400" b="0">
                <a:solidFill>
                  <a:srgbClr val="3A2A24"/>
                </a:solidFill>
                <a:latin typeface="Yu Gothic"/>
              </a:rPr>
              <a:t>対話・温かさ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EE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FF5D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56616" y="137160"/>
            <a:ext cx="2103120" cy="365760"/>
          </a:xfrm>
          <a:prstGeom prst="rect">
            <a:avLst/>
          </a:prstGeom>
          <a:solidFill>
            <a:srgbClr val="FF5D3B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導線・Next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06040" y="109728"/>
            <a:ext cx="9144000" cy="420624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2000" b="1">
                <a:solidFill>
                  <a:srgbClr val="F06142"/>
                </a:solidFill>
                <a:latin typeface="Yu Gothic"/>
              </a:rPr>
              <a:t>集客導線と、次のアクション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291072"/>
            <a:ext cx="11612880" cy="310896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900" b="0">
                <a:solidFill>
                  <a:srgbClr val="7A6E66"/>
                </a:solidFill>
                <a:latin typeface="Yu Gothic"/>
              </a:rPr>
              <a:t>出典：年間目標・実数 / 銅巡りインターン議事録 / visions collegeのご相談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822960"/>
            <a:ext cx="5577840" cy="2651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868680"/>
            <a:ext cx="5577840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700" b="1">
                <a:solidFill>
                  <a:srgbClr val="F06142"/>
                </a:solidFill>
                <a:latin typeface="Yu Gothic"/>
              </a:rPr>
              <a:t>集客の導線（案）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325880"/>
            <a:ext cx="5577840" cy="21031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spcBef>
                <a:spcPts val="600"/>
              </a:spcBef>
            </a:pPr>
            <a:r>
              <a:rPr sz="1700" b="0">
                <a:solidFill>
                  <a:srgbClr val="3A2A24"/>
                </a:solidFill>
                <a:latin typeface="Yu Gothic"/>
              </a:rPr>
              <a:t>① visions college（10月下旬）で予告</a:t>
            </a:r>
          </a:p>
          <a:p>
            <a:pPr algn="l">
              <a:spcBef>
                <a:spcPts val="600"/>
              </a:spcBef>
            </a:pPr>
            <a:r>
              <a:rPr sz="1700" b="0">
                <a:solidFill>
                  <a:srgbClr val="3A2A24"/>
                </a:solidFill>
                <a:latin typeface="Yu Gothic"/>
              </a:rPr>
              <a:t>② リストアップ30→50名に案内</a:t>
            </a:r>
          </a:p>
          <a:p>
            <a:pPr algn="l">
              <a:spcBef>
                <a:spcPts val="600"/>
              </a:spcBef>
            </a:pPr>
            <a:r>
              <a:rPr sz="1700" b="0">
                <a:solidFill>
                  <a:srgbClr val="3A2A24"/>
                </a:solidFill>
                <a:latin typeface="Yu Gothic"/>
              </a:rPr>
              <a:t>③ イベントページ公開</a:t>
            </a:r>
          </a:p>
          <a:p>
            <a:pPr algn="l">
              <a:spcBef>
                <a:spcPts val="600"/>
              </a:spcBef>
            </a:pPr>
            <a:r>
              <a:rPr sz="1700" b="0">
                <a:solidFill>
                  <a:srgbClr val="3A2A24"/>
                </a:solidFill>
                <a:latin typeface="Yu Gothic"/>
              </a:rPr>
              <a:t>④ 筑波大・茨城県内へ声がけ</a:t>
            </a:r>
          </a:p>
          <a:p>
            <a:pPr algn="l">
              <a:spcBef>
                <a:spcPts val="600"/>
              </a:spcBef>
            </a:pPr>
            <a:r>
              <a:rPr sz="1700" b="0">
                <a:solidFill>
                  <a:srgbClr val="3A2A24"/>
                </a:solidFill>
                <a:latin typeface="Yu Gothic"/>
              </a:rPr>
              <a:t>⑤ ツアー → 選考流入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822960"/>
            <a:ext cx="5669280" cy="2651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868680"/>
            <a:ext cx="5669280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700" b="1">
                <a:solidFill>
                  <a:srgbClr val="F06142"/>
                </a:solidFill>
                <a:latin typeface="Yu Gothic"/>
              </a:rPr>
              <a:t>28卒の年間目標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1325880"/>
            <a:ext cx="5669280" cy="21031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spcBef>
                <a:spcPts val="600"/>
              </a:spcBef>
            </a:pPr>
            <a:r>
              <a:rPr sz="1700" b="0">
                <a:solidFill>
                  <a:srgbClr val="3A2A24"/>
                </a:solidFill>
                <a:latin typeface="Yu Gothic"/>
              </a:rPr>
              <a:t>接触47 → 面談22 → 高評価11</a:t>
            </a:r>
          </a:p>
          <a:p>
            <a:pPr algn="l">
              <a:spcBef>
                <a:spcPts val="600"/>
              </a:spcBef>
            </a:pPr>
            <a:r>
              <a:rPr sz="1700" b="0">
                <a:solidFill>
                  <a:srgbClr val="3A2A24"/>
                </a:solidFill>
                <a:latin typeface="Yu Gothic"/>
              </a:rPr>
              <a:t>相思相愛8 → 選考流入5</a:t>
            </a:r>
          </a:p>
          <a:p>
            <a:pPr algn="l">
              <a:spcBef>
                <a:spcPts val="600"/>
              </a:spcBef>
            </a:pPr>
            <a:r>
              <a:rPr sz="1700" b="0">
                <a:solidFill>
                  <a:srgbClr val="3A2A24"/>
                </a:solidFill>
                <a:latin typeface="Yu Gothic"/>
              </a:rPr>
              <a:t>内定2 → 承諾1</a:t>
            </a:r>
          </a:p>
          <a:p>
            <a:pPr algn="l">
              <a:spcBef>
                <a:spcPts val="600"/>
              </a:spcBef>
            </a:pPr>
            <a:r>
              <a:rPr sz="1700" b="0">
                <a:solidFill>
                  <a:srgbClr val="3A2A24"/>
                </a:solidFill>
                <a:latin typeface="Yu Gothic"/>
              </a:rPr>
              <a:t>現状：ぐるぐる接点は未着手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611880"/>
            <a:ext cx="5577840" cy="2651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3657600"/>
            <a:ext cx="5577840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700" b="1">
                <a:solidFill>
                  <a:srgbClr val="F06142"/>
                </a:solidFill>
                <a:latin typeface="Yu Gothic"/>
              </a:rPr>
              <a:t>決めたいこと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114800"/>
            <a:ext cx="5577840" cy="21031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spcBef>
                <a:spcPts val="600"/>
              </a:spcBef>
            </a:pPr>
            <a:r>
              <a:rPr sz="1700" b="0">
                <a:solidFill>
                  <a:srgbClr val="3A2A24"/>
                </a:solidFill>
                <a:latin typeface="Yu Gothic"/>
              </a:rPr>
              <a:t>① ぐるぐるの定義</a:t>
            </a:r>
          </a:p>
          <a:p>
            <a:pPr algn="l">
              <a:spcBef>
                <a:spcPts val="600"/>
              </a:spcBef>
            </a:pPr>
            <a:r>
              <a:rPr sz="1700" b="0">
                <a:solidFill>
                  <a:srgbClr val="3A2A24"/>
                </a:solidFill>
                <a:latin typeface="Yu Gothic"/>
              </a:rPr>
              <a:t>② 遠方学生の参加方法</a:t>
            </a:r>
          </a:p>
          <a:p>
            <a:pPr algn="l">
              <a:spcBef>
                <a:spcPts val="600"/>
              </a:spcBef>
            </a:pPr>
            <a:r>
              <a:rPr sz="1700" b="0">
                <a:solidFill>
                  <a:srgbClr val="3A2A24"/>
                </a:solidFill>
                <a:latin typeface="Yu Gothic"/>
              </a:rPr>
              <a:t>③ 開催日（平日／土日）</a:t>
            </a:r>
          </a:p>
          <a:p>
            <a:pPr algn="l">
              <a:spcBef>
                <a:spcPts val="600"/>
              </a:spcBef>
            </a:pPr>
            <a:r>
              <a:rPr sz="1700" b="0">
                <a:solidFill>
                  <a:srgbClr val="3A2A24"/>
                </a:solidFill>
                <a:latin typeface="Yu Gothic"/>
              </a:rPr>
              <a:t>④ 事前課題の有無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3611880"/>
            <a:ext cx="5669280" cy="2651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0" y="3657600"/>
            <a:ext cx="5669280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700" b="1">
                <a:solidFill>
                  <a:srgbClr val="F06142"/>
                </a:solidFill>
                <a:latin typeface="Yu Gothic"/>
              </a:rPr>
              <a:t>次のアクション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4114800"/>
            <a:ext cx="5669280" cy="21031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spcBef>
                <a:spcPts val="600"/>
              </a:spcBef>
            </a:pPr>
            <a:r>
              <a:rPr sz="1700" b="0">
                <a:solidFill>
                  <a:srgbClr val="3A2A24"/>
                </a:solidFill>
                <a:latin typeface="Yu Gothic"/>
              </a:rPr>
              <a:t>今週：S／A群をリストアップ</a:t>
            </a:r>
          </a:p>
          <a:p>
            <a:pPr algn="l">
              <a:spcBef>
                <a:spcPts val="600"/>
              </a:spcBef>
            </a:pPr>
            <a:r>
              <a:rPr sz="1700" b="0">
                <a:solidFill>
                  <a:srgbClr val="3A2A24"/>
                </a:solidFill>
                <a:latin typeface="Yu Gothic"/>
              </a:rPr>
              <a:t>今週：タイプ別の声がけ文面</a:t>
            </a:r>
          </a:p>
          <a:p>
            <a:pPr algn="l">
              <a:spcBef>
                <a:spcPts val="600"/>
              </a:spcBef>
            </a:pPr>
            <a:r>
              <a:rPr sz="1700" b="0">
                <a:solidFill>
                  <a:srgbClr val="3A2A24"/>
                </a:solidFill>
                <a:latin typeface="Yu Gothic"/>
              </a:rPr>
              <a:t>11月：イベントページ公開</a:t>
            </a:r>
          </a:p>
          <a:p>
            <a:pPr algn="l">
              <a:spcBef>
                <a:spcPts val="600"/>
              </a:spcBef>
            </a:pPr>
            <a:r>
              <a:rPr sz="1700" b="0">
                <a:solidFill>
                  <a:srgbClr val="3A2A24"/>
                </a:solidFill>
                <a:latin typeface="Yu Gothic"/>
              </a:rPr>
              <a:t>12月：Part0／1を実施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