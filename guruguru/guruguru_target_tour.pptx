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コンセプト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コンセプト：銅めぐりツアー（仮）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出典：visions collegeのご相談 / 銅巡りインターン議事録 / 地球資源を輝かせていくIS / 採用ピッチ資料_構成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2800" b="1">
                <a:solidFill>
                  <a:srgbClr val="F06142"/>
                </a:solidFill>
                <a:latin typeface="Yu Gothic"/>
              </a:rPr>
              <a:t>越境の力で、分断された銅の循環をつなごう。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400" b="0">
                <a:solidFill>
                  <a:srgbClr val="7A6E66"/>
                </a:solidFill>
                <a:latin typeface="Yu Gothic"/>
              </a:rPr>
              <a:t>合言葉：100年後のために働く　／　テーマ：自然との共生を目指してはたらく</a:t>
            </a:r>
          </a:p>
        </p:txBody>
      </p:sp>
      <p:sp>
        <p:nvSpPr>
          <p:cNvPr id="8" name="Pentagon 7"/>
          <p:cNvSpPr/>
          <p:nvPr/>
        </p:nvSpPr>
        <p:spPr>
          <a:xfrm>
            <a:off x="365760" y="1828800"/>
            <a:ext cx="2377440" cy="731520"/>
          </a:xfrm>
          <a:prstGeom prst="homePlate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銅鉱石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採掘</a:t>
            </a:r>
          </a:p>
        </p:txBody>
      </p:sp>
      <p:sp>
        <p:nvSpPr>
          <p:cNvPr id="10" name="Chevron 9"/>
          <p:cNvSpPr/>
          <p:nvPr/>
        </p:nvSpPr>
        <p:spPr>
          <a:xfrm>
            <a:off x="2651760" y="182880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電気銅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精錬所</a:t>
            </a:r>
          </a:p>
        </p:txBody>
      </p:sp>
      <p:sp>
        <p:nvSpPr>
          <p:cNvPr id="12" name="Chevron 11"/>
          <p:cNvSpPr/>
          <p:nvPr/>
        </p:nvSpPr>
        <p:spPr>
          <a:xfrm>
            <a:off x="4937760" y="1828800"/>
            <a:ext cx="2377440" cy="731520"/>
          </a:xfrm>
          <a:prstGeom prst="chevron">
            <a:avLst/>
          </a:prstGeom>
          <a:solidFill>
            <a:srgbClr val="FF5D3B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インゴット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清峰</a:t>
            </a:r>
          </a:p>
        </p:txBody>
      </p:sp>
      <p:sp>
        <p:nvSpPr>
          <p:cNvPr id="14" name="Chevron 13"/>
          <p:cNvSpPr/>
          <p:nvPr/>
        </p:nvSpPr>
        <p:spPr>
          <a:xfrm>
            <a:off x="7223760" y="182880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銅製品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ユーザー</a:t>
            </a:r>
          </a:p>
        </p:txBody>
      </p:sp>
      <p:sp>
        <p:nvSpPr>
          <p:cNvPr id="16" name="Chevron 15"/>
          <p:cNvSpPr/>
          <p:nvPr/>
        </p:nvSpPr>
        <p:spPr>
          <a:xfrm>
            <a:off x="9509760" y="182880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500" b="1">
                <a:solidFill>
                  <a:srgbClr val="3A2A24"/>
                </a:solidFill>
                <a:latin typeface="Yu Gothic"/>
              </a:rPr>
              <a:t>銅産廃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606040"/>
            <a:ext cx="21031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200" b="0">
                <a:solidFill>
                  <a:srgbClr val="7A6E66"/>
                </a:solidFill>
                <a:latin typeface="Yu Gothic"/>
              </a:rPr>
              <a:t>産廃・回収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500" b="1">
                <a:solidFill>
                  <a:srgbClr val="F06142"/>
                </a:solidFill>
                <a:latin typeface="Yu Gothic"/>
              </a:rPr>
              <a:t>この流れが、会社ごとに分断されている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74720"/>
            <a:ext cx="370332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52044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なぜ（課題）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977639"/>
            <a:ext cx="370332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銅の可採年数は約40年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回収・リサイクルは不透明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工場内で戻すのが最も早く安い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3474720"/>
            <a:ext cx="370332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52044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なにをする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977639"/>
            <a:ext cx="370332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関係者に会う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工場を歩き、もったいないを探す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社長と問いを深める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474720"/>
            <a:ext cx="36576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52044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誰と・持ち帰るもの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977639"/>
            <a:ext cx="365760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ぐるぐる人材（28卒）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答えより、深まった問い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成果は記事化して発信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ぐるぐる人材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ぐるぐる人材とは？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出典：visions具体的なペルソナ像 / ジャーニー（専卒以上）/ SEEDS選定シート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2200" b="1">
                <a:solidFill>
                  <a:srgbClr val="F06142"/>
                </a:solidFill>
                <a:latin typeface="Yu Gothic"/>
              </a:rPr>
              <a:t>仮説を回し、人をつなぎ、“めぐり”をつくる人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70332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① visionsの定義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PDCAを回すのが得意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循環（関係作り）ができる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7A6E66"/>
                </a:solidFill>
                <a:latin typeface="Yu Gothic"/>
              </a:rPr>
              <a:t>↔ コツコツ＝深く積む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70332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② 清峰SEEDSの⭐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地域・社会への貢献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明確な理念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実は身近、支えるロマン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どう作られるかの物語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463040"/>
            <a:ext cx="365760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087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③ ツアーでの見立て（案）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65960"/>
            <a:ext cx="365760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銅の流れを構造で捉える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分断をつなぐことに燃える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答えより問いを深める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コツコツとの違い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023360"/>
            <a:ext cx="452628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コツコツ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023360"/>
            <a:ext cx="46177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ぐるぐる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43984"/>
            <a:ext cx="2148840" cy="38404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関心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443984"/>
            <a:ext cx="4526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工程を極める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4443984"/>
            <a:ext cx="4617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工程と会社のあいだ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64608"/>
            <a:ext cx="2148840" cy="38404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やりがい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4864608"/>
            <a:ext cx="4526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綺麗に巻けた達成感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864608"/>
            <a:ext cx="4617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仮説検証・伝わる喜び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85232"/>
            <a:ext cx="2148840" cy="38404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響く場面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285232"/>
            <a:ext cx="4526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工場見学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5285232"/>
            <a:ext cx="4617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循環ワーク・対話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705856"/>
            <a:ext cx="2148840" cy="38404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3A2A24"/>
                </a:solidFill>
                <a:latin typeface="Yu Gothic"/>
              </a:rPr>
              <a:t>キャリア観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705856"/>
            <a:ext cx="4526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一つを積み重ねる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5705856"/>
            <a:ext cx="4617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役に立つ／人と繋がる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現状データ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清峰データで見えた、ぐるぐるの現在地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出典：sch_0202 / 学生管理シート（27）/ 年間目標・実数 / visions学生リストアップ / 具体的なペルソナ像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30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8C4A36"/>
                </a:solidFill>
                <a:latin typeface="Yu Gothic"/>
              </a:rPr>
              <a:t>0名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28卒のぐるぐる接点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84124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リストアップ表は空欄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目標：10月30名 → 12月50名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11430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4708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8C4A36"/>
                </a:solidFill>
                <a:latin typeface="Yu Gothic"/>
              </a:rPr>
              <a:t>1 / 5名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27卒の理系で説明会へ進んだ人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4708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筑波大 地球学類のみ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（のち内定承諾）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11430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85292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8C4A36"/>
                </a:solidFill>
                <a:latin typeface="Yu Gothic"/>
              </a:rPr>
              <a:t>理念で承諾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38328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成功事例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85292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「地球資源を輝かせていく」に共感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ISに参加して承諾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85876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8C4A36"/>
                </a:solidFill>
                <a:latin typeface="Yu Gothic"/>
              </a:rPr>
              <a:t>8 / 9名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38912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7A6E66"/>
                </a:solidFill>
                <a:latin typeface="Yu Gothic"/>
              </a:rPr>
              <a:t>リスト学生の関心テーマ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5876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自然と共生・循環型社会</a:t>
            </a:r>
          </a:p>
          <a:p>
            <a:pPr algn="l"/>
            <a:r>
              <a:rPr sz="1600" b="0">
                <a:solidFill>
                  <a:srgbClr val="3A2A24"/>
                </a:solidFill>
                <a:latin typeface="Yu Gothic"/>
              </a:rPr>
              <a:t>清峰の最重要テーマと一致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37760"/>
            <a:ext cx="11430000" cy="12344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示唆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既存チャネルでは、ぐるぐる層に届いていない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理念への共感が、最強の入口になる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ターゲット像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ぐるぐるターゲット像：3タイプ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出典：具体的なペルソナ像（visionsユーザー）/ 既存ペルソナ①〜③。タイプ分けは当方の整理（案）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74903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777240"/>
            <a:ext cx="3749039" cy="548640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A　資源めぐり探究型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F06142"/>
                </a:solidFill>
                <a:latin typeface="Yu Gothic"/>
              </a:rPr>
              <a:t>主ターゲット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環境資源・物質循環・地球科学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根拠：visions同志2名・筑波の承諾実績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・循環・ライフサイクルに関心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・銅の有限性を自分ごとに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・価値循環ワークで動く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777240"/>
            <a:ext cx="374903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777240"/>
            <a:ext cx="3749039" cy="548640"/>
          </a:xfrm>
          <a:prstGeom prst="rect">
            <a:avLst/>
          </a:prstGeom>
          <a:solidFill>
            <a:srgbClr val="8C4A3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B　問い続ける・発信型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8C4A36"/>
                </a:solidFill>
                <a:latin typeface="Yu Gothic"/>
              </a:rPr>
              <a:t>既存ペルソナ②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環境学・総合科学・農学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根拠：公立鳥取環境大ペルソナ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・自然に向き合い問い続ける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・仮説検証・説明が好き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・議論と記事化で光る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777240"/>
            <a:ext cx="374903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777240"/>
            <a:ext cx="3749039" cy="548640"/>
          </a:xfrm>
          <a:prstGeom prst="rect">
            <a:avLst/>
          </a:prstGeom>
          <a:solidFill>
            <a:srgbClr val="988E8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C　コツコツ×ぐるぐる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988E86"/>
                </a:solidFill>
                <a:latin typeface="Yu Gothic"/>
              </a:rPr>
              <a:t>既存ペルソナ③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A2A24"/>
                </a:solidFill>
                <a:latin typeface="Yu Gothic"/>
              </a:rPr>
              <a:t>森林・農学・手仕事志向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7A6E66"/>
                </a:solidFill>
                <a:latin typeface="Yu Gothic"/>
              </a:rPr>
              <a:t>根拠：信州大 農学部・筑波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・手仕事＋改善を回す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・自然の課題を発信したい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3A2A24"/>
                </a:solidFill>
                <a:latin typeface="Yu Gothic"/>
              </a:rPr>
              <a:t>・工場見学ワークで両面が出る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57800"/>
            <a:ext cx="1143000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対象外（案）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現場の人と関わる・手を動かす意志が見えない人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学校群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ぐるぐる学校群と、日程の配慮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出典：既存ペルソナ④学校群 / visions具体的なペルソナ像 / 年間目標・実数（各大学の年間スケジュール）。優先度は当方の提案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7498079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005840" cy="1691640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86868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資源・循環系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28016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早稲田大（環境資源工学）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東京農工大院（物質循環）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28016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筑波大（地球学類）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秋田大・茨城大（理工）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7498079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005840" cy="1691640"/>
          </a:xfrm>
          <a:prstGeom prst="rect">
            <a:avLst/>
          </a:prstGeom>
          <a:solidFill>
            <a:srgbClr val="8C4A3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65176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環境・農・森林系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公立鳥取環境大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信州大（農）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6324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東京農業大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宇都宮・群馬・福島の農・理工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389120"/>
            <a:ext cx="7498079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1005840" cy="1691640"/>
          </a:xfrm>
          <a:prstGeom prst="rect">
            <a:avLst/>
          </a:prstGeom>
          <a:solidFill>
            <a:srgbClr val="7A6E6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3484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理系私立・公立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4632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都立大・横浜市大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長野県立大・諏訪東京理科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84632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明治・芝浦工・電機大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3A2A24"/>
                </a:solidFill>
                <a:latin typeface="Yu Gothic"/>
              </a:rPr>
              <a:t>日大・法政・東洋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822960"/>
            <a:ext cx="374903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868680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325880"/>
            <a:ext cx="3749039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オンライン：12月中旬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現場訪問：1月上旬〜中旬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7A6E66"/>
                </a:solidFill>
                <a:latin typeface="Yu Gothic"/>
              </a:rPr>
              <a:t>期末・冬季休業を避ける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3337560"/>
            <a:ext cx="3749039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383279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visions検索基準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840480"/>
            <a:ext cx="3749039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自然と共生・循環型社会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積み重ねる／人の役に立つ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環境・資源・物質・農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目標：30 → 40 → 50名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ツアー接点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ツアーでの、ぐるぐるの動きと見極め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出典：地球資源を輝かせていくIS / 銅巡りインターン議事録・企画スライド。見極めポイントは当方の提案（案）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242316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777240"/>
            <a:ext cx="333756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777240"/>
            <a:ext cx="29718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こころの動き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777240"/>
            <a:ext cx="25146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見たい行動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16152"/>
            <a:ext cx="242316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Part0　12月</a:t>
            </a:r>
          </a:p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オンライン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216152"/>
            <a:ext cx="3337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銅業界の課題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価値循環モデル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16152"/>
            <a:ext cx="29718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「銅は有限なんだ…！」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216152"/>
            <a:ext cx="2514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事前課題・質問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194560"/>
            <a:ext cx="242316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Part1　12月中旬</a:t>
            </a:r>
          </a:p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関係者トーク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2194560"/>
            <a:ext cx="3337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産廃・加工・精錬所の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方に話を聞く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194560"/>
            <a:ext cx="29718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「立場で景色が違う」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94560"/>
            <a:ext cx="2514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聞く力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72968"/>
            <a:ext cx="242316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Part2　1月</a:t>
            </a:r>
          </a:p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工場見学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3172968"/>
            <a:ext cx="3337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もったいない</a:t>
            </a:r>
          </a:p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ポイントを探す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172968"/>
            <a:ext cx="29718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「どこで回せる？」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3172968"/>
            <a:ext cx="2514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観察の細かさ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51376"/>
            <a:ext cx="242316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ディスカッション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4151376"/>
            <a:ext cx="3337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改善案を発表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151376"/>
            <a:ext cx="29718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「回し方を提案したい」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4151376"/>
            <a:ext cx="2514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仮説と巻き込み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129784"/>
            <a:ext cx="2423160" cy="9144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社長・社内懇親会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5129784"/>
            <a:ext cx="3337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社長と問いを深める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129784"/>
            <a:ext cx="29718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「問い続けたい」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5129784"/>
            <a:ext cx="2514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対話・温かさ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導線・Next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集客導線と、次のアクション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出典：年間目標・実数 / 銅巡りインターン議事録 / visions collegeのご相談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F06142"/>
                </a:solidFill>
                <a:latin typeface="Yu Gothic"/>
              </a:rPr>
              <a:t>集客の導線（案）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① visions college（10月下旬）で予告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② リストアップ30→50名に案内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③ 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④ 筑波大・茨城県内へ声がけ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⑤ ツアー → 選考流入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22960"/>
            <a:ext cx="566928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86868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F06142"/>
                </a:solidFill>
                <a:latin typeface="Yu Gothic"/>
              </a:rPr>
              <a:t>28卒の年間目標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接触47 → 面談22 → 高評価11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相思相愛8 → 選考流入5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内定2 → 承諾1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現状：ぐるぐる接点は未着手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557784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65760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F06142"/>
                </a:solidFill>
                <a:latin typeface="Yu Gothic"/>
              </a:rPr>
              <a:t>決めたいこと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11480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① ぐるぐるの定義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② 遠方学生の参加方法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③ 開催日（平日／土日）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④ 事前課題の有無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611880"/>
            <a:ext cx="566928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65760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F06142"/>
                </a:solidFill>
                <a:latin typeface="Yu Gothic"/>
              </a:rPr>
              <a:t>次のアクション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11480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今週：S／A群をリストアップ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今週：タイプ別の声がけ文面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11月：イベントページ公開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3A2A24"/>
                </a:solidFill>
                <a:latin typeface="Yu Gothic"/>
              </a:rPr>
              <a:t>12月：Part0／1を実施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