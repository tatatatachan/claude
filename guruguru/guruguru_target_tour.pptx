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ぐるぐる人材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ぐるぐる人材とは？　― 銅めぐりツアー（象徴IS）で出会いたい人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出典：visions具体的なペルソナ像 / ジャーニー（専卒以上）/ SEEDS選定シート / 地球資源を輝かせていくIS（各シート）、visions college相談スライド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  <a:latin typeface="Yu Gothic"/>
              </a:rPr>
              <a:t>「ぐるぐる人材」＝ 仮説を立てて回し、人との関係をつなぎながら“めぐり”をつくる人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365760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365760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① visionsの定義（シート原文）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3657600" cy="18745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・コツコツ：小さい頃からものづくりが好きで、計画的に取り組む</a:t>
            </a:r>
          </a:p>
          <a:p>
            <a:pPr algn="l"/>
            <a:r>
              <a:rPr sz="1200" b="1">
                <a:solidFill>
                  <a:srgbClr val="262626"/>
                </a:solidFill>
                <a:latin typeface="Yu Gothic"/>
              </a:rPr>
              <a:t>・ぐるぐる：PDCAを回すのが得意で、循環（関係作り）ができる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→ コツコツ＝「深く積む」、ぐるぐる＝「回してつなぐ」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417320"/>
            <a:ext cx="3749039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463040"/>
            <a:ext cx="3749039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② 清峰SEEDSの“刺さりどころ”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1828800"/>
            <a:ext cx="3749039" cy="18745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専卒以上ぐるぐるで⭐（最重要）だった魅力：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・地域・社会への貢献　・明確な理念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・実は身近／見えないところで支えるロマン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・「どう作られるか」のストーリー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・お客様に向き合う関係性づくり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・型にはまらないチャレンジ精神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3749039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463040"/>
            <a:ext cx="3749039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③ ツアーでの見立て（案）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28800"/>
            <a:ext cx="3749039" cy="18745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・価値循環（鉱石→電気銅→インゴット→製品→産廃）を「構造」で捉えたがる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・分断された関係者（産廃・加工・精錬）を“つなぐ”ことに動機がある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・答えより「問い」を深めたい（社長の隣で問いを共有できる）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8620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コツコツとの違い（ツアー設計の分かれ道）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97680"/>
            <a:ext cx="2340864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Yu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4297680"/>
            <a:ext cx="4443984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コツコツ人材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4297680"/>
            <a:ext cx="4535424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ぐるぐる人材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81728"/>
            <a:ext cx="2340864" cy="36576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262626"/>
                </a:solidFill>
                <a:latin typeface="Yu Gothic"/>
              </a:rPr>
              <a:t>関心の向き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4681728"/>
            <a:ext cx="444398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工程の一点を極める（巻きの出来栄え・手仕事）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4681728"/>
            <a:ext cx="453542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工程と工程、会社と会社の“あいだ”（めぐり・関係）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65776"/>
            <a:ext cx="2340864" cy="36576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262626"/>
                </a:solidFill>
                <a:latin typeface="Yu Gothic"/>
              </a:rPr>
              <a:t>やりがい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5065776"/>
            <a:ext cx="444398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試行錯誤して「綺麗に巻けた」達成感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5065776"/>
            <a:ext cx="453542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仮説検証して全体が良くなる／人に説明して伝わる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49824"/>
            <a:ext cx="2340864" cy="36576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262626"/>
                </a:solidFill>
                <a:latin typeface="Yu Gothic"/>
              </a:rPr>
              <a:t>ツアーで響く場面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5449824"/>
            <a:ext cx="444398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工場見学（ライン・設備・品質）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5449824"/>
            <a:ext cx="453542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価値循環ワーク／関係者トーク／ディスカッション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33872"/>
            <a:ext cx="2340864" cy="36576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262626"/>
                </a:solidFill>
                <a:latin typeface="Yu Gothic"/>
              </a:rPr>
              <a:t>キャリア観（visionsタグ）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5833872"/>
            <a:ext cx="444398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一つのことを積み重ねる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5833872"/>
            <a:ext cx="4535424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目の前の人の役に立つ／たくさんの人と繋がる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現状データ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清峰のデータから見えた「ぐるぐる」の現在地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出典：sch_0202 / 学生管理シート（27）/ 過去実績 / 年間目標・実数 / visions学生リストアップ / 具体的なペルソナ像（visionsユーザー）。個人情報は集計のみ記載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1430000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68680"/>
            <a:ext cx="265176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0名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2651760" cy="38404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Yu Gothic"/>
              </a:rPr>
              <a:t>28卒のぐるぐる接点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868680"/>
            <a:ext cx="8503920" cy="89611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28卒の直接接触は3名（人文・社会・通信系）。ぐるぐる系は未接触。visionsリストアップ表は空欄（10月目標30名／11月40／12月50）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01952"/>
            <a:ext cx="11430000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265176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24名中1名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468880"/>
            <a:ext cx="2651760" cy="38404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Yu Gothic"/>
              </a:rPr>
              <a:t>27卒で理系→説明会以降に進んだ人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47672"/>
            <a:ext cx="8503920" cy="89611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理系・工学系は5名エントリー（筑波・秋田・茨城・日大・専門）。説明会以降に進んだのは筑波大 地球学類の1名のみ（のちに内定承諾）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80944"/>
            <a:ext cx="11430000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26663"/>
            <a:ext cx="265176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1名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547872"/>
            <a:ext cx="2651760" cy="38404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Yu Gothic"/>
              </a:rPr>
              <a:t>ぐるぐる的な成功事例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26663"/>
            <a:ext cx="8503920" cy="89611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筑波大 地球学類（27卒）：理念「地球資源を輝かせていく」に共感し、8/18のISに参加して内定承諾。経路はマイナビ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059935"/>
            <a:ext cx="11430000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105655"/>
            <a:ext cx="265176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8／9名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26864"/>
            <a:ext cx="2651760" cy="38404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Yu Gothic"/>
              </a:rPr>
              <a:t>リスト学生が選んだ『自然と共生・循環型社会』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5"/>
            <a:ext cx="8503920" cy="89611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visionsの具体ペルソナ9名中8名がこのソーシャルテーマ。清峰（加藤・藤森・社長）全員が◎にした最重要テーマと一致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12080"/>
            <a:ext cx="11430000" cy="105156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示唆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① 既存チャネル（マイナビ／OfferBox）だけでは、ぐるぐる層に届いていない。ターゲットの“居場所”（学部・学校群・visions）から取りに行く必要がある。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② 一方、理念への共感で承諾に至った前例があり、「地球資源を輝かせていく」という文脈そのものがぐるぐる層への強い入口になる。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ターゲット像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ぐるぐるターゲット像：3タイプ（主ターゲット＋周辺）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出典：具体的なペルソナ像（visionsユーザー）、既存ペルソナ①〜③のスライド、ペルソナ像（企業選びの軸）。タイプ分けとツアー反応は当方の整理（案）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77240"/>
            <a:ext cx="3749039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777240"/>
            <a:ext cx="3749039" cy="5029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A　資源めぐり探究型【主ターゲット】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  <a:latin typeface="Yu Gothic"/>
              </a:rPr>
              <a:t>環境資源・物質循環・地球科学・応用化学 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374903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根拠：visions「ぐるぐる同志」2名（農工大院 物質循環環境科学／早大 環境資源工学）、筑波 地球学類の承諾実績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697480"/>
            <a:ext cx="3749039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・環境リテラシー、製品ライフサイクルへの関心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・自然と共生・循環型社会がソーシャルテーマ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・銅の有限性（可採年数約40年）を“自分ごと”にできる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262626"/>
                </a:solidFill>
                <a:latin typeface="Yu Gothic"/>
              </a:rPr>
              <a:t>→ ツアーで一番「そこを知りたかった」と動く層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777240"/>
            <a:ext cx="3749039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777240"/>
            <a:ext cx="3749039" cy="502920"/>
          </a:xfrm>
          <a:prstGeom prst="rect">
            <a:avLst/>
          </a:prstGeom>
          <a:solidFill>
            <a:srgbClr val="F28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B　問い続ける・発信型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32588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F28C38"/>
                </a:solidFill>
                <a:latin typeface="Yu Gothic"/>
              </a:rPr>
              <a:t>環境学・総合科学・農学 系（既存ペルソナ②）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737360"/>
            <a:ext cx="374903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根拠：既存ペルソナ②（公立鳥取環境大・環境学部）、visions 27卒の広島大 総合科学（自然と共生）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697480"/>
            <a:ext cx="3749039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・就活軸：自然に直接向き合う／問い続けられる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・仮説検証・論理整理・人に説明するのが好き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・企業の外部発信・地域ならではの生産を重視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262626"/>
                </a:solidFill>
                <a:latin typeface="Yu Gothic"/>
              </a:rPr>
              <a:t>→ ディスカッションと記事化（Beyond the wall）で光る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777240"/>
            <a:ext cx="3749039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777240"/>
            <a:ext cx="3749039" cy="5029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C　コツコツ×ぐるぐる複合型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32588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5B8C5A"/>
                </a:solidFill>
                <a:latin typeface="Yu Gothic"/>
              </a:rPr>
              <a:t>森林・農学・手仕事志向（既存ペルソナ③）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737360"/>
            <a:ext cx="374903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根拠：信州大 農学部（28卒）、筑波 地球学類（承諾）。ペルソナ③は両面を持つ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697480"/>
            <a:ext cx="3749039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・自然の課題をものづくりで発信したい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・手仕事への愛着＋改善を回すのが好き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62626"/>
                </a:solidFill>
                <a:latin typeface="Yu Gothic"/>
              </a:rPr>
              <a:t>・ローテーションで経験→一つを極めたい</a:t>
            </a:r>
          </a:p>
          <a:p>
            <a:pPr algn="l">
              <a:spcBef>
                <a:spcPts val="400"/>
              </a:spcBef>
            </a:pPr>
            <a:r>
              <a:rPr sz="1200" b="1">
                <a:solidFill>
                  <a:srgbClr val="262626"/>
                </a:solidFill>
                <a:latin typeface="Yu Gothic"/>
              </a:rPr>
              <a:t>→ 工場見学の「もったいない」ワークで両面が出る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40680"/>
            <a:ext cx="11430000" cy="77724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/>
            <a:r>
              <a:rPr sz="1200" b="0">
                <a:solidFill>
                  <a:srgbClr val="262626"/>
                </a:solidFill>
                <a:latin typeface="Yu Gothic"/>
              </a:rPr>
              <a:t>ターゲットにしない人（案）：「循環や環境に興味」はあるが、現場の人と関わる・手を動かす意志が見えない人／殺伐とした競争環境を好む人</a:t>
            </a:r>
          </a:p>
          <a:p>
            <a:pPr algn="l"/>
            <a:r>
              <a:rPr sz="1200" b="1">
                <a:solidFill>
                  <a:srgbClr val="1F497D"/>
                </a:solidFill>
                <a:latin typeface="Yu Gothic"/>
              </a:rPr>
              <a:t>→ 社長の懸念（面接では見抜けず、社風と合わない採用で揉める）への対策として、ツアー内の協働場面で見極める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学校群・母集団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ぐるぐる学校群：優先度つきリストと日程の配慮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出典：既存ペルソナ④学校群スライド、visions具体的なペルソナ像、年間目標・実数（各大学の年間スケジュール）。優先度とS/A群の追加校は当方の提案（要確認）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758952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1188720" cy="16002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S 優先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868680"/>
            <a:ext cx="62179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資源・循環系の学部（タイプA）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207008"/>
            <a:ext cx="621792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・早稲田大 創造理工（環境資源工学）
・東京農工大 農学府（物質循環環境科学）
・筑波大 生命環境学群 地球学類（実績）
・秋田大／茨城大（理工・物質科学・応用化学）※27卒エントリー実績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103120"/>
            <a:ext cx="6217920" cy="29260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地理：筑波・茨城は現場訪問で日帰り可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60320"/>
            <a:ext cx="758952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560320"/>
            <a:ext cx="1188720" cy="1600200"/>
          </a:xfrm>
          <a:prstGeom prst="rect">
            <a:avLst/>
          </a:prstGeom>
          <a:solidFill>
            <a:srgbClr val="F28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A 重点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06039"/>
            <a:ext cx="62179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環境・農・森林系（タイプB・C）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944368"/>
            <a:ext cx="621792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・公立鳥取環境大 環境学部　・信州大 農学部
・東京農業大 生物資源開発　・広島大 総合科学
・宇都宮／群馬／福島／茨城の農・理工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40479"/>
            <a:ext cx="6217920" cy="29260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遠方は12月オンラインを必須に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97679"/>
            <a:ext cx="758952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297679"/>
            <a:ext cx="1188720" cy="16002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B 拡張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343399"/>
            <a:ext cx="62179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理系私立・理系公立（既存リスト）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681727"/>
            <a:ext cx="621792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Yu Gothic"/>
              </a:rPr>
              <a:t>・都立大／横浜市立大／長野県立大／諏訪東京理科
・明治／芝浦工大／電機大／日大／法政／東洋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77840"/>
            <a:ext cx="6217920" cy="29260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Yu Gothic"/>
              </a:rPr>
              <a:t>工学系は「業界構造」訴求で補完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822960"/>
            <a:ext cx="365760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868680"/>
            <a:ext cx="365760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  <a:latin typeface="Yu Gothic"/>
              </a:rPr>
              <a:t>日程の配慮（学生のテスト期間を避ける）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1234440"/>
            <a:ext cx="365760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・Part1オンライン：12月中旬
　（冬季休業は12/22〜12/27頃から）</a:t>
            </a:r>
          </a:p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・Part2現場訪問：1月上旬〜中旬の週末が候補
　（電機大の期末は1/13〜、芝浦・日大・東洋は1月下旬に授業終了）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246120"/>
            <a:ext cx="3657600" cy="3017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91839"/>
            <a:ext cx="365760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  <a:latin typeface="Yu Gothic"/>
              </a:rPr>
              <a:t>リストアップ基準（visionsで検索）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657600"/>
            <a:ext cx="3657600" cy="2560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・ソーシャルテーマ：自然と共生・循環型社会の創造（必須）</a:t>
            </a:r>
          </a:p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・清峰が選んだキャリア観：一つのことを積み重ねる／目の前の人の役に立つ／たくさんの人と繋がる／チームで協力</a:t>
            </a:r>
          </a:p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・学部キーワード：環境・資源・物質・循環・地球・農・森林</a:t>
            </a:r>
          </a:p>
          <a:p>
            <a:pPr algn="l"/>
            <a:r>
              <a:rPr sz="1150" b="0">
                <a:solidFill>
                  <a:srgbClr val="262626"/>
                </a:solidFill>
                <a:latin typeface="Yu Gothic"/>
              </a:rPr>
              <a:t>・目標：28卒 10月30名 → 11月40名 → 12月50名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ツアー接点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ツアー設計との接点：ぐるぐるの『こころの動き』と見極めポイント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出典：地球資源を輝かせていくIS / 内定者研修 / visions collegeのご相談（銅巡りインターン議事録・企画スライド）。見極めポイントは当方の提案（案）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49808"/>
            <a:ext cx="1517904" cy="34747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749808"/>
            <a:ext cx="2706624" cy="34747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やること（企画案）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749808"/>
            <a:ext cx="2340864" cy="34747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ぐるぐるの こころの動き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79" y="749808"/>
            <a:ext cx="2340864" cy="34747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刺さる訴求（SEEDS⭐）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19" y="749808"/>
            <a:ext cx="2340864" cy="34747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見たい行動（見極め）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133856"/>
            <a:ext cx="1517904" cy="987552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1F497D"/>
                </a:solidFill>
                <a:latin typeface="Yu Gothic"/>
              </a:rPr>
              <a:t>Part0
オンライン
ガイダンス（12月）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133856"/>
            <a:ext cx="270662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銅業界の課題／社会インフラ産業の役割／目指すべき未来。価値循環モデル（鉱石→電気銅→インゴット→製品→産廃）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133856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「銅って有限なんだ…！可採年数は約40年」→ 構造を知りたくなる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79" y="1133856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明確な理念
地域・社会への貢献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19" y="1133856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事前課題への取り組み方／質問の質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57984"/>
            <a:ext cx="1517904" cy="987552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1F497D"/>
                </a:solidFill>
                <a:latin typeface="Yu Gothic"/>
              </a:rPr>
              <a:t>Part1
オンライン
関係者トーク（12月中旬）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2157984"/>
            <a:ext cx="270662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産廃業者・加工系・精錬所の方の話。分断された循環の“つなぎ目”を聞く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157984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「同じ銅なのに、立場でこんなに見えている景色が違う」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79" y="2157984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実は身近で支えるロマン
お客様に向き合う関係性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19" y="2157984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聞く力／相手の立場での質問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1517904" cy="987552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1F497D"/>
                </a:solidFill>
                <a:latin typeface="Yu Gothic"/>
              </a:rPr>
              <a:t>Part2
現場訪問（1月）
工場見学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182112"/>
            <a:ext cx="270662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スクラップが出る工程を巡り「もったいないポイント」を写真で拾う（成分違い・厚さ違い・品質不良）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3182112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「戻せるもの／戻せないものがある。どこで回せる？」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79" y="3182112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どう作られるかのストーリー
人の手と気遣い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19" y="3182112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観察の細かさ／現場の人への声かけ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06240"/>
            <a:ext cx="1517904" cy="987552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1F497D"/>
                </a:solidFill>
                <a:latin typeface="Yu Gothic"/>
              </a:rPr>
              <a:t>ディスカッション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206240"/>
            <a:ext cx="270662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もったいないをなくすには？対象→方法→目標（◯％改善）を発表。賞を用意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4206240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仮説を立て、回し方を提案したい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79" y="4206240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型にはまらないチャレンジ精神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19" y="4206240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仮説→根拠→改善案の筋／他者を巻き込む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230368"/>
            <a:ext cx="1517904" cy="987552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1F497D"/>
                </a:solidFill>
                <a:latin typeface="Yu Gothic"/>
              </a:rPr>
              <a:t>社長・社内との懇親会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20240" y="5230368"/>
            <a:ext cx="270662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社長の隣で難題（理念・物との関係）を問い直す。成果はBeyond the wallで記事化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5230368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「ここなら問いを深め続けられる」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79" y="5230368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明確な理念
アットホームな社風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19" y="5230368"/>
            <a:ext cx="2340864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262626"/>
                </a:solidFill>
                <a:latin typeface="Yu Gothic"/>
              </a:rPr>
              <a:t>温かさ・対話の姿勢（社風との相性）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126480"/>
            <a:ext cx="11430000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Yu Gothic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導線・Next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集客導線と、決めたいこと・次のアクション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出典：年間目標・実数 / 学生管理シート（27）上部メモ / 地球資源を輝かせていくIS / 銅巡りインターン議事録 / visions collegeのご相談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557784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557784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ぐるぐる接点の導線（案）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57784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① visions college（10月下旬）：ぐるぐる層に「銅めぐりツアー」を予告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② visionsリストアップ30→50名に、ツアー案内（個別オファー）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③ イベントページ公開（骨子は議事録に準拠）→ 集客担当リリコへ共有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④ 筑波大へご連絡（年間計画に記載）／茨城県内の大学へ年度替わりに声がけ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⑤ ツアー参加 → 選考流入（目標：28卒 選考流入5・内定2・承諾1）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822960"/>
            <a:ext cx="5669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868680"/>
            <a:ext cx="566928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28卒 年間目標（現状との差）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234440"/>
            <a:ext cx="566928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・延べ接触47／直接接触22／高評価11／相思相愛8／選考流入5／内定2／承諾1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・現状：直接接触は27卒19名・28卒3名で、ぐるぐる接点は未着手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・受け皿イベント：ぐるぐる企画FIX→集客（10〜11月）→ コンテンツ①（12月）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Yu Gothic"/>
              </a:rPr>
              <a:t>・ツアーは接触〜高評価の山をつくる最重要施策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80"/>
            <a:ext cx="557784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57600"/>
            <a:ext cx="557784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要確認（決めたいこと）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23360"/>
            <a:ext cx="557784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1. グルグルの定義を確認：既存ペルソナ②（鳥取環境）は27卒。28卒の実在候補はリストの6名＋新規リストアップ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2. 遠方学生（九大・阪大・信州・広島）の現場参加：交通費の扱い／オンライン参加の可否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3. 開催日（1月の平日 or 土日）と学生の希望ヒアリング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4. 事前課題（わたしのものづくり遍歴）をぐるぐるにも課すか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611880"/>
            <a:ext cx="5669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657600"/>
            <a:ext cx="5669280" cy="34747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  <a:latin typeface="Yu Gothic"/>
              </a:rPr>
              <a:t>次のアクション（案）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023360"/>
            <a:ext cx="566928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・今週：visionsでS／A群を検索し、リストアップ表を埋める（まず30名）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・今週：タイプA／B／C別の声がけ文面（LINE・メール）を作成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・11月：イベントページ骨子（課題感と超重要領域を強調）→ 集客開始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・12月：Part0／Part1を実施、反応でターゲット像を更新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Yu Gothic"/>
              </a:rPr>
              <a:t>・データ注意：27卒の理系ほか実数は、記録の抜けが多く要補完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