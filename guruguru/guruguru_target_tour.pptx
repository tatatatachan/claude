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ぐるぐる人材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ぐるぐる人材とは？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出典：visions具体的なペルソナ像 / ジャーニー（専卒以上）/ SEEDS選定シート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2200" b="1">
                <a:solidFill>
                  <a:srgbClr val="1F497D"/>
                </a:solidFill>
                <a:latin typeface="Yu Gothic"/>
              </a:rPr>
              <a:t>仮説を回し、人をつなぎ、“めぐり”をつくる人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703320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① visionsの定義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370332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PDCAを回すのが得意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循環（関係作り）ができる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595959"/>
                </a:solidFill>
                <a:latin typeface="Yu Gothic"/>
              </a:rPr>
              <a:t>↔ コツコツ＝深く積む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463040"/>
            <a:ext cx="3703320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5087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② 清峰SEEDSの⭐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1965960"/>
            <a:ext cx="370332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地域・社会への貢献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明確な理念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実は身近、支えるロマン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どう作られるかの物語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463040"/>
            <a:ext cx="3657600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50876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③ ツアーでの見立て（案）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965960"/>
            <a:ext cx="3657600" cy="1463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銅の流れを構造で捉える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分断をつなぐことに燃える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答えより問いを深める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コツコツとの違い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2148840" cy="38404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  <a:latin typeface="Yu Gothic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4023360"/>
            <a:ext cx="4526280" cy="38404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コツコツ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023360"/>
            <a:ext cx="4617720" cy="38404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ぐるぐる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443984"/>
            <a:ext cx="2148840" cy="384048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262626"/>
                </a:solidFill>
                <a:latin typeface="Yu Gothic"/>
              </a:rPr>
              <a:t>関心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4443984"/>
            <a:ext cx="45262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工程を極める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4443984"/>
            <a:ext cx="461772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工程と会社のあいだ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864608"/>
            <a:ext cx="2148840" cy="384048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262626"/>
                </a:solidFill>
                <a:latin typeface="Yu Gothic"/>
              </a:rPr>
              <a:t>やりがい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0" y="4864608"/>
            <a:ext cx="45262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綺麗に巻けた達成感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4864608"/>
            <a:ext cx="461772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仮説検証・伝わる喜び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285232"/>
            <a:ext cx="2148840" cy="384048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262626"/>
                </a:solidFill>
                <a:latin typeface="Yu Gothic"/>
              </a:rPr>
              <a:t>響く場面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5285232"/>
            <a:ext cx="45262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工場見学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5285232"/>
            <a:ext cx="461772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循環ワーク・対話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705856"/>
            <a:ext cx="2148840" cy="384048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262626"/>
                </a:solidFill>
                <a:latin typeface="Yu Gothic"/>
              </a:rPr>
              <a:t>キャリア観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5705856"/>
            <a:ext cx="45262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一つを積み重ねる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5705856"/>
            <a:ext cx="461772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役に立つ／人と繋がる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現状データ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清峰データで見えた、ぐるぐるの現在地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出典：sch_0202 / 学生管理シート（27）/ 年間目標・実数 / visions学生リストアップ / 具体的なペルソナ像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114300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4124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0名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Yu Gothic"/>
              </a:rPr>
              <a:t>28卒のぐるぐる接点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84124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リストアップ表は空欄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目標：10月30名 → 12月50名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114300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4708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1 / 5名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37744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Yu Gothic"/>
              </a:rPr>
              <a:t>27卒の理系で説明会へ進んだ人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4708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筑波大 地球学類のみ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（のち内定承諾）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34640"/>
            <a:ext cx="114300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85292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理念で承諾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38328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Yu Gothic"/>
              </a:rPr>
              <a:t>成功事例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85292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「地球資源を輝かせていく」に共感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ISに参加して承諾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858768"/>
            <a:ext cx="3017520" cy="530352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F28C38"/>
                </a:solidFill>
                <a:latin typeface="Yu Gothic"/>
              </a:rPr>
              <a:t>8 / 9名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389120"/>
            <a:ext cx="301752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Yu Gothic"/>
              </a:rPr>
              <a:t>リスト学生の関心テーマ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858768"/>
            <a:ext cx="8046720" cy="8778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自然と共生・循環型社会</a:t>
            </a:r>
          </a:p>
          <a:p>
            <a:pPr algn="l"/>
            <a:r>
              <a:rPr sz="1600" b="0">
                <a:solidFill>
                  <a:srgbClr val="262626"/>
                </a:solidFill>
                <a:latin typeface="Yu Gothic"/>
              </a:rPr>
              <a:t>清峰の最重要テーマと一致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37760"/>
            <a:ext cx="11430000" cy="123444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/>
            <a:r>
              <a:rPr sz="1600" b="1">
                <a:solidFill>
                  <a:srgbClr val="1F497D"/>
                </a:solidFill>
                <a:latin typeface="Yu Gothic"/>
              </a:rPr>
              <a:t>示唆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既存チャネルでは、ぐるぐる層に届いていない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理念への共感が、最強の入口になる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ターゲット像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ぐるぐるターゲット像：3タイプ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出典：具体的なペルソナ像（visionsユーザー）/ 既存ペルソナ①〜③。タイプ分けは当方の整理（案）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777240"/>
            <a:ext cx="3749039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777240"/>
            <a:ext cx="3749039" cy="5486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A　資源めぐり探究型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  <a:latin typeface="Yu Gothic"/>
              </a:rPr>
              <a:t>主ターゲット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Yu Gothic"/>
              </a:rPr>
              <a:t>環境資源・物質循環・地球科学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Yu Gothic"/>
              </a:rPr>
              <a:t>根拠：visions同志2名・筑波の承諾実績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・循環・ライフサイクルに関心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・銅の有限性を自分ごとに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・価値循環ワークで動く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777240"/>
            <a:ext cx="3749039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777240"/>
            <a:ext cx="3749039" cy="548640"/>
          </a:xfrm>
          <a:prstGeom prst="rect">
            <a:avLst/>
          </a:prstGeom>
          <a:solidFill>
            <a:srgbClr val="F28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B　問い続ける・発信型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F28C38"/>
                </a:solidFill>
                <a:latin typeface="Yu Gothic"/>
              </a:rPr>
              <a:t>既存ペルソナ②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Yu Gothic"/>
              </a:rPr>
              <a:t>環境学・総合科学・農学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Yu Gothic"/>
              </a:rPr>
              <a:t>根拠：公立鳥取環境大ペルソナ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・自然に向き合い問い続ける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・仮説検証・説明が好き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・議論と記事化で光る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777240"/>
            <a:ext cx="3749039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777240"/>
            <a:ext cx="3749039" cy="5486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C　コツコツ×ぐるぐる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1">
                <a:solidFill>
                  <a:srgbClr val="5B8C5A"/>
                </a:solidFill>
                <a:latin typeface="Yu Gothic"/>
              </a:rPr>
              <a:t>既存ペルソナ③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1783080"/>
            <a:ext cx="374903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Yu Gothic"/>
              </a:rPr>
              <a:t>森林・農学・手仕事志向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286000"/>
            <a:ext cx="3749039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Yu Gothic"/>
              </a:rPr>
              <a:t>根拠：信州大 農学部・筑波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834640"/>
            <a:ext cx="3749039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・手仕事＋改善を回す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・自然の課題を発信したい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262626"/>
                </a:solidFill>
                <a:latin typeface="Yu Gothic"/>
              </a:rPr>
              <a:t>・工場見学ワークで両面が出る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57800"/>
            <a:ext cx="11430000" cy="91440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対象外（案）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現場の人と関わる・手を動かす意志が見えない人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学校群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ぐるぐる学校群と、日程の配慮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出典：既存ペルソナ④学校群 / visions具体的なペルソナ像 / 年間目標・実数（各大学の年間スケジュール）。優先度は当方の提案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7498079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22960"/>
            <a:ext cx="1005840" cy="169164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86868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資源・循環系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28016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早稲田大（環境資源工学）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東京農工大院（物質循環）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28016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筑波大（地球学類）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秋田大・茨城大（理工）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7498079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1005840" cy="1691640"/>
          </a:xfrm>
          <a:prstGeom prst="rect">
            <a:avLst/>
          </a:prstGeom>
          <a:solidFill>
            <a:srgbClr val="F28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5176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環境・農・森林系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6324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公立鳥取環境大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信州大（農）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6324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東京農業大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宇都宮・群馬・福島の農・理工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89120"/>
            <a:ext cx="7498079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389120"/>
            <a:ext cx="1005840" cy="1691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434840"/>
            <a:ext cx="62179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理系私立・公立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846320"/>
            <a:ext cx="31089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都立大・横浜市大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長野県立大・諏訪東京理科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846320"/>
            <a:ext cx="320040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明治・芝浦工・電機大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  <a:latin typeface="Yu Gothic"/>
              </a:rPr>
              <a:t>日大・法政・東洋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822960"/>
            <a:ext cx="3749039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868680"/>
            <a:ext cx="374903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325880"/>
            <a:ext cx="3749039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>
                <a:solidFill>
                  <a:srgbClr val="262626"/>
                </a:solidFill>
                <a:latin typeface="Yu Gothic"/>
              </a:rPr>
              <a:t>オンライン：12月中旬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62626"/>
                </a:solidFill>
                <a:latin typeface="Yu Gothic"/>
              </a:rPr>
              <a:t>現場訪問：1月上旬〜中旬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595959"/>
                </a:solidFill>
                <a:latin typeface="Yu Gothic"/>
              </a:rPr>
              <a:t>期末・冬季休業を避ける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3337560"/>
            <a:ext cx="3749039" cy="2926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79"/>
            <a:ext cx="374903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Yu Gothic"/>
              </a:rPr>
              <a:t>visions検索基準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840480"/>
            <a:ext cx="3749039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>
                <a:solidFill>
                  <a:srgbClr val="262626"/>
                </a:solidFill>
                <a:latin typeface="Yu Gothic"/>
              </a:rPr>
              <a:t>自然と共生・循環型社会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62626"/>
                </a:solidFill>
                <a:latin typeface="Yu Gothic"/>
              </a:rPr>
              <a:t>積み重ねる／人の役に立つ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62626"/>
                </a:solidFill>
                <a:latin typeface="Yu Gothic"/>
              </a:rPr>
              <a:t>環境・資源・物質・農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62626"/>
                </a:solidFill>
                <a:latin typeface="Yu Gothic"/>
              </a:rPr>
              <a:t>目標：30 → 40 → 50名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ツアー接点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ツアーでの、ぐるぐるの動きと見極め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出典：地球資源を輝かせていくIS / 銅巡りインターン議事録・企画スライド。見極めポイントは当方の提案（案）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777240"/>
            <a:ext cx="2423160" cy="38404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777240"/>
            <a:ext cx="3337560" cy="38404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777240"/>
            <a:ext cx="2971800" cy="38404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こころの動き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777240"/>
            <a:ext cx="2514600" cy="38404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見たい行動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16152"/>
            <a:ext cx="2423160" cy="91440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Part0　12月</a:t>
            </a:r>
          </a:p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オンライン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216152"/>
            <a:ext cx="333756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銅業界の課題</a:t>
            </a:r>
          </a:p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価値循環モデル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16152"/>
            <a:ext cx="29718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「銅は有限なんだ…！」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216152"/>
            <a:ext cx="25146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事前課題・質問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94560"/>
            <a:ext cx="2423160" cy="91440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Part1　12月中旬</a:t>
            </a:r>
          </a:p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関係者トーク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2194560"/>
            <a:ext cx="333756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産廃・加工・精錬所の</a:t>
            </a:r>
          </a:p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方に話を聞く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194560"/>
            <a:ext cx="29718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「立場で景色が違う」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2194560"/>
            <a:ext cx="25146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聞く力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172968"/>
            <a:ext cx="2423160" cy="91440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Part2　1月</a:t>
            </a:r>
          </a:p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工場見学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3172968"/>
            <a:ext cx="333756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もったいない</a:t>
            </a:r>
          </a:p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ポイントを探す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172968"/>
            <a:ext cx="29718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「どこで回せる？」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3172968"/>
            <a:ext cx="25146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観察の細かさ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151376"/>
            <a:ext cx="2423160" cy="91440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ディスカッション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4151376"/>
            <a:ext cx="333756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改善案を発表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151376"/>
            <a:ext cx="29718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「回し方を提案したい」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4151376"/>
            <a:ext cx="25146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仮説と巻き込み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129784"/>
            <a:ext cx="2423160" cy="914400"/>
          </a:xfrm>
          <a:prstGeom prst="rect">
            <a:avLst/>
          </a:prstGeom>
          <a:solidFill>
            <a:srgbClr val="FBE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F497D"/>
                </a:solidFill>
                <a:latin typeface="Yu Gothic"/>
              </a:rPr>
              <a:t>社長・社内懇親会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5129784"/>
            <a:ext cx="333756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社長と問いを深める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5129784"/>
            <a:ext cx="29718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「問い続けたい」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5129784"/>
            <a:ext cx="25146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262626"/>
                </a:solidFill>
                <a:latin typeface="Yu Gothic"/>
              </a:rPr>
              <a:t>対話・温かさ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" y="64008"/>
            <a:ext cx="12079224" cy="521207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6629400"/>
            <a:ext cx="12079224" cy="182880"/>
          </a:xfrm>
          <a:prstGeom prst="rect">
            <a:avLst/>
          </a:prstGeom>
          <a:gradFill rotWithShape="1">
            <a:gsLst>
              <a:gs pos="0">
                <a:srgbClr val="F28C38"/>
              </a:gs>
              <a:gs pos="100000">
                <a:srgbClr val="FBE3C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6616" y="155448"/>
            <a:ext cx="2103120" cy="32918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導線・Next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28016"/>
            <a:ext cx="914400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Yu Gothic"/>
              </a:rPr>
              <a:t>集客導線と、次のアクション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Yu Gothic"/>
              </a:rPr>
              <a:t>出典：年間目標・実数 / 銅巡りインターン議事録 / visions collegeのご相談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557784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868680"/>
            <a:ext cx="55778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Yu Gothic"/>
              </a:rPr>
              <a:t>集客の導線（案）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55778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① visions college（10月下旬）で予告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② リストアップ30→50名に案内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③ イベントページ公開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④ 筑波大・茨城県内へ声がけ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⑤ ツアー → 選考流入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822960"/>
            <a:ext cx="5669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868680"/>
            <a:ext cx="56692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Yu Gothic"/>
              </a:rPr>
              <a:t>28卒の年間目標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325880"/>
            <a:ext cx="566928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接触47 → 面談22 → 高評価11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相思相愛8 → 選考流入5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内定2 → 承諾1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現状：ぐるぐる接点は未着手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11880"/>
            <a:ext cx="557784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657600"/>
            <a:ext cx="55778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Yu Gothic"/>
              </a:rPr>
              <a:t>決めたいこと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114800"/>
            <a:ext cx="557784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① ぐるぐるの定義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② 遠方学生の参加方法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③ 開催日（平日／土日）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④ 事前課題の有無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611880"/>
            <a:ext cx="5669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3657600"/>
            <a:ext cx="56692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Yu Gothic"/>
              </a:rPr>
              <a:t>次のアクション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114800"/>
            <a:ext cx="5669280" cy="21031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今週：S／A群をリストアップ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今週：タイプ別の声がけ文面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11月：イベントページ公開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262626"/>
                </a:solidFill>
                <a:latin typeface="Yu Gothic"/>
              </a:rPr>
              <a:t>12月：Part0／1を実施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