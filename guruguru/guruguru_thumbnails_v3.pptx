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0"/>
          </a:xfrm>
          <a:prstGeom prst="rect">
            <a:avLst/>
          </a:prstGeom>
          <a:gradFill rotWithShape="1">
            <a:gsLst>
              <a:gs pos="0">
                <a:srgbClr val="49B1D8"/>
              </a:gs>
              <a:gs pos="100000">
                <a:srgbClr val="FFE6C2"/>
              </a:gs>
            </a:gsLst>
            <a:lin scaled="0" ang="54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gradFill rotWithShape="1">
            <a:gsLst>
              <a:gs pos="0">
                <a:srgbClr val="7CC0A2"/>
              </a:gs>
              <a:gs pos="100000">
                <a:srgbClr val="1F6E63"/>
              </a:gs>
            </a:gsLst>
            <a:lin scaled="0" ang="54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94960" y="3749039"/>
            <a:ext cx="1371600" cy="1371600"/>
          </a:xfrm>
          <a:prstGeom prst="ellipse">
            <a:avLst/>
          </a:prstGeom>
          <a:solidFill>
            <a:srgbClr val="FFF3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 spc="600">
                <a:solidFill>
                  <a:srgbClr val="FFFFFF"/>
                </a:solidFill>
                <a:latin typeface="Yu Mincho"/>
              </a:rPr>
              <a:t>世はまさに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60120"/>
            <a:ext cx="11612880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0" b="1">
                <a:solidFill>
                  <a:srgbClr val="FFFFFF"/>
                </a:solidFill>
                <a:latin typeface="Yu Mincho"/>
              </a:rPr>
              <a:t>大循環時代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29000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spc="100">
                <a:solidFill>
                  <a:srgbClr val="FFFFFF"/>
                </a:solidFill>
                <a:latin typeface="Yu Mincho"/>
              </a:rPr>
              <a:t>12月〜1月　オンライン＋現場訪問（つくば）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1261872" y="4663440"/>
            <a:ext cx="36576" cy="1051560"/>
          </a:xfrm>
          <a:prstGeom prst="rect">
            <a:avLst/>
          </a:prstGeom>
          <a:solidFill>
            <a:srgbClr val="5A3A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4892040"/>
            <a:ext cx="914400" cy="658368"/>
          </a:xfrm>
          <a:prstGeom prst="rect">
            <a:avLst/>
          </a:prstGeom>
          <a:solidFill>
            <a:srgbClr val="E84C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892040"/>
            <a:ext cx="914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産廃</a:t>
            </a:r>
          </a:p>
        </p:txBody>
      </p:sp>
      <p:sp>
        <p:nvSpPr>
          <p:cNvPr id="11" name="Trapezoid 10"/>
          <p:cNvSpPr/>
          <p:nvPr/>
        </p:nvSpPr>
        <p:spPr>
          <a:xfrm>
            <a:off x="777240" y="5566867"/>
            <a:ext cx="1005840" cy="256032"/>
          </a:xfrm>
          <a:prstGeom prst="trapezoid">
            <a:avLst/>
          </a:prstGeom>
          <a:solidFill>
            <a:srgbClr val="6B3F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48025" y="4526280"/>
            <a:ext cx="36576" cy="1298448"/>
          </a:xfrm>
          <a:prstGeom prst="rect">
            <a:avLst/>
          </a:prstGeom>
          <a:solidFill>
            <a:srgbClr val="5A3A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77440" y="4754880"/>
            <a:ext cx="1188720" cy="855878"/>
          </a:xfrm>
          <a:prstGeom prst="rect">
            <a:avLst/>
          </a:prstGeom>
          <a:solidFill>
            <a:srgbClr val="E84C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77440" y="4754880"/>
            <a:ext cx="1188720" cy="8558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加工</a:t>
            </a:r>
          </a:p>
        </p:txBody>
      </p:sp>
      <p:sp>
        <p:nvSpPr>
          <p:cNvPr id="15" name="Trapezoid 14"/>
          <p:cNvSpPr/>
          <p:nvPr/>
        </p:nvSpPr>
        <p:spPr>
          <a:xfrm>
            <a:off x="2331720" y="5632155"/>
            <a:ext cx="1280160" cy="256032"/>
          </a:xfrm>
          <a:prstGeom prst="trapezoid">
            <a:avLst/>
          </a:prstGeom>
          <a:solidFill>
            <a:srgbClr val="6B3F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45152" y="4663440"/>
            <a:ext cx="36576" cy="1051560"/>
          </a:xfrm>
          <a:prstGeom prst="rect">
            <a:avLst/>
          </a:prstGeom>
          <a:solidFill>
            <a:srgbClr val="5A3A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06240" y="4892040"/>
            <a:ext cx="914400" cy="658368"/>
          </a:xfrm>
          <a:prstGeom prst="rect">
            <a:avLst/>
          </a:prstGeom>
          <a:solidFill>
            <a:srgbClr val="E84C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rapezoid 17"/>
          <p:cNvSpPr/>
          <p:nvPr/>
        </p:nvSpPr>
        <p:spPr>
          <a:xfrm>
            <a:off x="4160520" y="5566867"/>
            <a:ext cx="1005840" cy="256032"/>
          </a:xfrm>
          <a:prstGeom prst="trapezoid">
            <a:avLst/>
          </a:prstGeom>
          <a:solidFill>
            <a:srgbClr val="6B3F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2316" y="4480560"/>
            <a:ext cx="36576" cy="1380744"/>
          </a:xfrm>
          <a:prstGeom prst="rect">
            <a:avLst/>
          </a:prstGeom>
          <a:solidFill>
            <a:srgbClr val="5A3A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77840" y="4709160"/>
            <a:ext cx="1280160" cy="921715"/>
          </a:xfrm>
          <a:prstGeom prst="rect">
            <a:avLst/>
          </a:prstGeom>
          <a:solidFill>
            <a:srgbClr val="FF5D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0" y="4709160"/>
            <a:ext cx="1280160" cy="9217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清峰</a:t>
            </a:r>
          </a:p>
        </p:txBody>
      </p:sp>
      <p:sp>
        <p:nvSpPr>
          <p:cNvPr id="22" name="Trapezoid 21"/>
          <p:cNvSpPr/>
          <p:nvPr/>
        </p:nvSpPr>
        <p:spPr>
          <a:xfrm>
            <a:off x="5532120" y="5653918"/>
            <a:ext cx="1371600" cy="256032"/>
          </a:xfrm>
          <a:prstGeom prst="trapezoid">
            <a:avLst/>
          </a:prstGeom>
          <a:solidFill>
            <a:srgbClr val="6B3F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54112" y="4663440"/>
            <a:ext cx="36576" cy="1051560"/>
          </a:xfrm>
          <a:prstGeom prst="rect">
            <a:avLst/>
          </a:prstGeom>
          <a:solidFill>
            <a:srgbClr val="5A3A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0" y="4892040"/>
            <a:ext cx="914400" cy="658368"/>
          </a:xfrm>
          <a:prstGeom prst="rect">
            <a:avLst/>
          </a:prstGeom>
          <a:solidFill>
            <a:srgbClr val="E84C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rapezoid 24"/>
          <p:cNvSpPr/>
          <p:nvPr/>
        </p:nvSpPr>
        <p:spPr>
          <a:xfrm>
            <a:off x="7269480" y="5566867"/>
            <a:ext cx="1005840" cy="256032"/>
          </a:xfrm>
          <a:prstGeom prst="trapezoid">
            <a:avLst/>
          </a:prstGeom>
          <a:solidFill>
            <a:srgbClr val="6B3F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57385" y="4526280"/>
            <a:ext cx="36576" cy="1298448"/>
          </a:xfrm>
          <a:prstGeom prst="rect">
            <a:avLst/>
          </a:prstGeom>
          <a:solidFill>
            <a:srgbClr val="5A3A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686800" y="4754880"/>
            <a:ext cx="1188720" cy="855878"/>
          </a:xfrm>
          <a:prstGeom prst="rect">
            <a:avLst/>
          </a:prstGeom>
          <a:solidFill>
            <a:srgbClr val="E84C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4754880"/>
            <a:ext cx="1188720" cy="8558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精錬所</a:t>
            </a:r>
          </a:p>
        </p:txBody>
      </p:sp>
      <p:sp>
        <p:nvSpPr>
          <p:cNvPr id="29" name="Trapezoid 28"/>
          <p:cNvSpPr/>
          <p:nvPr/>
        </p:nvSpPr>
        <p:spPr>
          <a:xfrm>
            <a:off x="8641080" y="5632155"/>
            <a:ext cx="1280160" cy="256032"/>
          </a:xfrm>
          <a:prstGeom prst="trapezoid">
            <a:avLst/>
          </a:prstGeom>
          <a:solidFill>
            <a:srgbClr val="6B3F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998403" y="4617720"/>
            <a:ext cx="36576" cy="1133856"/>
          </a:xfrm>
          <a:prstGeom prst="rect">
            <a:avLst/>
          </a:prstGeom>
          <a:solidFill>
            <a:srgbClr val="5A3A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515600" y="4846320"/>
            <a:ext cx="1005840" cy="724204"/>
          </a:xfrm>
          <a:prstGeom prst="rect">
            <a:avLst/>
          </a:prstGeom>
          <a:solidFill>
            <a:srgbClr val="E84C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0" y="4846320"/>
            <a:ext cx="1005840" cy="7242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回収</a:t>
            </a:r>
          </a:p>
        </p:txBody>
      </p:sp>
      <p:sp>
        <p:nvSpPr>
          <p:cNvPr id="33" name="Trapezoid 32"/>
          <p:cNvSpPr/>
          <p:nvPr/>
        </p:nvSpPr>
        <p:spPr>
          <a:xfrm>
            <a:off x="10469880" y="5588629"/>
            <a:ext cx="1097280" cy="256032"/>
          </a:xfrm>
          <a:prstGeom prst="trapezoid">
            <a:avLst/>
          </a:prstGeom>
          <a:solidFill>
            <a:srgbClr val="6B3F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172200"/>
            <a:ext cx="11247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Yu Gothic"/>
              </a:rPr>
              <a:t>銅めぐりインターンシップ（仮）｜28卒向け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D5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noFill/>
          <a:ln w="31750">
            <a:solidFill>
              <a:srgbClr val="B0945A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1463040" y="4754880"/>
            <a:ext cx="1280160" cy="914400"/>
          </a:xfrm>
          <a:prstGeom prst="line">
            <a:avLst/>
          </a:prstGeom>
          <a:ln w="38100">
            <a:solidFill>
              <a:srgbClr val="C83A1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0" y="4754880"/>
            <a:ext cx="1463040" cy="640080"/>
          </a:xfrm>
          <a:prstGeom prst="line">
            <a:avLst/>
          </a:prstGeom>
          <a:ln w="38100">
            <a:solidFill>
              <a:srgbClr val="C83A1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4206240" y="4480560"/>
            <a:ext cx="1554480" cy="914400"/>
          </a:xfrm>
          <a:prstGeom prst="line">
            <a:avLst/>
          </a:prstGeom>
          <a:ln w="38100">
            <a:solidFill>
              <a:srgbClr val="C83A1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760720" y="4480560"/>
            <a:ext cx="1737359" cy="731520"/>
          </a:xfrm>
          <a:prstGeom prst="line">
            <a:avLst/>
          </a:prstGeom>
          <a:ln w="38100">
            <a:solidFill>
              <a:srgbClr val="C83A1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7498079" y="4389120"/>
            <a:ext cx="1645921" cy="822960"/>
          </a:xfrm>
          <a:prstGeom prst="line">
            <a:avLst/>
          </a:prstGeom>
          <a:ln w="38100">
            <a:solidFill>
              <a:srgbClr val="C83A1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144000" y="4389120"/>
            <a:ext cx="1645920" cy="640080"/>
          </a:xfrm>
          <a:prstGeom prst="line">
            <a:avLst/>
          </a:prstGeom>
          <a:ln w="38100">
            <a:solidFill>
              <a:srgbClr val="C83A1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207008" y="5413248"/>
            <a:ext cx="512064" cy="512064"/>
          </a:xfrm>
          <a:prstGeom prst="ellipse">
            <a:avLst/>
          </a:prstGeom>
          <a:solidFill>
            <a:srgbClr val="C83A1E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5413248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CP1</a:t>
            </a:r>
          </a:p>
        </p:txBody>
      </p:sp>
      <p:sp>
        <p:nvSpPr>
          <p:cNvPr id="12" name="Oval 11"/>
          <p:cNvSpPr/>
          <p:nvPr/>
        </p:nvSpPr>
        <p:spPr>
          <a:xfrm>
            <a:off x="2487168" y="4498848"/>
            <a:ext cx="512064" cy="512064"/>
          </a:xfrm>
          <a:prstGeom prst="ellipse">
            <a:avLst/>
          </a:prstGeom>
          <a:solidFill>
            <a:srgbClr val="C83A1E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87168" y="4498848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CP2</a:t>
            </a:r>
          </a:p>
        </p:txBody>
      </p:sp>
      <p:sp>
        <p:nvSpPr>
          <p:cNvPr id="14" name="Oval 13"/>
          <p:cNvSpPr/>
          <p:nvPr/>
        </p:nvSpPr>
        <p:spPr>
          <a:xfrm>
            <a:off x="3950207" y="5138928"/>
            <a:ext cx="512064" cy="512064"/>
          </a:xfrm>
          <a:prstGeom prst="ellipse">
            <a:avLst/>
          </a:prstGeom>
          <a:solidFill>
            <a:srgbClr val="C83A1E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50207" y="5138928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CP3</a:t>
            </a:r>
          </a:p>
        </p:txBody>
      </p:sp>
      <p:sp>
        <p:nvSpPr>
          <p:cNvPr id="16" name="Oval 15"/>
          <p:cNvSpPr/>
          <p:nvPr/>
        </p:nvSpPr>
        <p:spPr>
          <a:xfrm>
            <a:off x="5504688" y="4224528"/>
            <a:ext cx="512064" cy="512064"/>
          </a:xfrm>
          <a:prstGeom prst="ellipse">
            <a:avLst/>
          </a:prstGeom>
          <a:solidFill>
            <a:srgbClr val="C83A1E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04688" y="4224528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CP4</a:t>
            </a:r>
          </a:p>
        </p:txBody>
      </p:sp>
      <p:sp>
        <p:nvSpPr>
          <p:cNvPr id="18" name="Oval 17"/>
          <p:cNvSpPr/>
          <p:nvPr/>
        </p:nvSpPr>
        <p:spPr>
          <a:xfrm>
            <a:off x="7242047" y="4956048"/>
            <a:ext cx="512064" cy="512064"/>
          </a:xfrm>
          <a:prstGeom prst="ellipse">
            <a:avLst/>
          </a:prstGeom>
          <a:solidFill>
            <a:srgbClr val="C83A1E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42047" y="4956048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CP5</a:t>
            </a:r>
          </a:p>
        </p:txBody>
      </p:sp>
      <p:sp>
        <p:nvSpPr>
          <p:cNvPr id="20" name="Oval 19"/>
          <p:cNvSpPr/>
          <p:nvPr/>
        </p:nvSpPr>
        <p:spPr>
          <a:xfrm>
            <a:off x="8887968" y="4133087"/>
            <a:ext cx="512064" cy="512064"/>
          </a:xfrm>
          <a:prstGeom prst="ellipse">
            <a:avLst/>
          </a:prstGeom>
          <a:solidFill>
            <a:srgbClr val="C83A1E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8" y="4133087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CP6</a:t>
            </a:r>
          </a:p>
        </p:txBody>
      </p:sp>
      <p:sp>
        <p:nvSpPr>
          <p:cNvPr id="22" name="Oval 21"/>
          <p:cNvSpPr/>
          <p:nvPr/>
        </p:nvSpPr>
        <p:spPr>
          <a:xfrm>
            <a:off x="10533888" y="4773168"/>
            <a:ext cx="512064" cy="512064"/>
          </a:xfrm>
          <a:prstGeom prst="ellipse">
            <a:avLst/>
          </a:prstGeom>
          <a:solidFill>
            <a:srgbClr val="1F6E63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33888" y="4773168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★</a:t>
            </a:r>
          </a:p>
        </p:txBody>
      </p:sp>
      <p:sp>
        <p:nvSpPr>
          <p:cNvPr id="24" name="Oval 23"/>
          <p:cNvSpPr/>
          <p:nvPr/>
        </p:nvSpPr>
        <p:spPr>
          <a:xfrm>
            <a:off x="10698480" y="5486400"/>
            <a:ext cx="731520" cy="731520"/>
          </a:xfrm>
          <a:prstGeom prst="ellipse">
            <a:avLst/>
          </a:prstGeom>
          <a:noFill/>
          <a:ln w="25400">
            <a:solidFill>
              <a:srgbClr val="6B4A2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8480" y="5532120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6B4A2A"/>
                </a:solidFill>
                <a:latin typeface="Yu Gothic"/>
              </a:rPr>
              <a:t>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6B4A2A"/>
                </a:solidFill>
                <a:latin typeface="Yu Gothic"/>
              </a:rPr>
              <a:t>銅めぐり大探検　6つのチェックポイント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1298448"/>
            <a:ext cx="585216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0" b="1">
                <a:solidFill>
                  <a:srgbClr val="3A2A1A"/>
                </a:solidFill>
                <a:latin typeface="Yu Gothic"/>
              </a:rPr>
              <a:t>銅脈を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1234440"/>
            <a:ext cx="585216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0" b="1">
                <a:solidFill>
                  <a:srgbClr val="C83A1E"/>
                </a:solidFill>
                <a:latin typeface="Yu Gothic"/>
              </a:rPr>
              <a:t>銅脈を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33288" y="1298448"/>
            <a:ext cx="621792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0" b="1">
                <a:solidFill>
                  <a:srgbClr val="3A2A1A"/>
                </a:solidFill>
                <a:latin typeface="Yu Gothic"/>
              </a:rPr>
              <a:t>たどれ！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1234440"/>
            <a:ext cx="621792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0" b="1">
                <a:solidFill>
                  <a:srgbClr val="2F8F4E"/>
                </a:solidFill>
                <a:latin typeface="Yu Gothic"/>
              </a:rPr>
              <a:t>たどれ！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063240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3A2A1A"/>
                </a:solidFill>
                <a:latin typeface="Yu Gothic"/>
              </a:rPr>
              <a:t>循環の謎を解き、街に電気を届けよう　｜　28卒向け　12月〜1月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20640" y="457200"/>
            <a:ext cx="1947672" cy="324612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40680" y="457200"/>
            <a:ext cx="1307592" cy="3246120"/>
          </a:xfrm>
          <a:prstGeom prst="rect">
            <a:avLst/>
          </a:prstGeom>
          <a:gradFill rotWithShape="1">
            <a:gsLst>
              <a:gs pos="0">
                <a:srgbClr val="FFE6C4"/>
              </a:gs>
              <a:gs pos="100000">
                <a:srgbClr val="E68442"/>
              </a:gs>
            </a:gsLst>
            <a:lin scaled="0" ang="54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40680" y="2240280"/>
            <a:ext cx="1307592" cy="1463040"/>
          </a:xfrm>
          <a:prstGeom prst="rect">
            <a:avLst/>
          </a:prstGeom>
          <a:gradFill rotWithShape="1">
            <a:gsLst>
              <a:gs pos="0">
                <a:srgbClr val="E68442"/>
              </a:gs>
              <a:gs pos="100000">
                <a:srgbClr val="7A3214"/>
              </a:gs>
            </a:gsLst>
            <a:lin scaled="0" ang="54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rapezoid 5"/>
          <p:cNvSpPr/>
          <p:nvPr/>
        </p:nvSpPr>
        <p:spPr>
          <a:xfrm>
            <a:off x="4480560" y="3703320"/>
            <a:ext cx="3227832" cy="548640"/>
          </a:xfrm>
          <a:prstGeom prst="trapezoid">
            <a:avLst/>
          </a:prstGeom>
          <a:gradFill rotWithShape="1">
            <a:gsLst>
              <a:gs pos="0">
                <a:srgbClr val="7A3214"/>
              </a:gs>
              <a:gs pos="100000">
                <a:srgbClr val="080808"/>
              </a:gs>
            </a:gsLst>
            <a:lin scaled="0" ang="54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spc="400">
                <a:solidFill>
                  <a:srgbClr val="999999"/>
                </a:solidFill>
                <a:latin typeface="Yu Gothic"/>
              </a:rPr>
              <a:t>COPPER CYCLE INTERNSHIP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502920"/>
            <a:ext cx="42976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0" spc="200">
                <a:solidFill>
                  <a:srgbClr val="AAAAAA"/>
                </a:solidFill>
                <a:latin typeface="Yu Mincho"/>
              </a:rPr>
              <a:t>銅のめぐりを、経営する。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112471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0" b="1" spc="400">
                <a:solidFill>
                  <a:srgbClr val="FFFFFF"/>
                </a:solidFill>
                <a:latin typeface="Yu Mincho"/>
              </a:rPr>
              <a:t>銅は、あと40年。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532120"/>
            <a:ext cx="11247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0" spc="500">
                <a:solidFill>
                  <a:srgbClr val="DDDDDD"/>
                </a:solidFill>
                <a:latin typeface="Yu Mincho"/>
              </a:rPr>
              <a:t>そこに、ただ問いがある。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spc="150">
                <a:solidFill>
                  <a:srgbClr val="999999"/>
                </a:solidFill>
                <a:latin typeface="Yu Gothic"/>
              </a:rPr>
              <a:t>銅めぐりインターンシップ（仮）　28卒向け　12月〜1月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