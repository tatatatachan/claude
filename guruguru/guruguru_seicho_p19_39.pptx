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F8C9B8"/>
            </a:solidFill>
          </c:spPr>
          <c:dPt>
            <c:idx val="4"/>
            <c:spPr>
              <a:solidFill>
                <a:srgbClr val="FF5D3B"/>
              </a:solidFill>
            </c:spPr>
          </c:dPt>
          <c:cat>
            <c:strRef>
              <c:f>Sheet1!$A$2:$A$11</c:f>
              <c:strCache>
                <c:ptCount val="10"/>
                <c:pt idx="0">
                  <c:v>調査・コンサルタント</c:v>
                </c:pt>
                <c:pt idx="1">
                  <c:v>エネルギー</c:v>
                </c:pt>
                <c:pt idx="2">
                  <c:v>素材・化学</c:v>
                </c:pt>
                <c:pt idx="3">
                  <c:v>情報処理・ソフトウエア・ゲームソフト</c:v>
                </c:pt>
                <c:pt idx="4">
                  <c:v>鉄鋼・非鉄・金属製品</c:v>
                </c:pt>
                <c:pt idx="5">
                  <c:v>情報・インターネットサービス</c:v>
                </c:pt>
                <c:pt idx="6">
                  <c:v>精密機器・医療用機器</c:v>
                </c:pt>
                <c:pt idx="7">
                  <c:v>自動車・輸送用機器</c:v>
                </c:pt>
                <c:pt idx="8">
                  <c:v>機械・プラントエンジニアリング</c:v>
                </c:pt>
                <c:pt idx="9">
                  <c:v>電子・電機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8.8</c:v>
                </c:pt>
                <c:pt idx="1">
                  <c:v>14.0</c:v>
                </c:pt>
                <c:pt idx="2">
                  <c:v>15.8</c:v>
                </c:pt>
                <c:pt idx="3">
                  <c:v>15.8</c:v>
                </c:pt>
                <c:pt idx="4">
                  <c:v>17.5</c:v>
                </c:pt>
                <c:pt idx="5">
                  <c:v>17.5</c:v>
                </c:pt>
                <c:pt idx="6">
                  <c:v>26.3</c:v>
                </c:pt>
                <c:pt idx="7">
                  <c:v>31.6</c:v>
                </c:pt>
                <c:pt idx="8">
                  <c:v>38.6</c:v>
                </c:pt>
                <c:pt idx="9">
                  <c:v>52.6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3.12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F8C9B8"/>
            </a:solidFill>
          </c:spPr>
          <c:dPt>
            <c:idx val="1"/>
            <c:spPr>
              <a:solidFill>
                <a:srgbClr val="FF5D3B"/>
              </a:solidFill>
            </c:spPr>
          </c:dPt>
          <c:dPt>
            <c:idx val="3"/>
            <c:spPr>
              <a:solidFill>
                <a:srgbClr val="FF5D3B"/>
              </a:solidFill>
            </c:spPr>
          </c:dPt>
          <c:dPt>
            <c:idx val="6"/>
            <c:spPr>
              <a:solidFill>
                <a:srgbClr val="FF5D3B"/>
              </a:solidFill>
            </c:spPr>
          </c:dPt>
          <c:cat>
            <c:strRef>
              <c:f>Sheet1!$A$2:$A$12</c:f>
              <c:strCache>
                <c:ptCount val="11"/>
                <c:pt idx="0">
                  <c:v>業界内の順位が高い</c:v>
                </c:pt>
                <c:pt idx="1">
                  <c:v>職場の雰囲気が良い</c:v>
                </c:pt>
                <c:pt idx="2">
                  <c:v>有名企業である</c:v>
                </c:pt>
                <c:pt idx="3">
                  <c:v>社会貢献度が高い</c:v>
                </c:pt>
                <c:pt idx="4">
                  <c:v>福利厚生が充実している</c:v>
                </c:pt>
                <c:pt idx="5">
                  <c:v>休日・休暇が多い</c:v>
                </c:pt>
                <c:pt idx="6">
                  <c:v>希望の勤務地で働ける</c:v>
                </c:pt>
                <c:pt idx="7">
                  <c:v>業績・財務状況が良い</c:v>
                </c:pt>
                <c:pt idx="8">
                  <c:v>大企業である</c:v>
                </c:pt>
                <c:pt idx="9">
                  <c:v>将来性がある</c:v>
                </c:pt>
                <c:pt idx="10">
                  <c:v>給与・待遇が良い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16.2</c:v>
                </c:pt>
                <c:pt idx="1">
                  <c:v>16.2</c:v>
                </c:pt>
                <c:pt idx="2">
                  <c:v>17.6</c:v>
                </c:pt>
                <c:pt idx="3">
                  <c:v>22.1</c:v>
                </c:pt>
                <c:pt idx="4">
                  <c:v>26.5</c:v>
                </c:pt>
                <c:pt idx="5">
                  <c:v>27.9</c:v>
                </c:pt>
                <c:pt idx="6">
                  <c:v>30.9</c:v>
                </c:pt>
                <c:pt idx="7">
                  <c:v>30.9</c:v>
                </c:pt>
                <c:pt idx="8">
                  <c:v>47.1</c:v>
                </c:pt>
                <c:pt idx="9">
                  <c:v>54.4</c:v>
                </c:pt>
                <c:pt idx="10">
                  <c:v>58.8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55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F8C9B8"/>
            </a:solidFill>
          </c:spPr>
          <c:dPt>
            <c:idx val="0"/>
            <c:spPr>
              <a:solidFill>
                <a:srgbClr val="FF5D3B"/>
              </a:solidFill>
            </c:spPr>
          </c:dPt>
          <c:dPt>
            <c:idx val="2"/>
            <c:spPr>
              <a:solidFill>
                <a:srgbClr val="FF5D3B"/>
              </a:solidFill>
            </c:spPr>
          </c:dPt>
          <c:dPt>
            <c:idx val="4"/>
            <c:spPr>
              <a:solidFill>
                <a:srgbClr val="FF5D3B"/>
              </a:solidFill>
            </c:spPr>
          </c:dPt>
          <c:cat>
            <c:strRef>
              <c:f>Sheet1!$A$2:$A$7</c:f>
              <c:strCache>
                <c:ptCount val="6"/>
                <c:pt idx="0">
                  <c:v>参加後にフィードバックがある</c:v>
                </c:pt>
                <c:pt idx="1">
                  <c:v>先輩や周囲の評判がよい</c:v>
                </c:pt>
                <c:pt idx="2">
                  <c:v>実践的な仕事を経験できる</c:v>
                </c:pt>
                <c:pt idx="3">
                  <c:v>プログラムの詳細が載っている</c:v>
                </c:pt>
                <c:pt idx="4">
                  <c:v>学業に支障が出ない</c:v>
                </c:pt>
                <c:pt idx="5">
                  <c:v>本選考での優遇が期待できる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40.4</c:v>
                </c:pt>
                <c:pt idx="1">
                  <c:v>43.9</c:v>
                </c:pt>
                <c:pt idx="2">
                  <c:v>77.2</c:v>
                </c:pt>
                <c:pt idx="3">
                  <c:v>78.9</c:v>
                </c:pt>
                <c:pt idx="4">
                  <c:v>80.7</c:v>
                </c:pt>
                <c:pt idx="5">
                  <c:v>84.2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1.0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F8C9B8"/>
            </a:solidFill>
          </c:spPr>
          <c:dPt>
            <c:idx val="5"/>
            <c:spPr>
              <a:solidFill>
                <a:srgbClr val="FF5D3B"/>
              </a:solidFill>
            </c:spPr>
          </c:dPt>
          <c:dPt>
            <c:idx val="6"/>
            <c:spPr>
              <a:solidFill>
                <a:srgbClr val="FF5D3B"/>
              </a:solidFill>
            </c:spPr>
          </c:dPt>
          <c:cat>
            <c:strRef>
              <c:f>Sheet1!$A$2:$A$8</c:f>
              <c:strCache>
                <c:ptCount val="7"/>
                <c:pt idx="0">
                  <c:v>商品・サービスのユーザーとして</c:v>
                </c:pt>
                <c:pt idx="1">
                  <c:v>大学入学前から志望していた</c:v>
                </c:pt>
                <c:pt idx="2">
                  <c:v>合説・WEB合説で興味を持った</c:v>
                </c:pt>
                <c:pt idx="3">
                  <c:v>ゼミや研究室で専門の勉強をした</c:v>
                </c:pt>
                <c:pt idx="4">
                  <c:v>自己分析をして向いていると思った</c:v>
                </c:pt>
                <c:pt idx="5">
                  <c:v>業界研究をして興味を持った</c:v>
                </c:pt>
                <c:pt idx="6">
                  <c:v>IS等のプログラムで興味を持った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8.8</c:v>
                </c:pt>
                <c:pt idx="1">
                  <c:v>10.5</c:v>
                </c:pt>
                <c:pt idx="2">
                  <c:v>21.1</c:v>
                </c:pt>
                <c:pt idx="3">
                  <c:v>24.6</c:v>
                </c:pt>
                <c:pt idx="4">
                  <c:v>26.3</c:v>
                </c:pt>
                <c:pt idx="5">
                  <c:v>42.1</c:v>
                </c:pt>
                <c:pt idx="6">
                  <c:v>63.2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5.8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24卒</c:v>
                </c:pt>
              </c:strCache>
            </c:strRef>
          </c:tx>
          <c:spPr>
            <a:solidFill>
              <a:srgbClr val="D9D9D9"/>
            </a:solidFill>
          </c:spPr>
          <c:cat>
            <c:strRef>
              <c:f>Sheet1!$A$2:$A$6</c:f>
              <c:strCache>
                <c:ptCount val="5"/>
                <c:pt idx="0">
                  <c:v>説明会参加</c:v>
                </c:pt>
                <c:pt idx="1">
                  <c:v>一次面接</c:v>
                </c:pt>
                <c:pt idx="2">
                  <c:v>二次面接</c:v>
                </c:pt>
                <c:pt idx="3">
                  <c:v>内定</c:v>
                </c:pt>
                <c:pt idx="4">
                  <c:v>承諾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25卒</c:v>
                </c:pt>
              </c:strCache>
            </c:strRef>
          </c:tx>
          <c:spPr>
            <a:solidFill>
              <a:srgbClr val="F8C9B8"/>
            </a:solidFill>
          </c:spPr>
          <c:cat>
            <c:strRef>
              <c:f>Sheet1!$A$2:$A$6</c:f>
              <c:strCache>
                <c:ptCount val="5"/>
                <c:pt idx="0">
                  <c:v>説明会参加</c:v>
                </c:pt>
                <c:pt idx="1">
                  <c:v>一次面接</c:v>
                </c:pt>
                <c:pt idx="2">
                  <c:v>二次面接</c:v>
                </c:pt>
                <c:pt idx="3">
                  <c:v>内定</c:v>
                </c:pt>
                <c:pt idx="4">
                  <c:v>承諾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</c:v>
                </c:pt>
                <c:pt idx="1">
                  <c:v>5</c:v>
                </c:pt>
                <c:pt idx="2">
                  <c:v>3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26卒</c:v>
                </c:pt>
              </c:strCache>
            </c:strRef>
          </c:tx>
          <c:spPr>
            <a:solidFill>
              <a:srgbClr val="FF5D3B"/>
            </a:solidFill>
          </c:spPr>
          <c:cat>
            <c:strRef>
              <c:f>Sheet1!$A$2:$A$6</c:f>
              <c:strCache>
                <c:ptCount val="5"/>
                <c:pt idx="0">
                  <c:v>説明会参加</c:v>
                </c:pt>
                <c:pt idx="1">
                  <c:v>一次面接</c:v>
                </c:pt>
                <c:pt idx="2">
                  <c:v>二次面接</c:v>
                </c:pt>
                <c:pt idx="3">
                  <c:v>内定</c:v>
                </c:pt>
                <c:pt idx="4">
                  <c:v>承諾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numFmt formatCode="0;-0;;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承諾</c:v>
                </c:pt>
              </c:strCache>
            </c:strRef>
          </c:tx>
          <c:spPr>
            <a:solidFill>
              <a:srgbClr val="FF5D3B"/>
            </a:solidFill>
          </c:spPr>
          <c:cat>
            <c:strRef>
              <c:f>Sheet1!$A$2:$A$5</c:f>
              <c:strCache>
                <c:ptCount val="4"/>
                <c:pt idx="0">
                  <c:v>24卒</c:v>
                </c:pt>
                <c:pt idx="1">
                  <c:v>25卒</c:v>
                </c:pt>
                <c:pt idx="2">
                  <c:v>26卒</c:v>
                </c:pt>
                <c:pt idx="3">
                  <c:v>27卒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辞退</c:v>
                </c:pt>
              </c:strCache>
            </c:strRef>
          </c:tx>
          <c:spPr>
            <a:solidFill>
              <a:srgbClr val="F8C9B8"/>
            </a:solidFill>
          </c:spPr>
          <c:cat>
            <c:strRef>
              <c:f>Sheet1!$A$2:$A$5</c:f>
              <c:strCache>
                <c:ptCount val="4"/>
                <c:pt idx="0">
                  <c:v>24卒</c:v>
                </c:pt>
                <c:pt idx="1">
                  <c:v>25卒</c:v>
                </c:pt>
                <c:pt idx="2">
                  <c:v>26卒</c:v>
                </c:pt>
                <c:pt idx="3">
                  <c:v>27卒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0</c:v>
                </c:pt>
                <c:pt idx="3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返事待ち</c:v>
                </c:pt>
              </c:strCache>
            </c:strRef>
          </c:tx>
          <c:spPr>
            <a:solidFill>
              <a:srgbClr val="D9D9D9"/>
            </a:solidFill>
          </c:spPr>
          <c:cat>
            <c:strRef>
              <c:f>Sheet1!$A$2:$A$5</c:f>
              <c:strCache>
                <c:ptCount val="4"/>
                <c:pt idx="0">
                  <c:v>24卒</c:v>
                </c:pt>
                <c:pt idx="1">
                  <c:v>25卒</c:v>
                </c:pt>
                <c:pt idx="2">
                  <c:v>26卒</c:v>
                </c:pt>
                <c:pt idx="3">
                  <c:v>27卒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</c:numCache>
            </c:numRef>
          </c:val>
        </c:ser>
        <c:dLbls>
          <c:numFmt formatCode="0;-0;;" sourceLinked="0"/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91440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3000" b="0">
                <a:solidFill>
                  <a:srgbClr val="FF5D3B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822960"/>
            <a:ext cx="502920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Yu Gothic"/>
              </a:rPr>
              <a:t>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868680"/>
            <a:ext cx="45720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  <a:latin typeface="Yu Gothic"/>
              </a:rPr>
              <a:t>学生の声とデータ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91440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3000" b="0">
                <a:solidFill>
                  <a:srgbClr val="FF5D3B"/>
                </a:solidFill>
                <a:latin typeface="Yu Gothi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27632"/>
            <a:ext cx="502920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Yu Gothic"/>
              </a:rPr>
              <a:t>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673352"/>
            <a:ext cx="45720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  <a:latin typeface="Yu Gothic"/>
              </a:rPr>
              <a:t>ターゲットと清峰の現状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32304"/>
            <a:ext cx="91440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3000" b="0">
                <a:solidFill>
                  <a:srgbClr val="FF5D3B"/>
                </a:solidFill>
                <a:latin typeface="Yu Gothic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32304"/>
            <a:ext cx="502920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Yu Gothic"/>
              </a:rPr>
              <a:t>COMPETITOR &amp; SEEDS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478024"/>
            <a:ext cx="45720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  <a:latin typeface="Yu Gothic"/>
              </a:rPr>
              <a:t>競合と清峰の強み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36976"/>
            <a:ext cx="91440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3000" b="0">
                <a:solidFill>
                  <a:srgbClr val="FF5D3B"/>
                </a:solidFill>
                <a:latin typeface="Yu Gothic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236976"/>
            <a:ext cx="502920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Yu Gothic"/>
              </a:rPr>
              <a:t>CONCEPT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282696"/>
            <a:ext cx="45720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  <a:latin typeface="Yu Gothic"/>
              </a:rPr>
              <a:t>重なるところを、コンセプトに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41648"/>
            <a:ext cx="91440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3000" b="0">
                <a:solidFill>
                  <a:srgbClr val="FF5D3B"/>
                </a:solidFill>
                <a:latin typeface="Yu Gothic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41648"/>
            <a:ext cx="502920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Yu Gothic"/>
              </a:rPr>
              <a:t>PROGRAM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087368"/>
            <a:ext cx="45720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  <a:latin typeface="Yu Gothic"/>
              </a:rPr>
              <a:t>1日の設計とタイムテーブル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46320"/>
            <a:ext cx="91440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3000" b="0">
                <a:solidFill>
                  <a:srgbClr val="FF5D3B"/>
                </a:solidFill>
                <a:latin typeface="Yu Gothic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846320"/>
            <a:ext cx="502920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Yu Gothic"/>
              </a:rPr>
              <a:t>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892040"/>
            <a:ext cx="45720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  <a:latin typeface="Yu Gothic"/>
              </a:rPr>
              <a:t>カードとルール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50992"/>
            <a:ext cx="91440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3000" b="0">
                <a:solidFill>
                  <a:srgbClr val="FF5D3B"/>
                </a:solidFill>
                <a:latin typeface="Yu Gothic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650992"/>
            <a:ext cx="502920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Yu Gothic"/>
              </a:rPr>
              <a:t>INSTRUCTION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5696712"/>
            <a:ext cx="45720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  <a:latin typeface="Yu Gothic"/>
              </a:rPr>
              <a:t>取扱説明書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Yu Gothic"/>
              </a:rPr>
              <a:t>銅めぐりインターンシップ（仮）｜清峰金属工業｜案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01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機電系の志望業界トップ10：鉄鋼・非鉄・金属製品は5位（17.5%）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出典：キャリタス『2027年卒 理系学生の就職活動（専攻分野別）』機械・電気系（visions資料より転載）、11月時点。5つまで選択。同率は同順位。ぐるぐる（環境・資源系）の同種の調査は未入手で、要確認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7589520" cy="53949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868680"/>
          <a:ext cx="74066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92440" y="777240"/>
            <a:ext cx="3703320" cy="539496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868680"/>
            <a:ext cx="3703320" cy="411480"/>
          </a:xfrm>
          <a:prstGeom prst="rect">
            <a:avLst/>
          </a:prstGeom>
          <a:noFill/>
        </p:spPr>
        <p:txBody>
          <a:bodyPr wrap="square" anchor="t" lIns="182880" rIns="182880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読み取れること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371600"/>
            <a:ext cx="3703320" cy="4754880"/>
          </a:xfrm>
          <a:prstGeom prst="rect">
            <a:avLst/>
          </a:prstGeom>
          <a:noFill/>
        </p:spPr>
        <p:txBody>
          <a:bodyPr wrap="square" anchor="t" lIns="182880" rIns="182880">
            <a:spAutoFit/>
          </a:bodyPr>
          <a:lstStyle/>
          <a:p>
            <a:pPr algn="l">
              <a:spcBef>
                <a:spcPts val="8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【仮説】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上位は電子・電機、機械、自動車。専攻に近い業界が選ばれやすい。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清峰が属する非鉄・金属製品は5位（17.5%）。素材・化学は7位（15.8%）。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志望のきっかけは、ISが63.2%。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01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企業選びで重視する点：1位は給与・待遇、将来性は2位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出典：キャリタス『2027年卒 理系学生の就職活動（専攻分野別）』機械・電気系（visions資料より転載）、1月時点。5つまで選択。給与の記載は清峰の内定者ヒアリング・求人票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7589520" cy="53949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868680"/>
          <a:ext cx="74066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92440" y="777240"/>
            <a:ext cx="3703320" cy="539496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868680"/>
            <a:ext cx="3703320" cy="411480"/>
          </a:xfrm>
          <a:prstGeom prst="rect">
            <a:avLst/>
          </a:prstGeom>
          <a:noFill/>
        </p:spPr>
        <p:txBody>
          <a:bodyPr wrap="square" anchor="t" lIns="182880" rIns="182880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読み取れること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371600"/>
            <a:ext cx="3703320" cy="4754880"/>
          </a:xfrm>
          <a:prstGeom prst="rect">
            <a:avLst/>
          </a:prstGeom>
          <a:noFill/>
        </p:spPr>
        <p:txBody>
          <a:bodyPr wrap="square" anchor="t" lIns="182880" rIns="182880">
            <a:spAutoFit/>
          </a:bodyPr>
          <a:lstStyle/>
          <a:p>
            <a:pPr algn="l">
              <a:spcBef>
                <a:spcPts val="8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【仮説】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1位は給与・待遇、2位が将来性。3位は大企業で、規模で比べられる。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清峰が答えやすいのは、勤務地（地元から動かず働ける）、社会貢献（理念）、職場の雰囲気。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給与は、基本給18万円（求人票）の見せ方が要点。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01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ISを選ぶ決め手は、優遇と両立。実践的な仕事は77.2%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出典：キャリタス『2027年卒 理系学生の就職活動（専攻分野別）』機械・電気系（visions資料より転載）。IS等の応募先を探す際に重視したこと（主な項目）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7589520" cy="53949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868680"/>
          <a:ext cx="74066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92440" y="777240"/>
            <a:ext cx="3703320" cy="539496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868680"/>
            <a:ext cx="3703320" cy="411480"/>
          </a:xfrm>
          <a:prstGeom prst="rect">
            <a:avLst/>
          </a:prstGeom>
          <a:noFill/>
        </p:spPr>
        <p:txBody>
          <a:bodyPr wrap="square" anchor="t" lIns="182880" rIns="182880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読み取れること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371600"/>
            <a:ext cx="3703320" cy="4754880"/>
          </a:xfrm>
          <a:prstGeom prst="rect">
            <a:avLst/>
          </a:prstGeom>
          <a:noFill/>
        </p:spPr>
        <p:txBody>
          <a:bodyPr wrap="square" anchor="t" lIns="182880" rIns="182880">
            <a:spAutoFit/>
          </a:bodyPr>
          <a:lstStyle/>
          <a:p>
            <a:pPr algn="l">
              <a:spcBef>
                <a:spcPts val="8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【仮説】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優遇・両立・詳細の記載が、応募の前提。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実践的な仕事は、機電系でも77.2%が重視。象徴ISのゲームと現場が応える。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フィードバックは40.4%。社長・社員からのFBが強みになる。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開催日は、テスト期間を避ける（1月上旬〜中旬）。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01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志望のきっかけは、ISが63.2%。業界研究が42.1%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出典：キャリタス『2027年卒 理系学生の就職活動（専攻分野別）』機械・電気系（visions資料より転載）。第1志望業界になったきっかけ（11月時点、主な項目）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7589520" cy="53949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868680"/>
          <a:ext cx="74066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92440" y="777240"/>
            <a:ext cx="3703320" cy="539496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868680"/>
            <a:ext cx="3703320" cy="411480"/>
          </a:xfrm>
          <a:prstGeom prst="rect">
            <a:avLst/>
          </a:prstGeom>
          <a:noFill/>
        </p:spPr>
        <p:txBody>
          <a:bodyPr wrap="square" anchor="t" lIns="182880" rIns="182880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読み取れること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371600"/>
            <a:ext cx="3703320" cy="4754880"/>
          </a:xfrm>
          <a:prstGeom prst="rect">
            <a:avLst/>
          </a:prstGeom>
          <a:noFill/>
        </p:spPr>
        <p:txBody>
          <a:bodyPr wrap="square" anchor="t" lIns="182880" rIns="182880">
            <a:spAutoFit/>
          </a:bodyPr>
          <a:lstStyle/>
          <a:p>
            <a:pPr algn="l">
              <a:spcBef>
                <a:spcPts val="8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【仮説】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志望の入口は、IS等のプログラムが突出。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認知がない業界は、ISで知ってもらうのが近道。清峰・銅は、知名度が高くない。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業界研究（42.1%）も、きっかけになる。銅のめぐり（業界構造）を学べる場が刺さる。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00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NEEDSのまとめ：分かったことは、3つ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出典：数字は、キャリタス『2027年卒 理系学生の就職活動（専攻分野別）』機械・電気系（visions資料より転載）と、清峰の採用数値（過去実績・学生管理シート）。ぐるぐる向けの調査は未入手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3749039" cy="521208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05840"/>
            <a:ext cx="548640" cy="548640"/>
          </a:xfrm>
          <a:prstGeom prst="ellipse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54864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3291840" cy="1188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900" b="1">
                <a:solidFill>
                  <a:srgbClr val="333333"/>
                </a:solidFill>
                <a:latin typeface="Yu Gothic"/>
              </a:rPr>
              <a:t>専攻に近い業界が選ばれる。</a:t>
            </a:r>
          </a:p>
          <a:p>
            <a:pPr algn="l"/>
            <a:r>
              <a:rPr sz="1900" b="1">
                <a:solidFill>
                  <a:srgbClr val="333333"/>
                </a:solidFill>
                <a:latin typeface="Yu Gothic"/>
              </a:rPr>
              <a:t>非鉄は志望5位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3291840" cy="2743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鉄鋼・非鉄・金属製品は5位（17.5%）。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企業選びで将来性は2位（54.4%）。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822960"/>
            <a:ext cx="3749039" cy="521208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005840"/>
            <a:ext cx="548640" cy="548640"/>
          </a:xfrm>
          <a:prstGeom prst="ellipse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005840"/>
            <a:ext cx="54864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783080"/>
            <a:ext cx="3291840" cy="1188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900" b="1">
                <a:solidFill>
                  <a:srgbClr val="333333"/>
                </a:solidFill>
                <a:latin typeface="Yu Gothic"/>
              </a:rPr>
              <a:t>ISが、志望を</a:t>
            </a:r>
          </a:p>
          <a:p>
            <a:pPr algn="l"/>
            <a:r>
              <a:rPr sz="1900" b="1">
                <a:solidFill>
                  <a:srgbClr val="333333"/>
                </a:solidFill>
                <a:latin typeface="Yu Gothic"/>
              </a:rPr>
              <a:t>生む入口になる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00400"/>
            <a:ext cx="3291840" cy="2743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志望のきっかけはIS等が63.2%。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選ぶ決め手は、優遇・両立・実践的な仕事。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822960"/>
            <a:ext cx="3749039" cy="521208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005840"/>
            <a:ext cx="548640" cy="548640"/>
          </a:xfrm>
          <a:prstGeom prst="ellipse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005840"/>
            <a:ext cx="54864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783080"/>
            <a:ext cx="3291840" cy="1188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900" b="1">
                <a:solidFill>
                  <a:srgbClr val="333333"/>
                </a:solidFill>
                <a:latin typeface="Yu Gothic"/>
              </a:rPr>
              <a:t>ISのあとに、</a:t>
            </a:r>
          </a:p>
          <a:p>
            <a:pPr algn="l"/>
            <a:r>
              <a:rPr sz="1900" b="1">
                <a:solidFill>
                  <a:srgbClr val="333333"/>
                </a:solidFill>
                <a:latin typeface="Yu Gothic"/>
              </a:rPr>
              <a:t>取りこぼしている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200400"/>
            <a:ext cx="3291840" cy="2743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25卒：説明会6名から承諾1名。26卒：7名から1名。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27卒：24名のうち12名が、エントリーで止まる。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02 Nankyo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エントリーから説明会へ進むのは、1〜2割。承諾まで届くのは年1名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出典：清峰の過去実績（24〜26卒）。27卒は学生管理シートで集計途中のため、グラフに含めず。26卒のIS参加数は未入力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7589520" cy="53949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868680"/>
          <a:ext cx="74066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92440" y="777240"/>
            <a:ext cx="3703320" cy="539496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868680"/>
            <a:ext cx="3703320" cy="411480"/>
          </a:xfrm>
          <a:prstGeom prst="rect">
            <a:avLst/>
          </a:prstGeom>
          <a:noFill/>
        </p:spPr>
        <p:txBody>
          <a:bodyPr wrap="square" anchor="t" lIns="182880" rIns="182880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読み取れること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371600"/>
            <a:ext cx="3703320" cy="4754880"/>
          </a:xfrm>
          <a:prstGeom prst="rect">
            <a:avLst/>
          </a:prstGeom>
          <a:noFill/>
        </p:spPr>
        <p:txBody>
          <a:bodyPr wrap="square" anchor="t" lIns="182880" rIns="182880">
            <a:spAutoFit/>
          </a:bodyPr>
          <a:lstStyle/>
          <a:p>
            <a:pPr algn="l">
              <a:spcBef>
                <a:spcPts val="8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25卒：エントリー58名のうち、説明会は6名（10%）。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26卒：41名のうち7名（17%）。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承諾は、25卒・26卒とも1名。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27卒（学生管理シート）：24名のうち12名が、エントリーのまま止まる。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02 Nankyo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内定の承諾は、年1〜2名。25卒は3名のうち1名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出典：清峰の過去実績（24〜26卒）、学生管理シート（27卒）、内定者・辞退者ヒアリング。辞退の人数は、内定から承諾を引いた数。27卒は集計途中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7589520" cy="53949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868680"/>
          <a:ext cx="74066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92440" y="777240"/>
            <a:ext cx="3703320" cy="539496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868680"/>
            <a:ext cx="3703320" cy="411480"/>
          </a:xfrm>
          <a:prstGeom prst="rect">
            <a:avLst/>
          </a:prstGeom>
          <a:noFill/>
        </p:spPr>
        <p:txBody>
          <a:bodyPr wrap="square" anchor="t" lIns="182880" rIns="182880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辞退の理由（ヒアリング）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371600"/>
            <a:ext cx="3703320" cy="4754880"/>
          </a:xfrm>
          <a:prstGeom prst="rect">
            <a:avLst/>
          </a:prstGeom>
          <a:noFill/>
        </p:spPr>
        <p:txBody>
          <a:bodyPr wrap="square" anchor="t" lIns="182880" rIns="182880">
            <a:spAutoFit/>
          </a:bodyPr>
          <a:lstStyle/>
          <a:p>
            <a:pPr algn="l">
              <a:spcBef>
                <a:spcPts val="8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27卒の辞退1名：「素材メーカーにこだわり」、耐火物メーカーに承諾。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内定者の声：他の金属メーカーより月3万円ほど給与が良く、決め手になった。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→ 素材メーカー志向は、同業・素材系と比べられている【仮説】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25卒の辞退の理由は未確認（要ヒアリング）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03 Competitor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競合比較：清峰の特徴は、地元で腰を据えて働けること（競合は要調査）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出典：清峰の魅力づけシート・内定者の声。競合分析シート（付録）は未入力のため、競合欄は要調査。初任給は同じ条件ではない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1325880" cy="41148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777240"/>
            <a:ext cx="3886200" cy="41148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清峰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79" y="777240"/>
            <a:ext cx="2240280" cy="41148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サンライズ工業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777240"/>
            <a:ext cx="1874520" cy="41148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TYK（耐火物）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19" y="777240"/>
            <a:ext cx="1874520" cy="41148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同業（藤井・サンエツ）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234440"/>
            <a:ext cx="1325880" cy="73152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事業フェーズ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1234440"/>
            <a:ext cx="3886200" cy="7315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創業127年。合金開発と環境対応で進化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234440"/>
            <a:ext cx="2240280" cy="7315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要調査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234440"/>
            <a:ext cx="1874520" cy="7315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要調査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19" y="1234440"/>
            <a:ext cx="1874520" cy="7315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要調査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011680"/>
            <a:ext cx="1325880" cy="73152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成長環境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37360" y="2011680"/>
            <a:ext cx="3886200" cy="7315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一貫体制で、様々な部署と関わる。月ごとのチャレンジノート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79" y="2011680"/>
            <a:ext cx="2240280" cy="7315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要調査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2011680"/>
            <a:ext cx="1874520" cy="7315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要調査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19" y="2011680"/>
            <a:ext cx="1874520" cy="7315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要調査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88920"/>
            <a:ext cx="1325880" cy="73152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文化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2788920"/>
            <a:ext cx="3886200" cy="7315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アットホーム、フレンドリー。真面目で誠実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79" y="2788920"/>
            <a:ext cx="2240280" cy="7315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要調査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2788920"/>
            <a:ext cx="1874520" cy="7315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要調査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19" y="2788920"/>
            <a:ext cx="1874520" cy="7315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要調査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66160"/>
            <a:ext cx="1325880" cy="73152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働き方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37360" y="3566160"/>
            <a:ext cx="3886200" cy="7315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異動なし。地元から動かず。定時17時。交替手当は月+約2万円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79" y="3566160"/>
            <a:ext cx="2240280" cy="7315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要調査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3566160"/>
            <a:ext cx="1874520" cy="7315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要調査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5519" y="3566160"/>
            <a:ext cx="1874520" cy="7315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要調査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343400"/>
            <a:ext cx="1325880" cy="73152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初任給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37360" y="4343400"/>
            <a:ext cx="3886200" cy="7315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基本給18万円（求人票・当時）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79" y="4343400"/>
            <a:ext cx="2240280" cy="7315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清峰より月3万円ほど低い（内定者談）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4343400"/>
            <a:ext cx="1874520" cy="7315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要調査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75519" y="4343400"/>
            <a:ext cx="1874520" cy="7315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要調査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806440"/>
            <a:ext cx="114300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7A6E66"/>
                </a:solidFill>
                <a:latin typeface="Yu Gothic"/>
              </a:rPr>
              <a:t>同業は、りん青銅・洋白の線棒を作る少数の会社（会社資料）。学生の併願先は、辞退者・内定者のヒアリングより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03 Competitor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清峰の強みは、「国内唯一」と「人の手」の数字と、地元の働き方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出典：既存会社説明資料（会社概要・特徴）。「国内唯一」「国内1位」は会社資料の記載で、第三者データでの確認が必要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2788920" cy="210312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2788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5D3B"/>
                </a:solidFill>
                <a:latin typeface="Yu Gothic"/>
              </a:rPr>
              <a:t>127年目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788920" cy="914400"/>
          </a:xfrm>
          <a:prstGeom prst="rect">
            <a:avLst/>
          </a:prstGeom>
          <a:noFill/>
        </p:spPr>
        <p:txBody>
          <a:bodyPr wrap="square" anchor="ctr" lIns="182880" rIns="182880">
            <a:spAutoFit/>
          </a:bodyPr>
          <a:lstStyle/>
          <a:p>
            <a:pPr algn="ctr"/>
            <a:r>
              <a:rPr sz="1250" b="0">
                <a:solidFill>
                  <a:srgbClr val="3A2A24"/>
                </a:solidFill>
                <a:latin typeface="Yu Gothic"/>
              </a:rPr>
              <a:t>創業1898年（明治31年）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822960"/>
            <a:ext cx="2788920" cy="210312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914400"/>
            <a:ext cx="2788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5D3B"/>
                </a:solidFill>
                <a:latin typeface="Yu Gothic"/>
              </a:rPr>
              <a:t>国内唯一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920240"/>
            <a:ext cx="2788920" cy="914400"/>
          </a:xfrm>
          <a:prstGeom prst="rect">
            <a:avLst/>
          </a:prstGeom>
          <a:noFill/>
        </p:spPr>
        <p:txBody>
          <a:bodyPr wrap="square" anchor="ctr" lIns="182880" rIns="182880">
            <a:spAutoFit/>
          </a:bodyPr>
          <a:lstStyle/>
          <a:p>
            <a:pPr algn="ctr"/>
            <a:r>
              <a:rPr sz="1250" b="0">
                <a:solidFill>
                  <a:srgbClr val="3A2A24"/>
                </a:solidFill>
                <a:latin typeface="Yu Gothic"/>
              </a:rPr>
              <a:t>板・条・線・棒の4種の製造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822960"/>
            <a:ext cx="2788920" cy="210312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914400"/>
            <a:ext cx="2788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5D3B"/>
                </a:solidFill>
                <a:latin typeface="Yu Gothic"/>
              </a:rPr>
              <a:t>国内1位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920240"/>
            <a:ext cx="2788920" cy="914400"/>
          </a:xfrm>
          <a:prstGeom prst="rect">
            <a:avLst/>
          </a:prstGeom>
          <a:noFill/>
        </p:spPr>
        <p:txBody>
          <a:bodyPr wrap="square" anchor="ctr" lIns="182880" rIns="182880">
            <a:spAutoFit/>
          </a:bodyPr>
          <a:lstStyle/>
          <a:p>
            <a:pPr algn="ctr"/>
            <a:r>
              <a:rPr sz="1250" b="0">
                <a:solidFill>
                  <a:srgbClr val="3A2A24"/>
                </a:solidFill>
                <a:latin typeface="Yu Gothic"/>
              </a:rPr>
              <a:t>りん青銅・洋白のJIS規格製造品目数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822960"/>
            <a:ext cx="2788920" cy="210312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914400"/>
            <a:ext cx="2788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5D3B"/>
                </a:solidFill>
                <a:latin typeface="Yu Gothic"/>
              </a:rPr>
              <a:t>118名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920240"/>
            <a:ext cx="2788920" cy="914400"/>
          </a:xfrm>
          <a:prstGeom prst="rect">
            <a:avLst/>
          </a:prstGeom>
          <a:noFill/>
        </p:spPr>
        <p:txBody>
          <a:bodyPr wrap="square" anchor="ctr" lIns="182880" rIns="182880">
            <a:spAutoFit/>
          </a:bodyPr>
          <a:lstStyle/>
          <a:p>
            <a:pPr algn="ctr"/>
            <a:r>
              <a:rPr sz="1250" b="0">
                <a:solidFill>
                  <a:srgbClr val="3A2A24"/>
                </a:solidFill>
                <a:latin typeface="Yu Gothic"/>
              </a:rPr>
              <a:t>従業員（2025年4月1日現在）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08960"/>
            <a:ext cx="11430000" cy="30175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200400"/>
            <a:ext cx="11430000" cy="2834640"/>
          </a:xfrm>
          <a:prstGeom prst="rect">
            <a:avLst/>
          </a:prstGeom>
          <a:noFill/>
        </p:spPr>
        <p:txBody>
          <a:bodyPr wrap="square" anchor="t" lIns="274320" rIns="274320">
            <a:spAutoFit/>
          </a:bodyPr>
          <a:lstStyle/>
          <a:p>
            <a:pPr algn="l">
              <a:spcBef>
                <a:spcPts val="900"/>
              </a:spcBef>
            </a:pPr>
            <a:r>
              <a:rPr sz="1500" b="0">
                <a:solidFill>
                  <a:srgbClr val="3A2A24"/>
                </a:solidFill>
                <a:latin typeface="Yu Gothic"/>
              </a:rPr>
              <a:t>一貫して取り組める。溶解・鋳造から、めっき・スリットまで1つの工場で</a:t>
            </a:r>
          </a:p>
          <a:p>
            <a:pPr algn="l">
              <a:spcBef>
                <a:spcPts val="900"/>
              </a:spcBef>
            </a:pPr>
            <a:r>
              <a:rPr sz="1500" b="0">
                <a:solidFill>
                  <a:srgbClr val="3A2A24"/>
                </a:solidFill>
                <a:latin typeface="Yu Gothic"/>
              </a:rPr>
              <a:t>自動化が難しく、人の手と気遣いが必要な、人ならではのものづくり</a:t>
            </a:r>
          </a:p>
          <a:p>
            <a:pPr algn="l">
              <a:spcBef>
                <a:spcPts val="900"/>
              </a:spcBef>
            </a:pPr>
            <a:r>
              <a:rPr sz="1500" b="0">
                <a:solidFill>
                  <a:srgbClr val="3A2A24"/>
                </a:solidFill>
                <a:latin typeface="Yu Gothic"/>
              </a:rPr>
              <a:t>少量多品種で小回りがきく。お客様と顔を見て、一緒に解を考える</a:t>
            </a:r>
          </a:p>
          <a:p>
            <a:pPr algn="l">
              <a:spcBef>
                <a:spcPts val="900"/>
              </a:spcBef>
            </a:pPr>
            <a:r>
              <a:rPr sz="1500" b="0">
                <a:solidFill>
                  <a:srgbClr val="3A2A24"/>
                </a:solidFill>
                <a:latin typeface="Yu Gothic"/>
              </a:rPr>
              <a:t>地元から動かず、腰を据えて働ける。土日は趣味や家族と過ごせる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03 SEEDS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SEEDSのまとめ：清峰の勝ち筋は、4つ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出典：SEEDS選定シート（専卒以上・革新人材＝ぐるぐるの⭐項目）、魅力づけシート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2788920" cy="493776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005840"/>
            <a:ext cx="502920" cy="502920"/>
          </a:xfrm>
          <a:prstGeom prst="ellipse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005840"/>
            <a:ext cx="502920" cy="5029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237744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ニッチトップの</a:t>
            </a:r>
          </a:p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ロマン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17520"/>
            <a:ext cx="2377440" cy="2560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3A2A24"/>
                </a:solidFill>
                <a:latin typeface="Yu Gothic"/>
              </a:rPr>
              <a:t>国内唯一の4種。身近な製品の「中」で、世の中を支える。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822960"/>
            <a:ext cx="2788920" cy="493776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005840"/>
            <a:ext cx="502920" cy="502920"/>
          </a:xfrm>
          <a:prstGeom prst="ellipse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005840"/>
            <a:ext cx="502920" cy="5029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737360"/>
            <a:ext cx="237744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人の手と、</a:t>
            </a:r>
          </a:p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つくる物語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017520"/>
            <a:ext cx="2377440" cy="2560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3A2A24"/>
                </a:solidFill>
                <a:latin typeface="Yu Gothic"/>
              </a:rPr>
              <a:t>自動化が難しく、人の手が要る。「どう作られるか」に物語がある。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822960"/>
            <a:ext cx="2788920" cy="493776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005840"/>
            <a:ext cx="502920" cy="502920"/>
          </a:xfrm>
          <a:prstGeom prst="ellipse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005840"/>
            <a:ext cx="502920" cy="5029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737360"/>
            <a:ext cx="237744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お客様に近い</a:t>
            </a:r>
          </a:p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小回り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017520"/>
            <a:ext cx="2377440" cy="2560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3A2A24"/>
                </a:solidFill>
                <a:latin typeface="Yu Gothic"/>
              </a:rPr>
              <a:t>少量多品種。顔を見て、一緒に解を考える。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822960"/>
            <a:ext cx="2788920" cy="493776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005840"/>
            <a:ext cx="502920" cy="502920"/>
          </a:xfrm>
          <a:prstGeom prst="ellipse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005840"/>
            <a:ext cx="502920" cy="5029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7744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理念と地域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017520"/>
            <a:ext cx="2377440" cy="2560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3A2A24"/>
                </a:solidFill>
                <a:latin typeface="Yu Gothic"/>
              </a:rPr>
              <a:t>地球資源を輝かせていく。環境配慮、地域貢献。地元で働ける。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85216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7A6E66"/>
                </a:solidFill>
                <a:latin typeface="Yu Gothic"/>
              </a:rPr>
              <a:t>ほかに、社員の雰囲気（アットホーム）と、福利厚生（お弁当が安い、休憩が長め）も強み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04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NEEDS × SEEDS：重なるところが、コンセプト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出典：NEEDSはキャリタス『2027年卒 理系学生の就職活動（専攻分野別）』機械・電気系（visions資料より転載）、SEEDSは清峰の魅力づけシート・SEEDS選定シート</a:t>
            </a:r>
          </a:p>
        </p:txBody>
      </p:sp>
      <p:sp>
        <p:nvSpPr>
          <p:cNvPr id="6" name="Oval 5"/>
          <p:cNvSpPr/>
          <p:nvPr/>
        </p:nvSpPr>
        <p:spPr>
          <a:xfrm>
            <a:off x="2011680" y="914400"/>
            <a:ext cx="4937760" cy="4937760"/>
          </a:xfrm>
          <a:prstGeom prst="ellipse">
            <a:avLst/>
          </a:prstGeom>
          <a:noFill/>
          <a:ln w="38100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12080" y="914400"/>
            <a:ext cx="4937760" cy="4937760"/>
          </a:xfrm>
          <a:prstGeom prst="ellipse">
            <a:avLst/>
          </a:prstGeom>
          <a:noFill/>
          <a:ln w="38100">
            <a:solidFill>
              <a:srgbClr val="FF5D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1097280"/>
            <a:ext cx="3017520" cy="3657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300" b="1">
                <a:solidFill>
                  <a:srgbClr val="3A2A24"/>
                </a:solidFill>
                <a:latin typeface="Yu Gothic"/>
              </a:rPr>
              <a:t>NEEDS　学生が求めること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097280"/>
            <a:ext cx="3200400" cy="3657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300" b="1">
                <a:solidFill>
                  <a:srgbClr val="3A2A24"/>
                </a:solidFill>
                <a:latin typeface="Yu Gothic"/>
              </a:rPr>
              <a:t>SEEDS　清峰が持つもの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20240"/>
            <a:ext cx="2194560" cy="2926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Bef>
                <a:spcPts val="9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将来性がある（54.4%）</a:t>
            </a:r>
          </a:p>
          <a:p>
            <a:pPr algn="l">
              <a:spcBef>
                <a:spcPts val="9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実践的な仕事（77.2%）</a:t>
            </a:r>
          </a:p>
          <a:p>
            <a:pPr algn="l">
              <a:spcBef>
                <a:spcPts val="9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フィードバックがある（40.4%）</a:t>
            </a:r>
          </a:p>
          <a:p>
            <a:pPr algn="l">
              <a:spcBef>
                <a:spcPts val="9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希望の勤務地（30.9%）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920240"/>
            <a:ext cx="2286000" cy="2926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Bef>
                <a:spcPts val="9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国内唯一・1位のロマン</a:t>
            </a:r>
          </a:p>
          <a:p>
            <a:pPr algn="l">
              <a:spcBef>
                <a:spcPts val="9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人の手と、つくる物語</a:t>
            </a:r>
          </a:p>
          <a:p>
            <a:pPr algn="l">
              <a:spcBef>
                <a:spcPts val="9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顔の見える小回り</a:t>
            </a:r>
          </a:p>
          <a:p>
            <a:pPr algn="l">
              <a:spcBef>
                <a:spcPts val="9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地元から動かず働ける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3063240"/>
            <a:ext cx="1463040" cy="64008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3063240"/>
            <a:ext cx="146304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CONCEPT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840480"/>
            <a:ext cx="2286000" cy="8229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Yu Gothic"/>
              </a:rPr>
              <a:t>銅のめぐりを、</a:t>
            </a:r>
          </a:p>
          <a:p>
            <a:pPr algn="ctr"/>
            <a:r>
              <a:rPr sz="1300" b="1">
                <a:solidFill>
                  <a:srgbClr val="333333"/>
                </a:solidFill>
                <a:latin typeface="Yu Gothic"/>
              </a:rPr>
              <a:t>経営する。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Yu Gothic"/>
              </a:rPr>
              <a:t>04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Yu Mincho"/>
              </a:rPr>
              <a:t>銅のめぐりを、経営する。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657600"/>
            <a:ext cx="1097280" cy="54864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0">
                <a:solidFill>
                  <a:srgbClr val="DDDDDD"/>
                </a:solidFill>
                <a:latin typeface="Yu Gothic"/>
              </a:rPr>
              <a:t>越境の力で、分断された銅の循環をつなぎ、</a:t>
            </a:r>
          </a:p>
          <a:p>
            <a:pPr algn="l">
              <a:spcBef>
                <a:spcPts val="600"/>
              </a:spcBef>
            </a:pPr>
            <a:r>
              <a:rPr sz="2200" b="0">
                <a:solidFill>
                  <a:srgbClr val="DDDDDD"/>
                </a:solidFill>
                <a:latin typeface="Yu Gothic"/>
              </a:rPr>
              <a:t>未来のめぐりを描く。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円の活動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採用を「線」から「円」へ。選考のあとも、つながり続ける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出典：学生管理シート（27卒中心）の集計、visions資料。円の考え方は当方の提案（案）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530352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595959"/>
                </a:solidFill>
                <a:latin typeface="Yu Gothic"/>
              </a:rPr>
              <a:t>通常の採用活動（線）：企業待ち型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926080" cy="38404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A2A24"/>
                </a:solidFill>
                <a:latin typeface="Yu Gothic"/>
              </a:rPr>
              <a:t>興味・応募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2926080" cy="38404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A2A24"/>
                </a:solidFill>
                <a:latin typeface="Yu Gothic"/>
              </a:rPr>
              <a:t>カジュアル面談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2926080" cy="38404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A2A24"/>
                </a:solidFill>
                <a:latin typeface="Yu Gothic"/>
              </a:rPr>
              <a:t>書類選考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06040"/>
            <a:ext cx="2926080" cy="38404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A2A24"/>
                </a:solidFill>
                <a:latin typeface="Yu Gothic"/>
              </a:rPr>
              <a:t>面接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63240"/>
            <a:ext cx="2926080" cy="38404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A2A24"/>
                </a:solidFill>
                <a:latin typeface="Yu Gothic"/>
              </a:rPr>
              <a:t>内定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20440"/>
            <a:ext cx="2926080" cy="38404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A2A24"/>
                </a:solidFill>
                <a:latin typeface="Yu Gothic"/>
              </a:rPr>
              <a:t>入社決定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234440"/>
            <a:ext cx="2286000" cy="1463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Yu Gothic"/>
              </a:rPr>
              <a:t>選考が終わると</a:t>
            </a:r>
          </a:p>
          <a:p>
            <a:pPr algn="ctr"/>
            <a:r>
              <a:rPr sz="1300" b="1">
                <a:solidFill>
                  <a:srgbClr val="333333"/>
                </a:solidFill>
                <a:latin typeface="Yu Gothic"/>
              </a:rPr>
              <a:t>接点が消える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06240"/>
            <a:ext cx="5303520" cy="182880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251960"/>
            <a:ext cx="5303520" cy="173736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清峰の現状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学生管理シート24名のうち、12名がエントリー段階で止まっている</a:t>
            </a:r>
          </a:p>
          <a:p>
            <a:pPr algn="l">
              <a:spcBef>
                <a:spcPts val="400"/>
              </a:spcBef>
            </a:pPr>
            <a:r>
              <a:rPr sz="1250" b="1">
                <a:solidFill>
                  <a:srgbClr val="333333"/>
                </a:solidFill>
                <a:latin typeface="Yu Gothic"/>
              </a:rPr>
              <a:t>→ 年次に関係なく、仲間として関わり続ける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79" y="868680"/>
            <a:ext cx="5303520" cy="5303520"/>
          </a:xfrm>
          <a:prstGeom prst="ellipse">
            <a:avLst/>
          </a:prstGeom>
          <a:solidFill>
            <a:srgbClr val="FDF0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1417320"/>
            <a:ext cx="4206240" cy="4206240"/>
          </a:xfrm>
          <a:prstGeom prst="ellipse">
            <a:avLst/>
          </a:prstGeom>
          <a:solidFill>
            <a:srgbClr val="FBE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59" y="1965960"/>
            <a:ext cx="3108960" cy="3108960"/>
          </a:xfrm>
          <a:prstGeom prst="ellipse">
            <a:avLst/>
          </a:prstGeom>
          <a:solidFill>
            <a:srgbClr val="F9C8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2514600"/>
            <a:ext cx="2011680" cy="2011680"/>
          </a:xfrm>
          <a:prstGeom prst="ellipse">
            <a:avLst/>
          </a:prstGeom>
          <a:solidFill>
            <a:srgbClr val="F59E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914400"/>
            <a:ext cx="25603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1">
                <a:solidFill>
                  <a:srgbClr val="3A2A24"/>
                </a:solidFill>
                <a:latin typeface="Yu Gothic"/>
              </a:rPr>
              <a:t>認知層</a:t>
            </a:r>
          </a:p>
          <a:p>
            <a:pPr algn="ctr"/>
            <a:r>
              <a:rPr sz="900" b="0">
                <a:solidFill>
                  <a:srgbClr val="3A2A24"/>
                </a:solidFill>
                <a:latin typeface="Yu Gothic"/>
              </a:rPr>
              <a:t>清峰・銅めぐりを知る人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1463040"/>
            <a:ext cx="25603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1">
                <a:solidFill>
                  <a:srgbClr val="3A2A24"/>
                </a:solidFill>
                <a:latin typeface="Yu Gothic"/>
              </a:rPr>
              <a:t>関心層</a:t>
            </a:r>
          </a:p>
          <a:p>
            <a:pPr algn="ctr"/>
            <a:r>
              <a:rPr sz="900" b="0">
                <a:solidFill>
                  <a:srgbClr val="3A2A24"/>
                </a:solidFill>
                <a:latin typeface="Yu Gothic"/>
              </a:rPr>
              <a:t>発信をよく見ている人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011680"/>
            <a:ext cx="25603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1">
                <a:solidFill>
                  <a:srgbClr val="3A2A24"/>
                </a:solidFill>
                <a:latin typeface="Yu Gothic"/>
              </a:rPr>
              <a:t>ファン層</a:t>
            </a:r>
          </a:p>
          <a:p>
            <a:pPr algn="ctr"/>
            <a:r>
              <a:rPr sz="900" b="0">
                <a:solidFill>
                  <a:srgbClr val="3A2A24"/>
                </a:solidFill>
                <a:latin typeface="Yu Gothic"/>
              </a:rPr>
              <a:t>周囲に清峰を勧める人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560320"/>
            <a:ext cx="25603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1">
                <a:solidFill>
                  <a:srgbClr val="3A2A24"/>
                </a:solidFill>
                <a:latin typeface="Yu Gothic"/>
              </a:rPr>
              <a:t>実践層</a:t>
            </a:r>
          </a:p>
          <a:p>
            <a:pPr algn="ctr"/>
            <a:r>
              <a:rPr sz="900" b="0">
                <a:solidFill>
                  <a:srgbClr val="3A2A24"/>
                </a:solidFill>
                <a:latin typeface="Yu Gothic"/>
              </a:rPr>
              <a:t>ISで挑戦を実践する人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19" y="3017520"/>
            <a:ext cx="1005840" cy="1005840"/>
          </a:xfrm>
          <a:prstGeom prst="ellipse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19" y="3017520"/>
            <a:ext cx="1005840" cy="10058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清峰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Yu Gothic"/>
              </a:rPr>
              <a:t>社員・内定者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6080760"/>
            <a:ext cx="59436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1000" b="0">
                <a:solidFill>
                  <a:srgbClr val="7A6E66"/>
                </a:solidFill>
                <a:latin typeface="Yu Gothic"/>
              </a:rPr>
              <a:t>白い点は、選考（応募〜入社）の出入口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44354" y="2915624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51307" y="2670047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35155" y="4978151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ミッション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分断された銅の循環を、つなぐ土地になる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出典：議事録の企画（同業者が一堂に会する）を延長した構想。PHASE1が2026年度の象徴IS。PHASE2・3は想定で、連携先・時期は未定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3749039" cy="5212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3749039" cy="36576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800" b="1">
                <a:solidFill>
                  <a:srgbClr val="FF5D3B"/>
                </a:solidFill>
                <a:latin typeface="Yu Gothic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3749039" cy="32004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Yu Gothic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3749039" cy="91440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象徴IS「銅タイムトラベル（仮）」を開催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43200"/>
            <a:ext cx="3749039" cy="182880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・工場を歩いて学ぶ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・次の一手を学生が決める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・座談会で暮らしを知る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846320"/>
            <a:ext cx="3474720" cy="100584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3474720" cy="10058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Yu Gothic"/>
              </a:rPr>
              <a:t>つながる相手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学生　／　清峰の社員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822960"/>
            <a:ext cx="3749039" cy="5212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868680"/>
            <a:ext cx="3749039" cy="36576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800" b="1">
                <a:solidFill>
                  <a:srgbClr val="FF5D3B"/>
                </a:solidFill>
                <a:latin typeface="Yu Gothic"/>
              </a:rPr>
              <a:t>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280160"/>
            <a:ext cx="3749039" cy="32004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Yu Gothic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645920"/>
            <a:ext cx="3749039" cy="91440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同業者・周辺大学と連動する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743200"/>
            <a:ext cx="3749039" cy="182880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・産廃・加工・精錬が一堂に会する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・周辺大学と共同開催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・採用を超えた仲間づくり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4846320"/>
            <a:ext cx="3474720" cy="100584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4846320"/>
            <a:ext cx="3474720" cy="10058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Yu Gothic"/>
              </a:rPr>
              <a:t>つながる相手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同業者　／　周辺大学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822960"/>
            <a:ext cx="3749039" cy="5212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868680"/>
            <a:ext cx="3749039" cy="36576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800" b="1">
                <a:solidFill>
                  <a:srgbClr val="FF5D3B"/>
                </a:solidFill>
                <a:latin typeface="Yu Gothic"/>
              </a:rPr>
              <a:t>2028〜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1280160"/>
            <a:ext cx="3749039" cy="32004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Yu Gothic"/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1645920"/>
            <a:ext cx="3749039" cy="91440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産官学で、銅の循環を動かす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743200"/>
            <a:ext cx="3749039" cy="182880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・産官学が同じ円に入る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・循環の物語を共有する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・土地のブランドを発信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80" y="4846320"/>
            <a:ext cx="3474720" cy="100584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4846320"/>
            <a:ext cx="3474720" cy="10058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Yu Gothic"/>
              </a:rPr>
              <a:t>つながる相手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自治体・県　／　産官学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産官学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産官学の円で、銅のめぐりを、みんなの物語にする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出典：構想段階。連携先・時期は未定。同業者の範囲は、企画スライド（産廃・加工・精錬）より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377440"/>
            <a:ext cx="3017520" cy="2011680"/>
          </a:xfrm>
          <a:prstGeom prst="ellipse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377440"/>
            <a:ext cx="3017520" cy="20116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清峰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Yu Gothic"/>
              </a:rPr>
              <a:t>つくば工場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731520"/>
            <a:ext cx="2834640" cy="1371600"/>
          </a:xfrm>
          <a:prstGeom prst="ellipse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731520"/>
            <a:ext cx="2834640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1">
                <a:solidFill>
                  <a:srgbClr val="3A2A24"/>
                </a:solidFill>
                <a:latin typeface="Yu Gothic"/>
              </a:rPr>
              <a:t>官</a:t>
            </a:r>
          </a:p>
          <a:p>
            <a:pPr algn="ctr"/>
            <a:r>
              <a:rPr sz="1100" b="0">
                <a:solidFill>
                  <a:srgbClr val="3A2A24"/>
                </a:solidFill>
                <a:latin typeface="Yu Gothic"/>
              </a:rPr>
              <a:t>自治体・県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2743200"/>
            <a:ext cx="2926080" cy="1371600"/>
          </a:xfrm>
          <a:prstGeom prst="ellipse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43200"/>
            <a:ext cx="2926080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1">
                <a:solidFill>
                  <a:srgbClr val="3A2A24"/>
                </a:solidFill>
                <a:latin typeface="Yu Gothic"/>
              </a:rPr>
              <a:t>学</a:t>
            </a:r>
          </a:p>
          <a:p>
            <a:pPr algn="ctr"/>
            <a:r>
              <a:rPr sz="1100" b="0">
                <a:solidFill>
                  <a:srgbClr val="3A2A24"/>
                </a:solidFill>
                <a:latin typeface="Yu Gothic"/>
              </a:rPr>
              <a:t>周辺大学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743200"/>
            <a:ext cx="3108960" cy="1371600"/>
          </a:xfrm>
          <a:prstGeom prst="ellipse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743200"/>
            <a:ext cx="3108960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1">
                <a:solidFill>
                  <a:srgbClr val="3A2A24"/>
                </a:solidFill>
                <a:latin typeface="Yu Gothic"/>
              </a:rPr>
              <a:t>産</a:t>
            </a:r>
          </a:p>
          <a:p>
            <a:pPr algn="ctr"/>
            <a:r>
              <a:rPr sz="1100" b="0">
                <a:solidFill>
                  <a:srgbClr val="3A2A24"/>
                </a:solidFill>
                <a:latin typeface="Yu Gothic"/>
              </a:rPr>
              <a:t>精錬所・回収業者・加工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4663440"/>
            <a:ext cx="2834640" cy="1371600"/>
          </a:xfrm>
          <a:prstGeom prst="ellipse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4663440"/>
            <a:ext cx="2834640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1">
                <a:solidFill>
                  <a:srgbClr val="3A2A24"/>
                </a:solidFill>
                <a:latin typeface="Yu Gothic"/>
              </a:rPr>
              <a:t>学生</a:t>
            </a:r>
          </a:p>
          <a:p>
            <a:pPr algn="ctr"/>
            <a:r>
              <a:rPr sz="1100" b="0">
                <a:solidFill>
                  <a:srgbClr val="3A2A24"/>
                </a:solidFill>
                <a:latin typeface="Yu Gothic"/>
              </a:rPr>
              <a:t>ぐるぐる人材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Yu Gothic"/>
              </a:rPr>
              <a:t>分断された銅の循環を、産官学でつなぐ。それが、清峰のコーポレートブランディング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07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サムネイルとイベント名（仮案）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出典：サムネは当方の案。「あと40年」は確認埋蔵量ベースの表現に直す必要があり、出典確認が必要。イベント名・日程は仮</a:t>
            </a:r>
          </a:p>
        </p:txBody>
      </p:sp>
      <p:pic>
        <p:nvPicPr>
          <p:cNvPr id="6" name="Picture 5" descr="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3657600" cy="2057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3108960"/>
            <a:ext cx="36576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案A　大航海</a:t>
            </a:r>
          </a:p>
        </p:txBody>
      </p:sp>
      <p:pic>
        <p:nvPicPr>
          <p:cNvPr id="8" name="Picture 7" descr="t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914400"/>
            <a:ext cx="3657600" cy="2057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0" y="3108960"/>
            <a:ext cx="36576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案B　冒険</a:t>
            </a:r>
          </a:p>
        </p:txBody>
      </p:sp>
      <p:pic>
        <p:nvPicPr>
          <p:cNvPr id="10" name="Picture 9" descr="t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914400"/>
            <a:ext cx="3657600" cy="2057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20" y="3108960"/>
            <a:ext cx="36576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案C　静かな問い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49039"/>
            <a:ext cx="11430000" cy="2286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94760"/>
            <a:ext cx="11430000" cy="411480"/>
          </a:xfrm>
          <a:prstGeom prst="rect">
            <a:avLst/>
          </a:prstGeom>
          <a:noFill/>
        </p:spPr>
        <p:txBody>
          <a:bodyPr wrap="square" anchor="t" lIns="182880" rIns="182880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Yu Gothic"/>
              </a:rPr>
              <a:t>イベント名（仮）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51960"/>
            <a:ext cx="11430000" cy="1737360"/>
          </a:xfrm>
          <a:prstGeom prst="rect">
            <a:avLst/>
          </a:prstGeom>
          <a:noFill/>
        </p:spPr>
        <p:txBody>
          <a:bodyPr wrap="square" anchor="t" lIns="182880" rIns="182880">
            <a:spAutoFit/>
          </a:bodyPr>
          <a:lstStyle/>
          <a:p>
            <a:pPr algn="l">
              <a:spcBef>
                <a:spcPts val="6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・銅めぐりトラベラー（銅タイムトラベラー）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・銅めぐりインターンシップ（仮）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・副題：銅の歴史を体験し、未来のめぐりを経営する1day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3600" b="1">
                <a:solidFill>
                  <a:srgbClr val="FF5D3B"/>
                </a:solidFill>
                <a:latin typeface="Yu Gothic"/>
              </a:rPr>
              <a:t>Mission in 1day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2743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400" b="1">
                <a:solidFill>
                  <a:srgbClr val="333333"/>
                </a:solidFill>
                <a:latin typeface="Yu Gothic"/>
              </a:rPr>
              <a:t>工場に残る</a:t>
            </a:r>
          </a:p>
          <a:p>
            <a:pPr algn="l">
              <a:spcBef>
                <a:spcPts val="800"/>
              </a:spcBef>
            </a:pPr>
            <a:r>
              <a:rPr sz="3400" b="1">
                <a:solidFill>
                  <a:srgbClr val="333333"/>
                </a:solidFill>
                <a:latin typeface="Yu Gothic"/>
              </a:rPr>
              <a:t>銅の歴史を追体験し、</a:t>
            </a:r>
          </a:p>
          <a:p>
            <a:pPr algn="l">
              <a:spcBef>
                <a:spcPts val="800"/>
              </a:spcBef>
            </a:pPr>
            <a:r>
              <a:rPr sz="3400" b="1">
                <a:solidFill>
                  <a:srgbClr val="333333"/>
                </a:solidFill>
                <a:latin typeface="Yu Gothic"/>
              </a:rPr>
              <a:t>未来のめぐりを、経営せよ。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7A6E66"/>
                </a:solidFill>
                <a:latin typeface="Yu Gothic"/>
              </a:rPr>
              <a:t>※ミッションの文言は案。1日の中で、3つのミッションを順に進める。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象徴ISのポイントは、3つ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出典：※当日のタイムテーブル（イントロ→原料・インゴット→関係者→昼食→熱処理・品質・未来→最終ミッション→座談会）より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960120"/>
            <a:ext cx="914400" cy="914400"/>
          </a:xfrm>
          <a:prstGeom prst="ellipse">
            <a:avLst/>
          </a:prstGeom>
          <a:noFill/>
          <a:ln w="63500">
            <a:solidFill>
              <a:srgbClr val="F8C9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914400" cy="9144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200" b="0">
                <a:solidFill>
                  <a:srgbClr val="FF5D3B"/>
                </a:solidFill>
                <a:latin typeface="Yu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868680"/>
            <a:ext cx="987552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Yu Gothic"/>
              </a:rPr>
              <a:t>実際に工場を体感することで、記憶を残す。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35607"/>
            <a:ext cx="98755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FF5D3B"/>
                </a:solidFill>
                <a:latin typeface="Yu Gothic"/>
              </a:rPr>
              <a:t>午前｜原料 → インゴット → 熱処理・品質 → 守衛所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764792"/>
            <a:ext cx="987552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巨大な地図を見ながら、現場を歩く。謎を解いて、道具カードを集める（オリエンテーリング形式）。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43200"/>
            <a:ext cx="914400" cy="914400"/>
          </a:xfrm>
          <a:prstGeom prst="ellipse">
            <a:avLst/>
          </a:prstGeom>
          <a:noFill/>
          <a:ln w="63500">
            <a:solidFill>
              <a:srgbClr val="F8C9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914400" cy="9144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200" b="0">
                <a:solidFill>
                  <a:srgbClr val="FF5D3B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51760"/>
            <a:ext cx="987552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Yu Gothic"/>
              </a:rPr>
              <a:t>歴史に学び、未来のめぐりを自ら経営してみる。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18688"/>
            <a:ext cx="98755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FF5D3B"/>
                </a:solidFill>
                <a:latin typeface="Yu Gothic"/>
              </a:rPr>
              <a:t>午後｜最終ミッション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547872"/>
            <a:ext cx="987552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清峰だけでなく、銅の歴史と循環を学び、危機のあとの「逆転」から、次の一手を決める。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526279"/>
            <a:ext cx="914400" cy="914400"/>
          </a:xfrm>
          <a:prstGeom prst="ellipse">
            <a:avLst/>
          </a:prstGeom>
          <a:noFill/>
          <a:ln w="63500">
            <a:solidFill>
              <a:srgbClr val="F8C9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26279"/>
            <a:ext cx="914400" cy="9144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200" b="0">
                <a:solidFill>
                  <a:srgbClr val="FF5D3B"/>
                </a:solidFill>
                <a:latin typeface="Yu Gothi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434840"/>
            <a:ext cx="987552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Yu Gothic"/>
              </a:rPr>
              <a:t>メンターからのFBとあわせて、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001768"/>
            <a:ext cx="98755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FF5D3B"/>
                </a:solidFill>
                <a:latin typeface="Yu Gothic"/>
              </a:rPr>
              <a:t>昼食・案内・座談会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330952"/>
            <a:ext cx="987552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社員と同じ時間を過ごし、実際の清峰の判断と比べ、本音を聞く。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学生が得られることは、3つ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出典：※効果は、事前・事後アンケート（循環の見方・将来性の実感）で確かめる。実施後に検証が必要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960120"/>
            <a:ext cx="914400" cy="914400"/>
          </a:xfrm>
          <a:prstGeom prst="ellipse">
            <a:avLst/>
          </a:prstGeom>
          <a:noFill/>
          <a:ln w="63500">
            <a:solidFill>
              <a:srgbClr val="F8C9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914400" cy="9144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200" b="0">
                <a:solidFill>
                  <a:srgbClr val="FF5D3B"/>
                </a:solidFill>
                <a:latin typeface="Yu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868680"/>
            <a:ext cx="987552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Yu Gothic"/>
              </a:rPr>
              <a:t>価値と将来性を、自分の言葉で語れる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35607"/>
            <a:ext cx="98755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FF5D3B"/>
                </a:solidFill>
                <a:latin typeface="Yu Gothic"/>
              </a:rPr>
              <a:t>素材・非鉄金属産業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764792"/>
            <a:ext cx="987552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銅は有限で、めぐらせることに価値がある。危機のたびに技術が生まれた歴史を知り、将来性を自分の根拠で話せる。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43200"/>
            <a:ext cx="914400" cy="914400"/>
          </a:xfrm>
          <a:prstGeom prst="ellipse">
            <a:avLst/>
          </a:prstGeom>
          <a:noFill/>
          <a:ln w="63500">
            <a:solidFill>
              <a:srgbClr val="F8C9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914400" cy="9144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200" b="0">
                <a:solidFill>
                  <a:srgbClr val="FF5D3B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51760"/>
            <a:ext cx="987552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Yu Gothic"/>
              </a:rPr>
              <a:t>自分の専門の行き先が、分かる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18688"/>
            <a:ext cx="98755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FF5D3B"/>
                </a:solidFill>
                <a:latin typeface="Yu Gothic"/>
              </a:rPr>
              <a:t>理工系・機電系の仕事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547872"/>
            <a:ext cx="987552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素材から部品、製品、暮らしまでのつながりを見て、職種の関わりを社員に聞ける。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526279"/>
            <a:ext cx="914400" cy="914400"/>
          </a:xfrm>
          <a:prstGeom prst="ellipse">
            <a:avLst/>
          </a:prstGeom>
          <a:noFill/>
          <a:ln w="63500">
            <a:solidFill>
              <a:srgbClr val="F8C9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26279"/>
            <a:ext cx="914400" cy="9144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200" b="0">
                <a:solidFill>
                  <a:srgbClr val="FF5D3B"/>
                </a:solidFill>
                <a:latin typeface="Yu Gothi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434840"/>
            <a:ext cx="987552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Yu Gothic"/>
              </a:rPr>
              <a:t>選んで決める経験と、暮らしの実感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001768"/>
            <a:ext cx="98755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FF5D3B"/>
                </a:solidFill>
                <a:latin typeface="Yu Gothic"/>
              </a:rPr>
              <a:t>判断・つくばの暮らし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330952"/>
            <a:ext cx="987552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予算と危機の中で方針を選ぶ。座談会で、暮らしや働き方の不安を社員の言葉で確かめる。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Recruit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集客施策：象徴ISに、どこから集めるか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出典：学生管理シート、年間目標・実数、企画スライド。連携先・時期は未確定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11430000" cy="5440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512064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1">
                <a:solidFill>
                  <a:srgbClr val="3A2A24"/>
                </a:solidFill>
                <a:latin typeface="Yu Gothic"/>
              </a:rPr>
              <a:t>28卒のエントリー学生・27卒の接点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960120"/>
            <a:ext cx="585216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400" b="1">
                <a:solidFill>
                  <a:srgbClr val="FF5D3B"/>
                </a:solidFill>
                <a:latin typeface="Yu Gothic"/>
              </a:rPr>
              <a:t>すでに接点あり ➡ 公開後すぐに案内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27048"/>
            <a:ext cx="512064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1">
                <a:solidFill>
                  <a:srgbClr val="3A2A24"/>
                </a:solidFill>
                <a:latin typeface="Yu Gothic"/>
              </a:rPr>
              <a:t>visions college（ライブ参加者）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527048"/>
            <a:ext cx="585216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400" b="1">
                <a:solidFill>
                  <a:srgbClr val="FF5D3B"/>
                </a:solidFill>
                <a:latin typeface="Yu Gothic"/>
              </a:rPr>
              <a:t>チケットを配布 ➡ 当日の初期アイテム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93976"/>
            <a:ext cx="512064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1">
                <a:solidFill>
                  <a:srgbClr val="3A2A24"/>
                </a:solidFill>
                <a:latin typeface="Yu Gothic"/>
              </a:rPr>
              <a:t>visionsのリストアップ（28卒）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93976"/>
            <a:ext cx="585216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400" b="1">
                <a:solidFill>
                  <a:srgbClr val="FF5D3B"/>
                </a:solidFill>
                <a:latin typeface="Yu Gothic"/>
              </a:rPr>
              <a:t>10月30名 → 12月50名に、個別オファー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60904"/>
            <a:ext cx="512064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1">
                <a:solidFill>
                  <a:srgbClr val="3A2A24"/>
                </a:solidFill>
                <a:latin typeface="Yu Gothic"/>
              </a:rPr>
              <a:t>SNS・Instagram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660904"/>
            <a:ext cx="585216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400" b="1">
                <a:solidFill>
                  <a:srgbClr val="FF5D3B"/>
                </a:solidFill>
                <a:latin typeface="Yu Gothic"/>
              </a:rPr>
              <a:t>公開後に掲載（予算次第）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27832"/>
            <a:ext cx="512064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1">
                <a:solidFill>
                  <a:srgbClr val="3A2A24"/>
                </a:solidFill>
                <a:latin typeface="Yu Gothic"/>
              </a:rPr>
              <a:t>大学への訪問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227832"/>
            <a:ext cx="585216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400" b="1">
                <a:solidFill>
                  <a:srgbClr val="FF5D3B"/>
                </a:solidFill>
                <a:latin typeface="Yu Gothic"/>
              </a:rPr>
              <a:t>筑波大・茨城大・群馬大・宇都宮大・福島大ほか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94760"/>
            <a:ext cx="512064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1">
                <a:solidFill>
                  <a:srgbClr val="3A2A24"/>
                </a:solidFill>
                <a:latin typeface="Yu Gothic"/>
              </a:rPr>
              <a:t>先生・研究室へのご案内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794760"/>
            <a:ext cx="585216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400" b="1">
                <a:solidFill>
                  <a:srgbClr val="FF5D3B"/>
                </a:solidFill>
                <a:latin typeface="Yu Gothic"/>
              </a:rPr>
              <a:t>環境・資源・材料系の研究室へ、チラシと呼びかけ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61688"/>
            <a:ext cx="512064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1">
                <a:solidFill>
                  <a:srgbClr val="3A2A24"/>
                </a:solidFill>
                <a:latin typeface="Yu Gothic"/>
              </a:rPr>
              <a:t>オンライン事前イベント（2回）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4361688"/>
            <a:ext cx="585216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400" b="1">
                <a:solidFill>
                  <a:srgbClr val="FF5D3B"/>
                </a:solidFill>
                <a:latin typeface="Yu Gothic"/>
              </a:rPr>
              <a:t>当日の前に、銅の循環マップと不安の書き出しを共有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28616"/>
            <a:ext cx="512064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1">
                <a:solidFill>
                  <a:srgbClr val="3A2A24"/>
                </a:solidFill>
                <a:latin typeface="Yu Gothic"/>
              </a:rPr>
              <a:t>OfferBox・マイナビなどの媒体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4928616"/>
            <a:ext cx="585216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400" b="1">
                <a:solidFill>
                  <a:srgbClr val="FF5D3B"/>
                </a:solidFill>
                <a:latin typeface="Yu Gothic"/>
              </a:rPr>
              <a:t>イベントページを掲載（既存の接点を活用）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95544"/>
            <a:ext cx="512064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1">
                <a:solidFill>
                  <a:srgbClr val="3A2A24"/>
                </a:solidFill>
                <a:latin typeface="Yu Gothic"/>
              </a:rPr>
              <a:t>参加者・社員からの紹介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5495544"/>
            <a:ext cx="585216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400" b="1">
                <a:solidFill>
                  <a:srgbClr val="FF5D3B"/>
                </a:solidFill>
                <a:latin typeface="Yu Gothic"/>
              </a:rPr>
              <a:t>座談会の参加者に、友人を誘ってもらう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