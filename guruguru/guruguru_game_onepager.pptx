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ゲーム1枚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めぐる発電所（仮）：全体像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出典：ゲーム設計は当方の提案（案）。数値は架空で、実データを使う場合は出典確認が必要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31520"/>
            <a:ext cx="3749039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3749039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発電所をつくり、街の電力を約42年支える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731520"/>
            <a:ext cx="3749039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749808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制約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097280"/>
            <a:ext cx="3749039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銅は世界で共有。尽きれば誰も建てられない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731520"/>
            <a:ext cx="3749039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749808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097280"/>
            <a:ext cx="3749039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供給量の数字と、街の暮らしの変化が返ってくる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874519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1ラウンド＝約7年 × 6ラウンド　（下段は4つの分析）</a:t>
            </a:r>
          </a:p>
        </p:txBody>
      </p:sp>
      <p:sp>
        <p:nvSpPr>
          <p:cNvPr id="16" name="Pentagon 15"/>
          <p:cNvSpPr/>
          <p:nvPr/>
        </p:nvSpPr>
        <p:spPr>
          <a:xfrm>
            <a:off x="365760" y="2240280"/>
            <a:ext cx="2377440" cy="640080"/>
          </a:xfrm>
          <a:prstGeom prst="homePlate">
            <a:avLst/>
          </a:prstGeom>
          <a:solidFill>
            <a:srgbClr val="F9ECE6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3A2A24"/>
                </a:solidFill>
                <a:latin typeface="Yu Gothic"/>
              </a:rPr>
              <a:t>① 市場　価格・需要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201168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Yu Gothic"/>
              </a:rPr>
              <a:t>見る</a:t>
            </a:r>
          </a:p>
        </p:txBody>
      </p:sp>
      <p:sp>
        <p:nvSpPr>
          <p:cNvPr id="18" name="Chevron 17"/>
          <p:cNvSpPr/>
          <p:nvPr/>
        </p:nvSpPr>
        <p:spPr>
          <a:xfrm>
            <a:off x="2651760" y="2240280"/>
            <a:ext cx="2377440" cy="640080"/>
          </a:xfrm>
          <a:prstGeom prst="chevron">
            <a:avLst/>
          </a:prstGeom>
          <a:solidFill>
            <a:srgbClr val="F9ECE6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3A2A24"/>
                </a:solidFill>
                <a:latin typeface="Yu Gothic"/>
              </a:rPr>
              <a:t>② 調達　入札・交渉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880360"/>
            <a:ext cx="201168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Yu Gothic"/>
              </a:rPr>
              <a:t>読む</a:t>
            </a:r>
          </a:p>
        </p:txBody>
      </p:sp>
      <p:sp>
        <p:nvSpPr>
          <p:cNvPr id="20" name="Chevron 19"/>
          <p:cNvSpPr/>
          <p:nvPr/>
        </p:nvSpPr>
        <p:spPr>
          <a:xfrm>
            <a:off x="4937760" y="2240280"/>
            <a:ext cx="2377440" cy="640080"/>
          </a:xfrm>
          <a:prstGeom prst="chevron">
            <a:avLst/>
          </a:prstGeom>
          <a:solidFill>
            <a:srgbClr val="F9ECE6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3A2A24"/>
                </a:solidFill>
                <a:latin typeface="Yu Gothic"/>
              </a:rPr>
              <a:t>③ 建設　建てる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880360"/>
            <a:ext cx="201168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Yu Gothic"/>
              </a:rPr>
              <a:t>測る</a:t>
            </a:r>
          </a:p>
        </p:txBody>
      </p:sp>
      <p:sp>
        <p:nvSpPr>
          <p:cNvPr id="22" name="Chevron 21"/>
          <p:cNvSpPr/>
          <p:nvPr/>
        </p:nvSpPr>
        <p:spPr>
          <a:xfrm>
            <a:off x="7223760" y="2240280"/>
            <a:ext cx="2377440" cy="640080"/>
          </a:xfrm>
          <a:prstGeom prst="chevron">
            <a:avLst/>
          </a:prstGeom>
          <a:solidFill>
            <a:srgbClr val="FF5D3B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④ 課題　難題が降る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880360"/>
            <a:ext cx="201168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Yu Gothic"/>
              </a:rPr>
              <a:t>動かす</a:t>
            </a:r>
          </a:p>
        </p:txBody>
      </p:sp>
      <p:sp>
        <p:nvSpPr>
          <p:cNvPr id="24" name="Chevron 23"/>
          <p:cNvSpPr/>
          <p:nvPr/>
        </p:nvSpPr>
        <p:spPr>
          <a:xfrm>
            <a:off x="9509760" y="2240280"/>
            <a:ext cx="2377440" cy="640080"/>
          </a:xfrm>
          <a:prstGeom prst="chevron">
            <a:avLst/>
          </a:prstGeom>
          <a:solidFill>
            <a:srgbClr val="F9ECE6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3A2A24"/>
                </a:solidFill>
                <a:latin typeface="Yu Gothic"/>
              </a:rPr>
              <a:t>⑤ 決算　供給を計算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880360"/>
            <a:ext cx="201168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Yu Gothic"/>
              </a:rPr>
              <a:t>測る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91840"/>
            <a:ext cx="3749039" cy="2926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319272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チームと、難しい経営課題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703320"/>
            <a:ext cx="3749039" cy="2514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役割：社長／財務／運用／社会（目標が対立）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銅価格が2倍に → 止める？借りる？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回収業者が撤退 → 自前？共同？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ベテランが退職 → 継ぐ？自動化？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（全8種のジレンマ）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291840"/>
            <a:ext cx="3749039" cy="2926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3319272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オリエンテーリング（工場）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3703320"/>
            <a:ext cx="3749039" cy="2514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CP1 原材料：スクラップを見分ける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CP2 インゴット：成分を配合する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CP3 圧延：結晶構造を照合する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CP4 品質：社員に取材する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CP5 守衛所：スクラップを量る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CP6 自由：もったいない撮影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291840"/>
            <a:ext cx="3749039" cy="2926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3319272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結果：街の姿 A〜D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703320"/>
            <a:ext cx="3749039" cy="2514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A 供給100％以上：夜も明るい街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B 100％前後：安定だが暮らしは重い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C 80％台：計画停電が続く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D 80％未満：暮らしが昔に戻る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A2A24"/>
                </a:solidFill>
                <a:latin typeface="Yu Gothic"/>
              </a:rPr>
              <a:t>最後に「世界の銅が尽きた年」を発表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