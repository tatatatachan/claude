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59636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共育実習の共創モデル。学校（高校・専門学校・大学）とエフビー側（エフビー介護サービス・社員・地域）がそれぞれ得る価値を示す。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596365"/>
          </a:xfrm>
          <a:prstGeom prst="rect">
            <a:avLst/>
          </a:prstGeom>
          <a:solidFill>
            <a:srgbClr val="E4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ヘッダー帯"/>
          <p:cNvSpPr/>
          <p:nvPr/>
        </p:nvSpPr>
        <p:spPr>
          <a:xfrm>
            <a:off x="0" y="0"/>
            <a:ext cx="12192000" cy="1124506"/>
          </a:xfrm>
          <a:custGeom>
            <a:avLst/>
            <a:gdLst/>
            <a:ahLst/>
            <a:cxnLst/>
            <a:rect l="l" t="t" r="r" b="b"/>
            <a:pathLst>
              <a:path w="12192000" h="1124506">
                <a:moveTo>
                  <a:pt x="0" y="0"/>
                </a:moveTo>
                <a:lnTo>
                  <a:pt x="12192000" y="0"/>
                </a:lnTo>
                <a:lnTo>
                  <a:pt x="12192000" y="930256"/>
                </a:lnTo>
                <a:lnTo>
                  <a:pt x="12192000" y="930256"/>
                </a:lnTo>
                <a:lnTo>
                  <a:pt x="12141200" y="926860"/>
                </a:lnTo>
                <a:lnTo>
                  <a:pt x="12090400" y="923467"/>
                </a:lnTo>
                <a:lnTo>
                  <a:pt x="12039600" y="920078"/>
                </a:lnTo>
                <a:lnTo>
                  <a:pt x="11988799" y="916698"/>
                </a:lnTo>
                <a:lnTo>
                  <a:pt x="11938000" y="913327"/>
                </a:lnTo>
                <a:lnTo>
                  <a:pt x="11887200" y="909969"/>
                </a:lnTo>
                <a:lnTo>
                  <a:pt x="11836400" y="906626"/>
                </a:lnTo>
                <a:lnTo>
                  <a:pt x="11785600" y="903301"/>
                </a:lnTo>
                <a:lnTo>
                  <a:pt x="11734800" y="899995"/>
                </a:lnTo>
                <a:lnTo>
                  <a:pt x="11684000" y="896713"/>
                </a:lnTo>
                <a:lnTo>
                  <a:pt x="11633200" y="893455"/>
                </a:lnTo>
                <a:lnTo>
                  <a:pt x="11582400" y="890225"/>
                </a:lnTo>
                <a:lnTo>
                  <a:pt x="11531599" y="887024"/>
                </a:lnTo>
                <a:lnTo>
                  <a:pt x="11480800" y="883856"/>
                </a:lnTo>
                <a:lnTo>
                  <a:pt x="11430000" y="880722"/>
                </a:lnTo>
                <a:lnTo>
                  <a:pt x="11379200" y="877626"/>
                </a:lnTo>
                <a:lnTo>
                  <a:pt x="11328400" y="874568"/>
                </a:lnTo>
                <a:lnTo>
                  <a:pt x="11277600" y="871553"/>
                </a:lnTo>
                <a:lnTo>
                  <a:pt x="11226800" y="868581"/>
                </a:lnTo>
                <a:lnTo>
                  <a:pt x="11176000" y="865655"/>
                </a:lnTo>
                <a:lnTo>
                  <a:pt x="11125200" y="862778"/>
                </a:lnTo>
                <a:lnTo>
                  <a:pt x="11074400" y="859950"/>
                </a:lnTo>
                <a:lnTo>
                  <a:pt x="11023600" y="857176"/>
                </a:lnTo>
                <a:lnTo>
                  <a:pt x="10972800" y="854456"/>
                </a:lnTo>
                <a:lnTo>
                  <a:pt x="10922000" y="851793"/>
                </a:lnTo>
                <a:lnTo>
                  <a:pt x="10871200" y="849189"/>
                </a:lnTo>
                <a:lnTo>
                  <a:pt x="10820400" y="846646"/>
                </a:lnTo>
                <a:lnTo>
                  <a:pt x="10769599" y="844166"/>
                </a:lnTo>
                <a:lnTo>
                  <a:pt x="10718800" y="841750"/>
                </a:lnTo>
                <a:lnTo>
                  <a:pt x="10668000" y="839400"/>
                </a:lnTo>
                <a:lnTo>
                  <a:pt x="10617200" y="837119"/>
                </a:lnTo>
                <a:lnTo>
                  <a:pt x="10566400" y="834908"/>
                </a:lnTo>
                <a:lnTo>
                  <a:pt x="10515600" y="832769"/>
                </a:lnTo>
                <a:lnTo>
                  <a:pt x="10464800" y="830703"/>
                </a:lnTo>
                <a:lnTo>
                  <a:pt x="10414000" y="828712"/>
                </a:lnTo>
                <a:lnTo>
                  <a:pt x="10363200" y="826798"/>
                </a:lnTo>
                <a:lnTo>
                  <a:pt x="10312400" y="824962"/>
                </a:lnTo>
                <a:lnTo>
                  <a:pt x="10261600" y="823206"/>
                </a:lnTo>
                <a:lnTo>
                  <a:pt x="10210800" y="821530"/>
                </a:lnTo>
                <a:lnTo>
                  <a:pt x="10160000" y="819937"/>
                </a:lnTo>
                <a:lnTo>
                  <a:pt x="10109200" y="818428"/>
                </a:lnTo>
                <a:lnTo>
                  <a:pt x="10058400" y="817004"/>
                </a:lnTo>
                <a:lnTo>
                  <a:pt x="10007599" y="815665"/>
                </a:lnTo>
                <a:lnTo>
                  <a:pt x="9956800" y="814414"/>
                </a:lnTo>
                <a:lnTo>
                  <a:pt x="9906000" y="813251"/>
                </a:lnTo>
                <a:lnTo>
                  <a:pt x="9855200" y="812177"/>
                </a:lnTo>
                <a:lnTo>
                  <a:pt x="9804400" y="811194"/>
                </a:lnTo>
                <a:lnTo>
                  <a:pt x="9753600" y="810301"/>
                </a:lnTo>
                <a:lnTo>
                  <a:pt x="9702800" y="809501"/>
                </a:lnTo>
                <a:lnTo>
                  <a:pt x="9652000" y="808793"/>
                </a:lnTo>
                <a:lnTo>
                  <a:pt x="9601200" y="808178"/>
                </a:lnTo>
                <a:lnTo>
                  <a:pt x="9550400" y="807658"/>
                </a:lnTo>
                <a:lnTo>
                  <a:pt x="9499600" y="807231"/>
                </a:lnTo>
                <a:lnTo>
                  <a:pt x="9448800" y="806900"/>
                </a:lnTo>
                <a:lnTo>
                  <a:pt x="9398000" y="806664"/>
                </a:lnTo>
                <a:lnTo>
                  <a:pt x="9347200" y="806524"/>
                </a:lnTo>
                <a:lnTo>
                  <a:pt x="9296400" y="806480"/>
                </a:lnTo>
                <a:lnTo>
                  <a:pt x="9245599" y="806533"/>
                </a:lnTo>
                <a:lnTo>
                  <a:pt x="9194800" y="806681"/>
                </a:lnTo>
                <a:lnTo>
                  <a:pt x="9144000" y="806927"/>
                </a:lnTo>
                <a:lnTo>
                  <a:pt x="9093200" y="807269"/>
                </a:lnTo>
                <a:lnTo>
                  <a:pt x="9042400" y="807707"/>
                </a:lnTo>
                <a:lnTo>
                  <a:pt x="8991600" y="808242"/>
                </a:lnTo>
                <a:lnTo>
                  <a:pt x="8940800" y="808873"/>
                </a:lnTo>
                <a:lnTo>
                  <a:pt x="8890000" y="809601"/>
                </a:lnTo>
                <a:lnTo>
                  <a:pt x="8839200" y="810424"/>
                </a:lnTo>
                <a:lnTo>
                  <a:pt x="8788400" y="811342"/>
                </a:lnTo>
                <a:lnTo>
                  <a:pt x="8737600" y="812356"/>
                </a:lnTo>
                <a:lnTo>
                  <a:pt x="8686800" y="813464"/>
                </a:lnTo>
                <a:lnTo>
                  <a:pt x="8635999" y="814666"/>
                </a:lnTo>
                <a:lnTo>
                  <a:pt x="8585200" y="815961"/>
                </a:lnTo>
                <a:lnTo>
                  <a:pt x="8534400" y="817349"/>
                </a:lnTo>
                <a:lnTo>
                  <a:pt x="8483599" y="818829"/>
                </a:lnTo>
                <a:lnTo>
                  <a:pt x="8432800" y="820399"/>
                </a:lnTo>
                <a:lnTo>
                  <a:pt x="8382000" y="822060"/>
                </a:lnTo>
                <a:lnTo>
                  <a:pt x="8331200" y="823811"/>
                </a:lnTo>
                <a:lnTo>
                  <a:pt x="8280400" y="825649"/>
                </a:lnTo>
                <a:lnTo>
                  <a:pt x="8229600" y="827575"/>
                </a:lnTo>
                <a:lnTo>
                  <a:pt x="8178800" y="829586"/>
                </a:lnTo>
                <a:lnTo>
                  <a:pt x="8128000" y="831683"/>
                </a:lnTo>
                <a:lnTo>
                  <a:pt x="8077200" y="833863"/>
                </a:lnTo>
                <a:lnTo>
                  <a:pt x="8026400" y="836126"/>
                </a:lnTo>
                <a:lnTo>
                  <a:pt x="7975599" y="838469"/>
                </a:lnTo>
                <a:lnTo>
                  <a:pt x="7924800" y="840893"/>
                </a:lnTo>
                <a:lnTo>
                  <a:pt x="7873999" y="843394"/>
                </a:lnTo>
                <a:lnTo>
                  <a:pt x="7823199" y="845972"/>
                </a:lnTo>
                <a:lnTo>
                  <a:pt x="7772400" y="848625"/>
                </a:lnTo>
                <a:lnTo>
                  <a:pt x="7721599" y="851352"/>
                </a:lnTo>
                <a:lnTo>
                  <a:pt x="7670799" y="854150"/>
                </a:lnTo>
                <a:lnTo>
                  <a:pt x="7620000" y="857019"/>
                </a:lnTo>
                <a:lnTo>
                  <a:pt x="7569200" y="859955"/>
                </a:lnTo>
                <a:lnTo>
                  <a:pt x="7518400" y="862959"/>
                </a:lnTo>
                <a:lnTo>
                  <a:pt x="7467600" y="866026"/>
                </a:lnTo>
                <a:lnTo>
                  <a:pt x="7416800" y="869157"/>
                </a:lnTo>
                <a:lnTo>
                  <a:pt x="7366000" y="872348"/>
                </a:lnTo>
                <a:lnTo>
                  <a:pt x="7315200" y="875599"/>
                </a:lnTo>
                <a:lnTo>
                  <a:pt x="7264400" y="878906"/>
                </a:lnTo>
                <a:lnTo>
                  <a:pt x="7213600" y="882267"/>
                </a:lnTo>
                <a:lnTo>
                  <a:pt x="7162800" y="885682"/>
                </a:lnTo>
                <a:lnTo>
                  <a:pt x="7111999" y="889146"/>
                </a:lnTo>
                <a:lnTo>
                  <a:pt x="7061199" y="892659"/>
                </a:lnTo>
                <a:lnTo>
                  <a:pt x="7010399" y="896219"/>
                </a:lnTo>
                <a:lnTo>
                  <a:pt x="6959600" y="899822"/>
                </a:lnTo>
                <a:lnTo>
                  <a:pt x="6908799" y="903466"/>
                </a:lnTo>
                <a:lnTo>
                  <a:pt x="6858000" y="907150"/>
                </a:lnTo>
                <a:lnTo>
                  <a:pt x="6807200" y="910871"/>
                </a:lnTo>
                <a:lnTo>
                  <a:pt x="6756400" y="914626"/>
                </a:lnTo>
                <a:lnTo>
                  <a:pt x="6705600" y="918414"/>
                </a:lnTo>
                <a:lnTo>
                  <a:pt x="6654800" y="922232"/>
                </a:lnTo>
                <a:lnTo>
                  <a:pt x="6604000" y="926077"/>
                </a:lnTo>
                <a:lnTo>
                  <a:pt x="6553200" y="929947"/>
                </a:lnTo>
                <a:lnTo>
                  <a:pt x="6502400" y="933839"/>
                </a:lnTo>
                <a:lnTo>
                  <a:pt x="6451600" y="937752"/>
                </a:lnTo>
                <a:lnTo>
                  <a:pt x="6400800" y="941682"/>
                </a:lnTo>
                <a:lnTo>
                  <a:pt x="6349999" y="945628"/>
                </a:lnTo>
                <a:lnTo>
                  <a:pt x="6299199" y="949585"/>
                </a:lnTo>
                <a:lnTo>
                  <a:pt x="6248399" y="953554"/>
                </a:lnTo>
                <a:lnTo>
                  <a:pt x="6197600" y="957529"/>
                </a:lnTo>
                <a:lnTo>
                  <a:pt x="6146799" y="961510"/>
                </a:lnTo>
                <a:lnTo>
                  <a:pt x="6096000" y="965493"/>
                </a:lnTo>
                <a:lnTo>
                  <a:pt x="6045200" y="969476"/>
                </a:lnTo>
                <a:lnTo>
                  <a:pt x="5994400" y="973457"/>
                </a:lnTo>
                <a:lnTo>
                  <a:pt x="5943600" y="977433"/>
                </a:lnTo>
                <a:lnTo>
                  <a:pt x="5892800" y="981401"/>
                </a:lnTo>
                <a:lnTo>
                  <a:pt x="5841999" y="985359"/>
                </a:lnTo>
                <a:lnTo>
                  <a:pt x="5791200" y="989304"/>
                </a:lnTo>
                <a:lnTo>
                  <a:pt x="5740400" y="993234"/>
                </a:lnTo>
                <a:lnTo>
                  <a:pt x="5689600" y="997147"/>
                </a:lnTo>
                <a:lnTo>
                  <a:pt x="5638800" y="1001040"/>
                </a:lnTo>
                <a:lnTo>
                  <a:pt x="5588000" y="1004910"/>
                </a:lnTo>
                <a:lnTo>
                  <a:pt x="5537200" y="1008755"/>
                </a:lnTo>
                <a:lnTo>
                  <a:pt x="5486399" y="1012572"/>
                </a:lnTo>
                <a:lnTo>
                  <a:pt x="5435600" y="1016360"/>
                </a:lnTo>
                <a:lnTo>
                  <a:pt x="5384799" y="1020115"/>
                </a:lnTo>
                <a:lnTo>
                  <a:pt x="5334000" y="1023836"/>
                </a:lnTo>
                <a:lnTo>
                  <a:pt x="5283200" y="1027520"/>
                </a:lnTo>
                <a:lnTo>
                  <a:pt x="5232400" y="1031165"/>
                </a:lnTo>
                <a:lnTo>
                  <a:pt x="5181600" y="1034768"/>
                </a:lnTo>
                <a:lnTo>
                  <a:pt x="5130800" y="1038327"/>
                </a:lnTo>
                <a:lnTo>
                  <a:pt x="5079999" y="1041840"/>
                </a:lnTo>
                <a:lnTo>
                  <a:pt x="5029200" y="1045305"/>
                </a:lnTo>
                <a:lnTo>
                  <a:pt x="4978400" y="1048719"/>
                </a:lnTo>
                <a:lnTo>
                  <a:pt x="4927600" y="1052081"/>
                </a:lnTo>
                <a:lnTo>
                  <a:pt x="4876800" y="1055388"/>
                </a:lnTo>
                <a:lnTo>
                  <a:pt x="4826000" y="1058638"/>
                </a:lnTo>
                <a:lnTo>
                  <a:pt x="4775200" y="1061829"/>
                </a:lnTo>
                <a:lnTo>
                  <a:pt x="4724399" y="1064960"/>
                </a:lnTo>
                <a:lnTo>
                  <a:pt x="4673600" y="1068028"/>
                </a:lnTo>
                <a:lnTo>
                  <a:pt x="4622799" y="1071031"/>
                </a:lnTo>
                <a:lnTo>
                  <a:pt x="4572000" y="1073968"/>
                </a:lnTo>
                <a:lnTo>
                  <a:pt x="4521200" y="1076836"/>
                </a:lnTo>
                <a:lnTo>
                  <a:pt x="4470400" y="1079634"/>
                </a:lnTo>
                <a:lnTo>
                  <a:pt x="4419600" y="1082361"/>
                </a:lnTo>
                <a:lnTo>
                  <a:pt x="4368800" y="1085014"/>
                </a:lnTo>
                <a:lnTo>
                  <a:pt x="4317999" y="1087592"/>
                </a:lnTo>
                <a:lnTo>
                  <a:pt x="4267200" y="1090094"/>
                </a:lnTo>
                <a:lnTo>
                  <a:pt x="4216400" y="1092517"/>
                </a:lnTo>
                <a:lnTo>
                  <a:pt x="4165600" y="1094860"/>
                </a:lnTo>
                <a:lnTo>
                  <a:pt x="4114800" y="1097123"/>
                </a:lnTo>
                <a:lnTo>
                  <a:pt x="4064000" y="1099303"/>
                </a:lnTo>
                <a:lnTo>
                  <a:pt x="4013200" y="1101400"/>
                </a:lnTo>
                <a:lnTo>
                  <a:pt x="3962399" y="1103412"/>
                </a:lnTo>
                <a:lnTo>
                  <a:pt x="3911599" y="1105337"/>
                </a:lnTo>
                <a:lnTo>
                  <a:pt x="3860799" y="1107176"/>
                </a:lnTo>
                <a:lnTo>
                  <a:pt x="3810000" y="1108926"/>
                </a:lnTo>
                <a:lnTo>
                  <a:pt x="3759200" y="1110587"/>
                </a:lnTo>
                <a:lnTo>
                  <a:pt x="3708400" y="1112158"/>
                </a:lnTo>
                <a:lnTo>
                  <a:pt x="3657600" y="1113637"/>
                </a:lnTo>
                <a:lnTo>
                  <a:pt x="3606799" y="1115025"/>
                </a:lnTo>
                <a:lnTo>
                  <a:pt x="3555999" y="1116321"/>
                </a:lnTo>
                <a:lnTo>
                  <a:pt x="3505199" y="1117522"/>
                </a:lnTo>
                <a:lnTo>
                  <a:pt x="3454399" y="1118630"/>
                </a:lnTo>
                <a:lnTo>
                  <a:pt x="3403600" y="1119644"/>
                </a:lnTo>
                <a:lnTo>
                  <a:pt x="3352800" y="1120562"/>
                </a:lnTo>
                <a:lnTo>
                  <a:pt x="3302000" y="1121386"/>
                </a:lnTo>
                <a:lnTo>
                  <a:pt x="3251200" y="1122113"/>
                </a:lnTo>
                <a:lnTo>
                  <a:pt x="3200399" y="1122744"/>
                </a:lnTo>
                <a:lnTo>
                  <a:pt x="3149599" y="1123279"/>
                </a:lnTo>
                <a:lnTo>
                  <a:pt x="3098800" y="1123718"/>
                </a:lnTo>
                <a:lnTo>
                  <a:pt x="3048000" y="1124060"/>
                </a:lnTo>
                <a:lnTo>
                  <a:pt x="2997200" y="1124305"/>
                </a:lnTo>
                <a:lnTo>
                  <a:pt x="2946400" y="1124454"/>
                </a:lnTo>
                <a:lnTo>
                  <a:pt x="2895600" y="1124506"/>
                </a:lnTo>
                <a:lnTo>
                  <a:pt x="2844799" y="1124462"/>
                </a:lnTo>
                <a:lnTo>
                  <a:pt x="2793999" y="1124322"/>
                </a:lnTo>
                <a:lnTo>
                  <a:pt x="2743199" y="1124086"/>
                </a:lnTo>
                <a:lnTo>
                  <a:pt x="2692399" y="1123755"/>
                </a:lnTo>
                <a:lnTo>
                  <a:pt x="2641600" y="1123329"/>
                </a:lnTo>
                <a:lnTo>
                  <a:pt x="2590800" y="1122808"/>
                </a:lnTo>
                <a:lnTo>
                  <a:pt x="2540000" y="1122193"/>
                </a:lnTo>
                <a:lnTo>
                  <a:pt x="2489200" y="1121485"/>
                </a:lnTo>
                <a:lnTo>
                  <a:pt x="2438399" y="1120685"/>
                </a:lnTo>
                <a:lnTo>
                  <a:pt x="2387599" y="1119792"/>
                </a:lnTo>
                <a:lnTo>
                  <a:pt x="2336800" y="1118809"/>
                </a:lnTo>
                <a:lnTo>
                  <a:pt x="2286000" y="1117735"/>
                </a:lnTo>
                <a:lnTo>
                  <a:pt x="2235200" y="1116572"/>
                </a:lnTo>
                <a:lnTo>
                  <a:pt x="2184400" y="1115321"/>
                </a:lnTo>
                <a:lnTo>
                  <a:pt x="2133600" y="1113983"/>
                </a:lnTo>
                <a:lnTo>
                  <a:pt x="2082799" y="1112558"/>
                </a:lnTo>
                <a:lnTo>
                  <a:pt x="2031999" y="1111049"/>
                </a:lnTo>
                <a:lnTo>
                  <a:pt x="1981199" y="1109456"/>
                </a:lnTo>
                <a:lnTo>
                  <a:pt x="1930399" y="1107781"/>
                </a:lnTo>
                <a:lnTo>
                  <a:pt x="1879600" y="1106024"/>
                </a:lnTo>
                <a:lnTo>
                  <a:pt x="1828800" y="1104188"/>
                </a:lnTo>
                <a:lnTo>
                  <a:pt x="1778000" y="1102274"/>
                </a:lnTo>
                <a:lnTo>
                  <a:pt x="1727200" y="1100283"/>
                </a:lnTo>
                <a:lnTo>
                  <a:pt x="1676399" y="1098218"/>
                </a:lnTo>
                <a:lnTo>
                  <a:pt x="1625599" y="1096078"/>
                </a:lnTo>
                <a:lnTo>
                  <a:pt x="1574799" y="1093867"/>
                </a:lnTo>
                <a:lnTo>
                  <a:pt x="1524000" y="1091586"/>
                </a:lnTo>
                <a:lnTo>
                  <a:pt x="1473200" y="1089237"/>
                </a:lnTo>
                <a:lnTo>
                  <a:pt x="1422400" y="1086821"/>
                </a:lnTo>
                <a:lnTo>
                  <a:pt x="1371600" y="1084340"/>
                </a:lnTo>
                <a:lnTo>
                  <a:pt x="1320799" y="1081797"/>
                </a:lnTo>
                <a:lnTo>
                  <a:pt x="1269999" y="1079193"/>
                </a:lnTo>
                <a:lnTo>
                  <a:pt x="1219199" y="1076530"/>
                </a:lnTo>
                <a:lnTo>
                  <a:pt x="1168400" y="1073810"/>
                </a:lnTo>
                <a:lnTo>
                  <a:pt x="1117600" y="1071036"/>
                </a:lnTo>
                <a:lnTo>
                  <a:pt x="1066800" y="1068209"/>
                </a:lnTo>
                <a:lnTo>
                  <a:pt x="1016000" y="1065331"/>
                </a:lnTo>
                <a:lnTo>
                  <a:pt x="965200" y="1062406"/>
                </a:lnTo>
                <a:lnTo>
                  <a:pt x="914399" y="1059434"/>
                </a:lnTo>
                <a:lnTo>
                  <a:pt x="863599" y="1056418"/>
                </a:lnTo>
                <a:lnTo>
                  <a:pt x="812799" y="1053361"/>
                </a:lnTo>
                <a:lnTo>
                  <a:pt x="762000" y="1050264"/>
                </a:lnTo>
                <a:lnTo>
                  <a:pt x="711200" y="1047130"/>
                </a:lnTo>
                <a:lnTo>
                  <a:pt x="660400" y="1043962"/>
                </a:lnTo>
                <a:lnTo>
                  <a:pt x="609600" y="1040762"/>
                </a:lnTo>
                <a:lnTo>
                  <a:pt x="558799" y="1037531"/>
                </a:lnTo>
                <a:lnTo>
                  <a:pt x="507999" y="1034274"/>
                </a:lnTo>
                <a:lnTo>
                  <a:pt x="457199" y="1030991"/>
                </a:lnTo>
                <a:lnTo>
                  <a:pt x="406399" y="1027686"/>
                </a:lnTo>
                <a:lnTo>
                  <a:pt x="355600" y="1024360"/>
                </a:lnTo>
                <a:lnTo>
                  <a:pt x="304800" y="1021017"/>
                </a:lnTo>
                <a:lnTo>
                  <a:pt x="254000" y="1017659"/>
                </a:lnTo>
                <a:lnTo>
                  <a:pt x="203200" y="1014289"/>
                </a:lnTo>
                <a:lnTo>
                  <a:pt x="152399" y="1010908"/>
                </a:lnTo>
                <a:lnTo>
                  <a:pt x="101599" y="1007519"/>
                </a:lnTo>
                <a:lnTo>
                  <a:pt x="50799" y="1004126"/>
                </a:lnTo>
                <a:lnTo>
                  <a:pt x="0" y="1000730"/>
                </a:lnTo>
                <a:close/>
              </a:path>
            </a:pathLst>
          </a:custGeom>
          <a:solidFill>
            <a:srgbClr val="54C5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小見出し"/>
          <p:cNvSpPr txBox="1"/>
          <p:nvPr/>
        </p:nvSpPr>
        <p:spPr>
          <a:xfrm>
            <a:off x="451033" y="211421"/>
            <a:ext cx="4933179" cy="211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9" b="1" spc="400">
                <a:solidFill>
                  <a:srgbClr val="D9F6EE"/>
                </a:solidFill>
                <a:latin typeface="游ゴシック"/>
                <a:ea typeface="游ゴシック"/>
                <a:cs typeface="游ゴシック"/>
              </a:rPr>
              <a:t>施策①　共育実習</a:t>
            </a:r>
          </a:p>
        </p:txBody>
      </p:sp>
      <p:sp>
        <p:nvSpPr>
          <p:cNvPr id="5" name="タイトル"/>
          <p:cNvSpPr txBox="1"/>
          <p:nvPr/>
        </p:nvSpPr>
        <p:spPr>
          <a:xfrm>
            <a:off x="451033" y="422843"/>
            <a:ext cx="8456878" cy="4933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2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共育実習の共創モデル</a:t>
            </a:r>
          </a:p>
        </p:txBody>
      </p:sp>
      <p:sp>
        <p:nvSpPr>
          <p:cNvPr id="6" name="中央円"/>
          <p:cNvSpPr/>
          <p:nvPr/>
        </p:nvSpPr>
        <p:spPr>
          <a:xfrm>
            <a:off x="4841563" y="2424305"/>
            <a:ext cx="2508873" cy="2508873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12758" dist="42284" dir="5400000" algn="t" rotWithShape="0">
              <a:srgbClr val="2E9E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40226" y="2522968"/>
            <a:ext cx="2311546" cy="2311546"/>
          </a:xfrm>
          <a:prstGeom prst="ellipse">
            <a:avLst/>
          </a:prstGeom>
          <a:noFill/>
          <a:ln w="15240">
            <a:solidFill>
              <a:srgbClr val="CFEEE3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中央ミニ見出し"/>
          <p:cNvSpPr txBox="1"/>
          <p:nvPr/>
        </p:nvSpPr>
        <p:spPr>
          <a:xfrm>
            <a:off x="5038890" y="3129045"/>
            <a:ext cx="2114219" cy="211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6" b="1" spc="200">
                <a:solidFill>
                  <a:srgbClr val="2E9E8A"/>
                </a:solidFill>
                <a:latin typeface="游ゴシック"/>
                <a:ea typeface="游ゴシック"/>
                <a:cs typeface="游ゴシック"/>
              </a:rPr>
              <a:t>エフビー介護の</a:t>
            </a:r>
          </a:p>
        </p:txBody>
      </p:sp>
      <p:sp>
        <p:nvSpPr>
          <p:cNvPr id="9" name="中央タイトル"/>
          <p:cNvSpPr txBox="1"/>
          <p:nvPr/>
        </p:nvSpPr>
        <p:spPr>
          <a:xfrm>
            <a:off x="4933179" y="3312277"/>
            <a:ext cx="2325641" cy="704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773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共育実習</a:t>
            </a:r>
          </a:p>
        </p:txBody>
      </p:sp>
      <p:sp>
        <p:nvSpPr>
          <p:cNvPr id="10" name="共に育つ帯"/>
          <p:cNvSpPr/>
          <p:nvPr/>
        </p:nvSpPr>
        <p:spPr>
          <a:xfrm>
            <a:off x="5546302" y="4045206"/>
            <a:ext cx="1099394" cy="267801"/>
          </a:xfrm>
          <a:prstGeom prst="roundRect">
            <a:avLst>
              <a:gd name="adj" fmla="val 50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共に育つ"/>
          <p:cNvSpPr txBox="1"/>
          <p:nvPr/>
        </p:nvSpPr>
        <p:spPr>
          <a:xfrm>
            <a:off x="5546302" y="4045206"/>
            <a:ext cx="1099394" cy="2678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65" b="1" spc="3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共に育つ</a:t>
            </a:r>
          </a:p>
        </p:txBody>
      </p:sp>
      <p:sp>
        <p:nvSpPr>
          <p:cNvPr id="12" name="環_エフビー介護サービス"/>
          <p:cNvSpPr/>
          <p:nvPr/>
        </p:nvSpPr>
        <p:spPr>
          <a:xfrm>
            <a:off x="4108633" y="1691375"/>
            <a:ext cx="3974732" cy="3974732"/>
          </a:xfrm>
          <a:prstGeom prst="blockArc">
            <a:avLst>
              <a:gd name="adj1" fmla="val 16356000"/>
              <a:gd name="adj2" fmla="val 19644000"/>
              <a:gd name="adj3" fmla="val 14539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環ラベル_エフビー介護サービス"/>
          <p:cNvSpPr txBox="1"/>
          <p:nvPr/>
        </p:nvSpPr>
        <p:spPr>
          <a:xfrm rot="1800000">
            <a:off x="6416656" y="2081011"/>
            <a:ext cx="1057109" cy="253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31" b="1" spc="2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エフビー</a:t>
            </a:r>
          </a:p>
        </p:txBody>
      </p:sp>
      <p:sp>
        <p:nvSpPr>
          <p:cNvPr id="14" name="環_社員"/>
          <p:cNvSpPr/>
          <p:nvPr/>
        </p:nvSpPr>
        <p:spPr>
          <a:xfrm>
            <a:off x="4108633" y="1691375"/>
            <a:ext cx="3974732" cy="3974732"/>
          </a:xfrm>
          <a:prstGeom prst="blockArc">
            <a:avLst>
              <a:gd name="adj1" fmla="val 19956000"/>
              <a:gd name="adj2" fmla="val 1644000"/>
              <a:gd name="adj3" fmla="val 14539"/>
            </a:avLst>
          </a:prstGeom>
          <a:solidFill>
            <a:srgbClr val="F7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環ラベル_社員"/>
          <p:cNvSpPr txBox="1"/>
          <p:nvPr/>
        </p:nvSpPr>
        <p:spPr>
          <a:xfrm rot="5400000">
            <a:off x="7265868" y="3551889"/>
            <a:ext cx="1057109" cy="253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8" b="1" spc="2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社員</a:t>
            </a:r>
          </a:p>
        </p:txBody>
      </p:sp>
      <p:sp>
        <p:nvSpPr>
          <p:cNvPr id="16" name="環_地域"/>
          <p:cNvSpPr/>
          <p:nvPr/>
        </p:nvSpPr>
        <p:spPr>
          <a:xfrm>
            <a:off x="4108633" y="1691375"/>
            <a:ext cx="3974732" cy="3974732"/>
          </a:xfrm>
          <a:prstGeom prst="blockArc">
            <a:avLst>
              <a:gd name="adj1" fmla="val 1955999"/>
              <a:gd name="adj2" fmla="val 5244000"/>
              <a:gd name="adj3" fmla="val 14539"/>
            </a:avLst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環ラベル_地域"/>
          <p:cNvSpPr txBox="1"/>
          <p:nvPr/>
        </p:nvSpPr>
        <p:spPr>
          <a:xfrm rot="19800000">
            <a:off x="6416656" y="5022766"/>
            <a:ext cx="1057109" cy="253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8" b="1" spc="2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地域</a:t>
            </a:r>
          </a:p>
        </p:txBody>
      </p:sp>
      <p:sp>
        <p:nvSpPr>
          <p:cNvPr id="18" name="環_大学"/>
          <p:cNvSpPr/>
          <p:nvPr/>
        </p:nvSpPr>
        <p:spPr>
          <a:xfrm>
            <a:off x="4108633" y="1691375"/>
            <a:ext cx="3974732" cy="3974732"/>
          </a:xfrm>
          <a:prstGeom prst="blockArc">
            <a:avLst>
              <a:gd name="adj1" fmla="val 5556000"/>
              <a:gd name="adj2" fmla="val 8844000"/>
              <a:gd name="adj3" fmla="val 14539"/>
            </a:avLst>
          </a:prstGeom>
          <a:solidFill>
            <a:srgbClr val="54C5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環ラベル_大学"/>
          <p:cNvSpPr txBox="1"/>
          <p:nvPr/>
        </p:nvSpPr>
        <p:spPr>
          <a:xfrm rot="1800000">
            <a:off x="4718233" y="5022766"/>
            <a:ext cx="1057109" cy="253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8" b="1" spc="2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大学</a:t>
            </a:r>
          </a:p>
        </p:txBody>
      </p:sp>
      <p:sp>
        <p:nvSpPr>
          <p:cNvPr id="20" name="環_専門学校"/>
          <p:cNvSpPr/>
          <p:nvPr/>
        </p:nvSpPr>
        <p:spPr>
          <a:xfrm>
            <a:off x="4108633" y="1691375"/>
            <a:ext cx="3974732" cy="3974732"/>
          </a:xfrm>
          <a:prstGeom prst="blockArc">
            <a:avLst>
              <a:gd name="adj1" fmla="val 9156000"/>
              <a:gd name="adj2" fmla="val 12443999"/>
              <a:gd name="adj3" fmla="val 14539"/>
            </a:avLst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環ラベル_専門学校"/>
          <p:cNvSpPr txBox="1"/>
          <p:nvPr/>
        </p:nvSpPr>
        <p:spPr>
          <a:xfrm rot="16200000">
            <a:off x="3869021" y="3551889"/>
            <a:ext cx="1057109" cy="253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31" b="1" spc="2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専門学校</a:t>
            </a:r>
          </a:p>
        </p:txBody>
      </p:sp>
      <p:sp>
        <p:nvSpPr>
          <p:cNvPr id="22" name="環_高校"/>
          <p:cNvSpPr/>
          <p:nvPr/>
        </p:nvSpPr>
        <p:spPr>
          <a:xfrm>
            <a:off x="4108633" y="1691375"/>
            <a:ext cx="3974732" cy="3974732"/>
          </a:xfrm>
          <a:prstGeom prst="blockArc">
            <a:avLst>
              <a:gd name="adj1" fmla="val 12756000"/>
              <a:gd name="adj2" fmla="val 16043999"/>
              <a:gd name="adj3" fmla="val 14539"/>
            </a:avLst>
          </a:prstGeom>
          <a:solidFill>
            <a:srgbClr val="86D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環ラベル_高校"/>
          <p:cNvSpPr txBox="1"/>
          <p:nvPr/>
        </p:nvSpPr>
        <p:spPr>
          <a:xfrm rot="19800000">
            <a:off x="4718233" y="2081011"/>
            <a:ext cx="1057109" cy="253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8" b="1" spc="2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高校</a:t>
            </a:r>
          </a:p>
        </p:txBody>
      </p:sp>
      <p:sp>
        <p:nvSpPr>
          <p:cNvPr id="24" name="循環マーク白"/>
          <p:cNvSpPr/>
          <p:nvPr/>
        </p:nvSpPr>
        <p:spPr>
          <a:xfrm>
            <a:off x="6004383" y="1888702"/>
            <a:ext cx="183232" cy="1832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循環マーク矢印"/>
          <p:cNvSpPr/>
          <p:nvPr/>
        </p:nvSpPr>
        <p:spPr>
          <a:xfrm>
            <a:off x="6067810" y="1952129"/>
            <a:ext cx="84569" cy="56379"/>
          </a:xfrm>
          <a:custGeom>
            <a:avLst/>
            <a:gdLst/>
            <a:ahLst/>
            <a:cxnLst/>
            <a:rect l="l" t="t" r="r" b="b"/>
            <a:pathLst>
              <a:path w="84569" h="56379">
                <a:moveTo>
                  <a:pt x="84569" y="28190"/>
                </a:moveTo>
                <a:lnTo>
                  <a:pt x="0" y="56379"/>
                </a:lnTo>
                <a:lnTo>
                  <a:pt x="0" y="0"/>
                </a:lnTo>
                <a:close/>
              </a:path>
            </a:pathLst>
          </a:cu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循環マーク白"/>
          <p:cNvSpPr/>
          <p:nvPr/>
        </p:nvSpPr>
        <p:spPr>
          <a:xfrm>
            <a:off x="7475261" y="2737914"/>
            <a:ext cx="183232" cy="1832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循環マーク矢印"/>
          <p:cNvSpPr/>
          <p:nvPr/>
        </p:nvSpPr>
        <p:spPr>
          <a:xfrm>
            <a:off x="7528369" y="2791022"/>
            <a:ext cx="66698" cy="87334"/>
          </a:xfrm>
          <a:custGeom>
            <a:avLst/>
            <a:gdLst/>
            <a:ahLst/>
            <a:cxnLst/>
            <a:rect l="l" t="t" r="r" b="b"/>
            <a:pathLst>
              <a:path w="66698" h="87334">
                <a:moveTo>
                  <a:pt x="66698" y="87334"/>
                </a:moveTo>
                <a:lnTo>
                  <a:pt x="0" y="28190"/>
                </a:lnTo>
                <a:lnTo>
                  <a:pt x="48826" y="0"/>
                </a:lnTo>
                <a:close/>
              </a:path>
            </a:pathLst>
          </a:cu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循環マーク白"/>
          <p:cNvSpPr/>
          <p:nvPr/>
        </p:nvSpPr>
        <p:spPr>
          <a:xfrm>
            <a:off x="7475261" y="4436337"/>
            <a:ext cx="183232" cy="1832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循環マーク矢印"/>
          <p:cNvSpPr/>
          <p:nvPr/>
        </p:nvSpPr>
        <p:spPr>
          <a:xfrm>
            <a:off x="7538687" y="4489446"/>
            <a:ext cx="66698" cy="87333"/>
          </a:xfrm>
          <a:custGeom>
            <a:avLst/>
            <a:gdLst/>
            <a:ahLst/>
            <a:cxnLst/>
            <a:rect l="l" t="t" r="r" b="b"/>
            <a:pathLst>
              <a:path w="66698" h="87333">
                <a:moveTo>
                  <a:pt x="0" y="87333"/>
                </a:moveTo>
                <a:lnTo>
                  <a:pt x="17872" y="0"/>
                </a:lnTo>
                <a:lnTo>
                  <a:pt x="66698" y="28189"/>
                </a:lnTo>
                <a:close/>
              </a:path>
            </a:pathLst>
          </a:cu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循環マーク白"/>
          <p:cNvSpPr/>
          <p:nvPr/>
        </p:nvSpPr>
        <p:spPr>
          <a:xfrm>
            <a:off x="6004383" y="5285549"/>
            <a:ext cx="183232" cy="1832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循環マーク矢印"/>
          <p:cNvSpPr/>
          <p:nvPr/>
        </p:nvSpPr>
        <p:spPr>
          <a:xfrm>
            <a:off x="6039620" y="5348975"/>
            <a:ext cx="84569" cy="56379"/>
          </a:xfrm>
          <a:custGeom>
            <a:avLst/>
            <a:gdLst/>
            <a:ahLst/>
            <a:cxnLst/>
            <a:rect l="l" t="t" r="r" b="b"/>
            <a:pathLst>
              <a:path w="84569" h="56379">
                <a:moveTo>
                  <a:pt x="0" y="28190"/>
                </a:moveTo>
                <a:lnTo>
                  <a:pt x="84569" y="0"/>
                </a:lnTo>
                <a:lnTo>
                  <a:pt x="84569" y="56379"/>
                </a:lnTo>
                <a:close/>
              </a:path>
            </a:pathLst>
          </a:cu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循環マーク白"/>
          <p:cNvSpPr/>
          <p:nvPr/>
        </p:nvSpPr>
        <p:spPr>
          <a:xfrm>
            <a:off x="4533506" y="4436337"/>
            <a:ext cx="183232" cy="1832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循環マーク矢印"/>
          <p:cNvSpPr/>
          <p:nvPr/>
        </p:nvSpPr>
        <p:spPr>
          <a:xfrm>
            <a:off x="4596932" y="4479127"/>
            <a:ext cx="66698" cy="87334"/>
          </a:xfrm>
          <a:custGeom>
            <a:avLst/>
            <a:gdLst/>
            <a:ahLst/>
            <a:cxnLst/>
            <a:rect l="l" t="t" r="r" b="b"/>
            <a:pathLst>
              <a:path w="66698" h="87334">
                <a:moveTo>
                  <a:pt x="0" y="0"/>
                </a:moveTo>
                <a:lnTo>
                  <a:pt x="66698" y="59144"/>
                </a:lnTo>
                <a:lnTo>
                  <a:pt x="17872" y="87334"/>
                </a:lnTo>
                <a:close/>
              </a:path>
            </a:pathLst>
          </a:cu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循環マーク白"/>
          <p:cNvSpPr/>
          <p:nvPr/>
        </p:nvSpPr>
        <p:spPr>
          <a:xfrm>
            <a:off x="4533506" y="2737914"/>
            <a:ext cx="183232" cy="1832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循環マーク矢印"/>
          <p:cNvSpPr/>
          <p:nvPr/>
        </p:nvSpPr>
        <p:spPr>
          <a:xfrm>
            <a:off x="4586614" y="2780704"/>
            <a:ext cx="66698" cy="87334"/>
          </a:xfrm>
          <a:custGeom>
            <a:avLst/>
            <a:gdLst/>
            <a:ahLst/>
            <a:cxnLst/>
            <a:rect l="l" t="t" r="r" b="b"/>
            <a:pathLst>
              <a:path w="66698" h="87334">
                <a:moveTo>
                  <a:pt x="66698" y="0"/>
                </a:moveTo>
                <a:lnTo>
                  <a:pt x="48826" y="87334"/>
                </a:lnTo>
                <a:lnTo>
                  <a:pt x="0" y="59144"/>
                </a:lnTo>
                <a:close/>
              </a:path>
            </a:pathLst>
          </a:cu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接続線_エフビー介護サービス"/>
          <p:cNvCxnSpPr/>
          <p:nvPr/>
        </p:nvCxnSpPr>
        <p:spPr>
          <a:xfrm flipH="1">
            <a:off x="7355100" y="2015556"/>
            <a:ext cx="1003115" cy="0"/>
          </a:xfrm>
          <a:prstGeom prst="line">
            <a:avLst/>
          </a:prstGeom>
          <a:ln w="22860">
            <a:solidFill>
              <a:srgbClr val="F28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7312815" y="1973271"/>
            <a:ext cx="84568" cy="84568"/>
          </a:xfrm>
          <a:prstGeom prst="ellipse">
            <a:avLst/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カード_エフビー介護サービス"/>
          <p:cNvSpPr/>
          <p:nvPr/>
        </p:nvSpPr>
        <p:spPr>
          <a:xfrm>
            <a:off x="8358215" y="1416527"/>
            <a:ext cx="3382751" cy="1198057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>
            <a:outerShdw blurRad="112758" dist="42284" dir="5400000" algn="t" rotWithShape="0">
              <a:srgbClr val="2E9E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カード色バー"/>
          <p:cNvSpPr/>
          <p:nvPr/>
        </p:nvSpPr>
        <p:spPr>
          <a:xfrm>
            <a:off x="8358215" y="1613854"/>
            <a:ext cx="56379" cy="803403"/>
          </a:xfrm>
          <a:prstGeom prst="roundRect">
            <a:avLst>
              <a:gd name="adj" fmla="val 50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名称_エフビー介護サービス"/>
          <p:cNvSpPr txBox="1"/>
          <p:nvPr/>
        </p:nvSpPr>
        <p:spPr>
          <a:xfrm>
            <a:off x="8611921" y="1585664"/>
            <a:ext cx="2959907" cy="197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5" b="1" spc="10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エフビー介護サービス</a:t>
            </a:r>
          </a:p>
        </p:txBody>
      </p:sp>
      <p:sp>
        <p:nvSpPr>
          <p:cNvPr id="41" name="要点_エフビー介護サービス"/>
          <p:cNvSpPr txBox="1"/>
          <p:nvPr/>
        </p:nvSpPr>
        <p:spPr>
          <a:xfrm>
            <a:off x="8611921" y="1782991"/>
            <a:ext cx="3030381" cy="295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9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営業の差になる</a:t>
            </a:r>
          </a:p>
        </p:txBody>
      </p:sp>
      <p:sp>
        <p:nvSpPr>
          <p:cNvPr id="42" name="説明_エフビー介護サービス"/>
          <p:cNvSpPr txBox="1"/>
          <p:nvPr/>
        </p:nvSpPr>
        <p:spPr>
          <a:xfrm>
            <a:off x="8611921" y="2121267"/>
            <a:ext cx="3030381" cy="422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志と実利で学校から選ばれ、</a:t>
            </a:r>
          </a:p>
          <a:p>
            <a:pPr algn="l">
              <a:lnSpc>
                <a:spcPct val="115000"/>
              </a:lnSpc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将来の担い手と出会えます。</a:t>
            </a:r>
          </a:p>
        </p:txBody>
      </p:sp>
      <p:cxnSp>
        <p:nvCxnSpPr>
          <p:cNvPr id="43" name="接続線_社員"/>
          <p:cNvCxnSpPr/>
          <p:nvPr/>
        </p:nvCxnSpPr>
        <p:spPr>
          <a:xfrm flipH="1">
            <a:off x="8182030" y="3678742"/>
            <a:ext cx="176185" cy="0"/>
          </a:xfrm>
          <a:prstGeom prst="line">
            <a:avLst/>
          </a:prstGeom>
          <a:ln w="22860">
            <a:solidFill>
              <a:srgbClr val="F7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8139745" y="3636457"/>
            <a:ext cx="84568" cy="84568"/>
          </a:xfrm>
          <a:prstGeom prst="ellipse">
            <a:avLst/>
          </a:prstGeom>
          <a:solidFill>
            <a:srgbClr val="F7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カード_社員"/>
          <p:cNvSpPr/>
          <p:nvPr/>
        </p:nvSpPr>
        <p:spPr>
          <a:xfrm>
            <a:off x="8358215" y="3079713"/>
            <a:ext cx="3382751" cy="1198057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>
            <a:outerShdw blurRad="112758" dist="42284" dir="5400000" algn="t" rotWithShape="0">
              <a:srgbClr val="2E9E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カード色バー"/>
          <p:cNvSpPr/>
          <p:nvPr/>
        </p:nvSpPr>
        <p:spPr>
          <a:xfrm>
            <a:off x="8358215" y="3277040"/>
            <a:ext cx="56379" cy="803403"/>
          </a:xfrm>
          <a:prstGeom prst="roundRect">
            <a:avLst>
              <a:gd name="adj" fmla="val 50000"/>
            </a:avLst>
          </a:prstGeom>
          <a:solidFill>
            <a:srgbClr val="F7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名称_社員"/>
          <p:cNvSpPr txBox="1"/>
          <p:nvPr/>
        </p:nvSpPr>
        <p:spPr>
          <a:xfrm>
            <a:off x="8611921" y="3248850"/>
            <a:ext cx="2959907" cy="197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5" b="1" spc="10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社員</a:t>
            </a:r>
          </a:p>
        </p:txBody>
      </p:sp>
      <p:sp>
        <p:nvSpPr>
          <p:cNvPr id="48" name="要点_社員"/>
          <p:cNvSpPr txBox="1"/>
          <p:nvPr/>
        </p:nvSpPr>
        <p:spPr>
          <a:xfrm>
            <a:off x="8611921" y="3446178"/>
            <a:ext cx="3030381" cy="295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9" b="1">
                <a:solidFill>
                  <a:srgbClr val="C8651A"/>
                </a:solidFill>
                <a:latin typeface="游ゴシック"/>
                <a:ea typeface="游ゴシック"/>
                <a:cs typeface="游ゴシック"/>
              </a:rPr>
              <a:t>学びと生きがいが育つ</a:t>
            </a:r>
          </a:p>
        </p:txBody>
      </p:sp>
      <p:sp>
        <p:nvSpPr>
          <p:cNvPr id="49" name="説明_社員"/>
          <p:cNvSpPr txBox="1"/>
          <p:nvPr/>
        </p:nvSpPr>
        <p:spPr>
          <a:xfrm>
            <a:off x="8611921" y="3784453"/>
            <a:ext cx="3030381" cy="422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学生から学び、仕事の意味を再発見。</a:t>
            </a:r>
          </a:p>
          <a:p>
            <a:pPr algn="l">
              <a:lnSpc>
                <a:spcPct val="115000"/>
              </a:lnSpc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利用者の生きがいも育ちます。</a:t>
            </a:r>
          </a:p>
        </p:txBody>
      </p:sp>
      <p:cxnSp>
        <p:nvCxnSpPr>
          <p:cNvPr id="50" name="接続線_地域"/>
          <p:cNvCxnSpPr/>
          <p:nvPr/>
        </p:nvCxnSpPr>
        <p:spPr>
          <a:xfrm flipH="1">
            <a:off x="7355100" y="5341928"/>
            <a:ext cx="1003115" cy="0"/>
          </a:xfrm>
          <a:prstGeom prst="line">
            <a:avLst/>
          </a:prstGeom>
          <a:ln w="22860">
            <a:solidFill>
              <a:srgbClr val="2E9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7312815" y="5299643"/>
            <a:ext cx="84568" cy="84568"/>
          </a:xfrm>
          <a:prstGeom prst="ellipse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カード_地域"/>
          <p:cNvSpPr/>
          <p:nvPr/>
        </p:nvSpPr>
        <p:spPr>
          <a:xfrm>
            <a:off x="8358215" y="4742899"/>
            <a:ext cx="3382751" cy="1198057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>
            <a:outerShdw blurRad="112758" dist="42284" dir="5400000" algn="t" rotWithShape="0">
              <a:srgbClr val="2E9E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カード色バー"/>
          <p:cNvSpPr/>
          <p:nvPr/>
        </p:nvSpPr>
        <p:spPr>
          <a:xfrm>
            <a:off x="8358215" y="4940226"/>
            <a:ext cx="56379" cy="803403"/>
          </a:xfrm>
          <a:prstGeom prst="roundRect">
            <a:avLst>
              <a:gd name="adj" fmla="val 50000"/>
            </a:avLst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名称_地域"/>
          <p:cNvSpPr txBox="1"/>
          <p:nvPr/>
        </p:nvSpPr>
        <p:spPr>
          <a:xfrm>
            <a:off x="8611921" y="4912036"/>
            <a:ext cx="2959907" cy="197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5" b="1" spc="10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地域</a:t>
            </a:r>
          </a:p>
        </p:txBody>
      </p:sp>
      <p:sp>
        <p:nvSpPr>
          <p:cNvPr id="55" name="要点_地域"/>
          <p:cNvSpPr txBox="1"/>
          <p:nvPr/>
        </p:nvSpPr>
        <p:spPr>
          <a:xfrm>
            <a:off x="8611921" y="5109364"/>
            <a:ext cx="3030381" cy="295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9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担い手とまちの未来</a:t>
            </a:r>
          </a:p>
        </p:txBody>
      </p:sp>
      <p:sp>
        <p:nvSpPr>
          <p:cNvPr id="56" name="説明_地域"/>
          <p:cNvSpPr txBox="1"/>
          <p:nvPr/>
        </p:nvSpPr>
        <p:spPr>
          <a:xfrm>
            <a:off x="8611921" y="5447639"/>
            <a:ext cx="3030381" cy="422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地域を担う人が育ち、</a:t>
            </a:r>
          </a:p>
          <a:p>
            <a:pPr algn="l">
              <a:lnSpc>
                <a:spcPct val="115000"/>
              </a:lnSpc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介護の現場が身近になります。</a:t>
            </a:r>
          </a:p>
        </p:txBody>
      </p:sp>
      <p:cxnSp>
        <p:nvCxnSpPr>
          <p:cNvPr id="57" name="接続線_大学"/>
          <p:cNvCxnSpPr/>
          <p:nvPr/>
        </p:nvCxnSpPr>
        <p:spPr>
          <a:xfrm>
            <a:off x="3833784" y="5341928"/>
            <a:ext cx="1003115" cy="0"/>
          </a:xfrm>
          <a:prstGeom prst="line">
            <a:avLst/>
          </a:prstGeom>
          <a:ln w="22860">
            <a:solidFill>
              <a:srgbClr val="54C5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4794615" y="5299643"/>
            <a:ext cx="84568" cy="84568"/>
          </a:xfrm>
          <a:prstGeom prst="ellipse">
            <a:avLst/>
          </a:prstGeom>
          <a:solidFill>
            <a:srgbClr val="54C5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カード_大学"/>
          <p:cNvSpPr/>
          <p:nvPr/>
        </p:nvSpPr>
        <p:spPr>
          <a:xfrm>
            <a:off x="451033" y="4742899"/>
            <a:ext cx="3382751" cy="1198057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>
            <a:outerShdw blurRad="112758" dist="42284" dir="5400000" algn="t" rotWithShape="0">
              <a:srgbClr val="2E9E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カード色バー"/>
          <p:cNvSpPr/>
          <p:nvPr/>
        </p:nvSpPr>
        <p:spPr>
          <a:xfrm>
            <a:off x="451033" y="4940226"/>
            <a:ext cx="56379" cy="803403"/>
          </a:xfrm>
          <a:prstGeom prst="roundRect">
            <a:avLst>
              <a:gd name="adj" fmla="val 50000"/>
            </a:avLst>
          </a:prstGeom>
          <a:solidFill>
            <a:srgbClr val="54C5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名称_大学"/>
          <p:cNvSpPr txBox="1"/>
          <p:nvPr/>
        </p:nvSpPr>
        <p:spPr>
          <a:xfrm>
            <a:off x="704739" y="4912036"/>
            <a:ext cx="2959907" cy="197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5" b="1" spc="10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大学</a:t>
            </a:r>
          </a:p>
        </p:txBody>
      </p:sp>
      <p:sp>
        <p:nvSpPr>
          <p:cNvPr id="62" name="要点_大学"/>
          <p:cNvSpPr txBox="1"/>
          <p:nvPr/>
        </p:nvSpPr>
        <p:spPr>
          <a:xfrm>
            <a:off x="704739" y="5109364"/>
            <a:ext cx="3030381" cy="295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9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学部・学科の魅力向上</a:t>
            </a:r>
          </a:p>
        </p:txBody>
      </p:sp>
      <p:sp>
        <p:nvSpPr>
          <p:cNvPr id="63" name="説明_大学"/>
          <p:cNvSpPr txBox="1"/>
          <p:nvPr/>
        </p:nvSpPr>
        <p:spPr>
          <a:xfrm>
            <a:off x="704739" y="5447639"/>
            <a:ext cx="3030381" cy="422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魅力的な実習を提供。社会テーマ型</a:t>
            </a:r>
          </a:p>
          <a:p>
            <a:pPr algn="l">
              <a:lnSpc>
                <a:spcPct val="115000"/>
              </a:lnSpc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プログラム「STA」で連携します。</a:t>
            </a:r>
          </a:p>
        </p:txBody>
      </p:sp>
      <p:cxnSp>
        <p:nvCxnSpPr>
          <p:cNvPr id="64" name="接続線_専門学校"/>
          <p:cNvCxnSpPr/>
          <p:nvPr/>
        </p:nvCxnSpPr>
        <p:spPr>
          <a:xfrm>
            <a:off x="3833784" y="3678742"/>
            <a:ext cx="176185" cy="0"/>
          </a:xfrm>
          <a:prstGeom prst="line">
            <a:avLst/>
          </a:prstGeom>
          <a:ln w="22860">
            <a:solidFill>
              <a:srgbClr val="3FB3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3967685" y="3636457"/>
            <a:ext cx="84568" cy="84568"/>
          </a:xfrm>
          <a:prstGeom prst="ellipse">
            <a:avLst/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カード_専門学校"/>
          <p:cNvSpPr/>
          <p:nvPr/>
        </p:nvSpPr>
        <p:spPr>
          <a:xfrm>
            <a:off x="451033" y="3079713"/>
            <a:ext cx="3382751" cy="1198057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>
            <a:outerShdw blurRad="112758" dist="42284" dir="5400000" algn="t" rotWithShape="0">
              <a:srgbClr val="2E9E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カード色バー"/>
          <p:cNvSpPr/>
          <p:nvPr/>
        </p:nvSpPr>
        <p:spPr>
          <a:xfrm>
            <a:off x="451033" y="3277040"/>
            <a:ext cx="56379" cy="803403"/>
          </a:xfrm>
          <a:prstGeom prst="roundRect">
            <a:avLst>
              <a:gd name="adj" fmla="val 50000"/>
            </a:avLst>
          </a:prstGeom>
          <a:solidFill>
            <a:srgbClr val="3FB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名称_専門学校"/>
          <p:cNvSpPr txBox="1"/>
          <p:nvPr/>
        </p:nvSpPr>
        <p:spPr>
          <a:xfrm>
            <a:off x="704739" y="3248850"/>
            <a:ext cx="2959907" cy="197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5" b="1" spc="10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専門学校</a:t>
            </a:r>
          </a:p>
        </p:txBody>
      </p:sp>
      <p:sp>
        <p:nvSpPr>
          <p:cNvPr id="69" name="要点_専門学校"/>
          <p:cNvSpPr txBox="1"/>
          <p:nvPr/>
        </p:nvSpPr>
        <p:spPr>
          <a:xfrm>
            <a:off x="704739" y="3446178"/>
            <a:ext cx="3030381" cy="295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9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実習先の選択肢が広がる</a:t>
            </a:r>
          </a:p>
        </p:txBody>
      </p:sp>
      <p:sp>
        <p:nvSpPr>
          <p:cNvPr id="70" name="説明_専門学校"/>
          <p:cNvSpPr txBox="1"/>
          <p:nvPr/>
        </p:nvSpPr>
        <p:spPr>
          <a:xfrm>
            <a:off x="704739" y="3784453"/>
            <a:ext cx="3030381" cy="422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単位つきの実習先が増え、</a:t>
            </a:r>
          </a:p>
          <a:p>
            <a:pPr algn="l">
              <a:lnSpc>
                <a:spcPct val="115000"/>
              </a:lnSpc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介護の学びの入口が広がります。</a:t>
            </a:r>
          </a:p>
        </p:txBody>
      </p:sp>
      <p:cxnSp>
        <p:nvCxnSpPr>
          <p:cNvPr id="71" name="接続線_高校"/>
          <p:cNvCxnSpPr/>
          <p:nvPr/>
        </p:nvCxnSpPr>
        <p:spPr>
          <a:xfrm>
            <a:off x="3833784" y="2015556"/>
            <a:ext cx="1003115" cy="0"/>
          </a:xfrm>
          <a:prstGeom prst="line">
            <a:avLst/>
          </a:prstGeom>
          <a:ln w="22860">
            <a:solidFill>
              <a:srgbClr val="86D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4794615" y="1973271"/>
            <a:ext cx="84568" cy="84568"/>
          </a:xfrm>
          <a:prstGeom prst="ellipse">
            <a:avLst/>
          </a:prstGeom>
          <a:solidFill>
            <a:srgbClr val="86D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カード_高校"/>
          <p:cNvSpPr/>
          <p:nvPr/>
        </p:nvSpPr>
        <p:spPr>
          <a:xfrm>
            <a:off x="451033" y="1416527"/>
            <a:ext cx="3382751" cy="1198057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>
            <a:outerShdw blurRad="112758" dist="42284" dir="5400000" algn="t" rotWithShape="0">
              <a:srgbClr val="2E9E8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カード色バー"/>
          <p:cNvSpPr/>
          <p:nvPr/>
        </p:nvSpPr>
        <p:spPr>
          <a:xfrm>
            <a:off x="451033" y="1613854"/>
            <a:ext cx="56379" cy="803403"/>
          </a:xfrm>
          <a:prstGeom prst="roundRect">
            <a:avLst>
              <a:gd name="adj" fmla="val 50000"/>
            </a:avLst>
          </a:prstGeom>
          <a:solidFill>
            <a:srgbClr val="86D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名称_高校"/>
          <p:cNvSpPr txBox="1"/>
          <p:nvPr/>
        </p:nvSpPr>
        <p:spPr>
          <a:xfrm>
            <a:off x="704739" y="1585664"/>
            <a:ext cx="2959907" cy="197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5" b="1" spc="100">
                <a:solidFill>
                  <a:srgbClr val="5B6B73"/>
                </a:solidFill>
                <a:latin typeface="游ゴシック"/>
                <a:ea typeface="游ゴシック"/>
                <a:cs typeface="游ゴシック"/>
              </a:rPr>
              <a:t>高校</a:t>
            </a:r>
          </a:p>
        </p:txBody>
      </p:sp>
      <p:sp>
        <p:nvSpPr>
          <p:cNvPr id="76" name="要点_高校"/>
          <p:cNvSpPr txBox="1"/>
          <p:nvPr/>
        </p:nvSpPr>
        <p:spPr>
          <a:xfrm>
            <a:off x="704739" y="1782991"/>
            <a:ext cx="3030381" cy="295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9" b="1">
                <a:solidFill>
                  <a:srgbClr val="1F7D6C"/>
                </a:solidFill>
                <a:latin typeface="游ゴシック"/>
                <a:ea typeface="游ゴシック"/>
                <a:cs typeface="游ゴシック"/>
              </a:rPr>
              <a:t>探究と進路に生きる実績</a:t>
            </a:r>
          </a:p>
        </p:txBody>
      </p:sp>
      <p:sp>
        <p:nvSpPr>
          <p:cNvPr id="77" name="説明_高校"/>
          <p:cNvSpPr txBox="1"/>
          <p:nvPr/>
        </p:nvSpPr>
        <p:spPr>
          <a:xfrm>
            <a:off x="704739" y="2121267"/>
            <a:ext cx="3030381" cy="422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単位つきで受け入れやすく、探究テーマ</a:t>
            </a:r>
          </a:p>
          <a:p>
            <a:pPr algn="l">
              <a:lnSpc>
                <a:spcPct val="115000"/>
              </a:lnSpc>
            </a:pPr>
            <a:r>
              <a:rPr sz="1054" b="0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探しと面接で語れる実績になります。</a:t>
            </a:r>
          </a:p>
        </p:txBody>
      </p:sp>
      <p:sp>
        <p:nvSpPr>
          <p:cNvPr id="78" name="キャッチコピー"/>
          <p:cNvSpPr txBox="1"/>
          <p:nvPr/>
        </p:nvSpPr>
        <p:spPr>
          <a:xfrm>
            <a:off x="1162820" y="5976194"/>
            <a:ext cx="9866358" cy="3946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75" b="1">
                <a:solidFill>
                  <a:srgbClr val="26323A"/>
                </a:solidFill>
                <a:latin typeface="游ゴシック"/>
                <a:ea typeface="游ゴシック"/>
                <a:cs typeface="游ゴシック"/>
              </a:rPr>
              <a:t>学ぶ人も、迎える人も、地域も。みんなが共に育つ</a:t>
            </a:r>
          </a:p>
        </p:txBody>
      </p:sp>
      <p:sp>
        <p:nvSpPr>
          <p:cNvPr id="79" name="下線"/>
          <p:cNvSpPr/>
          <p:nvPr/>
        </p:nvSpPr>
        <p:spPr>
          <a:xfrm>
            <a:off x="3100855" y="6399038"/>
            <a:ext cx="5990289" cy="28189"/>
          </a:xfrm>
          <a:prstGeom prst="roundRect">
            <a:avLst>
              <a:gd name="adj" fmla="val 50000"/>
            </a:avLst>
          </a:prstGeom>
          <a:solidFill>
            <a:srgbClr val="F2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