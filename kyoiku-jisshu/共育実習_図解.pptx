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2000" cy="685711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総人口</c:v>
                </c:pt>
              </c:strCache>
            </c:strRef>
          </c:tx>
          <c:dPt>
            <c:idx val="0"/>
            <c:spPr>
              <a:solidFill>
                <a:srgbClr val="3FB39D"/>
              </a:solidFill>
            </c:spPr>
          </c:dPt>
          <c:dPt>
            <c:idx val="1"/>
            <c:spPr>
              <a:solidFill>
                <a:srgbClr val="3FB39D"/>
              </a:solidFill>
            </c:spPr>
          </c:dPt>
          <c:dPt>
            <c:idx val="2"/>
            <c:spPr>
              <a:solidFill>
                <a:srgbClr val="F28C3C"/>
              </a:solidFill>
            </c:spPr>
          </c:dPt>
          <c:cat>
            <c:strRef>
              <c:f>Sheet1!$A$2:$A$4</c:f>
              <c:strCache>
                <c:ptCount val="3"/>
                <c:pt idx="0">
                  <c:v>2020年</c:v>
                </c:pt>
                <c:pt idx="1">
                  <c:v>2040年</c:v>
                </c:pt>
                <c:pt idx="2">
                  <c:v>2050年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12615</c:v>
                </c:pt>
                <c:pt idx="1">
                  <c:v>11284</c:v>
                </c:pt>
                <c:pt idx="2">
                  <c:v>10468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2000" b="1">
                  <a:latin typeface="游ゴシック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6D1"/>
            </a:solidFill>
          </a:ln>
        </c:spPr>
        <c:txPr>
          <a:bodyPr/>
          <a:lstStyle/>
          <a:p>
            <a:pPr>
              <a:defRPr sz="2200">
                <a:latin typeface="游ゴシック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5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拠点数</c:v>
                </c:pt>
              </c:strCache>
            </c:strRef>
          </c:tx>
          <c:dPt>
            <c:idx val="0"/>
            <c:spPr>
              <a:solidFill>
                <a:srgbClr val="F28C3C"/>
              </a:solidFill>
            </c:spPr>
          </c:dPt>
          <c:dPt>
            <c:idx val="1"/>
            <c:spPr>
              <a:solidFill>
                <a:srgbClr val="3FB39D"/>
              </a:solidFill>
            </c:spPr>
          </c:dPt>
          <c:dPt>
            <c:idx val="2"/>
            <c:spPr>
              <a:solidFill>
                <a:srgbClr val="3FB39D"/>
              </a:solidFill>
            </c:spPr>
          </c:dPt>
          <c:dPt>
            <c:idx val="3"/>
            <c:spPr>
              <a:solidFill>
                <a:srgbClr val="3FB39D"/>
              </a:solidFill>
            </c:spPr>
          </c:dPt>
          <c:dPt>
            <c:idx val="4"/>
            <c:spPr>
              <a:solidFill>
                <a:srgbClr val="3FB39D"/>
              </a:solidFill>
            </c:spPr>
          </c:dPt>
          <c:cat>
            <c:strRef>
              <c:f>Sheet1!$A$2:$A$6</c:f>
              <c:strCache>
                <c:ptCount val="5"/>
                <c:pt idx="0">
                  <c:v>長野県</c:v>
                </c:pt>
                <c:pt idx="1">
                  <c:v>新潟県</c:v>
                </c:pt>
                <c:pt idx="2">
                  <c:v>埼玉県</c:v>
                </c:pt>
                <c:pt idx="3">
                  <c:v>群馬県</c:v>
                </c:pt>
                <c:pt idx="4">
                  <c:v>栃木県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57</c:v>
                </c:pt>
                <c:pt idx="1">
                  <c:v>15</c:v>
                </c:pt>
                <c:pt idx="2">
                  <c:v>15</c:v>
                </c:pt>
                <c:pt idx="3">
                  <c:v>12</c:v>
                </c:pt>
                <c:pt idx="4">
                  <c:v>10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2800" b="1">
                  <a:latin typeface="游ゴシック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6D1"/>
            </a:solidFill>
          </a:ln>
        </c:spPr>
        <c:txPr>
          <a:bodyPr/>
          <a:lstStyle/>
          <a:p>
            <a:pPr>
              <a:defRPr sz="2200">
                <a:latin typeface="游ゴシック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6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実習応募サイトの概要。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出典：企業説明会資料・経営者ヒアリング。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人口推移（2020→2050）と介護費の見通し。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沿革。年次が資料で確認できた出来事のみ年を表示。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小規模・多拠点・サービスの見せ方。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売上推移（26期〜36期）。出典：企業説明会資料。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P24：採用戦略テーマ（他社比較）。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実習サイト「エフビー流の学び」。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1DAYと5DAYS（P25・P26）。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P27：実習の受け入れ体制。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申込から振り返りまでの流れと、サイトのコンテンツ。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7種109拠点。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施策①　共育実習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共育実習の共創モデル</a:t>
            </a:r>
          </a:p>
        </p:txBody>
      </p:sp>
      <p:sp>
        <p:nvSpPr>
          <p:cNvPr id="8" name="サブタイトル"/>
          <p:cNvSpPr txBox="1"/>
          <p:nvPr/>
        </p:nvSpPr>
        <p:spPr>
          <a:xfrm>
            <a:off x="620171" y="831593"/>
            <a:ext cx="8456879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学ぶ人も、迎える人も、地域も。みんなが共に育つ</a:t>
            </a:r>
          </a:p>
        </p:txBody>
      </p:sp>
      <p:sp>
        <p:nvSpPr>
          <p:cNvPr id="9" name="中央円"/>
          <p:cNvSpPr/>
          <p:nvPr/>
        </p:nvSpPr>
        <p:spPr>
          <a:xfrm>
            <a:off x="4912037" y="2706201"/>
            <a:ext cx="2367926" cy="2367926"/>
          </a:xfrm>
          <a:prstGeom prst="ellipse">
            <a:avLst/>
          </a:prstGeom>
          <a:solidFill>
            <a:srgbClr val="FFFFFF"/>
          </a:solidFill>
          <a:ln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中央ミニ"/>
          <p:cNvSpPr txBox="1"/>
          <p:nvPr/>
        </p:nvSpPr>
        <p:spPr>
          <a:xfrm>
            <a:off x="5038890" y="3213614"/>
            <a:ext cx="2114220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14"/>
              </a:lnSpc>
              <a:spcBef>
                <a:spcPts val="0"/>
              </a:spcBef>
              <a:spcAft>
                <a:spcPts val="0"/>
              </a:spcAft>
            </a:pPr>
            <a:r>
              <a:rPr sz="1276" b="1" spc="200">
                <a:solidFill>
                  <a:srgbClr val="2E9E8A"/>
                </a:solidFill>
                <a:latin typeface="游ゴシック"/>
                <a:ea typeface="游ゴシック"/>
                <a:cs typeface="游ゴシック"/>
              </a:rPr>
              <a:t>エフビー介護の</a:t>
            </a:r>
          </a:p>
        </p:txBody>
      </p:sp>
      <p:sp>
        <p:nvSpPr>
          <p:cNvPr id="11" name="中央タイトル"/>
          <p:cNvSpPr txBox="1"/>
          <p:nvPr/>
        </p:nvSpPr>
        <p:spPr>
          <a:xfrm>
            <a:off x="4897942" y="3467320"/>
            <a:ext cx="2396116" cy="676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4661"/>
              </a:lnSpc>
              <a:spcBef>
                <a:spcPts val="0"/>
              </a:spcBef>
              <a:spcAft>
                <a:spcPts val="0"/>
              </a:spcAft>
            </a:pPr>
            <a:r>
              <a:rPr sz="3884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共育実習</a:t>
            </a:r>
          </a:p>
        </p:txBody>
      </p:sp>
      <p:sp>
        <p:nvSpPr>
          <p:cNvPr id="12" name="共に育つ帯"/>
          <p:cNvSpPr/>
          <p:nvPr/>
        </p:nvSpPr>
        <p:spPr>
          <a:xfrm>
            <a:off x="5518113" y="4256629"/>
            <a:ext cx="1155773" cy="281896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共に育つ"/>
          <p:cNvSpPr txBox="1"/>
          <p:nvPr/>
        </p:nvSpPr>
        <p:spPr>
          <a:xfrm>
            <a:off x="5518113" y="4256629"/>
            <a:ext cx="1155773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 spc="3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共に育つ</a:t>
            </a:r>
          </a:p>
        </p:txBody>
      </p:sp>
      <p:sp>
        <p:nvSpPr>
          <p:cNvPr id="14" name="環_エフビー介護サービス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16356000"/>
              <a:gd name="adj2" fmla="val 19644000"/>
              <a:gd name="adj3" fmla="val 14492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環ラベル_エフビー介護サービス"/>
          <p:cNvSpPr txBox="1"/>
          <p:nvPr/>
        </p:nvSpPr>
        <p:spPr>
          <a:xfrm rot="1800000">
            <a:off x="6363801" y="2308855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31"/>
              </a:lnSpc>
              <a:spcBef>
                <a:spcPts val="0"/>
              </a:spcBef>
              <a:spcAft>
                <a:spcPts val="0"/>
              </a:spcAft>
            </a:pPr>
            <a:r>
              <a:rPr sz="1276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エフビー</a:t>
            </a:r>
          </a:p>
        </p:txBody>
      </p:sp>
      <p:cxnSp>
        <p:nvCxnSpPr>
          <p:cNvPr id="16" name="接続線_エフビー介護サービス"/>
          <p:cNvCxnSpPr/>
          <p:nvPr/>
        </p:nvCxnSpPr>
        <p:spPr>
          <a:xfrm flipH="1">
            <a:off x="7307825" y="2226978"/>
            <a:ext cx="951726" cy="0"/>
          </a:xfrm>
          <a:prstGeom prst="line">
            <a:avLst/>
          </a:prstGeom>
          <a:ln w="25400">
            <a:solidFill>
              <a:srgbClr val="F28C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接続点_エフビー介護サービス"/>
          <p:cNvSpPr/>
          <p:nvPr/>
        </p:nvSpPr>
        <p:spPr>
          <a:xfrm>
            <a:off x="7265540" y="2184694"/>
            <a:ext cx="84569" cy="84569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カード_エフビー介護サービス"/>
          <p:cNvSpPr/>
          <p:nvPr/>
        </p:nvSpPr>
        <p:spPr>
          <a:xfrm>
            <a:off x="8259551" y="1606807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本文_エフビー介護サービス"/>
          <p:cNvSpPr txBox="1"/>
          <p:nvPr/>
        </p:nvSpPr>
        <p:spPr>
          <a:xfrm>
            <a:off x="8499163" y="1761850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エフビー介護サービス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営業の差になる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志と実利で学校から選ばれ、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将来の担い手と出会えます。</a:t>
            </a:r>
          </a:p>
        </p:txBody>
      </p:sp>
      <p:sp>
        <p:nvSpPr>
          <p:cNvPr id="20" name="環_社員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19956000"/>
              <a:gd name="adj2" fmla="val 1644000"/>
              <a:gd name="adj3" fmla="val 14492"/>
            </a:avLst>
          </a:prstGeom>
          <a:solidFill>
            <a:srgbClr val="F7A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環ラベル_社員"/>
          <p:cNvSpPr txBox="1"/>
          <p:nvPr/>
        </p:nvSpPr>
        <p:spPr>
          <a:xfrm rot="5400000">
            <a:off x="7195394" y="3749216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442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社員</a:t>
            </a:r>
          </a:p>
        </p:txBody>
      </p:sp>
      <p:cxnSp>
        <p:nvCxnSpPr>
          <p:cNvPr id="22" name="接続線_社員"/>
          <p:cNvCxnSpPr/>
          <p:nvPr/>
        </p:nvCxnSpPr>
        <p:spPr>
          <a:xfrm flipH="1">
            <a:off x="8153840" y="3890164"/>
            <a:ext cx="105711" cy="0"/>
          </a:xfrm>
          <a:prstGeom prst="line">
            <a:avLst/>
          </a:prstGeom>
          <a:ln w="25400">
            <a:solidFill>
              <a:srgbClr val="F7AB6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接続点_社員"/>
          <p:cNvSpPr/>
          <p:nvPr/>
        </p:nvSpPr>
        <p:spPr>
          <a:xfrm>
            <a:off x="8111556" y="3847880"/>
            <a:ext cx="84569" cy="84569"/>
          </a:xfrm>
          <a:prstGeom prst="ellipse">
            <a:avLst/>
          </a:prstGeom>
          <a:solidFill>
            <a:srgbClr val="F7A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カード_社員"/>
          <p:cNvSpPr/>
          <p:nvPr/>
        </p:nvSpPr>
        <p:spPr>
          <a:xfrm>
            <a:off x="8259551" y="3269993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本文_社員"/>
          <p:cNvSpPr txBox="1"/>
          <p:nvPr/>
        </p:nvSpPr>
        <p:spPr>
          <a:xfrm>
            <a:off x="8499163" y="3425036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社員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学びと生きがいが育つ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学生から学び、仕事の意味を再発見。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利用者の生きがいも育ちます。</a:t>
            </a:r>
          </a:p>
        </p:txBody>
      </p:sp>
      <p:sp>
        <p:nvSpPr>
          <p:cNvPr id="26" name="環_地域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1955999"/>
              <a:gd name="adj2" fmla="val 5244000"/>
              <a:gd name="adj3" fmla="val 14492"/>
            </a:avLst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環ラベル_地域"/>
          <p:cNvSpPr txBox="1"/>
          <p:nvPr/>
        </p:nvSpPr>
        <p:spPr>
          <a:xfrm rot="19800000">
            <a:off x="6363801" y="5189578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442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地域</a:t>
            </a:r>
          </a:p>
        </p:txBody>
      </p:sp>
      <p:cxnSp>
        <p:nvCxnSpPr>
          <p:cNvPr id="28" name="接続線_地域"/>
          <p:cNvCxnSpPr/>
          <p:nvPr/>
        </p:nvCxnSpPr>
        <p:spPr>
          <a:xfrm flipH="1">
            <a:off x="7307825" y="5553350"/>
            <a:ext cx="951726" cy="0"/>
          </a:xfrm>
          <a:prstGeom prst="line">
            <a:avLst/>
          </a:prstGeom>
          <a:ln w="25400">
            <a:solidFill>
              <a:srgbClr val="2E9E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接続点_地域"/>
          <p:cNvSpPr/>
          <p:nvPr/>
        </p:nvSpPr>
        <p:spPr>
          <a:xfrm>
            <a:off x="7265540" y="5511066"/>
            <a:ext cx="84569" cy="84569"/>
          </a:xfrm>
          <a:prstGeom prst="ellipse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カード_地域"/>
          <p:cNvSpPr/>
          <p:nvPr/>
        </p:nvSpPr>
        <p:spPr>
          <a:xfrm>
            <a:off x="8259551" y="4933179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本文_地域"/>
          <p:cNvSpPr txBox="1"/>
          <p:nvPr/>
        </p:nvSpPr>
        <p:spPr>
          <a:xfrm>
            <a:off x="8499163" y="5088222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地域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担い手とまちの未来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地域を担う人が育ち、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介護の現場が身近になります。</a:t>
            </a:r>
          </a:p>
        </p:txBody>
      </p:sp>
      <p:sp>
        <p:nvSpPr>
          <p:cNvPr id="32" name="環_大学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5556000"/>
              <a:gd name="adj2" fmla="val 8844000"/>
              <a:gd name="adj3" fmla="val 14492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環ラベル_大学"/>
          <p:cNvSpPr txBox="1"/>
          <p:nvPr/>
        </p:nvSpPr>
        <p:spPr>
          <a:xfrm rot="1800000">
            <a:off x="4700615" y="5189578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442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大学</a:t>
            </a:r>
          </a:p>
        </p:txBody>
      </p:sp>
      <p:cxnSp>
        <p:nvCxnSpPr>
          <p:cNvPr id="34" name="接続線_大学"/>
          <p:cNvCxnSpPr/>
          <p:nvPr/>
        </p:nvCxnSpPr>
        <p:spPr>
          <a:xfrm>
            <a:off x="3932449" y="5553350"/>
            <a:ext cx="951726" cy="0"/>
          </a:xfrm>
          <a:prstGeom prst="line">
            <a:avLst/>
          </a:prstGeom>
          <a:ln w="25400">
            <a:solidFill>
              <a:srgbClr val="54C5A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接続点_大学"/>
          <p:cNvSpPr/>
          <p:nvPr/>
        </p:nvSpPr>
        <p:spPr>
          <a:xfrm>
            <a:off x="4841891" y="5511066"/>
            <a:ext cx="84569" cy="84569"/>
          </a:xfrm>
          <a:prstGeom prst="ellipse">
            <a:avLst/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カード_大学"/>
          <p:cNvSpPr/>
          <p:nvPr/>
        </p:nvSpPr>
        <p:spPr>
          <a:xfrm>
            <a:off x="620171" y="4933179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本文_大学"/>
          <p:cNvSpPr txBox="1"/>
          <p:nvPr/>
        </p:nvSpPr>
        <p:spPr>
          <a:xfrm>
            <a:off x="859783" y="5088222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大学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学部・学科の魅力向上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魅力的な実習で、学部・学科の魅力が向上。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社会テーマ型プログラム「STA」で連携。</a:t>
            </a:r>
          </a:p>
        </p:txBody>
      </p:sp>
      <p:sp>
        <p:nvSpPr>
          <p:cNvPr id="38" name="環_専門学校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9156000"/>
              <a:gd name="adj2" fmla="val 12443999"/>
              <a:gd name="adj3" fmla="val 14492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環ラベル_専門学校"/>
          <p:cNvSpPr txBox="1"/>
          <p:nvPr/>
        </p:nvSpPr>
        <p:spPr>
          <a:xfrm rot="16200000">
            <a:off x="3869022" y="3749216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31"/>
              </a:lnSpc>
              <a:spcBef>
                <a:spcPts val="0"/>
              </a:spcBef>
              <a:spcAft>
                <a:spcPts val="0"/>
              </a:spcAft>
            </a:pPr>
            <a:r>
              <a:rPr sz="1276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専門学校</a:t>
            </a:r>
          </a:p>
        </p:txBody>
      </p:sp>
      <p:cxnSp>
        <p:nvCxnSpPr>
          <p:cNvPr id="40" name="接続線_専門学校"/>
          <p:cNvCxnSpPr/>
          <p:nvPr/>
        </p:nvCxnSpPr>
        <p:spPr>
          <a:xfrm>
            <a:off x="3932449" y="3890164"/>
            <a:ext cx="105711" cy="0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接続点_専門学校"/>
          <p:cNvSpPr/>
          <p:nvPr/>
        </p:nvSpPr>
        <p:spPr>
          <a:xfrm>
            <a:off x="3995875" y="3847880"/>
            <a:ext cx="84569" cy="84569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カード_専門学校"/>
          <p:cNvSpPr/>
          <p:nvPr/>
        </p:nvSpPr>
        <p:spPr>
          <a:xfrm>
            <a:off x="620171" y="3269993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本文_専門学校"/>
          <p:cNvSpPr txBox="1"/>
          <p:nvPr/>
        </p:nvSpPr>
        <p:spPr>
          <a:xfrm>
            <a:off x="859783" y="3425036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専門学校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実習先の選択肢が広がる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単位つきの実習先が増え、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介護の学びの入口が広がります。</a:t>
            </a:r>
          </a:p>
        </p:txBody>
      </p:sp>
      <p:sp>
        <p:nvSpPr>
          <p:cNvPr id="44" name="環_高校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12756000"/>
              <a:gd name="adj2" fmla="val 16043999"/>
              <a:gd name="adj3" fmla="val 14492"/>
            </a:avLst>
          </a:prstGeom>
          <a:solidFill>
            <a:srgbClr val="86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環ラベル_高校"/>
          <p:cNvSpPr txBox="1"/>
          <p:nvPr/>
        </p:nvSpPr>
        <p:spPr>
          <a:xfrm rot="19800000">
            <a:off x="4700615" y="2308855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442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高校</a:t>
            </a:r>
          </a:p>
        </p:txBody>
      </p:sp>
      <p:cxnSp>
        <p:nvCxnSpPr>
          <p:cNvPr id="46" name="接続線_高校"/>
          <p:cNvCxnSpPr/>
          <p:nvPr/>
        </p:nvCxnSpPr>
        <p:spPr>
          <a:xfrm>
            <a:off x="3932449" y="2226978"/>
            <a:ext cx="951726" cy="0"/>
          </a:xfrm>
          <a:prstGeom prst="line">
            <a:avLst/>
          </a:prstGeom>
          <a:ln w="25400">
            <a:solidFill>
              <a:srgbClr val="86D6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接続点_高校"/>
          <p:cNvSpPr/>
          <p:nvPr/>
        </p:nvSpPr>
        <p:spPr>
          <a:xfrm>
            <a:off x="4841891" y="2184694"/>
            <a:ext cx="84569" cy="84569"/>
          </a:xfrm>
          <a:prstGeom prst="ellipse">
            <a:avLst/>
          </a:prstGeom>
          <a:solidFill>
            <a:srgbClr val="86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カード_高校"/>
          <p:cNvSpPr/>
          <p:nvPr/>
        </p:nvSpPr>
        <p:spPr>
          <a:xfrm>
            <a:off x="620171" y="1606807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本文_高校"/>
          <p:cNvSpPr txBox="1"/>
          <p:nvPr/>
        </p:nvSpPr>
        <p:spPr>
          <a:xfrm>
            <a:off x="859783" y="1761850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高校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探究と進路に生きる実績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単位つきで受け入れやすく、探究テーマ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探しと面接で語れる実績になります。</a:t>
            </a:r>
          </a:p>
        </p:txBody>
      </p:sp>
      <p:sp>
        <p:nvSpPr>
          <p:cNvPr id="50" name="循環マーク白"/>
          <p:cNvSpPr/>
          <p:nvPr/>
        </p:nvSpPr>
        <p:spPr>
          <a:xfrm>
            <a:off x="5997336" y="2128314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循環マーク矢印"/>
          <p:cNvSpPr/>
          <p:nvPr/>
        </p:nvSpPr>
        <p:spPr>
          <a:xfrm>
            <a:off x="6067810" y="2198788"/>
            <a:ext cx="84569" cy="56380"/>
          </a:xfrm>
          <a:custGeom>
            <a:avLst/>
            <a:gdLst/>
            <a:ahLst/>
            <a:cxnLst/>
            <a:rect l="l" t="t" r="r" b="b"/>
            <a:pathLst>
              <a:path w="84569" h="56380">
                <a:moveTo>
                  <a:pt x="84569" y="28190"/>
                </a:moveTo>
                <a:lnTo>
                  <a:pt x="0" y="56380"/>
                </a:lnTo>
                <a:lnTo>
                  <a:pt x="0" y="0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循環マーク白"/>
          <p:cNvSpPr/>
          <p:nvPr/>
        </p:nvSpPr>
        <p:spPr>
          <a:xfrm>
            <a:off x="7437698" y="2959908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循環マーク矢印"/>
          <p:cNvSpPr/>
          <p:nvPr/>
        </p:nvSpPr>
        <p:spPr>
          <a:xfrm>
            <a:off x="7497854" y="3020063"/>
            <a:ext cx="66697" cy="87334"/>
          </a:xfrm>
          <a:custGeom>
            <a:avLst/>
            <a:gdLst/>
            <a:ahLst/>
            <a:cxnLst/>
            <a:rect l="l" t="t" r="r" b="b"/>
            <a:pathLst>
              <a:path w="66697" h="87334">
                <a:moveTo>
                  <a:pt x="66697" y="87334"/>
                </a:moveTo>
                <a:lnTo>
                  <a:pt x="0" y="28190"/>
                </a:lnTo>
                <a:lnTo>
                  <a:pt x="48826" y="0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循環マーク白"/>
          <p:cNvSpPr/>
          <p:nvPr/>
        </p:nvSpPr>
        <p:spPr>
          <a:xfrm>
            <a:off x="7437698" y="4623094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循環マーク矢印"/>
          <p:cNvSpPr/>
          <p:nvPr/>
        </p:nvSpPr>
        <p:spPr>
          <a:xfrm>
            <a:off x="7508172" y="4683250"/>
            <a:ext cx="66697" cy="87333"/>
          </a:xfrm>
          <a:custGeom>
            <a:avLst/>
            <a:gdLst/>
            <a:ahLst/>
            <a:cxnLst/>
            <a:rect l="l" t="t" r="r" b="b"/>
            <a:pathLst>
              <a:path w="66697" h="87333">
                <a:moveTo>
                  <a:pt x="0" y="87333"/>
                </a:moveTo>
                <a:lnTo>
                  <a:pt x="17871" y="0"/>
                </a:lnTo>
                <a:lnTo>
                  <a:pt x="66697" y="28189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循環マーク白"/>
          <p:cNvSpPr/>
          <p:nvPr/>
        </p:nvSpPr>
        <p:spPr>
          <a:xfrm>
            <a:off x="5997336" y="5454687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循環マーク矢印"/>
          <p:cNvSpPr/>
          <p:nvPr/>
        </p:nvSpPr>
        <p:spPr>
          <a:xfrm>
            <a:off x="6039621" y="5525161"/>
            <a:ext cx="84569" cy="56379"/>
          </a:xfrm>
          <a:custGeom>
            <a:avLst/>
            <a:gdLst/>
            <a:ahLst/>
            <a:cxnLst/>
            <a:rect l="l" t="t" r="r" b="b"/>
            <a:pathLst>
              <a:path w="84569" h="56379">
                <a:moveTo>
                  <a:pt x="0" y="28189"/>
                </a:moveTo>
                <a:lnTo>
                  <a:pt x="84569" y="0"/>
                </a:lnTo>
                <a:lnTo>
                  <a:pt x="84569" y="56379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循環マーク白"/>
          <p:cNvSpPr/>
          <p:nvPr/>
        </p:nvSpPr>
        <p:spPr>
          <a:xfrm>
            <a:off x="4556975" y="4623094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循環マーク矢印"/>
          <p:cNvSpPr/>
          <p:nvPr/>
        </p:nvSpPr>
        <p:spPr>
          <a:xfrm>
            <a:off x="4627449" y="4672931"/>
            <a:ext cx="66697" cy="87334"/>
          </a:xfrm>
          <a:custGeom>
            <a:avLst/>
            <a:gdLst/>
            <a:ahLst/>
            <a:cxnLst/>
            <a:rect l="l" t="t" r="r" b="b"/>
            <a:pathLst>
              <a:path w="66697" h="87334">
                <a:moveTo>
                  <a:pt x="0" y="0"/>
                </a:moveTo>
                <a:lnTo>
                  <a:pt x="66697" y="59144"/>
                </a:lnTo>
                <a:lnTo>
                  <a:pt x="17871" y="87334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循環マーク白"/>
          <p:cNvSpPr/>
          <p:nvPr/>
        </p:nvSpPr>
        <p:spPr>
          <a:xfrm>
            <a:off x="4556975" y="2959908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循環マーク矢印"/>
          <p:cNvSpPr/>
          <p:nvPr/>
        </p:nvSpPr>
        <p:spPr>
          <a:xfrm>
            <a:off x="4617131" y="3009745"/>
            <a:ext cx="66697" cy="87334"/>
          </a:xfrm>
          <a:custGeom>
            <a:avLst/>
            <a:gdLst/>
            <a:ahLst/>
            <a:cxnLst/>
            <a:rect l="l" t="t" r="r" b="b"/>
            <a:pathLst>
              <a:path w="66697" h="87334">
                <a:moveTo>
                  <a:pt x="66697" y="0"/>
                </a:moveTo>
                <a:lnTo>
                  <a:pt x="48826" y="87334"/>
                </a:lnTo>
                <a:lnTo>
                  <a:pt x="0" y="59144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 / 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施策　実習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どうブランドを育てていくか</a:t>
            </a:r>
          </a:p>
        </p:txBody>
      </p:sp>
      <p:sp>
        <p:nvSpPr>
          <p:cNvPr id="8" name="サブタイトル"/>
          <p:cNvSpPr txBox="1"/>
          <p:nvPr/>
        </p:nvSpPr>
        <p:spPr>
          <a:xfrm>
            <a:off x="620171" y="831593"/>
            <a:ext cx="8456879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実習の体験が声になり、声がサイトに載り、次の実習へつながる</a:t>
            </a:r>
          </a:p>
        </p:txBody>
      </p:sp>
      <p:sp>
        <p:nvSpPr>
          <p:cNvPr id="9" name="矢印_1から2"/>
          <p:cNvSpPr/>
          <p:nvPr/>
        </p:nvSpPr>
        <p:spPr>
          <a:xfrm>
            <a:off x="4848610" y="1860513"/>
            <a:ext cx="2494779" cy="451034"/>
          </a:xfrm>
          <a:prstGeom prst="rightArrow">
            <a:avLst>
              <a:gd name="adj1" fmla="val 50000"/>
              <a:gd name="adj2" fmla="val 55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矢印_2から3"/>
          <p:cNvSpPr/>
          <p:nvPr/>
        </p:nvSpPr>
        <p:spPr>
          <a:xfrm>
            <a:off x="9316661" y="2804865"/>
            <a:ext cx="422844" cy="859783"/>
          </a:xfrm>
          <a:prstGeom prst="downArrow">
            <a:avLst>
              <a:gd name="adj1" fmla="val 50000"/>
              <a:gd name="adj2" fmla="val 55000"/>
            </a:avLst>
          </a:prstGeom>
          <a:solidFill>
            <a:srgbClr val="86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矢印_3から4"/>
          <p:cNvSpPr/>
          <p:nvPr/>
        </p:nvSpPr>
        <p:spPr>
          <a:xfrm>
            <a:off x="4848610" y="4157965"/>
            <a:ext cx="2494779" cy="451034"/>
          </a:xfrm>
          <a:prstGeom prst="leftArrow">
            <a:avLst>
              <a:gd name="adj1" fmla="val 50000"/>
              <a:gd name="adj2" fmla="val 55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矢印_4から1"/>
          <p:cNvSpPr/>
          <p:nvPr/>
        </p:nvSpPr>
        <p:spPr>
          <a:xfrm>
            <a:off x="2452495" y="2804865"/>
            <a:ext cx="422844" cy="859783"/>
          </a:xfrm>
          <a:prstGeom prst="upArrow">
            <a:avLst>
              <a:gd name="adj1" fmla="val 50000"/>
              <a:gd name="adj2" fmla="val 55000"/>
            </a:avLst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循環ラベル"/>
          <p:cNvSpPr txBox="1"/>
          <p:nvPr/>
        </p:nvSpPr>
        <p:spPr>
          <a:xfrm>
            <a:off x="3030382" y="3129045"/>
            <a:ext cx="2537064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4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次の共育実習につながる</a:t>
            </a:r>
          </a:p>
        </p:txBody>
      </p:sp>
      <p:sp>
        <p:nvSpPr>
          <p:cNvPr id="14" name="広がる輪"/>
          <p:cNvSpPr/>
          <p:nvPr/>
        </p:nvSpPr>
        <p:spPr>
          <a:xfrm>
            <a:off x="5264407" y="2346784"/>
            <a:ext cx="1663186" cy="1663186"/>
          </a:xfrm>
          <a:prstGeom prst="ellipse">
            <a:avLst/>
          </a:prstGeom>
          <a:solidFill>
            <a:srgbClr val="DD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広がる輪"/>
          <p:cNvSpPr/>
          <p:nvPr/>
        </p:nvSpPr>
        <p:spPr>
          <a:xfrm>
            <a:off x="5461734" y="2544111"/>
            <a:ext cx="1268532" cy="1268532"/>
          </a:xfrm>
          <a:prstGeom prst="ellipse">
            <a:avLst/>
          </a:prstGeom>
          <a:solidFill>
            <a:srgbClr val="B5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広がる輪"/>
          <p:cNvSpPr/>
          <p:nvPr/>
        </p:nvSpPr>
        <p:spPr>
          <a:xfrm>
            <a:off x="5659061" y="2741438"/>
            <a:ext cx="873877" cy="873877"/>
          </a:xfrm>
          <a:prstGeom prst="ellipse">
            <a:avLst/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中央"/>
          <p:cNvSpPr txBox="1"/>
          <p:nvPr/>
        </p:nvSpPr>
        <p:spPr>
          <a:xfrm>
            <a:off x="5673156" y="2981050"/>
            <a:ext cx="845688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98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実習</a:t>
            </a:r>
          </a:p>
          <a:p>
            <a:pPr algn="ctr">
              <a:lnSpc>
                <a:spcPts val="1598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ブランド</a:t>
            </a:r>
          </a:p>
        </p:txBody>
      </p:sp>
      <p:sp>
        <p:nvSpPr>
          <p:cNvPr id="18" name="帯"/>
          <p:cNvSpPr/>
          <p:nvPr/>
        </p:nvSpPr>
        <p:spPr>
          <a:xfrm>
            <a:off x="5419450" y="4080444"/>
            <a:ext cx="1353101" cy="267801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帯文字"/>
          <p:cNvSpPr txBox="1"/>
          <p:nvPr/>
        </p:nvSpPr>
        <p:spPr>
          <a:xfrm>
            <a:off x="5419450" y="4080444"/>
            <a:ext cx="1353101" cy="26780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回るほど育つ</a:t>
            </a:r>
          </a:p>
        </p:txBody>
      </p:sp>
      <p:sp>
        <p:nvSpPr>
          <p:cNvPr id="20" name="カード_共育実習を行う"/>
          <p:cNvSpPr/>
          <p:nvPr/>
        </p:nvSpPr>
        <p:spPr>
          <a:xfrm>
            <a:off x="620171" y="1465859"/>
            <a:ext cx="4087491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番号"/>
          <p:cNvSpPr/>
          <p:nvPr/>
        </p:nvSpPr>
        <p:spPr>
          <a:xfrm>
            <a:off x="859783" y="1677281"/>
            <a:ext cx="394654" cy="39465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番号1"/>
          <p:cNvSpPr txBox="1"/>
          <p:nvPr/>
        </p:nvSpPr>
        <p:spPr>
          <a:xfrm>
            <a:off x="859783" y="1677281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23" name="見出し_共育実習を行う"/>
          <p:cNvSpPr txBox="1"/>
          <p:nvPr/>
        </p:nvSpPr>
        <p:spPr>
          <a:xfrm>
            <a:off x="1423575" y="1677281"/>
            <a:ext cx="3030382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130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共育実習を行う</a:t>
            </a:r>
          </a:p>
        </p:txBody>
      </p:sp>
      <p:sp>
        <p:nvSpPr>
          <p:cNvPr id="24" name="説明_共育実習を行う"/>
          <p:cNvSpPr txBox="1"/>
          <p:nvPr/>
        </p:nvSpPr>
        <p:spPr>
          <a:xfrm>
            <a:off x="859783" y="2170599"/>
            <a:ext cx="3608268" cy="4651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高校・専門学校・大学で</a:t>
            </a:r>
          </a:p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共育実習を実施します。</a:t>
            </a:r>
          </a:p>
        </p:txBody>
      </p:sp>
      <p:sp>
        <p:nvSpPr>
          <p:cNvPr id="25" name="カード_声が集まる"/>
          <p:cNvSpPr/>
          <p:nvPr/>
        </p:nvSpPr>
        <p:spPr>
          <a:xfrm>
            <a:off x="7484338" y="1465859"/>
            <a:ext cx="4087491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番号"/>
          <p:cNvSpPr/>
          <p:nvPr/>
        </p:nvSpPr>
        <p:spPr>
          <a:xfrm>
            <a:off x="7723949" y="1677281"/>
            <a:ext cx="394654" cy="394654"/>
          </a:xfrm>
          <a:prstGeom prst="ellipse">
            <a:avLst/>
          </a:prstGeom>
          <a:solidFill>
            <a:srgbClr val="86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番号2"/>
          <p:cNvSpPr txBox="1"/>
          <p:nvPr/>
        </p:nvSpPr>
        <p:spPr>
          <a:xfrm>
            <a:off x="7723949" y="1677281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28" name="見出し_声が集まる"/>
          <p:cNvSpPr txBox="1"/>
          <p:nvPr/>
        </p:nvSpPr>
        <p:spPr>
          <a:xfrm>
            <a:off x="8287741" y="1677281"/>
            <a:ext cx="3030382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130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声が集まる</a:t>
            </a:r>
          </a:p>
        </p:txBody>
      </p:sp>
      <p:sp>
        <p:nvSpPr>
          <p:cNvPr id="29" name="説明_声が集まる"/>
          <p:cNvSpPr txBox="1"/>
          <p:nvPr/>
        </p:nvSpPr>
        <p:spPr>
          <a:xfrm>
            <a:off x="7723949" y="2170599"/>
            <a:ext cx="3608268" cy="4651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学生・先生・社員・</a:t>
            </a:r>
          </a:p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利用者さんの声が集まります。</a:t>
            </a:r>
          </a:p>
        </p:txBody>
      </p:sp>
      <p:sp>
        <p:nvSpPr>
          <p:cNvPr id="30" name="カード_実習サイトに載せる"/>
          <p:cNvSpPr/>
          <p:nvPr/>
        </p:nvSpPr>
        <p:spPr>
          <a:xfrm>
            <a:off x="7484338" y="3763311"/>
            <a:ext cx="4087491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番号"/>
          <p:cNvSpPr/>
          <p:nvPr/>
        </p:nvSpPr>
        <p:spPr>
          <a:xfrm>
            <a:off x="7723949" y="3974733"/>
            <a:ext cx="394654" cy="39465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番号3"/>
          <p:cNvSpPr txBox="1"/>
          <p:nvPr/>
        </p:nvSpPr>
        <p:spPr>
          <a:xfrm>
            <a:off x="7723949" y="3974733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33" name="見出し_実習サイトに載せる"/>
          <p:cNvSpPr txBox="1"/>
          <p:nvPr/>
        </p:nvSpPr>
        <p:spPr>
          <a:xfrm>
            <a:off x="8287741" y="3974733"/>
            <a:ext cx="3030382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130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実習サイトに載せる</a:t>
            </a:r>
          </a:p>
        </p:txBody>
      </p:sp>
      <p:sp>
        <p:nvSpPr>
          <p:cNvPr id="34" name="説明_実習サイトに載せる"/>
          <p:cNvSpPr txBox="1"/>
          <p:nvPr/>
        </p:nvSpPr>
        <p:spPr>
          <a:xfrm>
            <a:off x="7723949" y="4468051"/>
            <a:ext cx="3608268" cy="4651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プログラム内容と</a:t>
            </a:r>
          </a:p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口コミを掲載します。</a:t>
            </a:r>
          </a:p>
        </p:txBody>
      </p:sp>
      <p:sp>
        <p:nvSpPr>
          <p:cNvPr id="35" name="カード_見て、動く"/>
          <p:cNvSpPr/>
          <p:nvPr/>
        </p:nvSpPr>
        <p:spPr>
          <a:xfrm>
            <a:off x="620171" y="3763311"/>
            <a:ext cx="4087491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番号"/>
          <p:cNvSpPr/>
          <p:nvPr/>
        </p:nvSpPr>
        <p:spPr>
          <a:xfrm>
            <a:off x="859783" y="3974733"/>
            <a:ext cx="394654" cy="394654"/>
          </a:xfrm>
          <a:prstGeom prst="ellipse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番号4"/>
          <p:cNvSpPr txBox="1"/>
          <p:nvPr/>
        </p:nvSpPr>
        <p:spPr>
          <a:xfrm>
            <a:off x="859783" y="3974733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4</a:t>
            </a:r>
          </a:p>
        </p:txBody>
      </p:sp>
      <p:sp>
        <p:nvSpPr>
          <p:cNvPr id="38" name="見出し_見て、動く"/>
          <p:cNvSpPr txBox="1"/>
          <p:nvPr/>
        </p:nvSpPr>
        <p:spPr>
          <a:xfrm>
            <a:off x="1423575" y="3974733"/>
            <a:ext cx="3030382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130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見て、動く</a:t>
            </a:r>
          </a:p>
        </p:txBody>
      </p:sp>
      <p:sp>
        <p:nvSpPr>
          <p:cNvPr id="39" name="説明_見て、動く"/>
          <p:cNvSpPr txBox="1"/>
          <p:nvPr/>
        </p:nvSpPr>
        <p:spPr>
          <a:xfrm>
            <a:off x="859783" y="4468051"/>
            <a:ext cx="3608268" cy="4651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学校は受け入れを判断し、</a:t>
            </a:r>
          </a:p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次の学生は参加を決めます。</a:t>
            </a:r>
          </a:p>
        </p:txBody>
      </p:sp>
      <p:sp>
        <p:nvSpPr>
          <p:cNvPr id="40" name="サイトに載せるもの"/>
          <p:cNvSpPr/>
          <p:nvPr/>
        </p:nvSpPr>
        <p:spPr>
          <a:xfrm>
            <a:off x="620171" y="5215075"/>
            <a:ext cx="5637919" cy="1141679"/>
          </a:xfrm>
          <a:prstGeom prst="roundRect">
            <a:avLst>
              <a:gd name="adj" fmla="val 12345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ほかの施策"/>
          <p:cNvSpPr/>
          <p:nvPr/>
        </p:nvSpPr>
        <p:spPr>
          <a:xfrm>
            <a:off x="6469512" y="5215075"/>
            <a:ext cx="5102317" cy="1141679"/>
          </a:xfrm>
          <a:prstGeom prst="roundRect">
            <a:avLst>
              <a:gd name="adj" fmla="val 12345"/>
            </a:avLst>
          </a:prstGeom>
          <a:solidFill>
            <a:srgbClr val="F6F9F8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サイトに載せるもの本文"/>
          <p:cNvSpPr txBox="1"/>
          <p:nvPr/>
        </p:nvSpPr>
        <p:spPr>
          <a:xfrm>
            <a:off x="873877" y="5341928"/>
            <a:ext cx="5144601" cy="972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221"/>
              </a:spcAft>
            </a:pP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サイトに載せるもの</a:t>
            </a:r>
          </a:p>
          <a:p>
            <a:pPr algn="l">
              <a:lnSpc>
                <a:spcPts val="1528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プログラム内容と口コミ。学校の先生が受け入れを判断でき、学生が参加を決められる状態にする。</a:t>
            </a:r>
          </a:p>
        </p:txBody>
      </p:sp>
      <p:sp>
        <p:nvSpPr>
          <p:cNvPr id="43" name="ほかの施策本文"/>
          <p:cNvSpPr txBox="1"/>
          <p:nvPr/>
        </p:nvSpPr>
        <p:spPr>
          <a:xfrm>
            <a:off x="6723218" y="5341928"/>
            <a:ext cx="4594904" cy="972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221"/>
              </a:spcAft>
            </a:pPr>
            <a:r>
              <a:rPr sz="1331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ほかの施策</a:t>
            </a:r>
          </a:p>
          <a:p>
            <a:pPr algn="l">
              <a:lnSpc>
                <a:spcPts val="1528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関連大学・専門学校を増やす／対応地域／産官学で連携（次世代の育成を地域のみなさんで実施）</a:t>
            </a:r>
          </a:p>
        </p:txBody>
      </p:sp>
      <p:sp>
        <p:nvSpPr>
          <p:cNvPr id="44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実習応募サイト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実習応募サイトの全体像</a:t>
            </a:r>
          </a:p>
        </p:txBody>
      </p:sp>
      <p:sp>
        <p:nvSpPr>
          <p:cNvPr id="8" name="コンセプト"/>
          <p:cNvSpPr/>
          <p:nvPr/>
        </p:nvSpPr>
        <p:spPr>
          <a:xfrm>
            <a:off x="620171" y="1465859"/>
            <a:ext cx="4961369" cy="3467320"/>
          </a:xfrm>
          <a:prstGeom prst="roundRect">
            <a:avLst>
              <a:gd name="adj" fmla="val 4878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コンセプト本文"/>
          <p:cNvSpPr txBox="1"/>
          <p:nvPr/>
        </p:nvSpPr>
        <p:spPr>
          <a:xfrm>
            <a:off x="986636" y="1775945"/>
            <a:ext cx="4228439" cy="29035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98"/>
              </a:lnSpc>
              <a:spcBef>
                <a:spcPts val="0"/>
              </a:spcBef>
              <a:spcAft>
                <a:spcPts val="776"/>
              </a:spcAft>
            </a:pPr>
            <a:r>
              <a:rPr sz="998" b="1" spc="500">
                <a:solidFill>
                  <a:srgbClr val="D9F6EE"/>
                </a:solidFill>
                <a:latin typeface="游ゴシック"/>
                <a:ea typeface="游ゴシック"/>
                <a:cs typeface="游ゴシック"/>
              </a:rPr>
              <a:t>CARE PRACTICE</a:t>
            </a:r>
          </a:p>
          <a:p>
            <a:pPr algn="l">
              <a:lnSpc>
                <a:spcPts val="4554"/>
              </a:lnSpc>
              <a:spcBef>
                <a:spcPts val="0"/>
              </a:spcBef>
              <a:spcAft>
                <a:spcPts val="0"/>
              </a:spcAft>
            </a:pPr>
            <a:r>
              <a:rPr sz="421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FUN LIFE!</a:t>
            </a:r>
          </a:p>
          <a:p>
            <a:pPr algn="l">
              <a:lnSpc>
                <a:spcPts val="4554"/>
              </a:lnSpc>
              <a:spcBef>
                <a:spcPts val="0"/>
              </a:spcBef>
              <a:spcAft>
                <a:spcPts val="1220"/>
              </a:spcAft>
            </a:pPr>
            <a:r>
              <a:rPr sz="4217" b="1">
                <a:solidFill>
                  <a:srgbClr val="FFE08A"/>
                </a:solidFill>
                <a:latin typeface="游ゴシック"/>
                <a:ea typeface="游ゴシック"/>
                <a:cs typeface="游ゴシック"/>
              </a:rPr>
              <a:t>FUN LOCAL!</a:t>
            </a:r>
          </a:p>
          <a:p>
            <a:pPr algn="l">
              <a:lnSpc>
                <a:spcPts val="2164"/>
              </a:lnSpc>
              <a:spcBef>
                <a:spcPts val="0"/>
              </a:spcBef>
              <a:spcAft>
                <a:spcPts val="776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生きがい、持ち寄る。地域の未来。</a:t>
            </a:r>
          </a:p>
          <a:p>
            <a:pPr algn="l">
              <a:lnSpc>
                <a:spcPts val="1720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介護や老後の話は、なんだか暗い。そんなイメージを、一緒にひっくり返したい。</a:t>
            </a:r>
          </a:p>
        </p:txBody>
      </p:sp>
      <p:sp>
        <p:nvSpPr>
          <p:cNvPr id="10" name="カード_目的"/>
          <p:cNvSpPr/>
          <p:nvPr/>
        </p:nvSpPr>
        <p:spPr>
          <a:xfrm>
            <a:off x="5807057" y="1465859"/>
            <a:ext cx="2769628" cy="1620902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本文_目的"/>
          <p:cNvSpPr txBox="1"/>
          <p:nvPr/>
        </p:nvSpPr>
        <p:spPr>
          <a:xfrm>
            <a:off x="6046668" y="1663186"/>
            <a:ext cx="2290405" cy="13390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98"/>
              </a:lnSpc>
              <a:spcBef>
                <a:spcPts val="0"/>
              </a:spcBef>
              <a:spcAft>
                <a:spcPts val="554"/>
              </a:spcAft>
            </a:pPr>
            <a:r>
              <a:rPr sz="998" b="1" spc="1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目的</a:t>
            </a:r>
          </a:p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387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介護の現場を実際に体験し、</a:t>
            </a:r>
          </a:p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387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仕事のイメージをつかむ</a:t>
            </a:r>
          </a:p>
        </p:txBody>
      </p:sp>
      <p:sp>
        <p:nvSpPr>
          <p:cNvPr id="12" name="カード_対象"/>
          <p:cNvSpPr/>
          <p:nvPr/>
        </p:nvSpPr>
        <p:spPr>
          <a:xfrm>
            <a:off x="8802201" y="1465859"/>
            <a:ext cx="2769628" cy="1620902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本文_対象"/>
          <p:cNvSpPr txBox="1"/>
          <p:nvPr/>
        </p:nvSpPr>
        <p:spPr>
          <a:xfrm>
            <a:off x="9041813" y="1663186"/>
            <a:ext cx="2290405" cy="13390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98"/>
              </a:lnSpc>
              <a:spcBef>
                <a:spcPts val="0"/>
              </a:spcBef>
              <a:spcAft>
                <a:spcPts val="554"/>
              </a:spcAft>
            </a:pPr>
            <a:r>
              <a:rPr sz="998" b="1" spc="1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対象</a:t>
            </a:r>
          </a:p>
          <a:p>
            <a:pPr algn="l">
              <a:lnSpc>
                <a:spcPts val="1914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学生のみなさん</a:t>
            </a:r>
          </a:p>
          <a:p>
            <a:pPr algn="l">
              <a:lnSpc>
                <a:spcPts val="1914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保護者・先生もご覧ください</a:t>
            </a:r>
          </a:p>
        </p:txBody>
      </p:sp>
      <p:sp>
        <p:nvSpPr>
          <p:cNvPr id="14" name="カード_費用"/>
          <p:cNvSpPr/>
          <p:nvPr/>
        </p:nvSpPr>
        <p:spPr>
          <a:xfrm>
            <a:off x="5807057" y="3312277"/>
            <a:ext cx="2769628" cy="1620902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本文_費用"/>
          <p:cNvSpPr txBox="1"/>
          <p:nvPr/>
        </p:nvSpPr>
        <p:spPr>
          <a:xfrm>
            <a:off x="6046668" y="3509605"/>
            <a:ext cx="2290405" cy="13390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98"/>
              </a:lnSpc>
              <a:spcBef>
                <a:spcPts val="0"/>
              </a:spcBef>
              <a:spcAft>
                <a:spcPts val="554"/>
              </a:spcAft>
            </a:pPr>
            <a:r>
              <a:rPr sz="998" b="1" spc="1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費用</a:t>
            </a:r>
          </a:p>
          <a:p>
            <a:pPr algn="l">
              <a:lnSpc>
                <a:spcPts val="3828"/>
              </a:lnSpc>
              <a:spcBef>
                <a:spcPts val="0"/>
              </a:spcBef>
              <a:spcAft>
                <a:spcPts val="110"/>
              </a:spcAft>
            </a:pPr>
            <a:r>
              <a:rPr sz="332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無償</a:t>
            </a:r>
          </a:p>
          <a:p>
            <a:pPr algn="l">
              <a:lnSpc>
                <a:spcPts val="1476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実習は無料で参加できます</a:t>
            </a:r>
          </a:p>
        </p:txBody>
      </p:sp>
      <p:sp>
        <p:nvSpPr>
          <p:cNvPr id="16" name="カード_期間・時間"/>
          <p:cNvSpPr/>
          <p:nvPr/>
        </p:nvSpPr>
        <p:spPr>
          <a:xfrm>
            <a:off x="8802201" y="3312277"/>
            <a:ext cx="2769628" cy="1620902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本文_期間・時間"/>
          <p:cNvSpPr txBox="1"/>
          <p:nvPr/>
        </p:nvSpPr>
        <p:spPr>
          <a:xfrm>
            <a:off x="9041813" y="3509605"/>
            <a:ext cx="2290405" cy="13390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98"/>
              </a:lnSpc>
              <a:spcBef>
                <a:spcPts val="0"/>
              </a:spcBef>
              <a:spcAft>
                <a:spcPts val="554"/>
              </a:spcAft>
            </a:pPr>
            <a:r>
              <a:rPr sz="998" b="1" spc="1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期間・時間</a:t>
            </a:r>
          </a:p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387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1DAY　9:30〜15:00ごろ</a:t>
            </a:r>
          </a:p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387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5DAYS　5日間じっくり</a:t>
            </a:r>
          </a:p>
        </p:txBody>
      </p:sp>
      <p:sp>
        <p:nvSpPr>
          <p:cNvPr id="18" name="カード_拠点"/>
          <p:cNvSpPr/>
          <p:nvPr/>
        </p:nvSpPr>
        <p:spPr>
          <a:xfrm>
            <a:off x="620171" y="5158696"/>
            <a:ext cx="2568777" cy="1198058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本文_拠点"/>
          <p:cNvSpPr txBox="1"/>
          <p:nvPr/>
        </p:nvSpPr>
        <p:spPr>
          <a:xfrm>
            <a:off x="859783" y="5341928"/>
            <a:ext cx="2145933" cy="916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528"/>
              </a:lnSpc>
              <a:spcBef>
                <a:spcPts val="0"/>
              </a:spcBef>
              <a:spcAft>
                <a:spcPts val="221"/>
              </a:spcAft>
            </a:pPr>
            <a:r>
              <a:rPr sz="3773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109</a:t>
            </a: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 拠点</a:t>
            </a:r>
          </a:p>
          <a:p>
            <a:pPr algn="l">
              <a:lnSpc>
                <a:spcPts val="1476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信越・北関東に展開</a:t>
            </a:r>
          </a:p>
        </p:txBody>
      </p:sp>
      <p:sp>
        <p:nvSpPr>
          <p:cNvPr id="20" name="カード_種のサービス"/>
          <p:cNvSpPr/>
          <p:nvPr/>
        </p:nvSpPr>
        <p:spPr>
          <a:xfrm>
            <a:off x="3414465" y="5158696"/>
            <a:ext cx="2568777" cy="1198058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本文_種のサービス"/>
          <p:cNvSpPr txBox="1"/>
          <p:nvPr/>
        </p:nvSpPr>
        <p:spPr>
          <a:xfrm>
            <a:off x="3654076" y="5341928"/>
            <a:ext cx="2145933" cy="916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528"/>
              </a:lnSpc>
              <a:spcBef>
                <a:spcPts val="0"/>
              </a:spcBef>
              <a:spcAft>
                <a:spcPts val="221"/>
              </a:spcAft>
            </a:pPr>
            <a:r>
              <a:rPr sz="3773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7</a:t>
            </a: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 種のサービス</a:t>
            </a:r>
          </a:p>
          <a:p>
            <a:pPr algn="l">
              <a:lnSpc>
                <a:spcPts val="1476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ホーム・デイ・訪問など</a:t>
            </a:r>
          </a:p>
        </p:txBody>
      </p:sp>
      <p:sp>
        <p:nvSpPr>
          <p:cNvPr id="22" name="カード_つのプログラム"/>
          <p:cNvSpPr/>
          <p:nvPr/>
        </p:nvSpPr>
        <p:spPr>
          <a:xfrm>
            <a:off x="6208758" y="5158696"/>
            <a:ext cx="2568777" cy="1198058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本文_つのプログラム"/>
          <p:cNvSpPr txBox="1"/>
          <p:nvPr/>
        </p:nvSpPr>
        <p:spPr>
          <a:xfrm>
            <a:off x="6448370" y="5341928"/>
            <a:ext cx="2145933" cy="916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528"/>
              </a:lnSpc>
              <a:spcBef>
                <a:spcPts val="0"/>
              </a:spcBef>
              <a:spcAft>
                <a:spcPts val="221"/>
              </a:spcAft>
            </a:pPr>
            <a:r>
              <a:rPr sz="3773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2</a:t>
            </a: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 つのプログラム</a:t>
            </a:r>
          </a:p>
          <a:p>
            <a:pPr algn="l">
              <a:lnSpc>
                <a:spcPts val="1476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1DAY と 5DAYS</a:t>
            </a:r>
          </a:p>
        </p:txBody>
      </p:sp>
      <p:sp>
        <p:nvSpPr>
          <p:cNvPr id="24" name="カード_事業所"/>
          <p:cNvSpPr/>
          <p:nvPr/>
        </p:nvSpPr>
        <p:spPr>
          <a:xfrm>
            <a:off x="9003052" y="5158696"/>
            <a:ext cx="2568777" cy="1198058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本文_事業所"/>
          <p:cNvSpPr txBox="1"/>
          <p:nvPr/>
        </p:nvSpPr>
        <p:spPr>
          <a:xfrm>
            <a:off x="9242664" y="5341928"/>
            <a:ext cx="2145933" cy="916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528"/>
              </a:lnSpc>
              <a:spcBef>
                <a:spcPts val="0"/>
              </a:spcBef>
              <a:spcAft>
                <a:spcPts val="221"/>
              </a:spcAft>
            </a:pPr>
            <a:r>
              <a:rPr sz="3773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9</a:t>
            </a: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 事業所</a:t>
            </a:r>
          </a:p>
          <a:p>
            <a:pPr algn="l">
              <a:lnSpc>
                <a:spcPts val="1476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360°ツアーで見学できる</a:t>
            </a:r>
          </a:p>
        </p:txBody>
      </p:sp>
      <p:sp>
        <p:nvSpPr>
          <p:cNvPr id="26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対象・期間・時間などはサイト上でも仮・調整中の内容です。</a:t>
            </a:r>
          </a:p>
        </p:txBody>
      </p:sp>
      <p:sp>
        <p:nvSpPr>
          <p:cNvPr id="27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介護への考え方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エフビー介護サービスの、介護への考え方</a:t>
            </a:r>
          </a:p>
        </p:txBody>
      </p:sp>
      <p:sp>
        <p:nvSpPr>
          <p:cNvPr id="8" name="夢"/>
          <p:cNvSpPr/>
          <p:nvPr/>
        </p:nvSpPr>
        <p:spPr>
          <a:xfrm>
            <a:off x="620171" y="1465859"/>
            <a:ext cx="10951658" cy="1212153"/>
          </a:xfrm>
          <a:prstGeom prst="roundRect">
            <a:avLst>
              <a:gd name="adj" fmla="val 11627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夢本文"/>
          <p:cNvSpPr txBox="1"/>
          <p:nvPr/>
        </p:nvSpPr>
        <p:spPr>
          <a:xfrm>
            <a:off x="930257" y="1649091"/>
            <a:ext cx="10331487" cy="972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98"/>
              </a:lnSpc>
              <a:spcBef>
                <a:spcPts val="0"/>
              </a:spcBef>
              <a:spcAft>
                <a:spcPts val="332"/>
              </a:spcAft>
            </a:pPr>
            <a:r>
              <a:rPr sz="998" b="1" spc="2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わたしたちの夢</a:t>
            </a:r>
          </a:p>
          <a:p>
            <a:pPr algn="l">
              <a:lnSpc>
                <a:spcPts val="2741"/>
              </a:lnSpc>
              <a:spcBef>
                <a:spcPts val="0"/>
              </a:spcBef>
              <a:spcAft>
                <a:spcPts val="554"/>
              </a:spcAft>
            </a:pPr>
            <a:r>
              <a:rPr sz="210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人生の最終ステージを、利用者様の幸せと満足で元気にする</a:t>
            </a:r>
          </a:p>
          <a:p>
            <a:pPr algn="l">
              <a:lnSpc>
                <a:spcPts val="1631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利用者様の笑顔と、数多くの「ありがとう」を求め、喜ばれること</a:t>
            </a:r>
          </a:p>
        </p:txBody>
      </p:sp>
      <p:sp>
        <p:nvSpPr>
          <p:cNvPr id="10" name="カード_創業からの想い"/>
          <p:cNvSpPr/>
          <p:nvPr/>
        </p:nvSpPr>
        <p:spPr>
          <a:xfrm>
            <a:off x="620171" y="2875339"/>
            <a:ext cx="5363071" cy="3481415"/>
          </a:xfrm>
          <a:prstGeom prst="roundRect">
            <a:avLst>
              <a:gd name="adj" fmla="val 404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見出し_創業からの想い"/>
          <p:cNvSpPr txBox="1"/>
          <p:nvPr/>
        </p:nvSpPr>
        <p:spPr>
          <a:xfrm>
            <a:off x="902067" y="3086761"/>
            <a:ext cx="479927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創業からの想い</a:t>
            </a:r>
          </a:p>
        </p:txBody>
      </p:sp>
      <p:cxnSp>
        <p:nvCxnSpPr>
          <p:cNvPr id="12" name="区切り"/>
          <p:cNvCxnSpPr/>
          <p:nvPr/>
        </p:nvCxnSpPr>
        <p:spPr>
          <a:xfrm>
            <a:off x="902067" y="3509605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番号"/>
          <p:cNvSpPr/>
          <p:nvPr/>
        </p:nvSpPr>
        <p:spPr>
          <a:xfrm>
            <a:off x="902067" y="3789151"/>
            <a:ext cx="366465" cy="366465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番号1"/>
          <p:cNvSpPr txBox="1"/>
          <p:nvPr/>
        </p:nvSpPr>
        <p:spPr>
          <a:xfrm>
            <a:off x="902067" y="3789151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5" name="創業からの想い_1"/>
          <p:cNvSpPr txBox="1"/>
          <p:nvPr/>
        </p:nvSpPr>
        <p:spPr>
          <a:xfrm>
            <a:off x="1465859" y="3580079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経営理念と介護方針を基本として、利用者様とご家族の安心感と満足を目指します</a:t>
            </a:r>
          </a:p>
        </p:txBody>
      </p:sp>
      <p:cxnSp>
        <p:nvCxnSpPr>
          <p:cNvPr id="16" name="区切り"/>
          <p:cNvCxnSpPr/>
          <p:nvPr/>
        </p:nvCxnSpPr>
        <p:spPr>
          <a:xfrm>
            <a:off x="902067" y="4435163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番号"/>
          <p:cNvSpPr/>
          <p:nvPr/>
        </p:nvSpPr>
        <p:spPr>
          <a:xfrm>
            <a:off x="902067" y="4714710"/>
            <a:ext cx="366465" cy="366465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番号2"/>
          <p:cNvSpPr txBox="1"/>
          <p:nvPr/>
        </p:nvSpPr>
        <p:spPr>
          <a:xfrm>
            <a:off x="902067" y="4714710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19" name="創業からの想い_2"/>
          <p:cNvSpPr txBox="1"/>
          <p:nvPr/>
        </p:nvSpPr>
        <p:spPr>
          <a:xfrm>
            <a:off x="1465859" y="4505637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心の温かい法人、事業所、そして心の優しい人間の集団になります</a:t>
            </a:r>
          </a:p>
        </p:txBody>
      </p:sp>
      <p:cxnSp>
        <p:nvCxnSpPr>
          <p:cNvPr id="20" name="区切り"/>
          <p:cNvCxnSpPr/>
          <p:nvPr/>
        </p:nvCxnSpPr>
        <p:spPr>
          <a:xfrm>
            <a:off x="902067" y="5360721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番号"/>
          <p:cNvSpPr/>
          <p:nvPr/>
        </p:nvSpPr>
        <p:spPr>
          <a:xfrm>
            <a:off x="902067" y="5640268"/>
            <a:ext cx="366465" cy="366465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番号3"/>
          <p:cNvSpPr txBox="1"/>
          <p:nvPr/>
        </p:nvSpPr>
        <p:spPr>
          <a:xfrm>
            <a:off x="902067" y="5640268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3" name="創業からの想い_3"/>
          <p:cNvSpPr txBox="1"/>
          <p:nvPr/>
        </p:nvSpPr>
        <p:spPr>
          <a:xfrm>
            <a:off x="1465859" y="5431195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利用者様に喜ばれる介護サービスと介護用品を提供し、スピーディーな対応に専心する社員になります</a:t>
            </a:r>
          </a:p>
        </p:txBody>
      </p:sp>
      <p:sp>
        <p:nvSpPr>
          <p:cNvPr id="24" name="カード_大切にしている姿勢"/>
          <p:cNvSpPr/>
          <p:nvPr/>
        </p:nvSpPr>
        <p:spPr>
          <a:xfrm>
            <a:off x="6208758" y="2875339"/>
            <a:ext cx="5363071" cy="3481415"/>
          </a:xfrm>
          <a:prstGeom prst="roundRect">
            <a:avLst>
              <a:gd name="adj" fmla="val 404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見出し_大切にしている姿勢"/>
          <p:cNvSpPr txBox="1"/>
          <p:nvPr/>
        </p:nvSpPr>
        <p:spPr>
          <a:xfrm>
            <a:off x="6490654" y="3086761"/>
            <a:ext cx="479927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大切にしている姿勢</a:t>
            </a:r>
          </a:p>
        </p:txBody>
      </p:sp>
      <p:cxnSp>
        <p:nvCxnSpPr>
          <p:cNvPr id="26" name="区切り"/>
          <p:cNvCxnSpPr/>
          <p:nvPr/>
        </p:nvCxnSpPr>
        <p:spPr>
          <a:xfrm>
            <a:off x="6490654" y="3509605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番号"/>
          <p:cNvSpPr/>
          <p:nvPr/>
        </p:nvSpPr>
        <p:spPr>
          <a:xfrm>
            <a:off x="6490654" y="3789151"/>
            <a:ext cx="366465" cy="366465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番号1"/>
          <p:cNvSpPr txBox="1"/>
          <p:nvPr/>
        </p:nvSpPr>
        <p:spPr>
          <a:xfrm>
            <a:off x="6490654" y="3789151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29" name="大切にしている姿勢_1"/>
          <p:cNvSpPr txBox="1"/>
          <p:nvPr/>
        </p:nvSpPr>
        <p:spPr>
          <a:xfrm>
            <a:off x="7054446" y="3580079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利用者様を「お客様」として敬い、その人としての尊厳を大切にします</a:t>
            </a:r>
          </a:p>
        </p:txBody>
      </p:sp>
      <p:cxnSp>
        <p:nvCxnSpPr>
          <p:cNvPr id="30" name="区切り"/>
          <p:cNvCxnSpPr/>
          <p:nvPr/>
        </p:nvCxnSpPr>
        <p:spPr>
          <a:xfrm>
            <a:off x="6490654" y="4435163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番号"/>
          <p:cNvSpPr/>
          <p:nvPr/>
        </p:nvSpPr>
        <p:spPr>
          <a:xfrm>
            <a:off x="6490654" y="4714710"/>
            <a:ext cx="366465" cy="366465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番号2"/>
          <p:cNvSpPr txBox="1"/>
          <p:nvPr/>
        </p:nvSpPr>
        <p:spPr>
          <a:xfrm>
            <a:off x="6490654" y="4714710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33" name="大切にしている姿勢_2"/>
          <p:cNvSpPr txBox="1"/>
          <p:nvPr/>
        </p:nvSpPr>
        <p:spPr>
          <a:xfrm>
            <a:off x="7054446" y="4505637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「自分の親を面倒見るつもりで」。笑顔・言葉づかい・態度の接遇に力を入れています</a:t>
            </a:r>
          </a:p>
        </p:txBody>
      </p:sp>
      <p:cxnSp>
        <p:nvCxnSpPr>
          <p:cNvPr id="34" name="区切り"/>
          <p:cNvCxnSpPr/>
          <p:nvPr/>
        </p:nvCxnSpPr>
        <p:spPr>
          <a:xfrm>
            <a:off x="6490654" y="5360721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番号"/>
          <p:cNvSpPr/>
          <p:nvPr/>
        </p:nvSpPr>
        <p:spPr>
          <a:xfrm>
            <a:off x="6490654" y="5640268"/>
            <a:ext cx="366465" cy="366465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番号3"/>
          <p:cNvSpPr txBox="1"/>
          <p:nvPr/>
        </p:nvSpPr>
        <p:spPr>
          <a:xfrm>
            <a:off x="6490654" y="5640268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37" name="大切にしている姿勢_3"/>
          <p:cNvSpPr txBox="1"/>
          <p:nvPr/>
        </p:nvSpPr>
        <p:spPr>
          <a:xfrm>
            <a:off x="7054446" y="5431195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介護する人・される人の区別なく、できることを持ち寄る。「誰かのためにはたらく」ことが生きがい</a:t>
            </a:r>
          </a:p>
        </p:txBody>
      </p:sp>
      <p:sp>
        <p:nvSpPr>
          <p:cNvPr id="38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出典：エフビー介護サービス 企業説明会資料／経営者ヒアリング（2025年）。文言は要約しています。</a:t>
            </a:r>
          </a:p>
        </p:txBody>
      </p:sp>
      <p:sp>
        <p:nvSpPr>
          <p:cNvPr id="39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時代の背景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人口は減り、高齢者は増える。介護の需要は広がり続ける</a:t>
            </a:r>
          </a:p>
        </p:txBody>
      </p:sp>
      <p:sp>
        <p:nvSpPr>
          <p:cNvPr id="8" name="人口カード"/>
          <p:cNvSpPr/>
          <p:nvPr/>
        </p:nvSpPr>
        <p:spPr>
          <a:xfrm>
            <a:off x="620171" y="1465859"/>
            <a:ext cx="6342659" cy="4890895"/>
          </a:xfrm>
          <a:prstGeom prst="roundRect">
            <a:avLst>
              <a:gd name="adj" fmla="val 288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人口見出し"/>
          <p:cNvSpPr txBox="1"/>
          <p:nvPr/>
        </p:nvSpPr>
        <p:spPr>
          <a:xfrm>
            <a:off x="902067" y="1677281"/>
            <a:ext cx="5778867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日本の人口推移（2020年 → 2050年）</a:t>
            </a:r>
          </a:p>
        </p:txBody>
      </p:sp>
      <p:sp>
        <p:nvSpPr>
          <p:cNvPr id="10" name="人口補足"/>
          <p:cNvSpPr txBox="1"/>
          <p:nvPr/>
        </p:nvSpPr>
        <p:spPr>
          <a:xfrm>
            <a:off x="902067" y="1973272"/>
            <a:ext cx="5778867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総人口（万人）と、65歳以上の割合（高齢化率）</a:t>
            </a:r>
          </a:p>
        </p:txBody>
      </p:sp>
      <p:graphicFrame>
        <p:nvGraphicFramePr>
          <p:cNvPr id="11" name="総人口グラフ"/>
          <p:cNvGraphicFramePr>
            <a:graphicFrameLocks noGrp="1"/>
          </p:cNvGraphicFramePr>
          <p:nvPr/>
        </p:nvGraphicFramePr>
        <p:xfrm>
          <a:off x="831593" y="2241073"/>
          <a:ext cx="5919815" cy="232564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高齢化率_2020年"/>
          <p:cNvSpPr/>
          <p:nvPr/>
        </p:nvSpPr>
        <p:spPr>
          <a:xfrm>
            <a:off x="902067" y="5031843"/>
            <a:ext cx="1813531" cy="1057110"/>
          </a:xfrm>
          <a:prstGeom prst="roundRect">
            <a:avLst>
              <a:gd name="adj" fmla="val 10666"/>
            </a:avLst>
          </a:prstGeom>
          <a:solidFill>
            <a:srgbClr val="F6F9F8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高齢化率本文_2020年"/>
          <p:cNvSpPr txBox="1"/>
          <p:nvPr/>
        </p:nvSpPr>
        <p:spPr>
          <a:xfrm>
            <a:off x="1071205" y="5144601"/>
            <a:ext cx="1475255" cy="8456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4"/>
              </a:lnSpc>
              <a:spcBef>
                <a:spcPts val="0"/>
              </a:spcBef>
              <a:spcAft>
                <a:spcPts val="110"/>
              </a:spcAft>
            </a:pPr>
            <a:r>
              <a:rPr sz="887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高齢化率（65歳以上）</a:t>
            </a:r>
          </a:p>
          <a:p>
            <a:pPr algn="l">
              <a:lnSpc>
                <a:spcPts val="2935"/>
              </a:lnSpc>
              <a:spcBef>
                <a:spcPts val="0"/>
              </a:spcBef>
              <a:spcAft>
                <a:spcPts val="0"/>
              </a:spcAft>
            </a:pPr>
            <a:r>
              <a:rPr sz="2552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28.6%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65歳以上　約3,619万人</a:t>
            </a:r>
          </a:p>
        </p:txBody>
      </p:sp>
      <p:sp>
        <p:nvSpPr>
          <p:cNvPr id="14" name="高齢化率_2040年"/>
          <p:cNvSpPr/>
          <p:nvPr/>
        </p:nvSpPr>
        <p:spPr>
          <a:xfrm>
            <a:off x="2884735" y="5031843"/>
            <a:ext cx="1813531" cy="1057110"/>
          </a:xfrm>
          <a:prstGeom prst="roundRect">
            <a:avLst>
              <a:gd name="adj" fmla="val 10666"/>
            </a:avLst>
          </a:prstGeom>
          <a:solidFill>
            <a:srgbClr val="F6F9F8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高齢化率本文_2040年"/>
          <p:cNvSpPr txBox="1"/>
          <p:nvPr/>
        </p:nvSpPr>
        <p:spPr>
          <a:xfrm>
            <a:off x="3053873" y="5144601"/>
            <a:ext cx="1475255" cy="8456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4"/>
              </a:lnSpc>
              <a:spcBef>
                <a:spcPts val="0"/>
              </a:spcBef>
              <a:spcAft>
                <a:spcPts val="110"/>
              </a:spcAft>
            </a:pPr>
            <a:r>
              <a:rPr sz="887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高齢化率（65歳以上）</a:t>
            </a:r>
          </a:p>
          <a:p>
            <a:pPr algn="l">
              <a:lnSpc>
                <a:spcPts val="2935"/>
              </a:lnSpc>
              <a:spcBef>
                <a:spcPts val="0"/>
              </a:spcBef>
              <a:spcAft>
                <a:spcPts val="0"/>
              </a:spcAft>
            </a:pPr>
            <a:r>
              <a:rPr sz="2552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34.8%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65歳以上　約3,928万人</a:t>
            </a:r>
          </a:p>
        </p:txBody>
      </p:sp>
      <p:sp>
        <p:nvSpPr>
          <p:cNvPr id="16" name="高齢化率_2050年"/>
          <p:cNvSpPr/>
          <p:nvPr/>
        </p:nvSpPr>
        <p:spPr>
          <a:xfrm>
            <a:off x="4867403" y="5031843"/>
            <a:ext cx="1813531" cy="1057110"/>
          </a:xfrm>
          <a:prstGeom prst="roundRect">
            <a:avLst>
              <a:gd name="adj" fmla="val 10666"/>
            </a:avLst>
          </a:prstGeom>
          <a:solidFill>
            <a:srgbClr val="F6F9F8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高齢化率本文_2050年"/>
          <p:cNvSpPr txBox="1"/>
          <p:nvPr/>
        </p:nvSpPr>
        <p:spPr>
          <a:xfrm>
            <a:off x="5036541" y="5144601"/>
            <a:ext cx="1475255" cy="8456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4"/>
              </a:lnSpc>
              <a:spcBef>
                <a:spcPts val="0"/>
              </a:spcBef>
              <a:spcAft>
                <a:spcPts val="110"/>
              </a:spcAft>
            </a:pPr>
            <a:r>
              <a:rPr sz="887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高齢化率（65歳以上）</a:t>
            </a:r>
          </a:p>
          <a:p>
            <a:pPr algn="l">
              <a:lnSpc>
                <a:spcPts val="2935"/>
              </a:lnSpc>
              <a:spcBef>
                <a:spcPts val="0"/>
              </a:spcBef>
              <a:spcAft>
                <a:spcPts val="0"/>
              </a:spcAft>
            </a:pPr>
            <a:r>
              <a:rPr sz="2552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37.1%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65歳以上　約3,880万人</a:t>
            </a:r>
          </a:p>
        </p:txBody>
      </p:sp>
      <p:sp>
        <p:nvSpPr>
          <p:cNvPr id="18" name="市場カード"/>
          <p:cNvSpPr/>
          <p:nvPr/>
        </p:nvSpPr>
        <p:spPr>
          <a:xfrm>
            <a:off x="7188347" y="1465859"/>
            <a:ext cx="4383482" cy="4890895"/>
          </a:xfrm>
          <a:prstGeom prst="roundRect">
            <a:avLst>
              <a:gd name="adj" fmla="val 3215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市場見出し"/>
          <p:cNvSpPr txBox="1"/>
          <p:nvPr/>
        </p:nvSpPr>
        <p:spPr>
          <a:xfrm>
            <a:off x="7470243" y="1677281"/>
            <a:ext cx="3819690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介護費の見通し</a:t>
            </a:r>
          </a:p>
        </p:txBody>
      </p:sp>
      <p:sp>
        <p:nvSpPr>
          <p:cNvPr id="20" name="市場補足"/>
          <p:cNvSpPr txBox="1"/>
          <p:nvPr/>
        </p:nvSpPr>
        <p:spPr>
          <a:xfrm>
            <a:off x="7470243" y="1973272"/>
            <a:ext cx="3819690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公的な見通し（兆円）</a:t>
            </a:r>
          </a:p>
        </p:txBody>
      </p:sp>
      <p:sp>
        <p:nvSpPr>
          <p:cNvPr id="21" name="棒_2018年度"/>
          <p:cNvSpPr/>
          <p:nvPr/>
        </p:nvSpPr>
        <p:spPr>
          <a:xfrm>
            <a:off x="7942418" y="4388399"/>
            <a:ext cx="1198058" cy="1052193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値_2018年度"/>
          <p:cNvSpPr txBox="1"/>
          <p:nvPr/>
        </p:nvSpPr>
        <p:spPr>
          <a:xfrm>
            <a:off x="7801471" y="3993745"/>
            <a:ext cx="1479954" cy="3523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264"/>
              </a:lnSpc>
              <a:spcBef>
                <a:spcPts val="0"/>
              </a:spcBef>
              <a:spcAft>
                <a:spcPts val="0"/>
              </a:spcAft>
            </a:pPr>
            <a:r>
              <a:rPr sz="188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10.7兆円</a:t>
            </a:r>
          </a:p>
        </p:txBody>
      </p:sp>
      <p:sp>
        <p:nvSpPr>
          <p:cNvPr id="23" name="年度_2018年度"/>
          <p:cNvSpPr txBox="1"/>
          <p:nvPr/>
        </p:nvSpPr>
        <p:spPr>
          <a:xfrm>
            <a:off x="7801471" y="5539255"/>
            <a:ext cx="1479954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2018年度</a:t>
            </a:r>
          </a:p>
        </p:txBody>
      </p:sp>
      <p:sp>
        <p:nvSpPr>
          <p:cNvPr id="24" name="棒_2040年度"/>
          <p:cNvSpPr/>
          <p:nvPr/>
        </p:nvSpPr>
        <p:spPr>
          <a:xfrm>
            <a:off x="9619699" y="2903528"/>
            <a:ext cx="1198058" cy="2537064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値_2040年度"/>
          <p:cNvSpPr txBox="1"/>
          <p:nvPr/>
        </p:nvSpPr>
        <p:spPr>
          <a:xfrm>
            <a:off x="9478751" y="2508874"/>
            <a:ext cx="1479954" cy="3523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264"/>
              </a:lnSpc>
              <a:spcBef>
                <a:spcPts val="0"/>
              </a:spcBef>
              <a:spcAft>
                <a:spcPts val="0"/>
              </a:spcAft>
            </a:pPr>
            <a:r>
              <a:rPr sz="1886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25.8兆円</a:t>
            </a:r>
          </a:p>
        </p:txBody>
      </p:sp>
      <p:sp>
        <p:nvSpPr>
          <p:cNvPr id="26" name="年度_2040年度"/>
          <p:cNvSpPr txBox="1"/>
          <p:nvPr/>
        </p:nvSpPr>
        <p:spPr>
          <a:xfrm>
            <a:off x="9478751" y="5539255"/>
            <a:ext cx="1479954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2040年度</a:t>
            </a:r>
          </a:p>
        </p:txBody>
      </p:sp>
      <p:cxnSp>
        <p:nvCxnSpPr>
          <p:cNvPr id="27" name="基準線"/>
          <p:cNvCxnSpPr/>
          <p:nvPr/>
        </p:nvCxnSpPr>
        <p:spPr>
          <a:xfrm>
            <a:off x="7470243" y="5440592"/>
            <a:ext cx="3819690" cy="0"/>
          </a:xfrm>
          <a:prstGeom prst="line">
            <a:avLst/>
          </a:prstGeom>
          <a:ln w="1905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倍率"/>
          <p:cNvSpPr/>
          <p:nvPr/>
        </p:nvSpPr>
        <p:spPr>
          <a:xfrm>
            <a:off x="7942418" y="3086761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倍率文字"/>
          <p:cNvSpPr txBox="1"/>
          <p:nvPr/>
        </p:nvSpPr>
        <p:spPr>
          <a:xfrm>
            <a:off x="7942418" y="3086761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約2.4倍に</a:t>
            </a:r>
          </a:p>
        </p:txBody>
      </p:sp>
      <p:sp>
        <p:nvSpPr>
          <p:cNvPr id="30" name="まとめ"/>
          <p:cNvSpPr txBox="1"/>
          <p:nvPr/>
        </p:nvSpPr>
        <p:spPr>
          <a:xfrm>
            <a:off x="7470243" y="5821151"/>
            <a:ext cx="3819690" cy="3946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介護の需要は、2040年、さらに2050年に向けて続く見込みです。</a:t>
            </a:r>
          </a:p>
        </p:txBody>
      </p:sp>
      <p:sp>
        <p:nvSpPr>
          <p:cNvPr id="31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人口：国立社会保障・人口問題研究所『日本の将来推計人口（令和5年推計）』。2050年の65歳以上人口は総人口×高齢化率による概算。介護費：厚生労働省『2040年を見据えた社会保障の将来見通し（2018年）』。2050年の介護市場の公的推計は確認できていません。</a:t>
            </a:r>
          </a:p>
        </p:txBody>
      </p:sp>
      <p:sp>
        <p:nvSpPr>
          <p:cNvPr id="32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沿革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福祉用具から、地域に根ざす介護の総合企業へ</a:t>
            </a:r>
          </a:p>
        </p:txBody>
      </p:sp>
      <p:sp>
        <p:nvSpPr>
          <p:cNvPr id="8" name="沿革リボン"/>
          <p:cNvSpPr/>
          <p:nvPr/>
        </p:nvSpPr>
        <p:spPr>
          <a:xfrm>
            <a:off x="0" y="3580088"/>
            <a:ext cx="12192000" cy="1240327"/>
          </a:xfrm>
          <a:custGeom>
            <a:avLst/>
            <a:gdLst/>
            <a:ahLst/>
            <a:cxnLst/>
            <a:rect l="l" t="t" r="r" b="b"/>
            <a:pathLst>
              <a:path w="12192000" h="1240327">
                <a:moveTo>
                  <a:pt x="0" y="352844"/>
                </a:moveTo>
                <a:lnTo>
                  <a:pt x="76200" y="361140"/>
                </a:lnTo>
                <a:lnTo>
                  <a:pt x="152400" y="369158"/>
                </a:lnTo>
                <a:lnTo>
                  <a:pt x="228600" y="376882"/>
                </a:lnTo>
                <a:lnTo>
                  <a:pt x="304800" y="384295"/>
                </a:lnTo>
                <a:lnTo>
                  <a:pt x="381000" y="391383"/>
                </a:lnTo>
                <a:lnTo>
                  <a:pt x="457200" y="398130"/>
                </a:lnTo>
                <a:lnTo>
                  <a:pt x="533400" y="404524"/>
                </a:lnTo>
                <a:lnTo>
                  <a:pt x="609600" y="410550"/>
                </a:lnTo>
                <a:lnTo>
                  <a:pt x="685800" y="416196"/>
                </a:lnTo>
                <a:lnTo>
                  <a:pt x="762000" y="421452"/>
                </a:lnTo>
                <a:lnTo>
                  <a:pt x="838200" y="426306"/>
                </a:lnTo>
                <a:lnTo>
                  <a:pt x="914400" y="430747"/>
                </a:lnTo>
                <a:lnTo>
                  <a:pt x="990600" y="434768"/>
                </a:lnTo>
                <a:lnTo>
                  <a:pt x="1066800" y="438360"/>
                </a:lnTo>
                <a:lnTo>
                  <a:pt x="1143000" y="441515"/>
                </a:lnTo>
                <a:lnTo>
                  <a:pt x="1219200" y="444227"/>
                </a:lnTo>
                <a:lnTo>
                  <a:pt x="1295400" y="446491"/>
                </a:lnTo>
                <a:lnTo>
                  <a:pt x="1371600" y="448301"/>
                </a:lnTo>
                <a:lnTo>
                  <a:pt x="1447800" y="449655"/>
                </a:lnTo>
                <a:lnTo>
                  <a:pt x="1524000" y="450548"/>
                </a:lnTo>
                <a:lnTo>
                  <a:pt x="1600200" y="450980"/>
                </a:lnTo>
                <a:lnTo>
                  <a:pt x="1676400" y="450950"/>
                </a:lnTo>
                <a:lnTo>
                  <a:pt x="1752600" y="450458"/>
                </a:lnTo>
                <a:lnTo>
                  <a:pt x="1828800" y="449503"/>
                </a:lnTo>
                <a:lnTo>
                  <a:pt x="1905000" y="448090"/>
                </a:lnTo>
                <a:lnTo>
                  <a:pt x="1981200" y="446220"/>
                </a:lnTo>
                <a:lnTo>
                  <a:pt x="2057400" y="443897"/>
                </a:lnTo>
                <a:lnTo>
                  <a:pt x="2133600" y="441127"/>
                </a:lnTo>
                <a:lnTo>
                  <a:pt x="2209800" y="437914"/>
                </a:lnTo>
                <a:lnTo>
                  <a:pt x="2286000" y="434266"/>
                </a:lnTo>
                <a:lnTo>
                  <a:pt x="2362200" y="430189"/>
                </a:lnTo>
                <a:lnTo>
                  <a:pt x="2438400" y="425693"/>
                </a:lnTo>
                <a:lnTo>
                  <a:pt x="2514600" y="420786"/>
                </a:lnTo>
                <a:lnTo>
                  <a:pt x="2590800" y="415479"/>
                </a:lnTo>
                <a:lnTo>
                  <a:pt x="2667000" y="409782"/>
                </a:lnTo>
                <a:lnTo>
                  <a:pt x="2743200" y="403707"/>
                </a:lnTo>
                <a:lnTo>
                  <a:pt x="2819400" y="397266"/>
                </a:lnTo>
                <a:lnTo>
                  <a:pt x="2895600" y="390474"/>
                </a:lnTo>
                <a:lnTo>
                  <a:pt x="2971800" y="383342"/>
                </a:lnTo>
                <a:lnTo>
                  <a:pt x="3048000" y="375888"/>
                </a:lnTo>
                <a:lnTo>
                  <a:pt x="3124200" y="368125"/>
                </a:lnTo>
                <a:lnTo>
                  <a:pt x="3200400" y="360069"/>
                </a:lnTo>
                <a:lnTo>
                  <a:pt x="3276600" y="351737"/>
                </a:lnTo>
                <a:lnTo>
                  <a:pt x="3352800" y="343147"/>
                </a:lnTo>
                <a:lnTo>
                  <a:pt x="3429000" y="334315"/>
                </a:lnTo>
                <a:lnTo>
                  <a:pt x="3505200" y="325260"/>
                </a:lnTo>
                <a:lnTo>
                  <a:pt x="3581400" y="316000"/>
                </a:lnTo>
                <a:lnTo>
                  <a:pt x="3657600" y="306555"/>
                </a:lnTo>
                <a:lnTo>
                  <a:pt x="3733800" y="296944"/>
                </a:lnTo>
                <a:lnTo>
                  <a:pt x="3810000" y="287186"/>
                </a:lnTo>
                <a:lnTo>
                  <a:pt x="3886200" y="277301"/>
                </a:lnTo>
                <a:lnTo>
                  <a:pt x="3962400" y="267311"/>
                </a:lnTo>
                <a:lnTo>
                  <a:pt x="4038600" y="257234"/>
                </a:lnTo>
                <a:lnTo>
                  <a:pt x="4114800" y="247093"/>
                </a:lnTo>
                <a:lnTo>
                  <a:pt x="4191000" y="236907"/>
                </a:lnTo>
                <a:lnTo>
                  <a:pt x="4267200" y="226698"/>
                </a:lnTo>
                <a:lnTo>
                  <a:pt x="4343400" y="216487"/>
                </a:lnTo>
                <a:lnTo>
                  <a:pt x="4419600" y="206294"/>
                </a:lnTo>
                <a:lnTo>
                  <a:pt x="4495800" y="196140"/>
                </a:lnTo>
                <a:lnTo>
                  <a:pt x="4572000" y="186047"/>
                </a:lnTo>
                <a:lnTo>
                  <a:pt x="4648200" y="176034"/>
                </a:lnTo>
                <a:lnTo>
                  <a:pt x="4724400" y="166123"/>
                </a:lnTo>
                <a:lnTo>
                  <a:pt x="4800600" y="156334"/>
                </a:lnTo>
                <a:lnTo>
                  <a:pt x="4876800" y="146687"/>
                </a:lnTo>
                <a:lnTo>
                  <a:pt x="4953000" y="137201"/>
                </a:lnTo>
                <a:lnTo>
                  <a:pt x="5029200" y="127896"/>
                </a:lnTo>
                <a:lnTo>
                  <a:pt x="5105400" y="118792"/>
                </a:lnTo>
                <a:lnTo>
                  <a:pt x="5181600" y="109906"/>
                </a:lnTo>
                <a:lnTo>
                  <a:pt x="5257800" y="101258"/>
                </a:lnTo>
                <a:lnTo>
                  <a:pt x="5334000" y="92864"/>
                </a:lnTo>
                <a:lnTo>
                  <a:pt x="5410200" y="84743"/>
                </a:lnTo>
                <a:lnTo>
                  <a:pt x="5486400" y="76910"/>
                </a:lnTo>
                <a:lnTo>
                  <a:pt x="5562600" y="69382"/>
                </a:lnTo>
                <a:lnTo>
                  <a:pt x="5638800" y="62174"/>
                </a:lnTo>
                <a:lnTo>
                  <a:pt x="5715000" y="55301"/>
                </a:lnTo>
                <a:lnTo>
                  <a:pt x="5791200" y="48778"/>
                </a:lnTo>
                <a:lnTo>
                  <a:pt x="5867400" y="42616"/>
                </a:lnTo>
                <a:lnTo>
                  <a:pt x="5943600" y="36830"/>
                </a:lnTo>
                <a:lnTo>
                  <a:pt x="6019800" y="31431"/>
                </a:lnTo>
                <a:lnTo>
                  <a:pt x="6096000" y="26430"/>
                </a:lnTo>
                <a:lnTo>
                  <a:pt x="6172200" y="21837"/>
                </a:lnTo>
                <a:lnTo>
                  <a:pt x="6248400" y="17661"/>
                </a:lnTo>
                <a:lnTo>
                  <a:pt x="6324600" y="13913"/>
                </a:lnTo>
                <a:lnTo>
                  <a:pt x="6400800" y="10598"/>
                </a:lnTo>
                <a:lnTo>
                  <a:pt x="6477000" y="7723"/>
                </a:lnTo>
                <a:lnTo>
                  <a:pt x="6553200" y="5296"/>
                </a:lnTo>
                <a:lnTo>
                  <a:pt x="6629400" y="3320"/>
                </a:lnTo>
                <a:lnTo>
                  <a:pt x="6705600" y="1800"/>
                </a:lnTo>
                <a:lnTo>
                  <a:pt x="6781800" y="739"/>
                </a:lnTo>
                <a:lnTo>
                  <a:pt x="6858000" y="138"/>
                </a:lnTo>
                <a:lnTo>
                  <a:pt x="6934200" y="0"/>
                </a:lnTo>
                <a:lnTo>
                  <a:pt x="7010400" y="324"/>
                </a:lnTo>
                <a:lnTo>
                  <a:pt x="7086600" y="1111"/>
                </a:lnTo>
                <a:lnTo>
                  <a:pt x="7162800" y="2357"/>
                </a:lnTo>
                <a:lnTo>
                  <a:pt x="7239000" y="4061"/>
                </a:lnTo>
                <a:lnTo>
                  <a:pt x="7315200" y="6219"/>
                </a:lnTo>
                <a:lnTo>
                  <a:pt x="7391400" y="8827"/>
                </a:lnTo>
                <a:lnTo>
                  <a:pt x="7467600" y="11880"/>
                </a:lnTo>
                <a:lnTo>
                  <a:pt x="7543800" y="15370"/>
                </a:lnTo>
                <a:lnTo>
                  <a:pt x="7620000" y="19292"/>
                </a:lnTo>
                <a:lnTo>
                  <a:pt x="7696200" y="23636"/>
                </a:lnTo>
                <a:lnTo>
                  <a:pt x="7772400" y="28395"/>
                </a:lnTo>
                <a:lnTo>
                  <a:pt x="7848600" y="33558"/>
                </a:lnTo>
                <a:lnTo>
                  <a:pt x="7924800" y="39114"/>
                </a:lnTo>
                <a:lnTo>
                  <a:pt x="8001000" y="45053"/>
                </a:lnTo>
                <a:lnTo>
                  <a:pt x="8077200" y="51362"/>
                </a:lnTo>
                <a:lnTo>
                  <a:pt x="8153400" y="58028"/>
                </a:lnTo>
                <a:lnTo>
                  <a:pt x="8229600" y="65037"/>
                </a:lnTo>
                <a:lnTo>
                  <a:pt x="8305800" y="72376"/>
                </a:lnTo>
                <a:lnTo>
                  <a:pt x="8382000" y="80028"/>
                </a:lnTo>
                <a:lnTo>
                  <a:pt x="8458200" y="87979"/>
                </a:lnTo>
                <a:lnTo>
                  <a:pt x="8534400" y="96213"/>
                </a:lnTo>
                <a:lnTo>
                  <a:pt x="8610600" y="104711"/>
                </a:lnTo>
                <a:lnTo>
                  <a:pt x="8686800" y="113457"/>
                </a:lnTo>
                <a:lnTo>
                  <a:pt x="8763000" y="122433"/>
                </a:lnTo>
                <a:lnTo>
                  <a:pt x="8839200" y="131620"/>
                </a:lnTo>
                <a:lnTo>
                  <a:pt x="8915400" y="141000"/>
                </a:lnTo>
                <a:lnTo>
                  <a:pt x="8991600" y="150553"/>
                </a:lnTo>
                <a:lnTo>
                  <a:pt x="9067800" y="160260"/>
                </a:lnTo>
                <a:lnTo>
                  <a:pt x="9144000" y="170100"/>
                </a:lnTo>
                <a:lnTo>
                  <a:pt x="9220200" y="180055"/>
                </a:lnTo>
                <a:lnTo>
                  <a:pt x="9296400" y="190102"/>
                </a:lnTo>
                <a:lnTo>
                  <a:pt x="9372600" y="200222"/>
                </a:lnTo>
                <a:lnTo>
                  <a:pt x="9448800" y="210394"/>
                </a:lnTo>
                <a:lnTo>
                  <a:pt x="9525000" y="220597"/>
                </a:lnTo>
                <a:lnTo>
                  <a:pt x="9601200" y="230811"/>
                </a:lnTo>
                <a:lnTo>
                  <a:pt x="9677400" y="241013"/>
                </a:lnTo>
                <a:lnTo>
                  <a:pt x="9753600" y="251183"/>
                </a:lnTo>
                <a:lnTo>
                  <a:pt x="9829800" y="261301"/>
                </a:lnTo>
                <a:lnTo>
                  <a:pt x="9906000" y="271345"/>
                </a:lnTo>
                <a:lnTo>
                  <a:pt x="9982200" y="281295"/>
                </a:lnTo>
                <a:lnTo>
                  <a:pt x="10058400" y="291131"/>
                </a:lnTo>
                <a:lnTo>
                  <a:pt x="10134600" y="300833"/>
                </a:lnTo>
                <a:lnTo>
                  <a:pt x="10210800" y="310379"/>
                </a:lnTo>
                <a:lnTo>
                  <a:pt x="10287000" y="319752"/>
                </a:lnTo>
                <a:lnTo>
                  <a:pt x="10363200" y="328932"/>
                </a:lnTo>
                <a:lnTo>
                  <a:pt x="10439400" y="337899"/>
                </a:lnTo>
                <a:lnTo>
                  <a:pt x="10515600" y="346636"/>
                </a:lnTo>
                <a:lnTo>
                  <a:pt x="10591800" y="355124"/>
                </a:lnTo>
                <a:lnTo>
                  <a:pt x="10668000" y="363347"/>
                </a:lnTo>
                <a:lnTo>
                  <a:pt x="10744200" y="371287"/>
                </a:lnTo>
                <a:lnTo>
                  <a:pt x="10820400" y="378928"/>
                </a:lnTo>
                <a:lnTo>
                  <a:pt x="10896600" y="386254"/>
                </a:lnTo>
                <a:lnTo>
                  <a:pt x="10972800" y="393250"/>
                </a:lnTo>
                <a:lnTo>
                  <a:pt x="11049000" y="399903"/>
                </a:lnTo>
                <a:lnTo>
                  <a:pt x="11125200" y="406198"/>
                </a:lnTo>
                <a:lnTo>
                  <a:pt x="11201400" y="412122"/>
                </a:lnTo>
                <a:lnTo>
                  <a:pt x="11277600" y="417663"/>
                </a:lnTo>
                <a:lnTo>
                  <a:pt x="11353800" y="422811"/>
                </a:lnTo>
                <a:lnTo>
                  <a:pt x="11430000" y="427553"/>
                </a:lnTo>
                <a:lnTo>
                  <a:pt x="11506200" y="431882"/>
                </a:lnTo>
                <a:lnTo>
                  <a:pt x="11582400" y="435787"/>
                </a:lnTo>
                <a:lnTo>
                  <a:pt x="11658600" y="439261"/>
                </a:lnTo>
                <a:lnTo>
                  <a:pt x="11734800" y="442296"/>
                </a:lnTo>
                <a:lnTo>
                  <a:pt x="11811000" y="444887"/>
                </a:lnTo>
                <a:lnTo>
                  <a:pt x="11887200" y="447028"/>
                </a:lnTo>
                <a:lnTo>
                  <a:pt x="11963400" y="448714"/>
                </a:lnTo>
                <a:lnTo>
                  <a:pt x="12039600" y="449943"/>
                </a:lnTo>
                <a:lnTo>
                  <a:pt x="12115800" y="450711"/>
                </a:lnTo>
                <a:lnTo>
                  <a:pt x="12192000" y="451018"/>
                </a:lnTo>
                <a:lnTo>
                  <a:pt x="12192000" y="1240327"/>
                </a:lnTo>
                <a:lnTo>
                  <a:pt x="12115800" y="1240020"/>
                </a:lnTo>
                <a:lnTo>
                  <a:pt x="12039600" y="1239252"/>
                </a:lnTo>
                <a:lnTo>
                  <a:pt x="11963400" y="1238023"/>
                </a:lnTo>
                <a:lnTo>
                  <a:pt x="11887200" y="1236336"/>
                </a:lnTo>
                <a:lnTo>
                  <a:pt x="11811000" y="1234196"/>
                </a:lnTo>
                <a:lnTo>
                  <a:pt x="11734800" y="1231605"/>
                </a:lnTo>
                <a:lnTo>
                  <a:pt x="11658600" y="1228569"/>
                </a:lnTo>
                <a:lnTo>
                  <a:pt x="11582400" y="1225096"/>
                </a:lnTo>
                <a:lnTo>
                  <a:pt x="11506200" y="1221190"/>
                </a:lnTo>
                <a:lnTo>
                  <a:pt x="11430000" y="1216862"/>
                </a:lnTo>
                <a:lnTo>
                  <a:pt x="11353800" y="1212119"/>
                </a:lnTo>
                <a:lnTo>
                  <a:pt x="11277600" y="1206972"/>
                </a:lnTo>
                <a:lnTo>
                  <a:pt x="11201400" y="1201430"/>
                </a:lnTo>
                <a:lnTo>
                  <a:pt x="11125200" y="1195506"/>
                </a:lnTo>
                <a:lnTo>
                  <a:pt x="11049000" y="1189211"/>
                </a:lnTo>
                <a:lnTo>
                  <a:pt x="10972800" y="1182559"/>
                </a:lnTo>
                <a:lnTo>
                  <a:pt x="10896600" y="1175562"/>
                </a:lnTo>
                <a:lnTo>
                  <a:pt x="10820400" y="1168236"/>
                </a:lnTo>
                <a:lnTo>
                  <a:pt x="10744200" y="1160595"/>
                </a:lnTo>
                <a:lnTo>
                  <a:pt x="10668000" y="1152655"/>
                </a:lnTo>
                <a:lnTo>
                  <a:pt x="10591800" y="1144433"/>
                </a:lnTo>
                <a:lnTo>
                  <a:pt x="10515600" y="1135945"/>
                </a:lnTo>
                <a:lnTo>
                  <a:pt x="10439400" y="1127208"/>
                </a:lnTo>
                <a:lnTo>
                  <a:pt x="10363200" y="1118240"/>
                </a:lnTo>
                <a:lnTo>
                  <a:pt x="10287000" y="1109061"/>
                </a:lnTo>
                <a:lnTo>
                  <a:pt x="10210800" y="1099688"/>
                </a:lnTo>
                <a:lnTo>
                  <a:pt x="10134600" y="1090141"/>
                </a:lnTo>
                <a:lnTo>
                  <a:pt x="10058400" y="1080440"/>
                </a:lnTo>
                <a:lnTo>
                  <a:pt x="9982200" y="1070604"/>
                </a:lnTo>
                <a:lnTo>
                  <a:pt x="9906000" y="1060654"/>
                </a:lnTo>
                <a:lnTo>
                  <a:pt x="9829800" y="1050610"/>
                </a:lnTo>
                <a:lnTo>
                  <a:pt x="9753600" y="1040492"/>
                </a:lnTo>
                <a:lnTo>
                  <a:pt x="9677400" y="1030321"/>
                </a:lnTo>
                <a:lnTo>
                  <a:pt x="9601200" y="1020119"/>
                </a:lnTo>
                <a:lnTo>
                  <a:pt x="9525000" y="1009906"/>
                </a:lnTo>
                <a:lnTo>
                  <a:pt x="9448800" y="999703"/>
                </a:lnTo>
                <a:lnTo>
                  <a:pt x="9372600" y="989531"/>
                </a:lnTo>
                <a:lnTo>
                  <a:pt x="9296400" y="979411"/>
                </a:lnTo>
                <a:lnTo>
                  <a:pt x="9220200" y="969363"/>
                </a:lnTo>
                <a:lnTo>
                  <a:pt x="9144000" y="959409"/>
                </a:lnTo>
                <a:lnTo>
                  <a:pt x="9067800" y="949568"/>
                </a:lnTo>
                <a:lnTo>
                  <a:pt x="8991600" y="939862"/>
                </a:lnTo>
                <a:lnTo>
                  <a:pt x="8915400" y="930308"/>
                </a:lnTo>
                <a:lnTo>
                  <a:pt x="8839200" y="920929"/>
                </a:lnTo>
                <a:lnTo>
                  <a:pt x="8763000" y="911741"/>
                </a:lnTo>
                <a:lnTo>
                  <a:pt x="8686800" y="902766"/>
                </a:lnTo>
                <a:lnTo>
                  <a:pt x="8610600" y="894020"/>
                </a:lnTo>
                <a:lnTo>
                  <a:pt x="8534400" y="885521"/>
                </a:lnTo>
                <a:lnTo>
                  <a:pt x="8458200" y="877288"/>
                </a:lnTo>
                <a:lnTo>
                  <a:pt x="8382000" y="869337"/>
                </a:lnTo>
                <a:lnTo>
                  <a:pt x="8305800" y="861684"/>
                </a:lnTo>
                <a:lnTo>
                  <a:pt x="8229600" y="854346"/>
                </a:lnTo>
                <a:lnTo>
                  <a:pt x="8153400" y="847336"/>
                </a:lnTo>
                <a:lnTo>
                  <a:pt x="8077200" y="840670"/>
                </a:lnTo>
                <a:lnTo>
                  <a:pt x="8001000" y="834361"/>
                </a:lnTo>
                <a:lnTo>
                  <a:pt x="7924800" y="828423"/>
                </a:lnTo>
                <a:lnTo>
                  <a:pt x="7848600" y="822866"/>
                </a:lnTo>
                <a:lnTo>
                  <a:pt x="7772400" y="817704"/>
                </a:lnTo>
                <a:lnTo>
                  <a:pt x="7696200" y="812945"/>
                </a:lnTo>
                <a:lnTo>
                  <a:pt x="7620000" y="808601"/>
                </a:lnTo>
                <a:lnTo>
                  <a:pt x="7543800" y="804679"/>
                </a:lnTo>
                <a:lnTo>
                  <a:pt x="7467600" y="801188"/>
                </a:lnTo>
                <a:lnTo>
                  <a:pt x="7391400" y="798136"/>
                </a:lnTo>
                <a:lnTo>
                  <a:pt x="7315200" y="795528"/>
                </a:lnTo>
                <a:lnTo>
                  <a:pt x="7239000" y="793370"/>
                </a:lnTo>
                <a:lnTo>
                  <a:pt x="7162800" y="791666"/>
                </a:lnTo>
                <a:lnTo>
                  <a:pt x="7086600" y="790419"/>
                </a:lnTo>
                <a:lnTo>
                  <a:pt x="7010400" y="789633"/>
                </a:lnTo>
                <a:lnTo>
                  <a:pt x="6934200" y="789309"/>
                </a:lnTo>
                <a:lnTo>
                  <a:pt x="6858000" y="789447"/>
                </a:lnTo>
                <a:lnTo>
                  <a:pt x="6781800" y="790047"/>
                </a:lnTo>
                <a:lnTo>
                  <a:pt x="6705600" y="791109"/>
                </a:lnTo>
                <a:lnTo>
                  <a:pt x="6629400" y="792629"/>
                </a:lnTo>
                <a:lnTo>
                  <a:pt x="6553200" y="794605"/>
                </a:lnTo>
                <a:lnTo>
                  <a:pt x="6477000" y="797032"/>
                </a:lnTo>
                <a:lnTo>
                  <a:pt x="6400800" y="799906"/>
                </a:lnTo>
                <a:lnTo>
                  <a:pt x="6324600" y="803221"/>
                </a:lnTo>
                <a:lnTo>
                  <a:pt x="6248400" y="806970"/>
                </a:lnTo>
                <a:lnTo>
                  <a:pt x="6172200" y="811145"/>
                </a:lnTo>
                <a:lnTo>
                  <a:pt x="6096000" y="815738"/>
                </a:lnTo>
                <a:lnTo>
                  <a:pt x="6019800" y="820739"/>
                </a:lnTo>
                <a:lnTo>
                  <a:pt x="5943600" y="826139"/>
                </a:lnTo>
                <a:lnTo>
                  <a:pt x="5867400" y="831925"/>
                </a:lnTo>
                <a:lnTo>
                  <a:pt x="5791200" y="838086"/>
                </a:lnTo>
                <a:lnTo>
                  <a:pt x="5715000" y="844610"/>
                </a:lnTo>
                <a:lnTo>
                  <a:pt x="5638800" y="851483"/>
                </a:lnTo>
                <a:lnTo>
                  <a:pt x="5562600" y="858691"/>
                </a:lnTo>
                <a:lnTo>
                  <a:pt x="5486400" y="866219"/>
                </a:lnTo>
                <a:lnTo>
                  <a:pt x="5410200" y="874052"/>
                </a:lnTo>
                <a:lnTo>
                  <a:pt x="5334000" y="882173"/>
                </a:lnTo>
                <a:lnTo>
                  <a:pt x="5257800" y="890567"/>
                </a:lnTo>
                <a:lnTo>
                  <a:pt x="5181600" y="899215"/>
                </a:lnTo>
                <a:lnTo>
                  <a:pt x="5105400" y="908101"/>
                </a:lnTo>
                <a:lnTo>
                  <a:pt x="5029200" y="917205"/>
                </a:lnTo>
                <a:lnTo>
                  <a:pt x="4953000" y="926510"/>
                </a:lnTo>
                <a:lnTo>
                  <a:pt x="4876800" y="935995"/>
                </a:lnTo>
                <a:lnTo>
                  <a:pt x="4800600" y="945643"/>
                </a:lnTo>
                <a:lnTo>
                  <a:pt x="4724400" y="955432"/>
                </a:lnTo>
                <a:lnTo>
                  <a:pt x="4648200" y="965343"/>
                </a:lnTo>
                <a:lnTo>
                  <a:pt x="4572000" y="975355"/>
                </a:lnTo>
                <a:lnTo>
                  <a:pt x="4495800" y="985449"/>
                </a:lnTo>
                <a:lnTo>
                  <a:pt x="4419600" y="995602"/>
                </a:lnTo>
                <a:lnTo>
                  <a:pt x="4343400" y="1005795"/>
                </a:lnTo>
                <a:lnTo>
                  <a:pt x="4267200" y="1016007"/>
                </a:lnTo>
                <a:lnTo>
                  <a:pt x="4191000" y="1026216"/>
                </a:lnTo>
                <a:lnTo>
                  <a:pt x="4114800" y="1036402"/>
                </a:lnTo>
                <a:lnTo>
                  <a:pt x="4038600" y="1046543"/>
                </a:lnTo>
                <a:lnTo>
                  <a:pt x="3962400" y="1056619"/>
                </a:lnTo>
                <a:lnTo>
                  <a:pt x="3886200" y="1066610"/>
                </a:lnTo>
                <a:lnTo>
                  <a:pt x="3810000" y="1076494"/>
                </a:lnTo>
                <a:lnTo>
                  <a:pt x="3733800" y="1086252"/>
                </a:lnTo>
                <a:lnTo>
                  <a:pt x="3657600" y="1095864"/>
                </a:lnTo>
                <a:lnTo>
                  <a:pt x="3581400" y="1105309"/>
                </a:lnTo>
                <a:lnTo>
                  <a:pt x="3505200" y="1114568"/>
                </a:lnTo>
                <a:lnTo>
                  <a:pt x="3429000" y="1123623"/>
                </a:lnTo>
                <a:lnTo>
                  <a:pt x="3352800" y="1132455"/>
                </a:lnTo>
                <a:lnTo>
                  <a:pt x="3276600" y="1141046"/>
                </a:lnTo>
                <a:lnTo>
                  <a:pt x="3200400" y="1149378"/>
                </a:lnTo>
                <a:lnTo>
                  <a:pt x="3124200" y="1157433"/>
                </a:lnTo>
                <a:lnTo>
                  <a:pt x="3048000" y="1165196"/>
                </a:lnTo>
                <a:lnTo>
                  <a:pt x="2971800" y="1172651"/>
                </a:lnTo>
                <a:lnTo>
                  <a:pt x="2895600" y="1179782"/>
                </a:lnTo>
                <a:lnTo>
                  <a:pt x="2819400" y="1186575"/>
                </a:lnTo>
                <a:lnTo>
                  <a:pt x="2743200" y="1193015"/>
                </a:lnTo>
                <a:lnTo>
                  <a:pt x="2667000" y="1199090"/>
                </a:lnTo>
                <a:lnTo>
                  <a:pt x="2590800" y="1204787"/>
                </a:lnTo>
                <a:lnTo>
                  <a:pt x="2514600" y="1210095"/>
                </a:lnTo>
                <a:lnTo>
                  <a:pt x="2438400" y="1215002"/>
                </a:lnTo>
                <a:lnTo>
                  <a:pt x="2362200" y="1219498"/>
                </a:lnTo>
                <a:lnTo>
                  <a:pt x="2286000" y="1223575"/>
                </a:lnTo>
                <a:lnTo>
                  <a:pt x="2209800" y="1227223"/>
                </a:lnTo>
                <a:lnTo>
                  <a:pt x="2133600" y="1230436"/>
                </a:lnTo>
                <a:lnTo>
                  <a:pt x="2057400" y="1233206"/>
                </a:lnTo>
                <a:lnTo>
                  <a:pt x="1981200" y="1235529"/>
                </a:lnTo>
                <a:lnTo>
                  <a:pt x="1905000" y="1237399"/>
                </a:lnTo>
                <a:lnTo>
                  <a:pt x="1828800" y="1238812"/>
                </a:lnTo>
                <a:lnTo>
                  <a:pt x="1752600" y="1239766"/>
                </a:lnTo>
                <a:lnTo>
                  <a:pt x="1676400" y="1240259"/>
                </a:lnTo>
                <a:lnTo>
                  <a:pt x="1600200" y="1240289"/>
                </a:lnTo>
                <a:lnTo>
                  <a:pt x="1524000" y="1239857"/>
                </a:lnTo>
                <a:lnTo>
                  <a:pt x="1447800" y="1238963"/>
                </a:lnTo>
                <a:lnTo>
                  <a:pt x="1371600" y="1237610"/>
                </a:lnTo>
                <a:lnTo>
                  <a:pt x="1295400" y="1235800"/>
                </a:lnTo>
                <a:lnTo>
                  <a:pt x="1219200" y="1233536"/>
                </a:lnTo>
                <a:lnTo>
                  <a:pt x="1143000" y="1230824"/>
                </a:lnTo>
                <a:lnTo>
                  <a:pt x="1066800" y="1227669"/>
                </a:lnTo>
                <a:lnTo>
                  <a:pt x="990600" y="1224077"/>
                </a:lnTo>
                <a:lnTo>
                  <a:pt x="914400" y="1220056"/>
                </a:lnTo>
                <a:lnTo>
                  <a:pt x="838200" y="1215614"/>
                </a:lnTo>
                <a:lnTo>
                  <a:pt x="762000" y="1210761"/>
                </a:lnTo>
                <a:lnTo>
                  <a:pt x="685800" y="1205505"/>
                </a:lnTo>
                <a:lnTo>
                  <a:pt x="609600" y="1199858"/>
                </a:lnTo>
                <a:lnTo>
                  <a:pt x="533400" y="1193832"/>
                </a:lnTo>
                <a:lnTo>
                  <a:pt x="457200" y="1187439"/>
                </a:lnTo>
                <a:lnTo>
                  <a:pt x="381000" y="1180692"/>
                </a:lnTo>
                <a:lnTo>
                  <a:pt x="304800" y="1173604"/>
                </a:lnTo>
                <a:lnTo>
                  <a:pt x="228600" y="1166191"/>
                </a:lnTo>
                <a:lnTo>
                  <a:pt x="152400" y="1158467"/>
                </a:lnTo>
                <a:lnTo>
                  <a:pt x="76200" y="1150449"/>
                </a:lnTo>
                <a:lnTo>
                  <a:pt x="0" y="1142152"/>
                </a:lnTo>
                <a:close/>
              </a:path>
            </a:pathLst>
          </a:custGeom>
          <a:solidFill>
            <a:srgbClr val="D9F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年代_2000"/>
          <p:cNvSpPr txBox="1"/>
          <p:nvPr/>
        </p:nvSpPr>
        <p:spPr>
          <a:xfrm>
            <a:off x="2889434" y="4026709"/>
            <a:ext cx="1550428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662"/>
              </a:lnSpc>
              <a:spcBef>
                <a:spcPts val="0"/>
              </a:spcBef>
              <a:spcAft>
                <a:spcPts val="0"/>
              </a:spcAft>
            </a:pPr>
            <a:r>
              <a:rPr sz="3329" b="1">
                <a:solidFill>
                  <a:srgbClr val="3FB39D"/>
                </a:solidFill>
                <a:latin typeface="游ゴシック"/>
                <a:ea typeface="游ゴシック"/>
                <a:cs typeface="游ゴシック"/>
              </a:rPr>
              <a:t>2000</a:t>
            </a:r>
          </a:p>
        </p:txBody>
      </p:sp>
      <p:sp>
        <p:nvSpPr>
          <p:cNvPr id="10" name="年代_2010"/>
          <p:cNvSpPr txBox="1"/>
          <p:nvPr/>
        </p:nvSpPr>
        <p:spPr>
          <a:xfrm>
            <a:off x="5567445" y="3734123"/>
            <a:ext cx="1550428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662"/>
              </a:lnSpc>
              <a:spcBef>
                <a:spcPts val="0"/>
              </a:spcBef>
              <a:spcAft>
                <a:spcPts val="0"/>
              </a:spcAft>
            </a:pPr>
            <a:r>
              <a:rPr sz="3329" b="1">
                <a:solidFill>
                  <a:srgbClr val="3FB39D"/>
                </a:solidFill>
                <a:latin typeface="游ゴシック"/>
                <a:ea typeface="游ゴシック"/>
                <a:cs typeface="游ゴシック"/>
              </a:rPr>
              <a:t>2010</a:t>
            </a:r>
          </a:p>
        </p:txBody>
      </p:sp>
      <p:sp>
        <p:nvSpPr>
          <p:cNvPr id="11" name="年代_2020"/>
          <p:cNvSpPr txBox="1"/>
          <p:nvPr/>
        </p:nvSpPr>
        <p:spPr>
          <a:xfrm>
            <a:off x="7681665" y="3808875"/>
            <a:ext cx="1550428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662"/>
              </a:lnSpc>
              <a:spcBef>
                <a:spcPts val="0"/>
              </a:spcBef>
              <a:spcAft>
                <a:spcPts val="0"/>
              </a:spcAft>
            </a:pPr>
            <a:r>
              <a:rPr sz="3329" b="1">
                <a:solidFill>
                  <a:srgbClr val="3FB39D"/>
                </a:solidFill>
                <a:latin typeface="游ゴシック"/>
                <a:ea typeface="游ゴシック"/>
                <a:cs typeface="游ゴシック"/>
              </a:rPr>
              <a:t>2020</a:t>
            </a:r>
          </a:p>
        </p:txBody>
      </p:sp>
      <p:cxnSp>
        <p:nvCxnSpPr>
          <p:cNvPr id="12" name="接続線"/>
          <p:cNvCxnSpPr/>
          <p:nvPr/>
        </p:nvCxnSpPr>
        <p:spPr>
          <a:xfrm>
            <a:off x="1620902" y="2790770"/>
            <a:ext cx="0" cy="1240336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接続点"/>
          <p:cNvSpPr/>
          <p:nvPr/>
        </p:nvSpPr>
        <p:spPr>
          <a:xfrm>
            <a:off x="1571570" y="3981774"/>
            <a:ext cx="98664" cy="9866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カード_エフビー信州として設立"/>
          <p:cNvSpPr/>
          <p:nvPr/>
        </p:nvSpPr>
        <p:spPr>
          <a:xfrm>
            <a:off x="620171" y="1381290"/>
            <a:ext cx="2396116" cy="1409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年タグ"/>
          <p:cNvSpPr/>
          <p:nvPr/>
        </p:nvSpPr>
        <p:spPr>
          <a:xfrm>
            <a:off x="803403" y="1536333"/>
            <a:ext cx="1141679" cy="239612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年"/>
          <p:cNvSpPr txBox="1"/>
          <p:nvPr/>
        </p:nvSpPr>
        <p:spPr>
          <a:xfrm>
            <a:off x="803403" y="1536333"/>
            <a:ext cx="1141679" cy="2396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1987年4月</a:t>
            </a:r>
          </a:p>
        </p:txBody>
      </p:sp>
      <p:sp>
        <p:nvSpPr>
          <p:cNvPr id="17" name="本文_エフビー信州として設立"/>
          <p:cNvSpPr txBox="1"/>
          <p:nvPr/>
        </p:nvSpPr>
        <p:spPr>
          <a:xfrm>
            <a:off x="803403" y="1874608"/>
            <a:ext cx="2029651" cy="8456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3"/>
              </a:lnSpc>
              <a:spcBef>
                <a:spcPts val="0"/>
              </a:spcBef>
              <a:spcAft>
                <a:spcPts val="221"/>
              </a:spcAft>
            </a:pPr>
            <a:r>
              <a:rPr sz="116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エフビー信州として設立</a:t>
            </a:r>
          </a:p>
          <a:p>
            <a:pPr algn="l">
              <a:lnSpc>
                <a:spcPts val="1367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フランスベッドの代理店が原点。</a:t>
            </a:r>
          </a:p>
          <a:p>
            <a:pPr algn="l">
              <a:lnSpc>
                <a:spcPts val="1367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本社は長野県佐久市</a:t>
            </a:r>
          </a:p>
        </p:txBody>
      </p:sp>
      <p:cxnSp>
        <p:nvCxnSpPr>
          <p:cNvPr id="18" name="接続線"/>
          <p:cNvCxnSpPr/>
          <p:nvPr/>
        </p:nvCxnSpPr>
        <p:spPr>
          <a:xfrm>
            <a:off x="3136092" y="4736283"/>
            <a:ext cx="0" cy="295560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接続点"/>
          <p:cNvSpPr/>
          <p:nvPr/>
        </p:nvSpPr>
        <p:spPr>
          <a:xfrm>
            <a:off x="3086761" y="4686951"/>
            <a:ext cx="98664" cy="9866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カード_福祉用具のレンタルを開始"/>
          <p:cNvSpPr/>
          <p:nvPr/>
        </p:nvSpPr>
        <p:spPr>
          <a:xfrm>
            <a:off x="1938035" y="5031843"/>
            <a:ext cx="2396116" cy="1409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年タグ"/>
          <p:cNvSpPr/>
          <p:nvPr/>
        </p:nvSpPr>
        <p:spPr>
          <a:xfrm>
            <a:off x="2121267" y="5186886"/>
            <a:ext cx="1141679" cy="239612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年"/>
          <p:cNvSpPr txBox="1"/>
          <p:nvPr/>
        </p:nvSpPr>
        <p:spPr>
          <a:xfrm>
            <a:off x="2121267" y="5186886"/>
            <a:ext cx="1141679" cy="2396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2000年4月</a:t>
            </a:r>
          </a:p>
        </p:txBody>
      </p:sp>
      <p:sp>
        <p:nvSpPr>
          <p:cNvPr id="23" name="本文_福祉用具のレンタルを開始"/>
          <p:cNvSpPr txBox="1"/>
          <p:nvPr/>
        </p:nvSpPr>
        <p:spPr>
          <a:xfrm>
            <a:off x="2121267" y="5525161"/>
            <a:ext cx="2029651" cy="8456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3"/>
              </a:lnSpc>
              <a:spcBef>
                <a:spcPts val="0"/>
              </a:spcBef>
              <a:spcAft>
                <a:spcPts val="221"/>
              </a:spcAft>
            </a:pPr>
            <a:r>
              <a:rPr sz="116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福祉用具のレンタルを開始</a:t>
            </a:r>
          </a:p>
          <a:p>
            <a:pPr algn="l">
              <a:lnSpc>
                <a:spcPts val="1367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福祉用具の取り扱いの範囲を</a:t>
            </a:r>
          </a:p>
          <a:p>
            <a:pPr algn="l">
              <a:lnSpc>
                <a:spcPts val="1367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広げていく</a:t>
            </a:r>
          </a:p>
        </p:txBody>
      </p:sp>
      <p:cxnSp>
        <p:nvCxnSpPr>
          <p:cNvPr id="24" name="接続線"/>
          <p:cNvCxnSpPr/>
          <p:nvPr/>
        </p:nvCxnSpPr>
        <p:spPr>
          <a:xfrm>
            <a:off x="4651283" y="2790770"/>
            <a:ext cx="0" cy="964949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接続点"/>
          <p:cNvSpPr/>
          <p:nvPr/>
        </p:nvSpPr>
        <p:spPr>
          <a:xfrm>
            <a:off x="4601951" y="3706387"/>
            <a:ext cx="98664" cy="9866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カード_エフビー介護サービスへ商号変更"/>
          <p:cNvSpPr/>
          <p:nvPr/>
        </p:nvSpPr>
        <p:spPr>
          <a:xfrm>
            <a:off x="3453225" y="1381290"/>
            <a:ext cx="2396116" cy="1409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年タグ"/>
          <p:cNvSpPr/>
          <p:nvPr/>
        </p:nvSpPr>
        <p:spPr>
          <a:xfrm>
            <a:off x="3636458" y="1536333"/>
            <a:ext cx="1268532" cy="239612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年"/>
          <p:cNvSpPr txBox="1"/>
          <p:nvPr/>
        </p:nvSpPr>
        <p:spPr>
          <a:xfrm>
            <a:off x="3636458" y="1536333"/>
            <a:ext cx="1268532" cy="2396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2002年10月</a:t>
            </a:r>
          </a:p>
        </p:txBody>
      </p:sp>
      <p:sp>
        <p:nvSpPr>
          <p:cNvPr id="29" name="本文_エフビー介護サービスへ商号変更"/>
          <p:cNvSpPr txBox="1"/>
          <p:nvPr/>
        </p:nvSpPr>
        <p:spPr>
          <a:xfrm>
            <a:off x="3636458" y="1874608"/>
            <a:ext cx="2029651" cy="8456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3"/>
              </a:lnSpc>
              <a:spcBef>
                <a:spcPts val="0"/>
              </a:spcBef>
              <a:spcAft>
                <a:spcPts val="221"/>
              </a:spcAft>
            </a:pPr>
            <a:r>
              <a:rPr sz="116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エフビー介護サービスへ商号変更</a:t>
            </a:r>
          </a:p>
          <a:p>
            <a:pPr algn="l">
              <a:lnSpc>
                <a:spcPts val="1367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介護サービスの会社として</a:t>
            </a:r>
          </a:p>
          <a:p>
            <a:pPr algn="l">
              <a:lnSpc>
                <a:spcPts val="1367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歩みを進める</a:t>
            </a:r>
          </a:p>
        </p:txBody>
      </p:sp>
      <p:cxnSp>
        <p:nvCxnSpPr>
          <p:cNvPr id="30" name="接続線"/>
          <p:cNvCxnSpPr/>
          <p:nvPr/>
        </p:nvCxnSpPr>
        <p:spPr>
          <a:xfrm>
            <a:off x="6166474" y="4391564"/>
            <a:ext cx="0" cy="640279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接続点"/>
          <p:cNvSpPr/>
          <p:nvPr/>
        </p:nvSpPr>
        <p:spPr>
          <a:xfrm>
            <a:off x="6117142" y="4342232"/>
            <a:ext cx="98664" cy="9866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カード_居宅介護・小規模多機能へ"/>
          <p:cNvSpPr/>
          <p:nvPr/>
        </p:nvSpPr>
        <p:spPr>
          <a:xfrm>
            <a:off x="4968416" y="5031843"/>
            <a:ext cx="2396116" cy="1409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年タグ"/>
          <p:cNvSpPr/>
          <p:nvPr/>
        </p:nvSpPr>
        <p:spPr>
          <a:xfrm>
            <a:off x="5151649" y="5186886"/>
            <a:ext cx="1099394" cy="239612"/>
          </a:xfrm>
          <a:prstGeom prst="roundRect">
            <a:avLst>
              <a:gd name="adj" fmla="val 50000"/>
            </a:avLst>
          </a:prstGeom>
          <a:solidFill>
            <a:srgbClr val="EE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年"/>
          <p:cNvSpPr txBox="1"/>
          <p:nvPr/>
        </p:nvSpPr>
        <p:spPr>
          <a:xfrm>
            <a:off x="5151649" y="5186886"/>
            <a:ext cx="1099394" cy="2396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時期は確認中</a:t>
            </a:r>
          </a:p>
        </p:txBody>
      </p:sp>
      <p:sp>
        <p:nvSpPr>
          <p:cNvPr id="35" name="本文_居宅介護・小規模多機能へ"/>
          <p:cNvSpPr txBox="1"/>
          <p:nvPr/>
        </p:nvSpPr>
        <p:spPr>
          <a:xfrm>
            <a:off x="5151649" y="5525161"/>
            <a:ext cx="2029651" cy="8456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3"/>
              </a:lnSpc>
              <a:spcBef>
                <a:spcPts val="0"/>
              </a:spcBef>
              <a:spcAft>
                <a:spcPts val="221"/>
              </a:spcAft>
            </a:pPr>
            <a:r>
              <a:rPr sz="116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居宅介護・小規模多機能へ</a:t>
            </a:r>
          </a:p>
          <a:p>
            <a:pPr algn="l">
              <a:lnSpc>
                <a:spcPts val="1367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自宅での生活の支援から、</a:t>
            </a:r>
          </a:p>
          <a:p>
            <a:pPr algn="l">
              <a:lnSpc>
                <a:spcPts val="1367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住まい・通い訪問泊まりへ</a:t>
            </a:r>
          </a:p>
        </p:txBody>
      </p:sp>
      <p:cxnSp>
        <p:nvCxnSpPr>
          <p:cNvPr id="36" name="接続線"/>
          <p:cNvCxnSpPr/>
          <p:nvPr/>
        </p:nvCxnSpPr>
        <p:spPr>
          <a:xfrm>
            <a:off x="7681665" y="2790770"/>
            <a:ext cx="0" cy="812093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接続点"/>
          <p:cNvSpPr/>
          <p:nvPr/>
        </p:nvSpPr>
        <p:spPr>
          <a:xfrm>
            <a:off x="7632333" y="3553532"/>
            <a:ext cx="98664" cy="9866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カード_海外人材の受け入れ"/>
          <p:cNvSpPr/>
          <p:nvPr/>
        </p:nvSpPr>
        <p:spPr>
          <a:xfrm>
            <a:off x="6483607" y="1381290"/>
            <a:ext cx="2396116" cy="1409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年タグ"/>
          <p:cNvSpPr/>
          <p:nvPr/>
        </p:nvSpPr>
        <p:spPr>
          <a:xfrm>
            <a:off x="6666839" y="1536333"/>
            <a:ext cx="887972" cy="239612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年"/>
          <p:cNvSpPr txBox="1"/>
          <p:nvPr/>
        </p:nvSpPr>
        <p:spPr>
          <a:xfrm>
            <a:off x="6666839" y="1536333"/>
            <a:ext cx="887972" cy="2396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2019年</a:t>
            </a:r>
          </a:p>
        </p:txBody>
      </p:sp>
      <p:sp>
        <p:nvSpPr>
          <p:cNvPr id="41" name="本文_海外人材の受け入れ"/>
          <p:cNvSpPr txBox="1"/>
          <p:nvPr/>
        </p:nvSpPr>
        <p:spPr>
          <a:xfrm>
            <a:off x="6666839" y="1874608"/>
            <a:ext cx="2029651" cy="8456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3"/>
              </a:lnSpc>
              <a:spcBef>
                <a:spcPts val="0"/>
              </a:spcBef>
              <a:spcAft>
                <a:spcPts val="221"/>
              </a:spcAft>
            </a:pPr>
            <a:r>
              <a:rPr sz="116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海外人材の受け入れ</a:t>
            </a:r>
          </a:p>
          <a:p>
            <a:pPr algn="l">
              <a:lnSpc>
                <a:spcPts val="1367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ベトナム・ミャンマー・</a:t>
            </a:r>
          </a:p>
          <a:p>
            <a:pPr algn="l">
              <a:lnSpc>
                <a:spcPts val="1367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ネパール・フィリピンなど</a:t>
            </a:r>
          </a:p>
        </p:txBody>
      </p:sp>
      <p:cxnSp>
        <p:nvCxnSpPr>
          <p:cNvPr id="42" name="接続線"/>
          <p:cNvCxnSpPr/>
          <p:nvPr/>
        </p:nvCxnSpPr>
        <p:spPr>
          <a:xfrm>
            <a:off x="9196855" y="4546391"/>
            <a:ext cx="0" cy="485452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接続点"/>
          <p:cNvSpPr/>
          <p:nvPr/>
        </p:nvSpPr>
        <p:spPr>
          <a:xfrm>
            <a:off x="9147524" y="4497059"/>
            <a:ext cx="98664" cy="9866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カード_東証スタンダード市場に上場"/>
          <p:cNvSpPr/>
          <p:nvPr/>
        </p:nvSpPr>
        <p:spPr>
          <a:xfrm>
            <a:off x="7998798" y="5031843"/>
            <a:ext cx="2396116" cy="1409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年タグ"/>
          <p:cNvSpPr/>
          <p:nvPr/>
        </p:nvSpPr>
        <p:spPr>
          <a:xfrm>
            <a:off x="8182030" y="5186886"/>
            <a:ext cx="1141679" cy="239612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年"/>
          <p:cNvSpPr txBox="1"/>
          <p:nvPr/>
        </p:nvSpPr>
        <p:spPr>
          <a:xfrm>
            <a:off x="8182030" y="5186886"/>
            <a:ext cx="1141679" cy="2396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2022年4月</a:t>
            </a:r>
          </a:p>
        </p:txBody>
      </p:sp>
      <p:sp>
        <p:nvSpPr>
          <p:cNvPr id="47" name="本文_東証スタンダード市場に上場"/>
          <p:cNvSpPr txBox="1"/>
          <p:nvPr/>
        </p:nvSpPr>
        <p:spPr>
          <a:xfrm>
            <a:off x="8182030" y="5525161"/>
            <a:ext cx="2029651" cy="8456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3"/>
              </a:lnSpc>
              <a:spcBef>
                <a:spcPts val="0"/>
              </a:spcBef>
              <a:spcAft>
                <a:spcPts val="221"/>
              </a:spcAft>
            </a:pPr>
            <a:r>
              <a:rPr sz="116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東証スタンダード市場に上場</a:t>
            </a:r>
          </a:p>
          <a:p>
            <a:pPr algn="l">
              <a:lnSpc>
                <a:spcPts val="1367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事業成長の加速へ</a:t>
            </a:r>
          </a:p>
        </p:txBody>
      </p:sp>
      <p:cxnSp>
        <p:nvCxnSpPr>
          <p:cNvPr id="48" name="接続線"/>
          <p:cNvCxnSpPr/>
          <p:nvPr/>
        </p:nvCxnSpPr>
        <p:spPr>
          <a:xfrm>
            <a:off x="10712046" y="2790770"/>
            <a:ext cx="0" cy="1157290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接続点"/>
          <p:cNvSpPr/>
          <p:nvPr/>
        </p:nvSpPr>
        <p:spPr>
          <a:xfrm>
            <a:off x="10662714" y="3898728"/>
            <a:ext cx="98664" cy="9866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カード_7種109拠点／1,250名"/>
          <p:cNvSpPr/>
          <p:nvPr/>
        </p:nvSpPr>
        <p:spPr>
          <a:xfrm>
            <a:off x="9175713" y="1381290"/>
            <a:ext cx="2396116" cy="1409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年タグ"/>
          <p:cNvSpPr/>
          <p:nvPr/>
        </p:nvSpPr>
        <p:spPr>
          <a:xfrm>
            <a:off x="9358946" y="1536333"/>
            <a:ext cx="507413" cy="239612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年"/>
          <p:cNvSpPr txBox="1"/>
          <p:nvPr/>
        </p:nvSpPr>
        <p:spPr>
          <a:xfrm>
            <a:off x="9358946" y="1536333"/>
            <a:ext cx="507413" cy="2396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現在</a:t>
            </a:r>
          </a:p>
        </p:txBody>
      </p:sp>
      <p:sp>
        <p:nvSpPr>
          <p:cNvPr id="53" name="本文_7種109拠点／1,250名"/>
          <p:cNvSpPr txBox="1"/>
          <p:nvPr/>
        </p:nvSpPr>
        <p:spPr>
          <a:xfrm>
            <a:off x="9358946" y="1874608"/>
            <a:ext cx="2029651" cy="8456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3"/>
              </a:lnSpc>
              <a:spcBef>
                <a:spcPts val="0"/>
              </a:spcBef>
              <a:spcAft>
                <a:spcPts val="221"/>
              </a:spcAft>
            </a:pPr>
            <a:r>
              <a:rPr sz="116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7種109拠点／1,250名</a:t>
            </a:r>
          </a:p>
          <a:p>
            <a:pPr algn="l">
              <a:lnSpc>
                <a:spcPts val="1367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信越・北関東に展開</a:t>
            </a:r>
          </a:p>
          <a:p>
            <a:pPr algn="l">
              <a:lnSpc>
                <a:spcPts val="1367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（従業員数は2023年4月時点）</a:t>
            </a:r>
          </a:p>
        </p:txBody>
      </p:sp>
      <p:sp>
        <p:nvSpPr>
          <p:cNvPr id="54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設立・商号変更・従業員数は企業説明会資料、2000年は会長ヒアリング、海外人材は経営者ヒアリング、上場は決算説明資料に基づきます。「時期は確認中」は年次の確認が必要です。</a:t>
            </a:r>
          </a:p>
        </p:txBody>
      </p:sp>
      <p:sp>
        <p:nvSpPr>
          <p:cNvPr id="55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事業の展開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小規模な施設を、地域ごとに。7つのサービスで暮らしを支える</a:t>
            </a:r>
          </a:p>
        </p:txBody>
      </p:sp>
      <p:sp>
        <p:nvSpPr>
          <p:cNvPr id="8" name="こだわり"/>
          <p:cNvSpPr/>
          <p:nvPr/>
        </p:nvSpPr>
        <p:spPr>
          <a:xfrm>
            <a:off x="620171" y="1465859"/>
            <a:ext cx="5356023" cy="1846418"/>
          </a:xfrm>
          <a:prstGeom prst="roundRect">
            <a:avLst>
              <a:gd name="adj" fmla="val 9160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こだわり本文"/>
          <p:cNvSpPr txBox="1"/>
          <p:nvPr/>
        </p:nvSpPr>
        <p:spPr>
          <a:xfrm>
            <a:off x="958446" y="1705471"/>
            <a:ext cx="4679473" cy="149404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554"/>
              </a:spcAft>
            </a:pPr>
            <a:r>
              <a:rPr sz="1054" b="1" spc="2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わたしたちのちょっとしたこだわり</a:t>
            </a:r>
          </a:p>
          <a:p>
            <a:pPr algn="l">
              <a:lnSpc>
                <a:spcPts val="2741"/>
              </a:lnSpc>
              <a:spcBef>
                <a:spcPts val="0"/>
              </a:spcBef>
              <a:spcAft>
                <a:spcPts val="0"/>
              </a:spcAft>
            </a:pPr>
            <a:r>
              <a:rPr sz="210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大規模な施設ではなく、</a:t>
            </a:r>
          </a:p>
          <a:p>
            <a:pPr algn="l">
              <a:lnSpc>
                <a:spcPts val="2741"/>
              </a:lnSpc>
              <a:spcBef>
                <a:spcPts val="0"/>
              </a:spcBef>
              <a:spcAft>
                <a:spcPts val="665"/>
              </a:spcAft>
            </a:pPr>
            <a:r>
              <a:rPr sz="210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小規模な施設をメインに展開する。</a:t>
            </a:r>
          </a:p>
          <a:p>
            <a:pPr algn="l">
              <a:lnSpc>
                <a:spcPts val="1634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地域の文化・風土を取り入れた、きめ細やかなサービス。住み慣れた地元で、長く生活できる環境を。</a:t>
            </a:r>
          </a:p>
        </p:txBody>
      </p:sp>
      <p:sp>
        <p:nvSpPr>
          <p:cNvPr id="10" name="拠点カード"/>
          <p:cNvSpPr/>
          <p:nvPr/>
        </p:nvSpPr>
        <p:spPr>
          <a:xfrm>
            <a:off x="6201711" y="1465859"/>
            <a:ext cx="5370118" cy="1846418"/>
          </a:xfrm>
          <a:prstGeom prst="roundRect">
            <a:avLst>
              <a:gd name="adj" fmla="val 763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拠点見出し"/>
          <p:cNvSpPr txBox="1"/>
          <p:nvPr/>
        </p:nvSpPr>
        <p:spPr>
          <a:xfrm>
            <a:off x="6455417" y="1649091"/>
            <a:ext cx="4862705" cy="2396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多拠点で、地域に根ざす</a:t>
            </a:r>
          </a:p>
        </p:txBody>
      </p:sp>
      <p:sp>
        <p:nvSpPr>
          <p:cNvPr id="12" name="数字_拠点"/>
          <p:cNvSpPr txBox="1"/>
          <p:nvPr/>
        </p:nvSpPr>
        <p:spPr>
          <a:xfrm>
            <a:off x="6455417" y="2015556"/>
            <a:ext cx="1451764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394"/>
              </a:lnSpc>
              <a:spcBef>
                <a:spcPts val="0"/>
              </a:spcBef>
              <a:spcAft>
                <a:spcPts val="0"/>
              </a:spcAft>
            </a:pPr>
            <a:r>
              <a:rPr sz="399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109</a:t>
            </a:r>
          </a:p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拠点</a:t>
            </a:r>
          </a:p>
        </p:txBody>
      </p:sp>
      <p:cxnSp>
        <p:nvCxnSpPr>
          <p:cNvPr id="13" name="区切り"/>
          <p:cNvCxnSpPr/>
          <p:nvPr/>
        </p:nvCxnSpPr>
        <p:spPr>
          <a:xfrm>
            <a:off x="7977655" y="2100125"/>
            <a:ext cx="0" cy="690645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数字_種のサービス"/>
          <p:cNvSpPr txBox="1"/>
          <p:nvPr/>
        </p:nvSpPr>
        <p:spPr>
          <a:xfrm>
            <a:off x="8076319" y="2015556"/>
            <a:ext cx="1451764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394"/>
              </a:lnSpc>
              <a:spcBef>
                <a:spcPts val="0"/>
              </a:spcBef>
              <a:spcAft>
                <a:spcPts val="0"/>
              </a:spcAft>
            </a:pPr>
            <a:r>
              <a:rPr sz="399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7</a:t>
            </a:r>
          </a:p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種のサービス</a:t>
            </a:r>
          </a:p>
        </p:txBody>
      </p:sp>
      <p:cxnSp>
        <p:nvCxnSpPr>
          <p:cNvPr id="15" name="区切り"/>
          <p:cNvCxnSpPr/>
          <p:nvPr/>
        </p:nvCxnSpPr>
        <p:spPr>
          <a:xfrm>
            <a:off x="9598557" y="2100125"/>
            <a:ext cx="0" cy="690645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数字_県"/>
          <p:cNvSpPr txBox="1"/>
          <p:nvPr/>
        </p:nvSpPr>
        <p:spPr>
          <a:xfrm>
            <a:off x="9697221" y="2015556"/>
            <a:ext cx="1451764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394"/>
              </a:lnSpc>
              <a:spcBef>
                <a:spcPts val="0"/>
              </a:spcBef>
              <a:spcAft>
                <a:spcPts val="0"/>
              </a:spcAft>
            </a:pPr>
            <a:r>
              <a:rPr sz="399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5</a:t>
            </a:r>
          </a:p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県</a:t>
            </a:r>
          </a:p>
        </p:txBody>
      </p:sp>
      <p:sp>
        <p:nvSpPr>
          <p:cNvPr id="17" name="県別"/>
          <p:cNvSpPr txBox="1"/>
          <p:nvPr/>
        </p:nvSpPr>
        <p:spPr>
          <a:xfrm>
            <a:off x="6455417" y="2889434"/>
            <a:ext cx="4862705" cy="2396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53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長野57・新潟15・埼玉15・群馬12・栃木10</a:t>
            </a:r>
          </a:p>
        </p:txBody>
      </p:sp>
      <p:sp>
        <p:nvSpPr>
          <p:cNvPr id="18" name="サービス見出し"/>
          <p:cNvSpPr txBox="1"/>
          <p:nvPr/>
        </p:nvSpPr>
        <p:spPr>
          <a:xfrm>
            <a:off x="620171" y="3551889"/>
            <a:ext cx="634265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暮らし方に合わせて選べる、7つのサービス</a:t>
            </a:r>
          </a:p>
        </p:txBody>
      </p:sp>
      <p:sp>
        <p:nvSpPr>
          <p:cNvPr id="19" name="カード_自宅で暮らし続ける"/>
          <p:cNvSpPr/>
          <p:nvPr/>
        </p:nvSpPr>
        <p:spPr>
          <a:xfrm>
            <a:off x="620171" y="3932449"/>
            <a:ext cx="3519001" cy="2424305"/>
          </a:xfrm>
          <a:prstGeom prst="roundRect">
            <a:avLst>
              <a:gd name="adj" fmla="val 5813"/>
            </a:avLst>
          </a:prstGeom>
          <a:solidFill>
            <a:srgbClr val="F8FBFA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ヘッダー_自宅で暮らし続ける"/>
          <p:cNvSpPr/>
          <p:nvPr/>
        </p:nvSpPr>
        <p:spPr>
          <a:xfrm>
            <a:off x="620171" y="3932449"/>
            <a:ext cx="3519001" cy="591982"/>
          </a:xfrm>
          <a:prstGeom prst="roundRect">
            <a:avLst>
              <a:gd name="adj" fmla="val 23809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ヘッダー下"/>
          <p:cNvSpPr/>
          <p:nvPr/>
        </p:nvSpPr>
        <p:spPr>
          <a:xfrm>
            <a:off x="620171" y="4298913"/>
            <a:ext cx="3519001" cy="22551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見出し_自宅で暮らし続ける"/>
          <p:cNvSpPr txBox="1"/>
          <p:nvPr/>
        </p:nvSpPr>
        <p:spPr>
          <a:xfrm>
            <a:off x="845688" y="4017017"/>
            <a:ext cx="3067968" cy="43693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自宅で暮らし続ける</a:t>
            </a:r>
          </a:p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自宅での生活を支援</a:t>
            </a:r>
          </a:p>
        </p:txBody>
      </p:sp>
      <p:sp>
        <p:nvSpPr>
          <p:cNvPr id="23" name="タイル_訪問介護"/>
          <p:cNvSpPr/>
          <p:nvPr/>
        </p:nvSpPr>
        <p:spPr>
          <a:xfrm>
            <a:off x="761119" y="4651283"/>
            <a:ext cx="3237105" cy="747024"/>
          </a:xfrm>
          <a:prstGeom prst="roundRect">
            <a:avLst>
              <a:gd name="adj" fmla="val 13207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ドット"/>
          <p:cNvSpPr/>
          <p:nvPr/>
        </p:nvSpPr>
        <p:spPr>
          <a:xfrm>
            <a:off x="895020" y="4975464"/>
            <a:ext cx="98664" cy="9866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サービス_訪問介護"/>
          <p:cNvSpPr txBox="1"/>
          <p:nvPr/>
        </p:nvSpPr>
        <p:spPr>
          <a:xfrm>
            <a:off x="1113489" y="4707662"/>
            <a:ext cx="2743787" cy="63426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訪問介護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ご自宅で、生活を支援</a:t>
            </a:r>
          </a:p>
        </p:txBody>
      </p:sp>
      <p:sp>
        <p:nvSpPr>
          <p:cNvPr id="26" name="タイル_訪問看護"/>
          <p:cNvSpPr/>
          <p:nvPr/>
        </p:nvSpPr>
        <p:spPr>
          <a:xfrm>
            <a:off x="761119" y="5482876"/>
            <a:ext cx="3237105" cy="747024"/>
          </a:xfrm>
          <a:prstGeom prst="roundRect">
            <a:avLst>
              <a:gd name="adj" fmla="val 13207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ドット"/>
          <p:cNvSpPr/>
          <p:nvPr/>
        </p:nvSpPr>
        <p:spPr>
          <a:xfrm>
            <a:off x="895020" y="5807057"/>
            <a:ext cx="98664" cy="9866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サービス_訪問看護"/>
          <p:cNvSpPr txBox="1"/>
          <p:nvPr/>
        </p:nvSpPr>
        <p:spPr>
          <a:xfrm>
            <a:off x="1113489" y="5539255"/>
            <a:ext cx="2743787" cy="63426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訪問看護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ご自宅へ、看護を届ける</a:t>
            </a:r>
          </a:p>
        </p:txBody>
      </p:sp>
      <p:sp>
        <p:nvSpPr>
          <p:cNvPr id="29" name="カード_通い・訪問・泊まりで支える"/>
          <p:cNvSpPr/>
          <p:nvPr/>
        </p:nvSpPr>
        <p:spPr>
          <a:xfrm>
            <a:off x="4336499" y="3932449"/>
            <a:ext cx="3519001" cy="2424305"/>
          </a:xfrm>
          <a:prstGeom prst="roundRect">
            <a:avLst>
              <a:gd name="adj" fmla="val 5813"/>
            </a:avLst>
          </a:prstGeom>
          <a:solidFill>
            <a:srgbClr val="F8FBFA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ヘッダー_通い・訪問・泊まりで支える"/>
          <p:cNvSpPr/>
          <p:nvPr/>
        </p:nvSpPr>
        <p:spPr>
          <a:xfrm>
            <a:off x="4336499" y="3932449"/>
            <a:ext cx="3519001" cy="591982"/>
          </a:xfrm>
          <a:prstGeom prst="roundRect">
            <a:avLst>
              <a:gd name="adj" fmla="val 23809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ヘッダー下"/>
          <p:cNvSpPr/>
          <p:nvPr/>
        </p:nvSpPr>
        <p:spPr>
          <a:xfrm>
            <a:off x="4336499" y="4298913"/>
            <a:ext cx="3519001" cy="225517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見出し_通い・訪問・泊まりで支える"/>
          <p:cNvSpPr txBox="1"/>
          <p:nvPr/>
        </p:nvSpPr>
        <p:spPr>
          <a:xfrm>
            <a:off x="4562016" y="4017017"/>
            <a:ext cx="3067968" cy="43693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通い・訪問・泊まりで支える</a:t>
            </a:r>
          </a:p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小規模多機能で、暮らしを支える</a:t>
            </a:r>
          </a:p>
        </p:txBody>
      </p:sp>
      <p:sp>
        <p:nvSpPr>
          <p:cNvPr id="33" name="タイル_デイサービス"/>
          <p:cNvSpPr/>
          <p:nvPr/>
        </p:nvSpPr>
        <p:spPr>
          <a:xfrm>
            <a:off x="4477447" y="4651283"/>
            <a:ext cx="3237105" cy="469827"/>
          </a:xfrm>
          <a:prstGeom prst="roundRect">
            <a:avLst>
              <a:gd name="adj" fmla="val 2100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ドット"/>
          <p:cNvSpPr/>
          <p:nvPr/>
        </p:nvSpPr>
        <p:spPr>
          <a:xfrm>
            <a:off x="4611348" y="4836865"/>
            <a:ext cx="98664" cy="9866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サービス_デイサービス"/>
          <p:cNvSpPr txBox="1"/>
          <p:nvPr/>
        </p:nvSpPr>
        <p:spPr>
          <a:xfrm>
            <a:off x="4829817" y="4707662"/>
            <a:ext cx="2743787" cy="3570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デイサービス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通いで過ごす</a:t>
            </a:r>
          </a:p>
        </p:txBody>
      </p:sp>
      <p:sp>
        <p:nvSpPr>
          <p:cNvPr id="36" name="タイル_小規模多機能型"/>
          <p:cNvSpPr/>
          <p:nvPr/>
        </p:nvSpPr>
        <p:spPr>
          <a:xfrm>
            <a:off x="4477447" y="5205679"/>
            <a:ext cx="3237105" cy="469827"/>
          </a:xfrm>
          <a:prstGeom prst="roundRect">
            <a:avLst>
              <a:gd name="adj" fmla="val 2100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ドット"/>
          <p:cNvSpPr/>
          <p:nvPr/>
        </p:nvSpPr>
        <p:spPr>
          <a:xfrm>
            <a:off x="4611348" y="5391260"/>
            <a:ext cx="98664" cy="9866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サービス_小規模多機能型"/>
          <p:cNvSpPr txBox="1"/>
          <p:nvPr/>
        </p:nvSpPr>
        <p:spPr>
          <a:xfrm>
            <a:off x="4829817" y="5262058"/>
            <a:ext cx="2743787" cy="3570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小規模多機能型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通い・訪問・泊まりを組み合わせて</a:t>
            </a:r>
          </a:p>
        </p:txBody>
      </p:sp>
      <p:sp>
        <p:nvSpPr>
          <p:cNvPr id="39" name="タイル_看護小規模多機能型"/>
          <p:cNvSpPr/>
          <p:nvPr/>
        </p:nvSpPr>
        <p:spPr>
          <a:xfrm>
            <a:off x="4477447" y="5760074"/>
            <a:ext cx="3237105" cy="469827"/>
          </a:xfrm>
          <a:prstGeom prst="roundRect">
            <a:avLst>
              <a:gd name="adj" fmla="val 2100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ドット"/>
          <p:cNvSpPr/>
          <p:nvPr/>
        </p:nvSpPr>
        <p:spPr>
          <a:xfrm>
            <a:off x="4611348" y="5945655"/>
            <a:ext cx="98664" cy="9866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サービス_看護小規模多機能型"/>
          <p:cNvSpPr txBox="1"/>
          <p:nvPr/>
        </p:nvSpPr>
        <p:spPr>
          <a:xfrm>
            <a:off x="4829817" y="5816453"/>
            <a:ext cx="2743787" cy="3570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看護小規模多機能型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看護も組み合わせて</a:t>
            </a:r>
          </a:p>
        </p:txBody>
      </p:sp>
      <p:sp>
        <p:nvSpPr>
          <p:cNvPr id="42" name="カード_住まいで暮らす"/>
          <p:cNvSpPr/>
          <p:nvPr/>
        </p:nvSpPr>
        <p:spPr>
          <a:xfrm>
            <a:off x="8052828" y="3932449"/>
            <a:ext cx="3519001" cy="2424305"/>
          </a:xfrm>
          <a:prstGeom prst="roundRect">
            <a:avLst>
              <a:gd name="adj" fmla="val 5813"/>
            </a:avLst>
          </a:prstGeom>
          <a:solidFill>
            <a:srgbClr val="F8FBFA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ヘッダー_住まいで暮らす"/>
          <p:cNvSpPr/>
          <p:nvPr/>
        </p:nvSpPr>
        <p:spPr>
          <a:xfrm>
            <a:off x="8052828" y="3932449"/>
            <a:ext cx="3519001" cy="591982"/>
          </a:xfrm>
          <a:prstGeom prst="roundRect">
            <a:avLst>
              <a:gd name="adj" fmla="val 23809"/>
            </a:avLst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ヘッダー下"/>
          <p:cNvSpPr/>
          <p:nvPr/>
        </p:nvSpPr>
        <p:spPr>
          <a:xfrm>
            <a:off x="8052828" y="4298913"/>
            <a:ext cx="3519001" cy="225517"/>
          </a:xfrm>
          <a:prstGeom prst="rect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見出し_住まいで暮らす"/>
          <p:cNvSpPr txBox="1"/>
          <p:nvPr/>
        </p:nvSpPr>
        <p:spPr>
          <a:xfrm>
            <a:off x="8278345" y="4017017"/>
            <a:ext cx="3067968" cy="43693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住まいで暮らす</a:t>
            </a:r>
          </a:p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居住いただき、支援する</a:t>
            </a:r>
          </a:p>
        </p:txBody>
      </p:sp>
      <p:sp>
        <p:nvSpPr>
          <p:cNvPr id="46" name="タイル_有料老人ホーム"/>
          <p:cNvSpPr/>
          <p:nvPr/>
        </p:nvSpPr>
        <p:spPr>
          <a:xfrm>
            <a:off x="8193776" y="4651283"/>
            <a:ext cx="3237105" cy="747024"/>
          </a:xfrm>
          <a:prstGeom prst="roundRect">
            <a:avLst>
              <a:gd name="adj" fmla="val 13207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ドット"/>
          <p:cNvSpPr/>
          <p:nvPr/>
        </p:nvSpPr>
        <p:spPr>
          <a:xfrm>
            <a:off x="8327676" y="4975464"/>
            <a:ext cx="98664" cy="98664"/>
          </a:xfrm>
          <a:prstGeom prst="ellipse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サービス_有料老人ホーム"/>
          <p:cNvSpPr txBox="1"/>
          <p:nvPr/>
        </p:nvSpPr>
        <p:spPr>
          <a:xfrm>
            <a:off x="8546146" y="4707662"/>
            <a:ext cx="2743787" cy="63426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有料老人ホーム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住まいで、暮らしを支援</a:t>
            </a:r>
          </a:p>
        </p:txBody>
      </p:sp>
      <p:sp>
        <p:nvSpPr>
          <p:cNvPr id="49" name="タイル_グループホーム"/>
          <p:cNvSpPr/>
          <p:nvPr/>
        </p:nvSpPr>
        <p:spPr>
          <a:xfrm>
            <a:off x="8193776" y="5482876"/>
            <a:ext cx="3237105" cy="747024"/>
          </a:xfrm>
          <a:prstGeom prst="roundRect">
            <a:avLst>
              <a:gd name="adj" fmla="val 13207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ドット"/>
          <p:cNvSpPr/>
          <p:nvPr/>
        </p:nvSpPr>
        <p:spPr>
          <a:xfrm>
            <a:off x="8327676" y="5807057"/>
            <a:ext cx="98664" cy="98664"/>
          </a:xfrm>
          <a:prstGeom prst="ellipse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サービス_グループホーム"/>
          <p:cNvSpPr txBox="1"/>
          <p:nvPr/>
        </p:nvSpPr>
        <p:spPr>
          <a:xfrm>
            <a:off x="8546146" y="5539255"/>
            <a:ext cx="2743787" cy="63426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グループホーム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少人数で暮らす、家庭的な雰囲気</a:t>
            </a:r>
          </a:p>
        </p:txBody>
      </p:sp>
      <p:sp>
        <p:nvSpPr>
          <p:cNvPr id="52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出典：企業説明会資料、経営者ヒアリング、実習サイトの掲載内容。サービスの分け方は暮らし方に合わせた整理です。</a:t>
            </a:r>
          </a:p>
        </p:txBody>
      </p:sp>
      <p:sp>
        <p:nvSpPr>
          <p:cNvPr id="53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事業の成長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売上は10年で大きく成長。用具と介護の2本柱で拡大</a:t>
            </a:r>
          </a:p>
        </p:txBody>
      </p:sp>
      <p:sp>
        <p:nvSpPr>
          <p:cNvPr id="8" name="売上カード"/>
          <p:cNvSpPr/>
          <p:nvPr/>
        </p:nvSpPr>
        <p:spPr>
          <a:xfrm>
            <a:off x="620171" y="1465859"/>
            <a:ext cx="7329295" cy="4890895"/>
          </a:xfrm>
          <a:prstGeom prst="roundRect">
            <a:avLst>
              <a:gd name="adj" fmla="val 288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売上見出し"/>
          <p:cNvSpPr txBox="1"/>
          <p:nvPr/>
        </p:nvSpPr>
        <p:spPr>
          <a:xfrm>
            <a:off x="902067" y="1677281"/>
            <a:ext cx="422843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売上の推移（26期〜36期）</a:t>
            </a:r>
          </a:p>
        </p:txBody>
      </p:sp>
      <p:sp>
        <p:nvSpPr>
          <p:cNvPr id="10" name="凡例_用具"/>
          <p:cNvSpPr/>
          <p:nvPr/>
        </p:nvSpPr>
        <p:spPr>
          <a:xfrm>
            <a:off x="4707662" y="1733660"/>
            <a:ext cx="155043" cy="155043"/>
          </a:xfrm>
          <a:prstGeom prst="roundRect">
            <a:avLst>
              <a:gd name="adj" fmla="val 22727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凡例文字_用具"/>
          <p:cNvSpPr txBox="1"/>
          <p:nvPr/>
        </p:nvSpPr>
        <p:spPr>
          <a:xfrm>
            <a:off x="4933179" y="1705471"/>
            <a:ext cx="704740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用具</a:t>
            </a:r>
          </a:p>
        </p:txBody>
      </p:sp>
      <p:sp>
        <p:nvSpPr>
          <p:cNvPr id="12" name="凡例_介護"/>
          <p:cNvSpPr/>
          <p:nvPr/>
        </p:nvSpPr>
        <p:spPr>
          <a:xfrm>
            <a:off x="5694298" y="1733660"/>
            <a:ext cx="155043" cy="155043"/>
          </a:xfrm>
          <a:prstGeom prst="roundRect">
            <a:avLst>
              <a:gd name="adj" fmla="val 22727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凡例文字_介護"/>
          <p:cNvSpPr txBox="1"/>
          <p:nvPr/>
        </p:nvSpPr>
        <p:spPr>
          <a:xfrm>
            <a:off x="5919815" y="1705471"/>
            <a:ext cx="704740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</a:t>
            </a:r>
          </a:p>
        </p:txBody>
      </p:sp>
      <p:sp>
        <p:nvSpPr>
          <p:cNvPr id="14" name="凡例_居宅"/>
          <p:cNvSpPr/>
          <p:nvPr/>
        </p:nvSpPr>
        <p:spPr>
          <a:xfrm>
            <a:off x="6680934" y="1733660"/>
            <a:ext cx="155043" cy="155043"/>
          </a:xfrm>
          <a:prstGeom prst="roundRect">
            <a:avLst>
              <a:gd name="adj" fmla="val 22727"/>
            </a:avLst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凡例文字_居宅"/>
          <p:cNvSpPr txBox="1"/>
          <p:nvPr/>
        </p:nvSpPr>
        <p:spPr>
          <a:xfrm>
            <a:off x="6906451" y="1705471"/>
            <a:ext cx="704740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居宅</a:t>
            </a:r>
          </a:p>
        </p:txBody>
      </p:sp>
      <p:sp>
        <p:nvSpPr>
          <p:cNvPr id="16" name="単位"/>
          <p:cNvSpPr txBox="1"/>
          <p:nvPr/>
        </p:nvSpPr>
        <p:spPr>
          <a:xfrm>
            <a:off x="902067" y="1987366"/>
            <a:ext cx="422843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4"/>
              </a:lnSpc>
              <a:spcBef>
                <a:spcPts val="0"/>
              </a:spcBef>
              <a:spcAft>
                <a:spcPts val="0"/>
              </a:spcAft>
            </a:pPr>
            <a:r>
              <a:rPr sz="887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単位：百万円（資料のグラフ値。単位は推定）</a:t>
            </a:r>
          </a:p>
        </p:txBody>
      </p:sp>
      <p:sp>
        <p:nvSpPr>
          <p:cNvPr id="17" name="棒_26期"/>
          <p:cNvSpPr/>
          <p:nvPr/>
        </p:nvSpPr>
        <p:spPr>
          <a:xfrm>
            <a:off x="1050062" y="5116686"/>
            <a:ext cx="408749" cy="648086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値"/>
          <p:cNvSpPr txBox="1"/>
          <p:nvPr/>
        </p:nvSpPr>
        <p:spPr>
          <a:xfrm>
            <a:off x="965494" y="5116686"/>
            <a:ext cx="577887" cy="648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2,137</a:t>
            </a:r>
          </a:p>
        </p:txBody>
      </p:sp>
      <p:sp>
        <p:nvSpPr>
          <p:cNvPr id="19" name="棒_26期"/>
          <p:cNvSpPr/>
          <p:nvPr/>
        </p:nvSpPr>
        <p:spPr>
          <a:xfrm>
            <a:off x="1050062" y="4621751"/>
            <a:ext cx="408749" cy="494935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値"/>
          <p:cNvSpPr txBox="1"/>
          <p:nvPr/>
        </p:nvSpPr>
        <p:spPr>
          <a:xfrm>
            <a:off x="965494" y="4621751"/>
            <a:ext cx="577887" cy="49493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1,632</a:t>
            </a:r>
          </a:p>
        </p:txBody>
      </p:sp>
      <p:sp>
        <p:nvSpPr>
          <p:cNvPr id="21" name="棒_26期"/>
          <p:cNvSpPr/>
          <p:nvPr/>
        </p:nvSpPr>
        <p:spPr>
          <a:xfrm>
            <a:off x="1050062" y="4599309"/>
            <a:ext cx="408749" cy="22442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合計_26期"/>
          <p:cNvSpPr txBox="1"/>
          <p:nvPr/>
        </p:nvSpPr>
        <p:spPr>
          <a:xfrm>
            <a:off x="951399" y="4359697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3,843</a:t>
            </a:r>
          </a:p>
        </p:txBody>
      </p:sp>
      <p:sp>
        <p:nvSpPr>
          <p:cNvPr id="23" name="期_26"/>
          <p:cNvSpPr txBox="1"/>
          <p:nvPr/>
        </p:nvSpPr>
        <p:spPr>
          <a:xfrm>
            <a:off x="951399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26期</a:t>
            </a:r>
          </a:p>
        </p:txBody>
      </p:sp>
      <p:sp>
        <p:nvSpPr>
          <p:cNvPr id="24" name="棒_27期"/>
          <p:cNvSpPr/>
          <p:nvPr/>
        </p:nvSpPr>
        <p:spPr>
          <a:xfrm>
            <a:off x="1656139" y="5060278"/>
            <a:ext cx="408749" cy="704494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棒_27期"/>
          <p:cNvSpPr/>
          <p:nvPr/>
        </p:nvSpPr>
        <p:spPr>
          <a:xfrm>
            <a:off x="1656139" y="4503779"/>
            <a:ext cx="408749" cy="556499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棒_27期"/>
          <p:cNvSpPr/>
          <p:nvPr/>
        </p:nvSpPr>
        <p:spPr>
          <a:xfrm>
            <a:off x="1656139" y="4477698"/>
            <a:ext cx="408749" cy="26081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合計_27期"/>
          <p:cNvSpPr txBox="1"/>
          <p:nvPr/>
        </p:nvSpPr>
        <p:spPr>
          <a:xfrm>
            <a:off x="1557475" y="4238086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4,244</a:t>
            </a:r>
          </a:p>
        </p:txBody>
      </p:sp>
      <p:sp>
        <p:nvSpPr>
          <p:cNvPr id="28" name="期_27"/>
          <p:cNvSpPr txBox="1"/>
          <p:nvPr/>
        </p:nvSpPr>
        <p:spPr>
          <a:xfrm>
            <a:off x="1557475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27期</a:t>
            </a:r>
          </a:p>
        </p:txBody>
      </p:sp>
      <p:sp>
        <p:nvSpPr>
          <p:cNvPr id="29" name="棒_28期"/>
          <p:cNvSpPr/>
          <p:nvPr/>
        </p:nvSpPr>
        <p:spPr>
          <a:xfrm>
            <a:off x="2262215" y="5027525"/>
            <a:ext cx="408749" cy="73724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棒_28期"/>
          <p:cNvSpPr/>
          <p:nvPr/>
        </p:nvSpPr>
        <p:spPr>
          <a:xfrm>
            <a:off x="2262215" y="4394602"/>
            <a:ext cx="408749" cy="632923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棒_28期"/>
          <p:cNvSpPr/>
          <p:nvPr/>
        </p:nvSpPr>
        <p:spPr>
          <a:xfrm>
            <a:off x="2262215" y="4364275"/>
            <a:ext cx="408749" cy="30327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合計_28期"/>
          <p:cNvSpPr txBox="1"/>
          <p:nvPr/>
        </p:nvSpPr>
        <p:spPr>
          <a:xfrm>
            <a:off x="2163551" y="4124663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4,618</a:t>
            </a:r>
          </a:p>
        </p:txBody>
      </p:sp>
      <p:sp>
        <p:nvSpPr>
          <p:cNvPr id="33" name="期_28"/>
          <p:cNvSpPr txBox="1"/>
          <p:nvPr/>
        </p:nvSpPr>
        <p:spPr>
          <a:xfrm>
            <a:off x="2163551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28期</a:t>
            </a:r>
          </a:p>
        </p:txBody>
      </p:sp>
      <p:sp>
        <p:nvSpPr>
          <p:cNvPr id="34" name="棒_29期"/>
          <p:cNvSpPr/>
          <p:nvPr/>
        </p:nvSpPr>
        <p:spPr>
          <a:xfrm>
            <a:off x="2868291" y="4975059"/>
            <a:ext cx="408749" cy="789713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棒_29期"/>
          <p:cNvSpPr/>
          <p:nvPr/>
        </p:nvSpPr>
        <p:spPr>
          <a:xfrm>
            <a:off x="2868291" y="4245090"/>
            <a:ext cx="408749" cy="729969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棒_29期"/>
          <p:cNvSpPr/>
          <p:nvPr/>
        </p:nvSpPr>
        <p:spPr>
          <a:xfrm>
            <a:off x="2868291" y="4212034"/>
            <a:ext cx="408749" cy="33056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合計_29期"/>
          <p:cNvSpPr txBox="1"/>
          <p:nvPr/>
        </p:nvSpPr>
        <p:spPr>
          <a:xfrm>
            <a:off x="2769628" y="3972422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5,120</a:t>
            </a:r>
          </a:p>
        </p:txBody>
      </p:sp>
      <p:sp>
        <p:nvSpPr>
          <p:cNvPr id="38" name="期_29"/>
          <p:cNvSpPr txBox="1"/>
          <p:nvPr/>
        </p:nvSpPr>
        <p:spPr>
          <a:xfrm>
            <a:off x="2769628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29期</a:t>
            </a:r>
          </a:p>
        </p:txBody>
      </p:sp>
      <p:sp>
        <p:nvSpPr>
          <p:cNvPr id="39" name="棒_30期"/>
          <p:cNvSpPr/>
          <p:nvPr/>
        </p:nvSpPr>
        <p:spPr>
          <a:xfrm>
            <a:off x="3474368" y="4918348"/>
            <a:ext cx="408749" cy="846424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棒_30期"/>
          <p:cNvSpPr/>
          <p:nvPr/>
        </p:nvSpPr>
        <p:spPr>
          <a:xfrm>
            <a:off x="3474368" y="4116807"/>
            <a:ext cx="408749" cy="801541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棒_30期"/>
          <p:cNvSpPr/>
          <p:nvPr/>
        </p:nvSpPr>
        <p:spPr>
          <a:xfrm>
            <a:off x="3474368" y="4081022"/>
            <a:ext cx="408749" cy="35786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合計_30期"/>
          <p:cNvSpPr txBox="1"/>
          <p:nvPr/>
        </p:nvSpPr>
        <p:spPr>
          <a:xfrm>
            <a:off x="3375704" y="3841410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5,552</a:t>
            </a:r>
          </a:p>
        </p:txBody>
      </p:sp>
      <p:sp>
        <p:nvSpPr>
          <p:cNvPr id="43" name="期_30"/>
          <p:cNvSpPr txBox="1"/>
          <p:nvPr/>
        </p:nvSpPr>
        <p:spPr>
          <a:xfrm>
            <a:off x="3375704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30期</a:t>
            </a:r>
          </a:p>
        </p:txBody>
      </p:sp>
      <p:sp>
        <p:nvSpPr>
          <p:cNvPr id="44" name="棒_31期"/>
          <p:cNvSpPr/>
          <p:nvPr/>
        </p:nvSpPr>
        <p:spPr>
          <a:xfrm>
            <a:off x="4080444" y="4854055"/>
            <a:ext cx="408749" cy="91071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棒_31期"/>
          <p:cNvSpPr/>
          <p:nvPr/>
        </p:nvSpPr>
        <p:spPr>
          <a:xfrm>
            <a:off x="4080444" y="3969115"/>
            <a:ext cx="408749" cy="884940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棒_31期"/>
          <p:cNvSpPr/>
          <p:nvPr/>
        </p:nvSpPr>
        <p:spPr>
          <a:xfrm>
            <a:off x="4080444" y="3931813"/>
            <a:ext cx="408749" cy="37302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合計_31期"/>
          <p:cNvSpPr txBox="1"/>
          <p:nvPr/>
        </p:nvSpPr>
        <p:spPr>
          <a:xfrm>
            <a:off x="3981780" y="3692202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6,044</a:t>
            </a:r>
          </a:p>
        </p:txBody>
      </p:sp>
      <p:sp>
        <p:nvSpPr>
          <p:cNvPr id="48" name="期_31"/>
          <p:cNvSpPr txBox="1"/>
          <p:nvPr/>
        </p:nvSpPr>
        <p:spPr>
          <a:xfrm>
            <a:off x="3981780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31期</a:t>
            </a:r>
          </a:p>
        </p:txBody>
      </p:sp>
      <p:sp>
        <p:nvSpPr>
          <p:cNvPr id="49" name="棒_32期"/>
          <p:cNvSpPr/>
          <p:nvPr/>
        </p:nvSpPr>
        <p:spPr>
          <a:xfrm>
            <a:off x="4686520" y="4785516"/>
            <a:ext cx="408749" cy="979256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棒_32期"/>
          <p:cNvSpPr/>
          <p:nvPr/>
        </p:nvSpPr>
        <p:spPr>
          <a:xfrm>
            <a:off x="4686520" y="3641888"/>
            <a:ext cx="408749" cy="1143628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棒_32期"/>
          <p:cNvSpPr/>
          <p:nvPr/>
        </p:nvSpPr>
        <p:spPr>
          <a:xfrm>
            <a:off x="4686520" y="3596397"/>
            <a:ext cx="408749" cy="45490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合計_32期"/>
          <p:cNvSpPr txBox="1"/>
          <p:nvPr/>
        </p:nvSpPr>
        <p:spPr>
          <a:xfrm>
            <a:off x="4587857" y="3356786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7,150</a:t>
            </a:r>
          </a:p>
        </p:txBody>
      </p:sp>
      <p:sp>
        <p:nvSpPr>
          <p:cNvPr id="53" name="期_32"/>
          <p:cNvSpPr txBox="1"/>
          <p:nvPr/>
        </p:nvSpPr>
        <p:spPr>
          <a:xfrm>
            <a:off x="4587857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32期</a:t>
            </a:r>
          </a:p>
        </p:txBody>
      </p:sp>
      <p:sp>
        <p:nvSpPr>
          <p:cNvPr id="54" name="棒_33期"/>
          <p:cNvSpPr/>
          <p:nvPr/>
        </p:nvSpPr>
        <p:spPr>
          <a:xfrm>
            <a:off x="5292597" y="4697265"/>
            <a:ext cx="408749" cy="1067508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棒_33期"/>
          <p:cNvSpPr/>
          <p:nvPr/>
        </p:nvSpPr>
        <p:spPr>
          <a:xfrm>
            <a:off x="5292597" y="3493286"/>
            <a:ext cx="408749" cy="1203979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棒_33期"/>
          <p:cNvSpPr/>
          <p:nvPr/>
        </p:nvSpPr>
        <p:spPr>
          <a:xfrm>
            <a:off x="5292597" y="3439607"/>
            <a:ext cx="408749" cy="53679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合計_33期"/>
          <p:cNvSpPr txBox="1"/>
          <p:nvPr/>
        </p:nvSpPr>
        <p:spPr>
          <a:xfrm>
            <a:off x="5193933" y="3199996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7,667</a:t>
            </a:r>
          </a:p>
        </p:txBody>
      </p:sp>
      <p:sp>
        <p:nvSpPr>
          <p:cNvPr id="58" name="期_33"/>
          <p:cNvSpPr txBox="1"/>
          <p:nvPr/>
        </p:nvSpPr>
        <p:spPr>
          <a:xfrm>
            <a:off x="5193933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33期</a:t>
            </a:r>
          </a:p>
        </p:txBody>
      </p:sp>
      <p:sp>
        <p:nvSpPr>
          <p:cNvPr id="59" name="棒_34期"/>
          <p:cNvSpPr/>
          <p:nvPr/>
        </p:nvSpPr>
        <p:spPr>
          <a:xfrm>
            <a:off x="5898673" y="4612349"/>
            <a:ext cx="408749" cy="1152423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棒_34期"/>
          <p:cNvSpPr/>
          <p:nvPr/>
        </p:nvSpPr>
        <p:spPr>
          <a:xfrm>
            <a:off x="5898673" y="3368945"/>
            <a:ext cx="408749" cy="1243404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棒_34期"/>
          <p:cNvSpPr/>
          <p:nvPr/>
        </p:nvSpPr>
        <p:spPr>
          <a:xfrm>
            <a:off x="5898673" y="3311324"/>
            <a:ext cx="408749" cy="57621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合計_34期"/>
          <p:cNvSpPr txBox="1"/>
          <p:nvPr/>
        </p:nvSpPr>
        <p:spPr>
          <a:xfrm>
            <a:off x="5800009" y="3071713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8,090</a:t>
            </a:r>
          </a:p>
        </p:txBody>
      </p:sp>
      <p:sp>
        <p:nvSpPr>
          <p:cNvPr id="63" name="期_34"/>
          <p:cNvSpPr txBox="1"/>
          <p:nvPr/>
        </p:nvSpPr>
        <p:spPr>
          <a:xfrm>
            <a:off x="5800009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34期</a:t>
            </a:r>
          </a:p>
        </p:txBody>
      </p:sp>
      <p:sp>
        <p:nvSpPr>
          <p:cNvPr id="64" name="棒_35期"/>
          <p:cNvSpPr/>
          <p:nvPr/>
        </p:nvSpPr>
        <p:spPr>
          <a:xfrm>
            <a:off x="6504749" y="4608407"/>
            <a:ext cx="408749" cy="1156366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棒_35期"/>
          <p:cNvSpPr/>
          <p:nvPr/>
        </p:nvSpPr>
        <p:spPr>
          <a:xfrm>
            <a:off x="6504749" y="3170911"/>
            <a:ext cx="408749" cy="1437496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棒_35期"/>
          <p:cNvSpPr/>
          <p:nvPr/>
        </p:nvSpPr>
        <p:spPr>
          <a:xfrm>
            <a:off x="6504749" y="3103282"/>
            <a:ext cx="408749" cy="67629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合計_35期"/>
          <p:cNvSpPr txBox="1"/>
          <p:nvPr/>
        </p:nvSpPr>
        <p:spPr>
          <a:xfrm>
            <a:off x="6406086" y="2863670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8,776</a:t>
            </a:r>
          </a:p>
        </p:txBody>
      </p:sp>
      <p:sp>
        <p:nvSpPr>
          <p:cNvPr id="68" name="期_35"/>
          <p:cNvSpPr txBox="1"/>
          <p:nvPr/>
        </p:nvSpPr>
        <p:spPr>
          <a:xfrm>
            <a:off x="6406086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35期</a:t>
            </a:r>
          </a:p>
        </p:txBody>
      </p:sp>
      <p:sp>
        <p:nvSpPr>
          <p:cNvPr id="69" name="棒_36期"/>
          <p:cNvSpPr/>
          <p:nvPr/>
        </p:nvSpPr>
        <p:spPr>
          <a:xfrm>
            <a:off x="7110825" y="4453436"/>
            <a:ext cx="408749" cy="1311336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値"/>
          <p:cNvSpPr txBox="1"/>
          <p:nvPr/>
        </p:nvSpPr>
        <p:spPr>
          <a:xfrm>
            <a:off x="7026257" y="4453436"/>
            <a:ext cx="577887" cy="1311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4,324</a:t>
            </a:r>
          </a:p>
        </p:txBody>
      </p:sp>
      <p:sp>
        <p:nvSpPr>
          <p:cNvPr id="71" name="棒_36期"/>
          <p:cNvSpPr/>
          <p:nvPr/>
        </p:nvSpPr>
        <p:spPr>
          <a:xfrm>
            <a:off x="7110825" y="2896755"/>
            <a:ext cx="408749" cy="1556681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値"/>
          <p:cNvSpPr txBox="1"/>
          <p:nvPr/>
        </p:nvSpPr>
        <p:spPr>
          <a:xfrm>
            <a:off x="7026257" y="2896755"/>
            <a:ext cx="577887" cy="155668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5,133</a:t>
            </a:r>
          </a:p>
        </p:txBody>
      </p:sp>
      <p:sp>
        <p:nvSpPr>
          <p:cNvPr id="73" name="棒_36期"/>
          <p:cNvSpPr/>
          <p:nvPr/>
        </p:nvSpPr>
        <p:spPr>
          <a:xfrm>
            <a:off x="7110825" y="2804865"/>
            <a:ext cx="408749" cy="91891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合計_36期"/>
          <p:cNvSpPr txBox="1"/>
          <p:nvPr/>
        </p:nvSpPr>
        <p:spPr>
          <a:xfrm>
            <a:off x="7012162" y="2565253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9,760</a:t>
            </a:r>
          </a:p>
        </p:txBody>
      </p:sp>
      <p:sp>
        <p:nvSpPr>
          <p:cNvPr id="75" name="期_36"/>
          <p:cNvSpPr txBox="1"/>
          <p:nvPr/>
        </p:nvSpPr>
        <p:spPr>
          <a:xfrm>
            <a:off x="7012162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36期</a:t>
            </a:r>
          </a:p>
        </p:txBody>
      </p:sp>
      <p:cxnSp>
        <p:nvCxnSpPr>
          <p:cNvPr id="76" name="基準線"/>
          <p:cNvCxnSpPr/>
          <p:nvPr/>
        </p:nvCxnSpPr>
        <p:spPr>
          <a:xfrm>
            <a:off x="902067" y="5764772"/>
            <a:ext cx="6765503" cy="0"/>
          </a:xfrm>
          <a:prstGeom prst="line">
            <a:avLst/>
          </a:prstGeom>
          <a:ln w="1905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年"/>
          <p:cNvSpPr/>
          <p:nvPr/>
        </p:nvSpPr>
        <p:spPr>
          <a:xfrm>
            <a:off x="916162" y="2297452"/>
            <a:ext cx="676550" cy="239612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年_2013年"/>
          <p:cNvSpPr txBox="1"/>
          <p:nvPr/>
        </p:nvSpPr>
        <p:spPr>
          <a:xfrm>
            <a:off x="916162" y="2297452"/>
            <a:ext cx="676550" cy="2396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2013年</a:t>
            </a:r>
          </a:p>
        </p:txBody>
      </p:sp>
      <p:sp>
        <p:nvSpPr>
          <p:cNvPr id="79" name="年"/>
          <p:cNvSpPr/>
          <p:nvPr/>
        </p:nvSpPr>
        <p:spPr>
          <a:xfrm>
            <a:off x="6976925" y="2297452"/>
            <a:ext cx="676550" cy="239612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年_2023年"/>
          <p:cNvSpPr txBox="1"/>
          <p:nvPr/>
        </p:nvSpPr>
        <p:spPr>
          <a:xfrm>
            <a:off x="6976925" y="2297452"/>
            <a:ext cx="676550" cy="2396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2023年</a:t>
            </a:r>
          </a:p>
        </p:txBody>
      </p:sp>
      <p:sp>
        <p:nvSpPr>
          <p:cNvPr id="81" name="資料の記載"/>
          <p:cNvSpPr txBox="1"/>
          <p:nvPr/>
        </p:nvSpPr>
        <p:spPr>
          <a:xfrm>
            <a:off x="902067" y="6074858"/>
            <a:ext cx="6765503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資料の記載：売上は10年で235%成長（2013年 39億円 → 2023年 92億円）</a:t>
            </a:r>
          </a:p>
        </p:txBody>
      </p:sp>
      <p:sp>
        <p:nvSpPr>
          <p:cNvPr id="82" name="戦略カード"/>
          <p:cNvSpPr/>
          <p:nvPr/>
        </p:nvSpPr>
        <p:spPr>
          <a:xfrm>
            <a:off x="8174983" y="1465859"/>
            <a:ext cx="3396846" cy="4890895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戦略見出し"/>
          <p:cNvSpPr txBox="1"/>
          <p:nvPr/>
        </p:nvSpPr>
        <p:spPr>
          <a:xfrm>
            <a:off x="8428689" y="1677281"/>
            <a:ext cx="2889434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これからの成長戦略</a:t>
            </a:r>
          </a:p>
        </p:txBody>
      </p:sp>
      <p:sp>
        <p:nvSpPr>
          <p:cNvPr id="84" name="タグ"/>
          <p:cNvSpPr/>
          <p:nvPr/>
        </p:nvSpPr>
        <p:spPr>
          <a:xfrm>
            <a:off x="8428689" y="2170599"/>
            <a:ext cx="1240342" cy="28189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タグ文字_福祉用具事業"/>
          <p:cNvSpPr txBox="1"/>
          <p:nvPr/>
        </p:nvSpPr>
        <p:spPr>
          <a:xfrm>
            <a:off x="8428689" y="2170599"/>
            <a:ext cx="1240342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福祉用具事業</a:t>
            </a:r>
          </a:p>
        </p:txBody>
      </p:sp>
      <p:sp>
        <p:nvSpPr>
          <p:cNvPr id="86" name="戦略_福祉用具事業"/>
          <p:cNvSpPr txBox="1"/>
          <p:nvPr/>
        </p:nvSpPr>
        <p:spPr>
          <a:xfrm>
            <a:off x="8428689" y="2551158"/>
            <a:ext cx="2889434" cy="81749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・自社仕入レンタル品販売の拡充</a:t>
            </a:r>
          </a:p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・新規利用者様の開拓</a:t>
            </a:r>
          </a:p>
        </p:txBody>
      </p:sp>
      <p:sp>
        <p:nvSpPr>
          <p:cNvPr id="87" name="タグ"/>
          <p:cNvSpPr/>
          <p:nvPr/>
        </p:nvSpPr>
        <p:spPr>
          <a:xfrm>
            <a:off x="8428689" y="3523699"/>
            <a:ext cx="1240342" cy="28189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タグ文字_介護事業"/>
          <p:cNvSpPr txBox="1"/>
          <p:nvPr/>
        </p:nvSpPr>
        <p:spPr>
          <a:xfrm>
            <a:off x="8428689" y="3523699"/>
            <a:ext cx="1240342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介護事業</a:t>
            </a:r>
          </a:p>
        </p:txBody>
      </p:sp>
      <p:sp>
        <p:nvSpPr>
          <p:cNvPr id="89" name="戦略_介護事業"/>
          <p:cNvSpPr txBox="1"/>
          <p:nvPr/>
        </p:nvSpPr>
        <p:spPr>
          <a:xfrm>
            <a:off x="8428689" y="3904259"/>
            <a:ext cx="2889434" cy="12826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・介護サービス・事業所運営方法の見直し</a:t>
            </a:r>
          </a:p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・新たな介護サービスへの挑戦</a:t>
            </a:r>
          </a:p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・ニーズにあったきめ細やかなサービス</a:t>
            </a:r>
          </a:p>
        </p:txBody>
      </p:sp>
      <p:sp>
        <p:nvSpPr>
          <p:cNvPr id="90" name="タグ"/>
          <p:cNvSpPr/>
          <p:nvPr/>
        </p:nvSpPr>
        <p:spPr>
          <a:xfrm>
            <a:off x="8428689" y="5341928"/>
            <a:ext cx="1240342" cy="28189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タグ文字_あわせて"/>
          <p:cNvSpPr txBox="1"/>
          <p:nvPr/>
        </p:nvSpPr>
        <p:spPr>
          <a:xfrm>
            <a:off x="8428689" y="5341928"/>
            <a:ext cx="1240342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あわせて</a:t>
            </a:r>
          </a:p>
        </p:txBody>
      </p:sp>
      <p:sp>
        <p:nvSpPr>
          <p:cNvPr id="92" name="戦略_あわせて"/>
          <p:cNvSpPr txBox="1"/>
          <p:nvPr/>
        </p:nvSpPr>
        <p:spPr>
          <a:xfrm>
            <a:off x="8428689" y="5722488"/>
            <a:ext cx="2889434" cy="4651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・同業種を対象としたM&amp;Aで業績拡大</a:t>
            </a:r>
          </a:p>
        </p:txBody>
      </p:sp>
      <p:sp>
        <p:nvSpPr>
          <p:cNvPr id="93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売上は企業説明会資料（用具・介護・居宅の合計。給食事業等は含まない可能性あり）、成長戦略は2026年3月期 決算説明資料に基づきます。</a:t>
            </a:r>
          </a:p>
        </p:txBody>
      </p:sp>
      <p:sp>
        <p:nvSpPr>
          <p:cNvPr id="94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採用戦略テーマ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他社と並べて見える、エフビーの実習の魅力</a:t>
            </a:r>
          </a:p>
        </p:txBody>
      </p:sp>
      <p:graphicFrame>
        <p:nvGraphicFramePr>
          <p:cNvPr id="8" name="他社比較表"/>
          <p:cNvGraphicFramePr>
            <a:graphicFrameLocks noGrp="1"/>
          </p:cNvGraphicFramePr>
          <p:nvPr/>
        </p:nvGraphicFramePr>
        <p:xfrm>
          <a:off x="620171" y="1465859"/>
          <a:ext cx="10951656" cy="307266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10816"/>
                <a:gridCol w="2833054"/>
                <a:gridCol w="2269262"/>
                <a:gridCol w="2269262"/>
                <a:gridCol w="2269262"/>
              </a:tblGrid>
              <a:tr h="310086">
                <a:tc>
                  <a:txBody>
                    <a:bodyPr/>
                    <a:lstStyle/>
                    <a:p>
                      <a:pPr algn="ctr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/>
                      </a:r>
                    </a:p>
                  </a:txBody>
                  <a:tcPr marL="126853" marR="126853" marT="56379" marB="56379" anchor="ctr">
                    <a:solidFill>
                      <a:srgbClr val="EEF4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エフビー介護サービス</a:t>
                      </a:r>
                    </a:p>
                  </a:txBody>
                  <a:tcPr marL="126853" marR="126853" marT="56379" marB="56379" anchor="ctr">
                    <a:solidFill>
                      <a:srgbClr val="F28C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敬老園</a:t>
                      </a:r>
                    </a:p>
                  </a:txBody>
                  <a:tcPr marL="126853" marR="126853" marT="56379" marB="56379" anchor="ctr">
                    <a:solidFill>
                      <a:srgbClr val="EEF4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医療法人・緑風会</a:t>
                      </a:r>
                    </a:p>
                  </a:txBody>
                  <a:tcPr marL="126853" marR="126853" marT="56379" marB="56379" anchor="ctr">
                    <a:solidFill>
                      <a:srgbClr val="EEF4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アズパートナー</a:t>
                      </a:r>
                    </a:p>
                  </a:txBody>
                  <a:tcPr marL="126853" marR="126853" marT="56379" marB="56379" anchor="ctr">
                    <a:solidFill>
                      <a:srgbClr val="EEF4F1"/>
                    </a:solidFill>
                  </a:tcPr>
                </a:tc>
              </a:tr>
              <a:tr h="648361">
                <a:tc>
                  <a:txBody>
                    <a:bodyPr/>
                    <a:lstStyle/>
                    <a:p>
                      <a:pPr algn="l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1F7D6C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ビジョン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「共生」をテーマにした、人々が助け合う地域創生（エフビータウン構想・コミュニティタワー構想）</a:t>
                      </a:r>
                    </a:p>
                  </a:txBody>
                  <a:tcPr marL="126853" marR="126853" marT="56379" marB="56379" anchor="ctr">
                    <a:solidFill>
                      <a:srgbClr val="FFF6EC"/>
                    </a:solidFill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―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―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暮らしを、共に。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</a:tr>
              <a:tr h="535602">
                <a:tc>
                  <a:txBody>
                    <a:bodyPr/>
                    <a:lstStyle/>
                    <a:p>
                      <a:pPr algn="l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1F7D6C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事業フェーズ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成長期〜拡大期（2022年 スタンダード市場上場）</a:t>
                      </a:r>
                    </a:p>
                  </a:txBody>
                  <a:tcPr marL="126853" marR="126853" marT="56379" marB="56379" anchor="ctr">
                    <a:solidFill>
                      <a:srgbClr val="FFF6EC"/>
                    </a:solidFill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安定期〜成熟期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地域密着・安定運営期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成長期〜拡大期（2024年 スタンダード市場上場）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</a:tr>
              <a:tr h="902067">
                <a:tc>
                  <a:txBody>
                    <a:bodyPr/>
                    <a:lstStyle/>
                    <a:p>
                      <a:pPr algn="l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1F7D6C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事業・特徴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7"/>
                        </a:lnSpc>
                      </a:pPr>
                      <a:r>
                        <a:rPr sz="943" b="0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有料老人ホーム、グループホーム、デイ、訪問介護・看護、小規模多機能、福祉用具ほか</a:t>
                      </a:r>
                    </a:p>
                  </a:txBody>
                  <a:tcPr marL="126853" marR="126853" marT="56379" marB="56379" anchor="ctr">
                    <a:solidFill>
                      <a:srgbClr val="FFF6EC"/>
                    </a:solidFill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7"/>
                        </a:lnSpc>
                      </a:pPr>
                      <a:r>
                        <a:rPr sz="943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特養、ケアハウス、デイ、ショートステイ、居宅介護支援、地域包括支援センター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7"/>
                        </a:lnSpc>
                      </a:pPr>
                      <a:r>
                        <a:rPr sz="943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病院運営、老健、デイケア、グループホーム、訪問看護ほか。病院母体の医療＋介護連携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7"/>
                        </a:lnSpc>
                      </a:pPr>
                      <a:r>
                        <a:rPr sz="943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有料老人ホーム「アズハイム」シリーズ（首都圏中心）。都市型の有料老人ホーム特化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</a:tr>
              <a:tr h="676550">
                <a:tc>
                  <a:txBody>
                    <a:bodyPr/>
                    <a:lstStyle/>
                    <a:p>
                      <a:pPr algn="l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1F7D6C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人・メンバー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関わる人たちが、みんな優しく・温かい</a:t>
                      </a:r>
                    </a:p>
                  </a:txBody>
                  <a:tcPr marL="126853" marR="126853" marT="56379" marB="56379" anchor="ctr">
                    <a:solidFill>
                      <a:srgbClr val="FFF6EC"/>
                    </a:solidFill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「感謝の心を基にした関係」を築き、真心をもってサービスを提供できる人材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「利用者はもちろん、職員にとっても安心できる居場所」を重視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近年は毎年170名以上の新卒社員を受け入れ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魅力見出し"/>
          <p:cNvSpPr txBox="1"/>
          <p:nvPr/>
        </p:nvSpPr>
        <p:spPr>
          <a:xfrm>
            <a:off x="620171" y="4820421"/>
            <a:ext cx="10951658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実習こそ、県内の他社には伝えられない魅力を、プログラムに落とし込む</a:t>
            </a:r>
          </a:p>
        </p:txBody>
      </p:sp>
      <p:sp>
        <p:nvSpPr>
          <p:cNvPr id="10" name="カード_成長産業の上場企業"/>
          <p:cNvSpPr/>
          <p:nvPr/>
        </p:nvSpPr>
        <p:spPr>
          <a:xfrm>
            <a:off x="620171" y="5215075"/>
            <a:ext cx="3519001" cy="1141679"/>
          </a:xfrm>
          <a:prstGeom prst="roundRect">
            <a:avLst>
              <a:gd name="adj" fmla="val 12345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番号"/>
          <p:cNvSpPr/>
          <p:nvPr/>
        </p:nvSpPr>
        <p:spPr>
          <a:xfrm>
            <a:off x="859783" y="5602682"/>
            <a:ext cx="366465" cy="366465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番号1"/>
          <p:cNvSpPr txBox="1"/>
          <p:nvPr/>
        </p:nvSpPr>
        <p:spPr>
          <a:xfrm>
            <a:off x="859783" y="5602682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3" name="魅力_1"/>
          <p:cNvSpPr txBox="1"/>
          <p:nvPr/>
        </p:nvSpPr>
        <p:spPr>
          <a:xfrm>
            <a:off x="1395385" y="5299644"/>
            <a:ext cx="2532365" cy="97254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成長産業の上場企業</a:t>
            </a:r>
          </a:p>
          <a:p>
            <a:pPr algn="l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その根本となる理念がある</a:t>
            </a:r>
          </a:p>
        </p:txBody>
      </p:sp>
      <p:sp>
        <p:nvSpPr>
          <p:cNvPr id="14" name="カード_ニーズに合わせたサービス展開"/>
          <p:cNvSpPr/>
          <p:nvPr/>
        </p:nvSpPr>
        <p:spPr>
          <a:xfrm>
            <a:off x="4336499" y="5215075"/>
            <a:ext cx="3519001" cy="1141679"/>
          </a:xfrm>
          <a:prstGeom prst="roundRect">
            <a:avLst>
              <a:gd name="adj" fmla="val 12345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番号"/>
          <p:cNvSpPr/>
          <p:nvPr/>
        </p:nvSpPr>
        <p:spPr>
          <a:xfrm>
            <a:off x="4576111" y="5602682"/>
            <a:ext cx="366465" cy="366465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番号2"/>
          <p:cNvSpPr txBox="1"/>
          <p:nvPr/>
        </p:nvSpPr>
        <p:spPr>
          <a:xfrm>
            <a:off x="4576111" y="5602682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17" name="魅力_2"/>
          <p:cNvSpPr txBox="1"/>
          <p:nvPr/>
        </p:nvSpPr>
        <p:spPr>
          <a:xfrm>
            <a:off x="5111713" y="5299644"/>
            <a:ext cx="2532365" cy="97254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ニーズに合わせたサービス展開</a:t>
            </a:r>
          </a:p>
          <a:p>
            <a:pPr algn="l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ご利用者さんに合わせた、実習経験の幅</a:t>
            </a:r>
          </a:p>
        </p:txBody>
      </p:sp>
      <p:sp>
        <p:nvSpPr>
          <p:cNvPr id="18" name="カード_ダイバーシティな環境"/>
          <p:cNvSpPr/>
          <p:nvPr/>
        </p:nvSpPr>
        <p:spPr>
          <a:xfrm>
            <a:off x="8052828" y="5215075"/>
            <a:ext cx="3519001" cy="1141679"/>
          </a:xfrm>
          <a:prstGeom prst="roundRect">
            <a:avLst>
              <a:gd name="adj" fmla="val 12345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番号"/>
          <p:cNvSpPr/>
          <p:nvPr/>
        </p:nvSpPr>
        <p:spPr>
          <a:xfrm>
            <a:off x="8292439" y="5602682"/>
            <a:ext cx="366465" cy="366465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番号3"/>
          <p:cNvSpPr txBox="1"/>
          <p:nvPr/>
        </p:nvSpPr>
        <p:spPr>
          <a:xfrm>
            <a:off x="8292439" y="5602682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1" name="魅力_3"/>
          <p:cNvSpPr txBox="1"/>
          <p:nvPr/>
        </p:nvSpPr>
        <p:spPr>
          <a:xfrm>
            <a:off x="8828042" y="5299644"/>
            <a:ext cx="2532365" cy="97254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ダイバーシティな環境</a:t>
            </a:r>
          </a:p>
          <a:p>
            <a:pPr algn="l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女性・技能実習生の採用など（例：県内の女性管理職の割合No.1）</a:t>
            </a:r>
          </a:p>
        </p:txBody>
      </p:sp>
      <p:sp>
        <p:nvSpPr>
          <p:cNvPr id="22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他社の記載は公開情報の要約です。県内の女性管理職割合などの実績は、根拠資料の確認が必要です。</a:t>
            </a:r>
          </a:p>
        </p:txBody>
      </p:sp>
      <p:sp>
        <p:nvSpPr>
          <p:cNvPr id="23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エフビー流の学び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介護の現場を体験して学ぶ、4つのステップ</a:t>
            </a:r>
          </a:p>
        </p:txBody>
      </p:sp>
      <p:sp>
        <p:nvSpPr>
          <p:cNvPr id="8" name="帯"/>
          <p:cNvSpPr/>
          <p:nvPr/>
        </p:nvSpPr>
        <p:spPr>
          <a:xfrm>
            <a:off x="3981780" y="1465859"/>
            <a:ext cx="4228439" cy="422844"/>
          </a:xfrm>
          <a:prstGeom prst="roundRect">
            <a:avLst>
              <a:gd name="adj" fmla="val 50000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帯文字"/>
          <p:cNvSpPr txBox="1"/>
          <p:nvPr/>
        </p:nvSpPr>
        <p:spPr>
          <a:xfrm>
            <a:off x="3981780" y="1465859"/>
            <a:ext cx="4228439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931"/>
              </a:lnSpc>
              <a:spcBef>
                <a:spcPts val="0"/>
              </a:spcBef>
              <a:spcAft>
                <a:spcPts val="0"/>
              </a:spcAft>
            </a:pPr>
            <a:r>
              <a:rPr sz="1609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介護の現場を体験して学ぶ</a:t>
            </a:r>
          </a:p>
        </p:txBody>
      </p:sp>
      <p:sp>
        <p:nvSpPr>
          <p:cNvPr id="10" name="カード_話して知る"/>
          <p:cNvSpPr/>
          <p:nvPr/>
        </p:nvSpPr>
        <p:spPr>
          <a:xfrm>
            <a:off x="620171" y="2142409"/>
            <a:ext cx="2526492" cy="3439131"/>
          </a:xfrm>
          <a:prstGeom prst="roundRect">
            <a:avLst>
              <a:gd name="adj" fmla="val 557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番号"/>
          <p:cNvSpPr/>
          <p:nvPr/>
        </p:nvSpPr>
        <p:spPr>
          <a:xfrm>
            <a:off x="845688" y="2424305"/>
            <a:ext cx="422844" cy="42284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番号1"/>
          <p:cNvSpPr txBox="1"/>
          <p:nvPr/>
        </p:nvSpPr>
        <p:spPr>
          <a:xfrm>
            <a:off x="845688" y="2424305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3" name="見出し_話して知る"/>
          <p:cNvSpPr txBox="1"/>
          <p:nvPr/>
        </p:nvSpPr>
        <p:spPr>
          <a:xfrm>
            <a:off x="1409480" y="2424305"/>
            <a:ext cx="1610331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130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話して知る</a:t>
            </a:r>
          </a:p>
        </p:txBody>
      </p:sp>
      <p:sp>
        <p:nvSpPr>
          <p:cNvPr id="14" name="小見出し_話して知る"/>
          <p:cNvSpPr txBox="1"/>
          <p:nvPr/>
        </p:nvSpPr>
        <p:spPr>
          <a:xfrm>
            <a:off x="845688" y="3016287"/>
            <a:ext cx="2075459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53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利用者さんの人生にふれる</a:t>
            </a:r>
          </a:p>
        </p:txBody>
      </p:sp>
      <p:cxnSp>
        <p:nvCxnSpPr>
          <p:cNvPr id="15" name="区切り"/>
          <p:cNvCxnSpPr/>
          <p:nvPr/>
        </p:nvCxnSpPr>
        <p:spPr>
          <a:xfrm>
            <a:off x="845688" y="3523699"/>
            <a:ext cx="2075459" cy="0"/>
          </a:xfrm>
          <a:prstGeom prst="line">
            <a:avLst/>
          </a:prstGeom>
          <a:ln w="1524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内容_話して知る"/>
          <p:cNvSpPr txBox="1"/>
          <p:nvPr/>
        </p:nvSpPr>
        <p:spPr>
          <a:xfrm>
            <a:off x="845688" y="3664647"/>
            <a:ext cx="2075459" cy="17759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・昔の暮らしや仕事の話を聴く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・笑顔が生まれる瞬間を見る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・「ありがとう」をもらう手応え</a:t>
            </a:r>
          </a:p>
        </p:txBody>
      </p:sp>
      <p:sp>
        <p:nvSpPr>
          <p:cNvPr id="17" name="矢印"/>
          <p:cNvSpPr/>
          <p:nvPr/>
        </p:nvSpPr>
        <p:spPr>
          <a:xfrm>
            <a:off x="3188948" y="3706932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カード_見て学ぶ"/>
          <p:cNvSpPr/>
          <p:nvPr/>
        </p:nvSpPr>
        <p:spPr>
          <a:xfrm>
            <a:off x="3428560" y="2142409"/>
            <a:ext cx="2526492" cy="3439131"/>
          </a:xfrm>
          <a:prstGeom prst="roundRect">
            <a:avLst>
              <a:gd name="adj" fmla="val 557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番号"/>
          <p:cNvSpPr/>
          <p:nvPr/>
        </p:nvSpPr>
        <p:spPr>
          <a:xfrm>
            <a:off x="3654076" y="2424305"/>
            <a:ext cx="422844" cy="42284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番号2"/>
          <p:cNvSpPr txBox="1"/>
          <p:nvPr/>
        </p:nvSpPr>
        <p:spPr>
          <a:xfrm>
            <a:off x="3654076" y="2424305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21" name="見出し_見て学ぶ"/>
          <p:cNvSpPr txBox="1"/>
          <p:nvPr/>
        </p:nvSpPr>
        <p:spPr>
          <a:xfrm>
            <a:off x="4217868" y="2424305"/>
            <a:ext cx="1610331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130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見て学ぶ</a:t>
            </a:r>
          </a:p>
        </p:txBody>
      </p:sp>
      <p:sp>
        <p:nvSpPr>
          <p:cNvPr id="22" name="小見出し_見て学ぶ"/>
          <p:cNvSpPr txBox="1"/>
          <p:nvPr/>
        </p:nvSpPr>
        <p:spPr>
          <a:xfrm>
            <a:off x="3654076" y="3016287"/>
            <a:ext cx="2075459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53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職員の仕事を観察する</a:t>
            </a:r>
          </a:p>
        </p:txBody>
      </p:sp>
      <p:cxnSp>
        <p:nvCxnSpPr>
          <p:cNvPr id="23" name="区切り"/>
          <p:cNvCxnSpPr/>
          <p:nvPr/>
        </p:nvCxnSpPr>
        <p:spPr>
          <a:xfrm>
            <a:off x="3654076" y="3523699"/>
            <a:ext cx="2075459" cy="0"/>
          </a:xfrm>
          <a:prstGeom prst="line">
            <a:avLst/>
          </a:prstGeom>
          <a:ln w="1524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内容_見て学ぶ"/>
          <p:cNvSpPr txBox="1"/>
          <p:nvPr/>
        </p:nvSpPr>
        <p:spPr>
          <a:xfrm>
            <a:off x="3654076" y="3664647"/>
            <a:ext cx="2075459" cy="17759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・声かけ・見守りの基本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・介護職の一日の流れと仕事の幅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・看護師など他職種との連携</a:t>
            </a:r>
          </a:p>
        </p:txBody>
      </p:sp>
      <p:sp>
        <p:nvSpPr>
          <p:cNvPr id="25" name="矢印"/>
          <p:cNvSpPr/>
          <p:nvPr/>
        </p:nvSpPr>
        <p:spPr>
          <a:xfrm>
            <a:off x="5997336" y="3706932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カード_やってみる"/>
          <p:cNvSpPr/>
          <p:nvPr/>
        </p:nvSpPr>
        <p:spPr>
          <a:xfrm>
            <a:off x="6236948" y="2142409"/>
            <a:ext cx="2526492" cy="3439131"/>
          </a:xfrm>
          <a:prstGeom prst="roundRect">
            <a:avLst>
              <a:gd name="adj" fmla="val 557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番号"/>
          <p:cNvSpPr/>
          <p:nvPr/>
        </p:nvSpPr>
        <p:spPr>
          <a:xfrm>
            <a:off x="6462465" y="2424305"/>
            <a:ext cx="422844" cy="42284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番号3"/>
          <p:cNvSpPr txBox="1"/>
          <p:nvPr/>
        </p:nvSpPr>
        <p:spPr>
          <a:xfrm>
            <a:off x="6462465" y="2424305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9" name="見出し_やってみる"/>
          <p:cNvSpPr txBox="1"/>
          <p:nvPr/>
        </p:nvSpPr>
        <p:spPr>
          <a:xfrm>
            <a:off x="7026257" y="2424305"/>
            <a:ext cx="1610331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130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やってみる</a:t>
            </a:r>
          </a:p>
        </p:txBody>
      </p:sp>
      <p:sp>
        <p:nvSpPr>
          <p:cNvPr id="30" name="小見出し_やってみる"/>
          <p:cNvSpPr txBox="1"/>
          <p:nvPr/>
        </p:nvSpPr>
        <p:spPr>
          <a:xfrm>
            <a:off x="6462465" y="3016287"/>
            <a:ext cx="2075459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53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できることから体験する</a:t>
            </a:r>
          </a:p>
        </p:txBody>
      </p:sp>
      <p:cxnSp>
        <p:nvCxnSpPr>
          <p:cNvPr id="31" name="区切り"/>
          <p:cNvCxnSpPr/>
          <p:nvPr/>
        </p:nvCxnSpPr>
        <p:spPr>
          <a:xfrm>
            <a:off x="6462465" y="3523699"/>
            <a:ext cx="2075459" cy="0"/>
          </a:xfrm>
          <a:prstGeom prst="line">
            <a:avLst/>
          </a:prstGeom>
          <a:ln w="1524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内容_やってみる"/>
          <p:cNvSpPr txBox="1"/>
          <p:nvPr/>
        </p:nvSpPr>
        <p:spPr>
          <a:xfrm>
            <a:off x="6462465" y="3664647"/>
            <a:ext cx="2075459" cy="17759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・食事・レクのお手伝い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・畑や行事など、地域にふれる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・職員がそばでサポート</a:t>
            </a:r>
          </a:p>
        </p:txBody>
      </p:sp>
      <p:sp>
        <p:nvSpPr>
          <p:cNvPr id="33" name="矢印"/>
          <p:cNvSpPr/>
          <p:nvPr/>
        </p:nvSpPr>
        <p:spPr>
          <a:xfrm>
            <a:off x="8805725" y="3706932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カード_振り返る"/>
          <p:cNvSpPr/>
          <p:nvPr/>
        </p:nvSpPr>
        <p:spPr>
          <a:xfrm>
            <a:off x="9045336" y="2142409"/>
            <a:ext cx="2526492" cy="3439131"/>
          </a:xfrm>
          <a:prstGeom prst="roundRect">
            <a:avLst>
              <a:gd name="adj" fmla="val 557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番号"/>
          <p:cNvSpPr/>
          <p:nvPr/>
        </p:nvSpPr>
        <p:spPr>
          <a:xfrm>
            <a:off x="9270853" y="2424305"/>
            <a:ext cx="422844" cy="42284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番号4"/>
          <p:cNvSpPr txBox="1"/>
          <p:nvPr/>
        </p:nvSpPr>
        <p:spPr>
          <a:xfrm>
            <a:off x="9270853" y="2424305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4</a:t>
            </a:r>
          </a:p>
        </p:txBody>
      </p:sp>
      <p:sp>
        <p:nvSpPr>
          <p:cNvPr id="37" name="見出し_振り返る"/>
          <p:cNvSpPr txBox="1"/>
          <p:nvPr/>
        </p:nvSpPr>
        <p:spPr>
          <a:xfrm>
            <a:off x="9834645" y="2424305"/>
            <a:ext cx="1610331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130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振り返る</a:t>
            </a:r>
          </a:p>
        </p:txBody>
      </p:sp>
      <p:sp>
        <p:nvSpPr>
          <p:cNvPr id="38" name="小見出し_振り返る"/>
          <p:cNvSpPr txBox="1"/>
          <p:nvPr/>
        </p:nvSpPr>
        <p:spPr>
          <a:xfrm>
            <a:off x="9270853" y="3016287"/>
            <a:ext cx="2075459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53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気づきから、キャリアを考える</a:t>
            </a:r>
          </a:p>
        </p:txBody>
      </p:sp>
      <p:cxnSp>
        <p:nvCxnSpPr>
          <p:cNvPr id="39" name="区切り"/>
          <p:cNvCxnSpPr/>
          <p:nvPr/>
        </p:nvCxnSpPr>
        <p:spPr>
          <a:xfrm>
            <a:off x="9270853" y="3523699"/>
            <a:ext cx="2075459" cy="0"/>
          </a:xfrm>
          <a:prstGeom prst="line">
            <a:avLst/>
          </a:prstGeom>
          <a:ln w="1524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内容_振り返る"/>
          <p:cNvSpPr txBox="1"/>
          <p:nvPr/>
        </p:nvSpPr>
        <p:spPr>
          <a:xfrm>
            <a:off x="9270853" y="3664647"/>
            <a:ext cx="2075459" cy="17759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・感じたことを職員と話し合う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・資格や仕事の道すじを知る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・これからのキャリアを考える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・自分に向いているかの見極め</a:t>
            </a:r>
          </a:p>
        </p:txBody>
      </p:sp>
      <p:sp>
        <p:nvSpPr>
          <p:cNvPr id="41" name="戻り矢印"/>
          <p:cNvSpPr/>
          <p:nvPr/>
        </p:nvSpPr>
        <p:spPr>
          <a:xfrm>
            <a:off x="620171" y="5821151"/>
            <a:ext cx="10951658" cy="535602"/>
          </a:xfrm>
          <a:prstGeom prst="leftArrow">
            <a:avLst>
              <a:gd name="adj1" fmla="val 50000"/>
              <a:gd name="adj2" fmla="val 90000"/>
            </a:avLst>
          </a:prstGeom>
          <a:solidFill>
            <a:srgbClr val="D4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戻り矢印文字"/>
          <p:cNvSpPr txBox="1"/>
          <p:nvPr/>
        </p:nvSpPr>
        <p:spPr>
          <a:xfrm>
            <a:off x="1254437" y="5821151"/>
            <a:ext cx="10105970" cy="53560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64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④ 振り返りから、次の ① へ　体験をくり返しながら、学びを深めていく</a:t>
            </a:r>
          </a:p>
        </p:txBody>
      </p:sp>
      <p:sp>
        <p:nvSpPr>
          <p:cNvPr id="43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文章はサイト上でも仮の内容です（決まり次第、差し替え）。</a:t>
            </a:r>
          </a:p>
        </p:txBody>
      </p:sp>
      <p:sp>
        <p:nvSpPr>
          <p:cNvPr id="44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実習プログラム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1日で、5日間で。目的に合わせて選べる2つのプログラム</a:t>
            </a:r>
          </a:p>
        </p:txBody>
      </p:sp>
      <p:sp>
        <p:nvSpPr>
          <p:cNvPr id="8" name="帯_1DAY"/>
          <p:cNvSpPr/>
          <p:nvPr/>
        </p:nvSpPr>
        <p:spPr>
          <a:xfrm>
            <a:off x="620171" y="1465859"/>
            <a:ext cx="5577593" cy="591982"/>
          </a:xfrm>
          <a:prstGeom prst="roundRect">
            <a:avLst>
              <a:gd name="adj" fmla="val 28571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1DAY"/>
          <p:cNvSpPr txBox="1"/>
          <p:nvPr/>
        </p:nvSpPr>
        <p:spPr>
          <a:xfrm>
            <a:off x="845688" y="1465859"/>
            <a:ext cx="1198058" cy="59198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397"/>
              </a:lnSpc>
              <a:spcBef>
                <a:spcPts val="0"/>
              </a:spcBef>
              <a:spcAft>
                <a:spcPts val="0"/>
              </a:spcAft>
            </a:pPr>
            <a:r>
              <a:rPr sz="199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1DAY</a:t>
            </a:r>
          </a:p>
        </p:txBody>
      </p:sp>
      <p:sp>
        <p:nvSpPr>
          <p:cNvPr id="10" name="1DAY_見出し"/>
          <p:cNvSpPr txBox="1"/>
          <p:nvPr/>
        </p:nvSpPr>
        <p:spPr>
          <a:xfrm>
            <a:off x="2100125" y="1536333"/>
            <a:ext cx="3942597" cy="45103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1日で、現場をのぞいてみる</a:t>
            </a:r>
          </a:p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9:30〜15:00ごろ　はじめての方に</a:t>
            </a:r>
          </a:p>
        </p:txBody>
      </p:sp>
      <p:sp>
        <p:nvSpPr>
          <p:cNvPr id="11" name="帯_5DAYS"/>
          <p:cNvSpPr/>
          <p:nvPr/>
        </p:nvSpPr>
        <p:spPr>
          <a:xfrm>
            <a:off x="6423281" y="1465859"/>
            <a:ext cx="5148548" cy="591982"/>
          </a:xfrm>
          <a:prstGeom prst="roundRect">
            <a:avLst>
              <a:gd name="adj" fmla="val 28571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5DAYS"/>
          <p:cNvSpPr txBox="1"/>
          <p:nvPr/>
        </p:nvSpPr>
        <p:spPr>
          <a:xfrm>
            <a:off x="6648798" y="1465859"/>
            <a:ext cx="1198058" cy="59198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397"/>
              </a:lnSpc>
              <a:spcBef>
                <a:spcPts val="0"/>
              </a:spcBef>
              <a:spcAft>
                <a:spcPts val="0"/>
              </a:spcAft>
            </a:pPr>
            <a:r>
              <a:rPr sz="199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5DAYS</a:t>
            </a:r>
          </a:p>
        </p:txBody>
      </p:sp>
      <p:sp>
        <p:nvSpPr>
          <p:cNvPr id="13" name="5DAYS_見出し"/>
          <p:cNvSpPr txBox="1"/>
          <p:nvPr/>
        </p:nvSpPr>
        <p:spPr>
          <a:xfrm>
            <a:off x="7903235" y="1536333"/>
            <a:ext cx="3513551" cy="45103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5日間で、じっくり向き合う</a:t>
            </a:r>
          </a:p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DAY1〜DAY5　じっくり学びたい方に</a:t>
            </a:r>
          </a:p>
        </p:txBody>
      </p:sp>
      <p:sp>
        <p:nvSpPr>
          <p:cNvPr id="14" name="行_受付とオープニング"/>
          <p:cNvSpPr/>
          <p:nvPr/>
        </p:nvSpPr>
        <p:spPr>
          <a:xfrm>
            <a:off x="620171" y="2226978"/>
            <a:ext cx="5577593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時刻"/>
          <p:cNvSpPr/>
          <p:nvPr/>
        </p:nvSpPr>
        <p:spPr>
          <a:xfrm>
            <a:off x="789309" y="2436991"/>
            <a:ext cx="817498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時刻_9:30"/>
          <p:cNvSpPr txBox="1"/>
          <p:nvPr/>
        </p:nvSpPr>
        <p:spPr>
          <a:xfrm>
            <a:off x="789309" y="2436991"/>
            <a:ext cx="817498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9:30</a:t>
            </a:r>
          </a:p>
        </p:txBody>
      </p:sp>
      <p:sp>
        <p:nvSpPr>
          <p:cNvPr id="17" name="行本文_受付とオープニング"/>
          <p:cNvSpPr txBox="1"/>
          <p:nvPr/>
        </p:nvSpPr>
        <p:spPr>
          <a:xfrm>
            <a:off x="1775945" y="2297452"/>
            <a:ext cx="4252682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受付とオープニング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メンターが温かく出迎え。会社紹介のショート動画で雰囲気を共有</a:t>
            </a:r>
          </a:p>
        </p:txBody>
      </p:sp>
      <p:sp>
        <p:nvSpPr>
          <p:cNvPr id="18" name="行_現場シャドーイング＆その人らしさへの傾聴体験"/>
          <p:cNvSpPr/>
          <p:nvPr/>
        </p:nvSpPr>
        <p:spPr>
          <a:xfrm>
            <a:off x="620171" y="3069847"/>
            <a:ext cx="5577593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時刻"/>
          <p:cNvSpPr/>
          <p:nvPr/>
        </p:nvSpPr>
        <p:spPr>
          <a:xfrm>
            <a:off x="789309" y="3279859"/>
            <a:ext cx="817498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時刻_10:00"/>
          <p:cNvSpPr txBox="1"/>
          <p:nvPr/>
        </p:nvSpPr>
        <p:spPr>
          <a:xfrm>
            <a:off x="789309" y="3279859"/>
            <a:ext cx="817498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10:00</a:t>
            </a:r>
          </a:p>
        </p:txBody>
      </p:sp>
      <p:sp>
        <p:nvSpPr>
          <p:cNvPr id="21" name="行本文_現場シャドーイング＆その人らしさへの傾聴体験"/>
          <p:cNvSpPr txBox="1"/>
          <p:nvPr/>
        </p:nvSpPr>
        <p:spPr>
          <a:xfrm>
            <a:off x="1775945" y="3140321"/>
            <a:ext cx="4252682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現場シャドーイング＆その人らしさへの傾聴体験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現場業務のサポートと利用者様へのインタビュー。対話・傾聴が中心</a:t>
            </a:r>
          </a:p>
        </p:txBody>
      </p:sp>
      <p:sp>
        <p:nvSpPr>
          <p:cNvPr id="22" name="行_ランチセッション"/>
          <p:cNvSpPr/>
          <p:nvPr/>
        </p:nvSpPr>
        <p:spPr>
          <a:xfrm>
            <a:off x="620171" y="3912716"/>
            <a:ext cx="5577593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時刻"/>
          <p:cNvSpPr/>
          <p:nvPr/>
        </p:nvSpPr>
        <p:spPr>
          <a:xfrm>
            <a:off x="789309" y="4122728"/>
            <a:ext cx="817498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時刻_12:00"/>
          <p:cNvSpPr txBox="1"/>
          <p:nvPr/>
        </p:nvSpPr>
        <p:spPr>
          <a:xfrm>
            <a:off x="789309" y="4122728"/>
            <a:ext cx="817498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12:00</a:t>
            </a:r>
          </a:p>
        </p:txBody>
      </p:sp>
      <p:sp>
        <p:nvSpPr>
          <p:cNvPr id="25" name="行本文_ランチセッション"/>
          <p:cNvSpPr txBox="1"/>
          <p:nvPr/>
        </p:nvSpPr>
        <p:spPr>
          <a:xfrm>
            <a:off x="1775945" y="3983190"/>
            <a:ext cx="4252682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ランチセッション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美味しいご飯と、先輩社員の地方暮らし・働き方のホンネトーク</a:t>
            </a:r>
          </a:p>
        </p:txBody>
      </p:sp>
      <p:sp>
        <p:nvSpPr>
          <p:cNvPr id="26" name="行_対話ワーク『100歳までの履歴書』"/>
          <p:cNvSpPr/>
          <p:nvPr/>
        </p:nvSpPr>
        <p:spPr>
          <a:xfrm>
            <a:off x="620171" y="4755585"/>
            <a:ext cx="5577593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時刻"/>
          <p:cNvSpPr/>
          <p:nvPr/>
        </p:nvSpPr>
        <p:spPr>
          <a:xfrm>
            <a:off x="789309" y="4965597"/>
            <a:ext cx="817498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時刻_13:00"/>
          <p:cNvSpPr txBox="1"/>
          <p:nvPr/>
        </p:nvSpPr>
        <p:spPr>
          <a:xfrm>
            <a:off x="789309" y="4965597"/>
            <a:ext cx="817498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13:00</a:t>
            </a:r>
          </a:p>
        </p:txBody>
      </p:sp>
      <p:sp>
        <p:nvSpPr>
          <p:cNvPr id="29" name="行本文_対話ワーク『100歳までの履歴書』"/>
          <p:cNvSpPr txBox="1"/>
          <p:nvPr/>
        </p:nvSpPr>
        <p:spPr>
          <a:xfrm>
            <a:off x="1775945" y="4826059"/>
            <a:ext cx="4252682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対話ワーク『100歳までの履歴書』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「どんな大人になっていたいか」から逆算し、大切にしたい「CARE」を言語化</a:t>
            </a:r>
          </a:p>
        </p:txBody>
      </p:sp>
      <p:sp>
        <p:nvSpPr>
          <p:cNvPr id="30" name="行_リフレクション＆フィードバック"/>
          <p:cNvSpPr/>
          <p:nvPr/>
        </p:nvSpPr>
        <p:spPr>
          <a:xfrm>
            <a:off x="620171" y="5598454"/>
            <a:ext cx="5577593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時刻"/>
          <p:cNvSpPr/>
          <p:nvPr/>
        </p:nvSpPr>
        <p:spPr>
          <a:xfrm>
            <a:off x="789309" y="5808466"/>
            <a:ext cx="817498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時刻_14:30"/>
          <p:cNvSpPr txBox="1"/>
          <p:nvPr/>
        </p:nvSpPr>
        <p:spPr>
          <a:xfrm>
            <a:off x="789309" y="5808466"/>
            <a:ext cx="817498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14:30</a:t>
            </a:r>
          </a:p>
        </p:txBody>
      </p:sp>
      <p:sp>
        <p:nvSpPr>
          <p:cNvPr id="33" name="行本文_リフレクション＆フィードバック"/>
          <p:cNvSpPr txBox="1"/>
          <p:nvPr/>
        </p:nvSpPr>
        <p:spPr>
          <a:xfrm>
            <a:off x="1775945" y="5668928"/>
            <a:ext cx="4252682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リフレクション＆フィードバック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メンターからの応援メッセージとフィードバックシートをお渡し</a:t>
            </a:r>
          </a:p>
        </p:txBody>
      </p:sp>
      <p:sp>
        <p:nvSpPr>
          <p:cNvPr id="34" name="行_インストール"/>
          <p:cNvSpPr/>
          <p:nvPr/>
        </p:nvSpPr>
        <p:spPr>
          <a:xfrm>
            <a:off x="6423281" y="2226978"/>
            <a:ext cx="5148548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時刻"/>
          <p:cNvSpPr/>
          <p:nvPr/>
        </p:nvSpPr>
        <p:spPr>
          <a:xfrm>
            <a:off x="6592419" y="2436991"/>
            <a:ext cx="87387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時刻_DAY1"/>
          <p:cNvSpPr txBox="1"/>
          <p:nvPr/>
        </p:nvSpPr>
        <p:spPr>
          <a:xfrm>
            <a:off x="6592419" y="2436991"/>
            <a:ext cx="87387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DAY1</a:t>
            </a:r>
          </a:p>
        </p:txBody>
      </p:sp>
      <p:sp>
        <p:nvSpPr>
          <p:cNvPr id="37" name="行本文_インストール"/>
          <p:cNvSpPr txBox="1"/>
          <p:nvPr/>
        </p:nvSpPr>
        <p:spPr>
          <a:xfrm>
            <a:off x="7635434" y="2297452"/>
            <a:ext cx="3767258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インストール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オリエンテーション・動画鑑賞・目標設定。利用者様の人生のお話に耳を傾ける</a:t>
            </a:r>
          </a:p>
        </p:txBody>
      </p:sp>
      <p:sp>
        <p:nvSpPr>
          <p:cNvPr id="38" name="行_現場ケアと人間関係の構築"/>
          <p:cNvSpPr/>
          <p:nvPr/>
        </p:nvSpPr>
        <p:spPr>
          <a:xfrm>
            <a:off x="6423281" y="3069847"/>
            <a:ext cx="5148548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時刻"/>
          <p:cNvSpPr/>
          <p:nvPr/>
        </p:nvSpPr>
        <p:spPr>
          <a:xfrm>
            <a:off x="6592419" y="3279859"/>
            <a:ext cx="87387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時刻_DAY2-3"/>
          <p:cNvSpPr txBox="1"/>
          <p:nvPr/>
        </p:nvSpPr>
        <p:spPr>
          <a:xfrm>
            <a:off x="6592419" y="3279859"/>
            <a:ext cx="87387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DAY2-3</a:t>
            </a:r>
          </a:p>
        </p:txBody>
      </p:sp>
      <p:sp>
        <p:nvSpPr>
          <p:cNvPr id="41" name="行本文_現場ケアと人間関係の構築"/>
          <p:cNvSpPr txBox="1"/>
          <p:nvPr/>
        </p:nvSpPr>
        <p:spPr>
          <a:xfrm>
            <a:off x="7635434" y="3140321"/>
            <a:ext cx="3767258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現場ケアと人間関係の構築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現場サポートと利用者様へのインタビュー。毎日の振り返り（※実習サイトへ）</a:t>
            </a:r>
          </a:p>
        </p:txBody>
      </p:sp>
      <p:sp>
        <p:nvSpPr>
          <p:cNvPr id="42" name="行_笑顔を届けるプチ企画"/>
          <p:cNvSpPr/>
          <p:nvPr/>
        </p:nvSpPr>
        <p:spPr>
          <a:xfrm>
            <a:off x="6423281" y="3912716"/>
            <a:ext cx="5148548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時刻"/>
          <p:cNvSpPr/>
          <p:nvPr/>
        </p:nvSpPr>
        <p:spPr>
          <a:xfrm>
            <a:off x="6592419" y="4122728"/>
            <a:ext cx="87387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時刻_DAY4"/>
          <p:cNvSpPr txBox="1"/>
          <p:nvPr/>
        </p:nvSpPr>
        <p:spPr>
          <a:xfrm>
            <a:off x="6592419" y="4122728"/>
            <a:ext cx="87387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DAY4</a:t>
            </a:r>
          </a:p>
        </p:txBody>
      </p:sp>
      <p:sp>
        <p:nvSpPr>
          <p:cNvPr id="45" name="行本文_笑顔を届けるプチ企画"/>
          <p:cNvSpPr txBox="1"/>
          <p:nvPr/>
        </p:nvSpPr>
        <p:spPr>
          <a:xfrm>
            <a:off x="7635434" y="3983190"/>
            <a:ext cx="3767258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笑顔を届けるプチ企画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学生が考えた「利用者様を喜ばせる小さな企画」を実践</a:t>
            </a:r>
          </a:p>
        </p:txBody>
      </p:sp>
      <p:sp>
        <p:nvSpPr>
          <p:cNvPr id="46" name="行_履歴書の発表会＆結びのランチ"/>
          <p:cNvSpPr/>
          <p:nvPr/>
        </p:nvSpPr>
        <p:spPr>
          <a:xfrm>
            <a:off x="6423281" y="4755585"/>
            <a:ext cx="5148548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時刻"/>
          <p:cNvSpPr/>
          <p:nvPr/>
        </p:nvSpPr>
        <p:spPr>
          <a:xfrm>
            <a:off x="6592419" y="4965597"/>
            <a:ext cx="87387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時刻_DAY5"/>
          <p:cNvSpPr txBox="1"/>
          <p:nvPr/>
        </p:nvSpPr>
        <p:spPr>
          <a:xfrm>
            <a:off x="6592419" y="4965597"/>
            <a:ext cx="87387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DAY5</a:t>
            </a:r>
          </a:p>
        </p:txBody>
      </p:sp>
      <p:sp>
        <p:nvSpPr>
          <p:cNvPr id="49" name="行本文_履歴書の発表会＆結びのランチ"/>
          <p:cNvSpPr txBox="1"/>
          <p:nvPr/>
        </p:nvSpPr>
        <p:spPr>
          <a:xfrm>
            <a:off x="7635434" y="4826059"/>
            <a:ext cx="3767258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履歴書の発表会＆結びのランチ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「100歳までの履歴書」の発表、メンター全員からのメッセージ、修了式</a:t>
            </a:r>
          </a:p>
        </p:txBody>
      </p:sp>
      <p:sp>
        <p:nvSpPr>
          <p:cNvPr id="50" name="標準化ボックス"/>
          <p:cNvSpPr/>
          <p:nvPr/>
        </p:nvSpPr>
        <p:spPr>
          <a:xfrm>
            <a:off x="6423281" y="5598454"/>
            <a:ext cx="5148548" cy="758300"/>
          </a:xfrm>
          <a:prstGeom prst="roundRect">
            <a:avLst>
              <a:gd name="adj" fmla="val 14869"/>
            </a:avLst>
          </a:prstGeom>
          <a:solidFill>
            <a:srgbClr val="FFF3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標準化本文"/>
          <p:cNvSpPr txBox="1"/>
          <p:nvPr/>
        </p:nvSpPr>
        <p:spPr>
          <a:xfrm>
            <a:off x="6634703" y="5668928"/>
            <a:ext cx="4725704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体験はサイトへ、運営は標準化</a:t>
            </a:r>
          </a:p>
          <a:p>
            <a:pPr algn="l">
              <a:lnSpc>
                <a:spcPts val="1367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体験・感想は後日、実習サイトに掲載。学習シートを用意し、プログラムを標準化します。</a:t>
            </a:r>
          </a:p>
        </p:txBody>
      </p:sp>
      <p:sp>
        <p:nvSpPr>
          <p:cNvPr id="52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プログラムの内容・日程はサイト上でも「調整中」です。</a:t>
            </a:r>
          </a:p>
        </p:txBody>
      </p:sp>
      <p:sp>
        <p:nvSpPr>
          <p:cNvPr id="53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実習の受け入れ体制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誰が担当しても伝わる、再現性の高い受け入れの仕組み</a:t>
            </a:r>
          </a:p>
        </p:txBody>
      </p:sp>
      <p:sp>
        <p:nvSpPr>
          <p:cNvPr id="8" name="方針"/>
          <p:cNvSpPr/>
          <p:nvPr/>
        </p:nvSpPr>
        <p:spPr>
          <a:xfrm>
            <a:off x="620171" y="1465859"/>
            <a:ext cx="3664647" cy="4890895"/>
          </a:xfrm>
          <a:prstGeom prst="roundRect">
            <a:avLst>
              <a:gd name="adj" fmla="val 4615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方針本文"/>
          <p:cNvSpPr txBox="1"/>
          <p:nvPr/>
        </p:nvSpPr>
        <p:spPr>
          <a:xfrm>
            <a:off x="958446" y="1804134"/>
            <a:ext cx="2988097" cy="42143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1664"/>
              </a:spcAft>
            </a:pPr>
            <a:r>
              <a:rPr sz="1054" b="1" spc="2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実習コンテンツ（体制）</a:t>
            </a:r>
          </a:p>
          <a:p>
            <a:pPr algn="l">
              <a:lnSpc>
                <a:spcPts val="3057"/>
              </a:lnSpc>
              <a:spcBef>
                <a:spcPts val="0"/>
              </a:spcBef>
              <a:spcAft>
                <a:spcPts val="1997"/>
              </a:spcAft>
            </a:pPr>
            <a:r>
              <a:rPr sz="210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誰が担当しても、温かさとメッセージが伝わる。</a:t>
            </a:r>
          </a:p>
          <a:p>
            <a:pPr algn="l">
              <a:lnSpc>
                <a:spcPts val="1981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「再現性の高い仕組み」をつくります。学生向けの学習シートなどを用意し、プログラムを標準化します。</a:t>
            </a:r>
          </a:p>
        </p:txBody>
      </p:sp>
      <p:sp>
        <p:nvSpPr>
          <p:cNvPr id="10" name="カード_メンター体制"/>
          <p:cNvSpPr/>
          <p:nvPr/>
        </p:nvSpPr>
        <p:spPr>
          <a:xfrm>
            <a:off x="4510335" y="1465859"/>
            <a:ext cx="3417988" cy="2332689"/>
          </a:xfrm>
          <a:prstGeom prst="roundRect">
            <a:avLst>
              <a:gd name="adj" fmla="val 6042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番号"/>
          <p:cNvSpPr/>
          <p:nvPr/>
        </p:nvSpPr>
        <p:spPr>
          <a:xfrm>
            <a:off x="4764042" y="1733660"/>
            <a:ext cx="394654" cy="39465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番号1"/>
          <p:cNvSpPr txBox="1"/>
          <p:nvPr/>
        </p:nvSpPr>
        <p:spPr>
          <a:xfrm>
            <a:off x="4764042" y="1733660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3" name="見出し_メンター体制"/>
          <p:cNvSpPr txBox="1"/>
          <p:nvPr/>
        </p:nvSpPr>
        <p:spPr>
          <a:xfrm>
            <a:off x="5327834" y="1733660"/>
            <a:ext cx="2360879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メンター体制</a:t>
            </a:r>
          </a:p>
        </p:txBody>
      </p:sp>
      <p:sp>
        <p:nvSpPr>
          <p:cNvPr id="14" name="説明_メンター体制"/>
          <p:cNvSpPr txBox="1"/>
          <p:nvPr/>
        </p:nvSpPr>
        <p:spPr>
          <a:xfrm>
            <a:off x="4764042" y="2325642"/>
            <a:ext cx="2910576" cy="13460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5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現場スタッフを「実習メンター」として配置。学生1〜2名につき1名が、親身に伴走します。</a:t>
            </a:r>
          </a:p>
        </p:txBody>
      </p:sp>
      <p:sp>
        <p:nvSpPr>
          <p:cNvPr id="15" name="カード_標準動画（ツール）"/>
          <p:cNvSpPr/>
          <p:nvPr/>
        </p:nvSpPr>
        <p:spPr>
          <a:xfrm>
            <a:off x="8153840" y="1465859"/>
            <a:ext cx="3417988" cy="2332689"/>
          </a:xfrm>
          <a:prstGeom prst="roundRect">
            <a:avLst>
              <a:gd name="adj" fmla="val 6042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番号"/>
          <p:cNvSpPr/>
          <p:nvPr/>
        </p:nvSpPr>
        <p:spPr>
          <a:xfrm>
            <a:off x="8407547" y="1733660"/>
            <a:ext cx="394654" cy="39465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番号2"/>
          <p:cNvSpPr txBox="1"/>
          <p:nvPr/>
        </p:nvSpPr>
        <p:spPr>
          <a:xfrm>
            <a:off x="8407547" y="1733660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18" name="見出し_標準動画（ツール）"/>
          <p:cNvSpPr txBox="1"/>
          <p:nvPr/>
        </p:nvSpPr>
        <p:spPr>
          <a:xfrm>
            <a:off x="8971339" y="1733660"/>
            <a:ext cx="2360879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標準動画（ツール）</a:t>
            </a:r>
          </a:p>
        </p:txBody>
      </p:sp>
      <p:sp>
        <p:nvSpPr>
          <p:cNvPr id="19" name="説明_標準動画（ツール）"/>
          <p:cNvSpPr txBox="1"/>
          <p:nvPr/>
        </p:nvSpPr>
        <p:spPr>
          <a:xfrm>
            <a:off x="8407547" y="2325642"/>
            <a:ext cx="2910576" cy="13460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5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「ショート導入動画」などを活用。誰が説明しても、エフビーの温かさや社風がストレートに伝わります。</a:t>
            </a:r>
          </a:p>
        </p:txBody>
      </p:sp>
      <p:sp>
        <p:nvSpPr>
          <p:cNvPr id="20" name="カード_実習生の声の資産化"/>
          <p:cNvSpPr/>
          <p:nvPr/>
        </p:nvSpPr>
        <p:spPr>
          <a:xfrm>
            <a:off x="4510335" y="4024065"/>
            <a:ext cx="3417988" cy="2332689"/>
          </a:xfrm>
          <a:prstGeom prst="roundRect">
            <a:avLst>
              <a:gd name="adj" fmla="val 6042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番号"/>
          <p:cNvSpPr/>
          <p:nvPr/>
        </p:nvSpPr>
        <p:spPr>
          <a:xfrm>
            <a:off x="4764042" y="4291866"/>
            <a:ext cx="394654" cy="39465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番号3"/>
          <p:cNvSpPr txBox="1"/>
          <p:nvPr/>
        </p:nvSpPr>
        <p:spPr>
          <a:xfrm>
            <a:off x="4764042" y="4291866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3" name="見出し_実習生の声の資産化"/>
          <p:cNvSpPr txBox="1"/>
          <p:nvPr/>
        </p:nvSpPr>
        <p:spPr>
          <a:xfrm>
            <a:off x="5327834" y="4291866"/>
            <a:ext cx="2360879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実習生の声の資産化</a:t>
            </a:r>
          </a:p>
        </p:txBody>
      </p:sp>
      <p:sp>
        <p:nvSpPr>
          <p:cNvPr id="24" name="説明_実習生の声の資産化"/>
          <p:cNvSpPr txBox="1"/>
          <p:nvPr/>
        </p:nvSpPr>
        <p:spPr>
          <a:xfrm>
            <a:off x="4764042" y="4883847"/>
            <a:ext cx="2910576" cy="13460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5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リアルな体験談・本音の感想をWeb上に蓄積・公開。次年度の学生や学校（教授・就職課）への開拓ツールに。</a:t>
            </a:r>
          </a:p>
        </p:txBody>
      </p:sp>
      <p:sp>
        <p:nvSpPr>
          <p:cNvPr id="25" name="カード_年間PDCAの循環"/>
          <p:cNvSpPr/>
          <p:nvPr/>
        </p:nvSpPr>
        <p:spPr>
          <a:xfrm>
            <a:off x="8153840" y="4024065"/>
            <a:ext cx="3417988" cy="2332689"/>
          </a:xfrm>
          <a:prstGeom prst="roundRect">
            <a:avLst>
              <a:gd name="adj" fmla="val 6042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番号"/>
          <p:cNvSpPr/>
          <p:nvPr/>
        </p:nvSpPr>
        <p:spPr>
          <a:xfrm>
            <a:off x="8407547" y="4291866"/>
            <a:ext cx="394654" cy="39465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番号4"/>
          <p:cNvSpPr txBox="1"/>
          <p:nvPr/>
        </p:nvSpPr>
        <p:spPr>
          <a:xfrm>
            <a:off x="8407547" y="4291866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4</a:t>
            </a:r>
          </a:p>
        </p:txBody>
      </p:sp>
      <p:sp>
        <p:nvSpPr>
          <p:cNvPr id="28" name="見出し_年間PDCAの循環"/>
          <p:cNvSpPr txBox="1"/>
          <p:nvPr/>
        </p:nvSpPr>
        <p:spPr>
          <a:xfrm>
            <a:off x="8971339" y="4291866"/>
            <a:ext cx="2360879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年間PDCAの循環</a:t>
            </a:r>
          </a:p>
        </p:txBody>
      </p:sp>
      <p:sp>
        <p:nvSpPr>
          <p:cNvPr id="29" name="説明_年間PDCAの循環"/>
          <p:cNvSpPr txBox="1"/>
          <p:nvPr/>
        </p:nvSpPr>
        <p:spPr>
          <a:xfrm>
            <a:off x="8407547" y="4883847"/>
            <a:ext cx="2910576" cy="13460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5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定期的に受け入れと振り返りを回し、学校や地域とのつながりを広げていきます。</a:t>
            </a:r>
          </a:p>
        </p:txBody>
      </p:sp>
      <p:sp>
        <p:nvSpPr>
          <p:cNvPr id="30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出典：1023採用定例資料（実習の受け入れ体制）。</a:t>
            </a:r>
          </a:p>
        </p:txBody>
      </p:sp>
      <p:sp>
        <p:nvSpPr>
          <p:cNvPr id="31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実習の流れ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はじめてでも安心。4つのステップと、サイトで届ける内容</a:t>
            </a:r>
          </a:p>
        </p:txBody>
      </p:sp>
      <p:sp>
        <p:nvSpPr>
          <p:cNvPr id="8" name="カード_申し込む"/>
          <p:cNvSpPr/>
          <p:nvPr/>
        </p:nvSpPr>
        <p:spPr>
          <a:xfrm>
            <a:off x="620171" y="1465859"/>
            <a:ext cx="2526492" cy="1634997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ステップ帯"/>
          <p:cNvSpPr/>
          <p:nvPr/>
        </p:nvSpPr>
        <p:spPr>
          <a:xfrm>
            <a:off x="620171" y="1465859"/>
            <a:ext cx="2526492" cy="507413"/>
          </a:xfrm>
          <a:prstGeom prst="roundRect">
            <a:avLst>
              <a:gd name="adj" fmla="val 27777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ステップ帯下"/>
          <p:cNvSpPr/>
          <p:nvPr/>
        </p:nvSpPr>
        <p:spPr>
          <a:xfrm>
            <a:off x="620171" y="1747755"/>
            <a:ext cx="2526492" cy="22551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見出し_申し込む"/>
          <p:cNvSpPr txBox="1"/>
          <p:nvPr/>
        </p:nvSpPr>
        <p:spPr>
          <a:xfrm>
            <a:off x="831593" y="1465859"/>
            <a:ext cx="2103649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01</a:t>
            </a:r>
            <a:r>
              <a:rPr sz="14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   申し込む</a:t>
            </a:r>
          </a:p>
        </p:txBody>
      </p:sp>
      <p:sp>
        <p:nvSpPr>
          <p:cNvPr id="12" name="説明_申し込む"/>
          <p:cNvSpPr txBox="1"/>
          <p:nvPr/>
        </p:nvSpPr>
        <p:spPr>
          <a:xfrm>
            <a:off x="831593" y="2142409"/>
            <a:ext cx="2103649" cy="8597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フォームから、行きたい日と事業所を選んで申込。質問だけでも大丈夫です。</a:t>
            </a:r>
          </a:p>
        </p:txBody>
      </p:sp>
      <p:sp>
        <p:nvSpPr>
          <p:cNvPr id="13" name="矢印"/>
          <p:cNvSpPr/>
          <p:nvPr/>
        </p:nvSpPr>
        <p:spPr>
          <a:xfrm>
            <a:off x="3188948" y="2128314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カード_事前の連絡"/>
          <p:cNvSpPr/>
          <p:nvPr/>
        </p:nvSpPr>
        <p:spPr>
          <a:xfrm>
            <a:off x="3428560" y="1465859"/>
            <a:ext cx="2526492" cy="1634997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ステップ帯"/>
          <p:cNvSpPr/>
          <p:nvPr/>
        </p:nvSpPr>
        <p:spPr>
          <a:xfrm>
            <a:off x="3428560" y="1465859"/>
            <a:ext cx="2526492" cy="507413"/>
          </a:xfrm>
          <a:prstGeom prst="roundRect">
            <a:avLst>
              <a:gd name="adj" fmla="val 27777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ステップ帯下"/>
          <p:cNvSpPr/>
          <p:nvPr/>
        </p:nvSpPr>
        <p:spPr>
          <a:xfrm>
            <a:off x="3428560" y="1747755"/>
            <a:ext cx="2526492" cy="22551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見出し_事前の連絡"/>
          <p:cNvSpPr txBox="1"/>
          <p:nvPr/>
        </p:nvSpPr>
        <p:spPr>
          <a:xfrm>
            <a:off x="3639982" y="1465859"/>
            <a:ext cx="2103649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02</a:t>
            </a:r>
            <a:r>
              <a:rPr sz="14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   事前の連絡</a:t>
            </a:r>
          </a:p>
        </p:txBody>
      </p:sp>
      <p:sp>
        <p:nvSpPr>
          <p:cNvPr id="18" name="説明_事前の連絡"/>
          <p:cNvSpPr txBox="1"/>
          <p:nvPr/>
        </p:nvSpPr>
        <p:spPr>
          <a:xfrm>
            <a:off x="3639982" y="2142409"/>
            <a:ext cx="2103649" cy="8597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持ち物や服装、当日の集合場所をお知らせします。</a:t>
            </a:r>
          </a:p>
        </p:txBody>
      </p:sp>
      <p:sp>
        <p:nvSpPr>
          <p:cNvPr id="19" name="矢印"/>
          <p:cNvSpPr/>
          <p:nvPr/>
        </p:nvSpPr>
        <p:spPr>
          <a:xfrm>
            <a:off x="5997336" y="2128314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カード_実習の当日"/>
          <p:cNvSpPr/>
          <p:nvPr/>
        </p:nvSpPr>
        <p:spPr>
          <a:xfrm>
            <a:off x="6236948" y="1465859"/>
            <a:ext cx="2526492" cy="1634997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ステップ帯"/>
          <p:cNvSpPr/>
          <p:nvPr/>
        </p:nvSpPr>
        <p:spPr>
          <a:xfrm>
            <a:off x="6236948" y="1465859"/>
            <a:ext cx="2526492" cy="507413"/>
          </a:xfrm>
          <a:prstGeom prst="roundRect">
            <a:avLst>
              <a:gd name="adj" fmla="val 27777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ステップ帯下"/>
          <p:cNvSpPr/>
          <p:nvPr/>
        </p:nvSpPr>
        <p:spPr>
          <a:xfrm>
            <a:off x="6236948" y="1747755"/>
            <a:ext cx="2526492" cy="22551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見出し_実習の当日"/>
          <p:cNvSpPr txBox="1"/>
          <p:nvPr/>
        </p:nvSpPr>
        <p:spPr>
          <a:xfrm>
            <a:off x="6448370" y="1465859"/>
            <a:ext cx="2103649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03</a:t>
            </a:r>
            <a:r>
              <a:rPr sz="14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   実習の当日</a:t>
            </a:r>
          </a:p>
        </p:txBody>
      </p:sp>
      <p:sp>
        <p:nvSpPr>
          <p:cNvPr id="24" name="説明_実習の当日"/>
          <p:cNvSpPr txBox="1"/>
          <p:nvPr/>
        </p:nvSpPr>
        <p:spPr>
          <a:xfrm>
            <a:off x="6448370" y="2142409"/>
            <a:ext cx="2103649" cy="8597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職員がそばでサポート。利用者さんとおしゃべりしながら、現場を体験。</a:t>
            </a:r>
          </a:p>
        </p:txBody>
      </p:sp>
      <p:sp>
        <p:nvSpPr>
          <p:cNvPr id="25" name="矢印"/>
          <p:cNvSpPr/>
          <p:nvPr/>
        </p:nvSpPr>
        <p:spPr>
          <a:xfrm>
            <a:off x="8805725" y="2128314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カード_振り返り"/>
          <p:cNvSpPr/>
          <p:nvPr/>
        </p:nvSpPr>
        <p:spPr>
          <a:xfrm>
            <a:off x="9045336" y="1465859"/>
            <a:ext cx="2526492" cy="1634997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ステップ帯"/>
          <p:cNvSpPr/>
          <p:nvPr/>
        </p:nvSpPr>
        <p:spPr>
          <a:xfrm>
            <a:off x="9045336" y="1465859"/>
            <a:ext cx="2526492" cy="507413"/>
          </a:xfrm>
          <a:prstGeom prst="roundRect">
            <a:avLst>
              <a:gd name="adj" fmla="val 27777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ステップ帯下"/>
          <p:cNvSpPr/>
          <p:nvPr/>
        </p:nvSpPr>
        <p:spPr>
          <a:xfrm>
            <a:off x="9045336" y="1747755"/>
            <a:ext cx="2526492" cy="225517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見出し_振り返り"/>
          <p:cNvSpPr txBox="1"/>
          <p:nvPr/>
        </p:nvSpPr>
        <p:spPr>
          <a:xfrm>
            <a:off x="9256758" y="1465859"/>
            <a:ext cx="2103649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04</a:t>
            </a:r>
            <a:r>
              <a:rPr sz="14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   振り返り</a:t>
            </a:r>
          </a:p>
        </p:txBody>
      </p:sp>
      <p:sp>
        <p:nvSpPr>
          <p:cNvPr id="30" name="説明_振り返り"/>
          <p:cNvSpPr txBox="1"/>
          <p:nvPr/>
        </p:nvSpPr>
        <p:spPr>
          <a:xfrm>
            <a:off x="9256758" y="2142409"/>
            <a:ext cx="2103649" cy="8597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感じたことや気づいたことを、職員と話し合います。</a:t>
            </a:r>
          </a:p>
        </p:txBody>
      </p:sp>
      <p:sp>
        <p:nvSpPr>
          <p:cNvPr id="31" name="サイト見出し"/>
          <p:cNvSpPr txBox="1"/>
          <p:nvPr/>
        </p:nvSpPr>
        <p:spPr>
          <a:xfrm>
            <a:off x="620171" y="3410941"/>
            <a:ext cx="6342659" cy="26780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92"/>
              </a:lnSpc>
              <a:spcBef>
                <a:spcPts val="0"/>
              </a:spcBef>
              <a:spcAft>
                <a:spcPts val="0"/>
              </a:spcAft>
            </a:pPr>
            <a:r>
              <a:rPr sz="1609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実習サイトで届ける内容</a:t>
            </a:r>
          </a:p>
        </p:txBody>
      </p:sp>
      <p:sp>
        <p:nvSpPr>
          <p:cNvPr id="32" name="タイル_実習レポート"/>
          <p:cNvSpPr/>
          <p:nvPr/>
        </p:nvSpPr>
        <p:spPr>
          <a:xfrm>
            <a:off x="620171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色"/>
          <p:cNvSpPr/>
          <p:nvPr/>
        </p:nvSpPr>
        <p:spPr>
          <a:xfrm>
            <a:off x="789309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タイル本文_実習レポート"/>
          <p:cNvSpPr txBox="1"/>
          <p:nvPr/>
        </p:nvSpPr>
        <p:spPr>
          <a:xfrm>
            <a:off x="789309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実習レポート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実習の1日の流れをたどる記事</a:t>
            </a:r>
          </a:p>
        </p:txBody>
      </p:sp>
      <p:sp>
        <p:nvSpPr>
          <p:cNvPr id="35" name="タイル_職員の声"/>
          <p:cNvSpPr/>
          <p:nvPr/>
        </p:nvSpPr>
        <p:spPr>
          <a:xfrm>
            <a:off x="2473637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色"/>
          <p:cNvSpPr/>
          <p:nvPr/>
        </p:nvSpPr>
        <p:spPr>
          <a:xfrm>
            <a:off x="2642775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タイル本文_職員の声"/>
          <p:cNvSpPr txBox="1"/>
          <p:nvPr/>
        </p:nvSpPr>
        <p:spPr>
          <a:xfrm>
            <a:off x="2642775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職員の声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仕事のやりがいと、実習生へのメッセージ</a:t>
            </a:r>
          </a:p>
        </p:txBody>
      </p:sp>
      <p:sp>
        <p:nvSpPr>
          <p:cNvPr id="38" name="タイル_人生の先輩の&#10;メッセージ"/>
          <p:cNvSpPr/>
          <p:nvPr/>
        </p:nvSpPr>
        <p:spPr>
          <a:xfrm>
            <a:off x="4327103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色"/>
          <p:cNvSpPr/>
          <p:nvPr/>
        </p:nvSpPr>
        <p:spPr>
          <a:xfrm>
            <a:off x="4496240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タイル本文_人生の先輩の&#10;メッセージ"/>
          <p:cNvSpPr txBox="1"/>
          <p:nvPr/>
        </p:nvSpPr>
        <p:spPr>
          <a:xfrm>
            <a:off x="4496240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人生の先輩の</a:t>
            </a:r>
          </a:p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メッセージ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ご利用者さんから、実習に来るみなさんへのひとこと</a:t>
            </a:r>
          </a:p>
        </p:txBody>
      </p:sp>
      <p:sp>
        <p:nvSpPr>
          <p:cNvPr id="41" name="タイル_お知らせ"/>
          <p:cNvSpPr/>
          <p:nvPr/>
        </p:nvSpPr>
        <p:spPr>
          <a:xfrm>
            <a:off x="6180569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色"/>
          <p:cNvSpPr/>
          <p:nvPr/>
        </p:nvSpPr>
        <p:spPr>
          <a:xfrm>
            <a:off x="6349706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タイル本文_お知らせ"/>
          <p:cNvSpPr txBox="1"/>
          <p:nvPr/>
        </p:nvSpPr>
        <p:spPr>
          <a:xfrm>
            <a:off x="6349706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お知らせ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実習受け入れ拠点の追加など</a:t>
            </a:r>
          </a:p>
        </p:txBody>
      </p:sp>
      <p:sp>
        <p:nvSpPr>
          <p:cNvPr id="44" name="タイル_事業所の&#10;360°ツアー"/>
          <p:cNvSpPr/>
          <p:nvPr/>
        </p:nvSpPr>
        <p:spPr>
          <a:xfrm>
            <a:off x="8034035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色"/>
          <p:cNvSpPr/>
          <p:nvPr/>
        </p:nvSpPr>
        <p:spPr>
          <a:xfrm>
            <a:off x="8203172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タイル本文_事業所の&#10;360°ツアー"/>
          <p:cNvSpPr txBox="1"/>
          <p:nvPr/>
        </p:nvSpPr>
        <p:spPr>
          <a:xfrm>
            <a:off x="8203172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事業所の</a:t>
            </a:r>
          </a:p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360°ツアー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事業所の中の様子をのぞける</a:t>
            </a:r>
          </a:p>
        </p:txBody>
      </p:sp>
      <p:sp>
        <p:nvSpPr>
          <p:cNvPr id="47" name="タイル_経営者&#10;インタビュー"/>
          <p:cNvSpPr/>
          <p:nvPr/>
        </p:nvSpPr>
        <p:spPr>
          <a:xfrm>
            <a:off x="9887501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色"/>
          <p:cNvSpPr/>
          <p:nvPr/>
        </p:nvSpPr>
        <p:spPr>
          <a:xfrm>
            <a:off x="10056638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タイル本文_経営者&#10;インタビュー"/>
          <p:cNvSpPr txBox="1"/>
          <p:nvPr/>
        </p:nvSpPr>
        <p:spPr>
          <a:xfrm>
            <a:off x="10056638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経営者</a:t>
            </a:r>
          </a:p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インタビュー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社長に聞いた、これからのまちのカタチ（visions）</a:t>
            </a:r>
          </a:p>
        </p:txBody>
      </p:sp>
      <p:sp>
        <p:nvSpPr>
          <p:cNvPr id="50" name="そのほか"/>
          <p:cNvSpPr/>
          <p:nvPr/>
        </p:nvSpPr>
        <p:spPr>
          <a:xfrm>
            <a:off x="620171" y="5821151"/>
            <a:ext cx="10951658" cy="535602"/>
          </a:xfrm>
          <a:prstGeom prst="roundRect">
            <a:avLst>
              <a:gd name="adj" fmla="val 21052"/>
            </a:avLst>
          </a:prstGeom>
          <a:solidFill>
            <a:srgbClr val="F6F9F8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そのほか本文"/>
          <p:cNvSpPr txBox="1"/>
          <p:nvPr/>
        </p:nvSpPr>
        <p:spPr>
          <a:xfrm>
            <a:off x="873877" y="5821151"/>
            <a:ext cx="10444245" cy="53560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14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そのほか　</a:t>
            </a: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よくある質問／個人情報の取扱い／気になるキーワードから記事を探す／実習の申込フォーム</a:t>
            </a:r>
          </a:p>
        </p:txBody>
      </p:sp>
      <p:sp>
        <p:nvSpPr>
          <p:cNvPr id="52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申込フォーム・SNS・問い合わせ先は準備中です。記事の内容はサンプルです。</a:t>
            </a:r>
          </a:p>
        </p:txBody>
      </p:sp>
      <p:sp>
        <p:nvSpPr>
          <p:cNvPr id="53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拠点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長野を中心に、信越・北関東に109の拠点</a:t>
            </a:r>
          </a:p>
        </p:txBody>
      </p:sp>
      <p:sp>
        <p:nvSpPr>
          <p:cNvPr id="8" name="グラフカード"/>
          <p:cNvSpPr/>
          <p:nvPr/>
        </p:nvSpPr>
        <p:spPr>
          <a:xfrm>
            <a:off x="620171" y="1465859"/>
            <a:ext cx="6342659" cy="4890895"/>
          </a:xfrm>
          <a:prstGeom prst="roundRect">
            <a:avLst>
              <a:gd name="adj" fmla="val 288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グラフ見出し"/>
          <p:cNvSpPr txBox="1"/>
          <p:nvPr/>
        </p:nvSpPr>
        <p:spPr>
          <a:xfrm>
            <a:off x="902067" y="1677281"/>
            <a:ext cx="5778867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都県別の拠点数（計109拠点）</a:t>
            </a:r>
          </a:p>
        </p:txBody>
      </p:sp>
      <p:graphicFrame>
        <p:nvGraphicFramePr>
          <p:cNvPr id="10" name="拠点数グラフ"/>
          <p:cNvGraphicFramePr>
            <a:graphicFrameLocks noGrp="1"/>
          </p:cNvGraphicFramePr>
          <p:nvPr/>
        </p:nvGraphicFramePr>
        <p:xfrm>
          <a:off x="831593" y="2057840"/>
          <a:ext cx="5919815" cy="4115681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サービスカード"/>
          <p:cNvSpPr/>
          <p:nvPr/>
        </p:nvSpPr>
        <p:spPr>
          <a:xfrm>
            <a:off x="7188347" y="1465859"/>
            <a:ext cx="4383482" cy="211422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サービス見出し"/>
          <p:cNvSpPr txBox="1"/>
          <p:nvPr/>
        </p:nvSpPr>
        <p:spPr>
          <a:xfrm>
            <a:off x="7442053" y="1663186"/>
            <a:ext cx="387606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3"/>
              </a:lnSpc>
              <a:spcBef>
                <a:spcPts val="0"/>
              </a:spcBef>
              <a:spcAft>
                <a:spcPts val="0"/>
              </a:spcAft>
            </a:pPr>
            <a:r>
              <a:rPr sz="1387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提供しているサービス　7種</a:t>
            </a:r>
          </a:p>
        </p:txBody>
      </p:sp>
      <p:sp>
        <p:nvSpPr>
          <p:cNvPr id="13" name="サービス_有料老人ホーム"/>
          <p:cNvSpPr/>
          <p:nvPr/>
        </p:nvSpPr>
        <p:spPr>
          <a:xfrm>
            <a:off x="7442053" y="2057840"/>
            <a:ext cx="1881655" cy="36646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サービス文字_有料老人ホーム"/>
          <p:cNvSpPr txBox="1"/>
          <p:nvPr/>
        </p:nvSpPr>
        <p:spPr>
          <a:xfrm>
            <a:off x="7442053" y="2057840"/>
            <a:ext cx="188165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有料老人ホーム</a:t>
            </a:r>
          </a:p>
        </p:txBody>
      </p:sp>
      <p:sp>
        <p:nvSpPr>
          <p:cNvPr id="15" name="サービス_グループホーム"/>
          <p:cNvSpPr/>
          <p:nvPr/>
        </p:nvSpPr>
        <p:spPr>
          <a:xfrm>
            <a:off x="9436467" y="2057840"/>
            <a:ext cx="1881655" cy="36646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サービス文字_グループホーム"/>
          <p:cNvSpPr txBox="1"/>
          <p:nvPr/>
        </p:nvSpPr>
        <p:spPr>
          <a:xfrm>
            <a:off x="9436467" y="2057840"/>
            <a:ext cx="188165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グループホーム</a:t>
            </a:r>
          </a:p>
        </p:txBody>
      </p:sp>
      <p:sp>
        <p:nvSpPr>
          <p:cNvPr id="17" name="サービス_デイサービス"/>
          <p:cNvSpPr/>
          <p:nvPr/>
        </p:nvSpPr>
        <p:spPr>
          <a:xfrm>
            <a:off x="7442053" y="2522969"/>
            <a:ext cx="1881655" cy="36646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サービス文字_デイサービス"/>
          <p:cNvSpPr txBox="1"/>
          <p:nvPr/>
        </p:nvSpPr>
        <p:spPr>
          <a:xfrm>
            <a:off x="7442053" y="2522969"/>
            <a:ext cx="188165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デイサービス</a:t>
            </a:r>
          </a:p>
        </p:txBody>
      </p:sp>
      <p:sp>
        <p:nvSpPr>
          <p:cNvPr id="19" name="サービス_小規模多機能"/>
          <p:cNvSpPr/>
          <p:nvPr/>
        </p:nvSpPr>
        <p:spPr>
          <a:xfrm>
            <a:off x="9436467" y="2522969"/>
            <a:ext cx="1881655" cy="36646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サービス文字_小規模多機能"/>
          <p:cNvSpPr txBox="1"/>
          <p:nvPr/>
        </p:nvSpPr>
        <p:spPr>
          <a:xfrm>
            <a:off x="9436467" y="2522969"/>
            <a:ext cx="188165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小規模多機能</a:t>
            </a:r>
          </a:p>
        </p:txBody>
      </p:sp>
      <p:sp>
        <p:nvSpPr>
          <p:cNvPr id="21" name="サービス_看護小規模多機能型"/>
          <p:cNvSpPr/>
          <p:nvPr/>
        </p:nvSpPr>
        <p:spPr>
          <a:xfrm>
            <a:off x="7442053" y="2988097"/>
            <a:ext cx="1881655" cy="36646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サービス文字_看護小規模多機能型"/>
          <p:cNvSpPr txBox="1"/>
          <p:nvPr/>
        </p:nvSpPr>
        <p:spPr>
          <a:xfrm>
            <a:off x="7442053" y="2988097"/>
            <a:ext cx="188165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看護小規模多機能型</a:t>
            </a:r>
          </a:p>
        </p:txBody>
      </p:sp>
      <p:sp>
        <p:nvSpPr>
          <p:cNvPr id="23" name="サービス_訪問介護"/>
          <p:cNvSpPr/>
          <p:nvPr/>
        </p:nvSpPr>
        <p:spPr>
          <a:xfrm>
            <a:off x="9436467" y="2988097"/>
            <a:ext cx="1881655" cy="36646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サービス文字_訪問介護"/>
          <p:cNvSpPr txBox="1"/>
          <p:nvPr/>
        </p:nvSpPr>
        <p:spPr>
          <a:xfrm>
            <a:off x="9436467" y="2988097"/>
            <a:ext cx="188165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訪問介護</a:t>
            </a:r>
          </a:p>
        </p:txBody>
      </p:sp>
      <p:sp>
        <p:nvSpPr>
          <p:cNvPr id="25" name="サービス_訪問看護"/>
          <p:cNvSpPr/>
          <p:nvPr/>
        </p:nvSpPr>
        <p:spPr>
          <a:xfrm>
            <a:off x="7442053" y="3453225"/>
            <a:ext cx="1881655" cy="36646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サービス文字_訪問看護"/>
          <p:cNvSpPr txBox="1"/>
          <p:nvPr/>
        </p:nvSpPr>
        <p:spPr>
          <a:xfrm>
            <a:off x="7442053" y="3453225"/>
            <a:ext cx="188165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訪問看護</a:t>
            </a:r>
          </a:p>
        </p:txBody>
      </p:sp>
      <p:sp>
        <p:nvSpPr>
          <p:cNvPr id="27" name="ツアーカード"/>
          <p:cNvSpPr/>
          <p:nvPr/>
        </p:nvSpPr>
        <p:spPr>
          <a:xfrm>
            <a:off x="7188347" y="3805595"/>
            <a:ext cx="4383482" cy="2551158"/>
          </a:xfrm>
          <a:prstGeom prst="roundRect">
            <a:avLst>
              <a:gd name="adj" fmla="val 5524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ツアー見出し"/>
          <p:cNvSpPr txBox="1"/>
          <p:nvPr/>
        </p:nvSpPr>
        <p:spPr>
          <a:xfrm>
            <a:off x="7442053" y="4002923"/>
            <a:ext cx="387606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360°ツアーで見学できる事業所　9拠点</a:t>
            </a:r>
          </a:p>
        </p:txBody>
      </p:sp>
      <p:sp>
        <p:nvSpPr>
          <p:cNvPr id="29" name="県"/>
          <p:cNvSpPr/>
          <p:nvPr/>
        </p:nvSpPr>
        <p:spPr>
          <a:xfrm>
            <a:off x="7442053" y="4462765"/>
            <a:ext cx="90206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県_長野県"/>
          <p:cNvSpPr txBox="1"/>
          <p:nvPr/>
        </p:nvSpPr>
        <p:spPr>
          <a:xfrm>
            <a:off x="7442053" y="4462765"/>
            <a:ext cx="90206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長野県</a:t>
            </a:r>
          </a:p>
        </p:txBody>
      </p:sp>
      <p:sp>
        <p:nvSpPr>
          <p:cNvPr id="31" name="拠点数_長野県"/>
          <p:cNvSpPr txBox="1"/>
          <p:nvPr/>
        </p:nvSpPr>
        <p:spPr>
          <a:xfrm>
            <a:off x="8485068" y="4397577"/>
            <a:ext cx="704740" cy="4686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64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5拠点</a:t>
            </a:r>
          </a:p>
        </p:txBody>
      </p:sp>
      <p:sp>
        <p:nvSpPr>
          <p:cNvPr id="32" name="所在地_長野県"/>
          <p:cNvSpPr txBox="1"/>
          <p:nvPr/>
        </p:nvSpPr>
        <p:spPr>
          <a:xfrm>
            <a:off x="9232092" y="4397577"/>
            <a:ext cx="2086030" cy="4686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安曇野・松本・佐久・諏訪・上田</a:t>
            </a:r>
          </a:p>
        </p:txBody>
      </p:sp>
      <p:sp>
        <p:nvSpPr>
          <p:cNvPr id="33" name="県"/>
          <p:cNvSpPr/>
          <p:nvPr/>
        </p:nvSpPr>
        <p:spPr>
          <a:xfrm>
            <a:off x="7442053" y="4931417"/>
            <a:ext cx="90206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県_新潟県"/>
          <p:cNvSpPr txBox="1"/>
          <p:nvPr/>
        </p:nvSpPr>
        <p:spPr>
          <a:xfrm>
            <a:off x="7442053" y="4931417"/>
            <a:ext cx="90206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新潟県</a:t>
            </a:r>
          </a:p>
        </p:txBody>
      </p:sp>
      <p:sp>
        <p:nvSpPr>
          <p:cNvPr id="35" name="拠点数_新潟県"/>
          <p:cNvSpPr txBox="1"/>
          <p:nvPr/>
        </p:nvSpPr>
        <p:spPr>
          <a:xfrm>
            <a:off x="8485068" y="4866229"/>
            <a:ext cx="704740" cy="4686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64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1拠点</a:t>
            </a:r>
          </a:p>
        </p:txBody>
      </p:sp>
      <p:sp>
        <p:nvSpPr>
          <p:cNvPr id="36" name="所在地_新潟県"/>
          <p:cNvSpPr txBox="1"/>
          <p:nvPr/>
        </p:nvSpPr>
        <p:spPr>
          <a:xfrm>
            <a:off x="9232092" y="4866229"/>
            <a:ext cx="2086030" cy="4686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糸魚川</a:t>
            </a:r>
          </a:p>
        </p:txBody>
      </p:sp>
      <p:sp>
        <p:nvSpPr>
          <p:cNvPr id="37" name="県"/>
          <p:cNvSpPr/>
          <p:nvPr/>
        </p:nvSpPr>
        <p:spPr>
          <a:xfrm>
            <a:off x="7442053" y="5400069"/>
            <a:ext cx="90206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県_栃木県"/>
          <p:cNvSpPr txBox="1"/>
          <p:nvPr/>
        </p:nvSpPr>
        <p:spPr>
          <a:xfrm>
            <a:off x="7442053" y="5400069"/>
            <a:ext cx="90206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栃木県</a:t>
            </a:r>
          </a:p>
        </p:txBody>
      </p:sp>
      <p:sp>
        <p:nvSpPr>
          <p:cNvPr id="39" name="拠点数_栃木県"/>
          <p:cNvSpPr txBox="1"/>
          <p:nvPr/>
        </p:nvSpPr>
        <p:spPr>
          <a:xfrm>
            <a:off x="8485068" y="5334881"/>
            <a:ext cx="704740" cy="4686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64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2拠点</a:t>
            </a:r>
          </a:p>
        </p:txBody>
      </p:sp>
      <p:sp>
        <p:nvSpPr>
          <p:cNvPr id="40" name="所在地_栃木県"/>
          <p:cNvSpPr txBox="1"/>
          <p:nvPr/>
        </p:nvSpPr>
        <p:spPr>
          <a:xfrm>
            <a:off x="9232092" y="5334881"/>
            <a:ext cx="2086030" cy="4686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宇都宮・小山</a:t>
            </a:r>
          </a:p>
        </p:txBody>
      </p:sp>
      <p:sp>
        <p:nvSpPr>
          <p:cNvPr id="41" name="県"/>
          <p:cNvSpPr/>
          <p:nvPr/>
        </p:nvSpPr>
        <p:spPr>
          <a:xfrm>
            <a:off x="7442053" y="5868721"/>
            <a:ext cx="90206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県_埼玉県"/>
          <p:cNvSpPr txBox="1"/>
          <p:nvPr/>
        </p:nvSpPr>
        <p:spPr>
          <a:xfrm>
            <a:off x="7442053" y="5868721"/>
            <a:ext cx="90206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埼玉県</a:t>
            </a:r>
          </a:p>
        </p:txBody>
      </p:sp>
      <p:sp>
        <p:nvSpPr>
          <p:cNvPr id="43" name="拠点数_埼玉県"/>
          <p:cNvSpPr txBox="1"/>
          <p:nvPr/>
        </p:nvSpPr>
        <p:spPr>
          <a:xfrm>
            <a:off x="8485068" y="5803533"/>
            <a:ext cx="704740" cy="4686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64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1拠点</a:t>
            </a:r>
          </a:p>
        </p:txBody>
      </p:sp>
      <p:sp>
        <p:nvSpPr>
          <p:cNvPr id="44" name="所在地_埼玉県"/>
          <p:cNvSpPr txBox="1"/>
          <p:nvPr/>
        </p:nvSpPr>
        <p:spPr>
          <a:xfrm>
            <a:off x="9232092" y="5803533"/>
            <a:ext cx="2086030" cy="4686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羽生</a:t>
            </a:r>
          </a:p>
        </p:txBody>
      </p:sp>
      <p:sp>
        <p:nvSpPr>
          <p:cNvPr id="45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出典：エフビー介護サービス コーポレートサイト（360°ツアー）ほか、実習サイトの掲載内容。</a:t>
            </a:r>
          </a:p>
        </p:txBody>
      </p:sp>
      <p:sp>
        <p:nvSpPr>
          <p:cNvPr id="46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