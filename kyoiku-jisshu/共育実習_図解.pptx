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6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エフビー介護サービス 実習応募サイト（制作中）の概要。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実習サイト「エフビー流の学び」の循環図を整理。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1DAY（9:30〜15:00ごろ）と5DAYS（5日間）。内容は調整中。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申込から振り返りまでの4ステップと、サイトのコンテンツ構成。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7種109拠点。長野57・新潟15・埼玉15・群馬12・栃木10。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矢印_1から2"/>
          <p:cNvSpPr/>
          <p:nvPr/>
        </p:nvSpPr>
        <p:spPr>
          <a:xfrm>
            <a:off x="4228439" y="1677280"/>
            <a:ext cx="3735121" cy="451033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矢印_2から3"/>
          <p:cNvSpPr/>
          <p:nvPr/>
        </p:nvSpPr>
        <p:spPr>
          <a:xfrm>
            <a:off x="9711315" y="2579347"/>
            <a:ext cx="394654" cy="944351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矢印_3から4"/>
          <p:cNvSpPr/>
          <p:nvPr/>
        </p:nvSpPr>
        <p:spPr>
          <a:xfrm>
            <a:off x="4228439" y="4045206"/>
            <a:ext cx="3735121" cy="451033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矢印_4から1"/>
          <p:cNvSpPr/>
          <p:nvPr/>
        </p:nvSpPr>
        <p:spPr>
          <a:xfrm>
            <a:off x="2086030" y="2579347"/>
            <a:ext cx="394654" cy="944351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循環ラベル"/>
          <p:cNvSpPr txBox="1"/>
          <p:nvPr/>
        </p:nvSpPr>
        <p:spPr>
          <a:xfrm>
            <a:off x="2621632" y="2917623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1" name="広がる輪"/>
          <p:cNvSpPr/>
          <p:nvPr/>
        </p:nvSpPr>
        <p:spPr>
          <a:xfrm>
            <a:off x="5306691" y="2156504"/>
            <a:ext cx="1578617" cy="1578617"/>
          </a:xfrm>
          <a:prstGeom prst="ellipse">
            <a:avLst/>
          </a:prstGeom>
          <a:solidFill>
            <a:srgbClr val="D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広がる輪"/>
          <p:cNvSpPr/>
          <p:nvPr/>
        </p:nvSpPr>
        <p:spPr>
          <a:xfrm>
            <a:off x="5489923" y="2339736"/>
            <a:ext cx="1212152" cy="1212152"/>
          </a:xfrm>
          <a:prstGeom prst="ellipse">
            <a:avLst/>
          </a:prstGeom>
          <a:solidFill>
            <a:srgbClr val="A9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広がる輪"/>
          <p:cNvSpPr/>
          <p:nvPr/>
        </p:nvSpPr>
        <p:spPr>
          <a:xfrm>
            <a:off x="5673156" y="2522968"/>
            <a:ext cx="845687" cy="84568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中央1"/>
          <p:cNvSpPr txBox="1"/>
          <p:nvPr/>
        </p:nvSpPr>
        <p:spPr>
          <a:xfrm>
            <a:off x="5616776" y="2706201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5" name="中央2"/>
          <p:cNvSpPr txBox="1"/>
          <p:nvPr/>
        </p:nvSpPr>
        <p:spPr>
          <a:xfrm>
            <a:off x="5616776" y="2917623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6" name="帯"/>
          <p:cNvSpPr/>
          <p:nvPr/>
        </p:nvSpPr>
        <p:spPr>
          <a:xfrm>
            <a:off x="5461734" y="3763310"/>
            <a:ext cx="1268531" cy="23961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帯文字"/>
          <p:cNvSpPr txBox="1"/>
          <p:nvPr/>
        </p:nvSpPr>
        <p:spPr>
          <a:xfrm>
            <a:off x="5461734" y="3763310"/>
            <a:ext cx="1268531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18" name="カード_共育実習を行う"/>
          <p:cNvSpPr/>
          <p:nvPr/>
        </p:nvSpPr>
        <p:spPr>
          <a:xfrm>
            <a:off x="451033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/>
          <p:nvPr/>
        </p:nvSpPr>
        <p:spPr>
          <a:xfrm>
            <a:off x="676550" y="1451764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1"/>
          <p:cNvSpPr txBox="1"/>
          <p:nvPr/>
        </p:nvSpPr>
        <p:spPr>
          <a:xfrm>
            <a:off x="676550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2" name="要点_共育実習を行う"/>
          <p:cNvSpPr txBox="1"/>
          <p:nvPr/>
        </p:nvSpPr>
        <p:spPr>
          <a:xfrm>
            <a:off x="1169868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3" name="説明_共育実習を行う"/>
          <p:cNvSpPr txBox="1"/>
          <p:nvPr/>
        </p:nvSpPr>
        <p:spPr>
          <a:xfrm>
            <a:off x="704739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4" name="カード_声が集まる"/>
          <p:cNvSpPr/>
          <p:nvPr/>
        </p:nvSpPr>
        <p:spPr>
          <a:xfrm>
            <a:off x="8076319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01835" y="1451764"/>
            <a:ext cx="366464" cy="36646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2"/>
          <p:cNvSpPr txBox="1"/>
          <p:nvPr/>
        </p:nvSpPr>
        <p:spPr>
          <a:xfrm>
            <a:off x="8301835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要点_声が集まる"/>
          <p:cNvSpPr txBox="1"/>
          <p:nvPr/>
        </p:nvSpPr>
        <p:spPr>
          <a:xfrm>
            <a:off x="8795153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8330025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8076319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"/>
          <p:cNvSpPr/>
          <p:nvPr/>
        </p:nvSpPr>
        <p:spPr>
          <a:xfrm>
            <a:off x="8301835" y="3819690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番号文字3"/>
          <p:cNvSpPr txBox="1"/>
          <p:nvPr/>
        </p:nvSpPr>
        <p:spPr>
          <a:xfrm>
            <a:off x="8301835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4" name="要点_実習サイトに載せる"/>
          <p:cNvSpPr txBox="1"/>
          <p:nvPr/>
        </p:nvSpPr>
        <p:spPr>
          <a:xfrm>
            <a:off x="8795153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5" name="説明_実習サイトに載せる"/>
          <p:cNvSpPr txBox="1"/>
          <p:nvPr/>
        </p:nvSpPr>
        <p:spPr>
          <a:xfrm>
            <a:off x="8330025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6" name="カード_見て、動く"/>
          <p:cNvSpPr/>
          <p:nvPr/>
        </p:nvSpPr>
        <p:spPr>
          <a:xfrm>
            <a:off x="451033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676550" y="3819690"/>
            <a:ext cx="366464" cy="3664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文字4"/>
          <p:cNvSpPr txBox="1"/>
          <p:nvPr/>
        </p:nvSpPr>
        <p:spPr>
          <a:xfrm>
            <a:off x="676550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要点_見て、動く"/>
          <p:cNvSpPr txBox="1"/>
          <p:nvPr/>
        </p:nvSpPr>
        <p:spPr>
          <a:xfrm>
            <a:off x="1169868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1" name="説明_見て、動く"/>
          <p:cNvSpPr txBox="1"/>
          <p:nvPr/>
        </p:nvSpPr>
        <p:spPr>
          <a:xfrm>
            <a:off x="704739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2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45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46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49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6" name="コンセプト"/>
          <p:cNvSpPr/>
          <p:nvPr/>
        </p:nvSpPr>
        <p:spPr>
          <a:xfrm>
            <a:off x="451033" y="1268531"/>
            <a:ext cx="4933179" cy="3100855"/>
          </a:xfrm>
          <a:prstGeom prst="roundRect">
            <a:avLst>
              <a:gd name="adj" fmla="val 7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英字"/>
          <p:cNvSpPr txBox="1"/>
          <p:nvPr/>
        </p:nvSpPr>
        <p:spPr>
          <a:xfrm>
            <a:off x="732929" y="1451764"/>
            <a:ext cx="436938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6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8" name="コピー1"/>
          <p:cNvSpPr txBox="1"/>
          <p:nvPr/>
        </p:nvSpPr>
        <p:spPr>
          <a:xfrm>
            <a:off x="732929" y="1691375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</p:txBody>
      </p:sp>
      <p:sp>
        <p:nvSpPr>
          <p:cNvPr id="9" name="コピー2"/>
          <p:cNvSpPr txBox="1"/>
          <p:nvPr/>
        </p:nvSpPr>
        <p:spPr>
          <a:xfrm>
            <a:off x="732929" y="2297452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0" name="サブコピー"/>
          <p:cNvSpPr txBox="1"/>
          <p:nvPr/>
        </p:nvSpPr>
        <p:spPr>
          <a:xfrm>
            <a:off x="732929" y="3044476"/>
            <a:ext cx="4369387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sp>
        <p:nvSpPr>
          <p:cNvPr id="11" name="メッセージ"/>
          <p:cNvSpPr txBox="1"/>
          <p:nvPr/>
        </p:nvSpPr>
        <p:spPr>
          <a:xfrm>
            <a:off x="732929" y="3481415"/>
            <a:ext cx="436938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そんなイメージを、一緒にひっくり返したい。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日本一長寿の県・長野から、最高に楽しい仕事を。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919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ラベル_目的"/>
          <p:cNvSpPr txBox="1"/>
          <p:nvPr/>
        </p:nvSpPr>
        <p:spPr>
          <a:xfrm>
            <a:off x="5891625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</p:txBody>
      </p:sp>
      <p:sp>
        <p:nvSpPr>
          <p:cNvPr id="15" name="値_目的"/>
          <p:cNvSpPr txBox="1"/>
          <p:nvPr/>
        </p:nvSpPr>
        <p:spPr>
          <a:xfrm>
            <a:off x="5891625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6490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ラベル_対象"/>
          <p:cNvSpPr txBox="1"/>
          <p:nvPr/>
        </p:nvSpPr>
        <p:spPr>
          <a:xfrm>
            <a:off x="8950196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</p:txBody>
      </p:sp>
      <p:sp>
        <p:nvSpPr>
          <p:cNvPr id="19" name="値_対象"/>
          <p:cNvSpPr txBox="1"/>
          <p:nvPr/>
        </p:nvSpPr>
        <p:spPr>
          <a:xfrm>
            <a:off x="8950196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7919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ラベル_費用"/>
          <p:cNvSpPr txBox="1"/>
          <p:nvPr/>
        </p:nvSpPr>
        <p:spPr>
          <a:xfrm>
            <a:off x="5891625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23" name="値_費用"/>
          <p:cNvSpPr txBox="1"/>
          <p:nvPr/>
        </p:nvSpPr>
        <p:spPr>
          <a:xfrm>
            <a:off x="5891625" y="3298182"/>
            <a:ext cx="2396115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5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</p:txBody>
      </p:sp>
      <p:sp>
        <p:nvSpPr>
          <p:cNvPr id="24" name="値_費用補足"/>
          <p:cNvSpPr txBox="1"/>
          <p:nvPr/>
        </p:nvSpPr>
        <p:spPr>
          <a:xfrm>
            <a:off x="5891625" y="3890164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96490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ラベル_期間・時間"/>
          <p:cNvSpPr txBox="1"/>
          <p:nvPr/>
        </p:nvSpPr>
        <p:spPr>
          <a:xfrm>
            <a:off x="8950196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</p:txBody>
      </p:sp>
      <p:sp>
        <p:nvSpPr>
          <p:cNvPr id="28" name="値_期間・時間"/>
          <p:cNvSpPr txBox="1"/>
          <p:nvPr/>
        </p:nvSpPr>
        <p:spPr>
          <a:xfrm>
            <a:off x="8950196" y="3326372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数字_拠点"/>
          <p:cNvSpPr txBox="1"/>
          <p:nvPr/>
        </p:nvSpPr>
        <p:spPr>
          <a:xfrm>
            <a:off x="662455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31" name="単位_拠点"/>
          <p:cNvSpPr txBox="1"/>
          <p:nvPr/>
        </p:nvSpPr>
        <p:spPr>
          <a:xfrm>
            <a:off x="1691375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32" name="補足_拠点"/>
          <p:cNvSpPr txBox="1"/>
          <p:nvPr/>
        </p:nvSpPr>
        <p:spPr>
          <a:xfrm>
            <a:off x="662455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19324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数字_種のサービス"/>
          <p:cNvSpPr txBox="1"/>
          <p:nvPr/>
        </p:nvSpPr>
        <p:spPr>
          <a:xfrm>
            <a:off x="3530746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</p:txBody>
      </p:sp>
      <p:sp>
        <p:nvSpPr>
          <p:cNvPr id="35" name="単位_種のサービス"/>
          <p:cNvSpPr txBox="1"/>
          <p:nvPr/>
        </p:nvSpPr>
        <p:spPr>
          <a:xfrm>
            <a:off x="3911306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sp>
        <p:nvSpPr>
          <p:cNvPr id="36" name="補足_種のサービス"/>
          <p:cNvSpPr txBox="1"/>
          <p:nvPr/>
        </p:nvSpPr>
        <p:spPr>
          <a:xfrm>
            <a:off x="3530746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7616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数字_つのプログラム"/>
          <p:cNvSpPr txBox="1"/>
          <p:nvPr/>
        </p:nvSpPr>
        <p:spPr>
          <a:xfrm>
            <a:off x="6399038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9" name="単位_つのプログラム"/>
          <p:cNvSpPr txBox="1"/>
          <p:nvPr/>
        </p:nvSpPr>
        <p:spPr>
          <a:xfrm>
            <a:off x="6779597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つのプログラム</a:t>
            </a:r>
          </a:p>
        </p:txBody>
      </p:sp>
      <p:sp>
        <p:nvSpPr>
          <p:cNvPr id="40" name="補足_つのプログラム"/>
          <p:cNvSpPr txBox="1"/>
          <p:nvPr/>
        </p:nvSpPr>
        <p:spPr>
          <a:xfrm>
            <a:off x="6399038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5907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数字_事業所"/>
          <p:cNvSpPr txBox="1"/>
          <p:nvPr/>
        </p:nvSpPr>
        <p:spPr>
          <a:xfrm>
            <a:off x="9267329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</a:p>
        </p:txBody>
      </p:sp>
      <p:sp>
        <p:nvSpPr>
          <p:cNvPr id="43" name="単位_事業所"/>
          <p:cNvSpPr txBox="1"/>
          <p:nvPr/>
        </p:nvSpPr>
        <p:spPr>
          <a:xfrm>
            <a:off x="9647889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</a:t>
            </a:r>
          </a:p>
        </p:txBody>
      </p:sp>
      <p:sp>
        <p:nvSpPr>
          <p:cNvPr id="44" name="補足_事業所"/>
          <p:cNvSpPr txBox="1"/>
          <p:nvPr/>
        </p:nvSpPr>
        <p:spPr>
          <a:xfrm>
            <a:off x="9267329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6" name="帯"/>
          <p:cNvSpPr/>
          <p:nvPr/>
        </p:nvSpPr>
        <p:spPr>
          <a:xfrm>
            <a:off x="3981780" y="1240342"/>
            <a:ext cx="4228439" cy="45103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帯文字"/>
          <p:cNvSpPr txBox="1"/>
          <p:nvPr/>
        </p:nvSpPr>
        <p:spPr>
          <a:xfrm>
            <a:off x="3981780" y="1240342"/>
            <a:ext cx="4228439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033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"/>
          <p:cNvSpPr/>
          <p:nvPr/>
        </p:nvSpPr>
        <p:spPr>
          <a:xfrm>
            <a:off x="648360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文字1"/>
          <p:cNvSpPr txBox="1"/>
          <p:nvPr/>
        </p:nvSpPr>
        <p:spPr>
          <a:xfrm>
            <a:off x="648360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見出し_話して知る"/>
          <p:cNvSpPr txBox="1"/>
          <p:nvPr/>
        </p:nvSpPr>
        <p:spPr>
          <a:xfrm>
            <a:off x="1198057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3" name="小見出し_話して知る"/>
          <p:cNvSpPr txBox="1"/>
          <p:nvPr/>
        </p:nvSpPr>
        <p:spPr>
          <a:xfrm>
            <a:off x="662455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455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内容_話して知る"/>
          <p:cNvSpPr txBox="1"/>
          <p:nvPr/>
        </p:nvSpPr>
        <p:spPr>
          <a:xfrm>
            <a:off x="662455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6" name="矢印"/>
          <p:cNvSpPr/>
          <p:nvPr/>
        </p:nvSpPr>
        <p:spPr>
          <a:xfrm>
            <a:off x="3100855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0467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537794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文字2"/>
          <p:cNvSpPr txBox="1"/>
          <p:nvPr/>
        </p:nvSpPr>
        <p:spPr>
          <a:xfrm>
            <a:off x="3537794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087491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551889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51889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551889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0289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9900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"/>
          <p:cNvSpPr/>
          <p:nvPr/>
        </p:nvSpPr>
        <p:spPr>
          <a:xfrm>
            <a:off x="6427227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番号文字3"/>
          <p:cNvSpPr txBox="1"/>
          <p:nvPr/>
        </p:nvSpPr>
        <p:spPr>
          <a:xfrm>
            <a:off x="6427227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0" name="見出し_やってみる"/>
          <p:cNvSpPr txBox="1"/>
          <p:nvPr/>
        </p:nvSpPr>
        <p:spPr>
          <a:xfrm>
            <a:off x="6976924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1" name="小見出し_やってみる"/>
          <p:cNvSpPr txBox="1"/>
          <p:nvPr/>
        </p:nvSpPr>
        <p:spPr>
          <a:xfrm>
            <a:off x="6441322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41322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内容_やってみる"/>
          <p:cNvSpPr txBox="1"/>
          <p:nvPr/>
        </p:nvSpPr>
        <p:spPr>
          <a:xfrm>
            <a:off x="6441322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4" name="矢印"/>
          <p:cNvSpPr/>
          <p:nvPr/>
        </p:nvSpPr>
        <p:spPr>
          <a:xfrm>
            <a:off x="8879722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19334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"/>
          <p:cNvSpPr/>
          <p:nvPr/>
        </p:nvSpPr>
        <p:spPr>
          <a:xfrm>
            <a:off x="9316661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文字4"/>
          <p:cNvSpPr txBox="1"/>
          <p:nvPr/>
        </p:nvSpPr>
        <p:spPr>
          <a:xfrm>
            <a:off x="9316661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9" name="見出し_振り返る"/>
          <p:cNvSpPr txBox="1"/>
          <p:nvPr/>
        </p:nvSpPr>
        <p:spPr>
          <a:xfrm>
            <a:off x="9866358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40" name="小見出し_振り返る"/>
          <p:cNvSpPr txBox="1"/>
          <p:nvPr/>
        </p:nvSpPr>
        <p:spPr>
          <a:xfrm>
            <a:off x="9330756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30756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内容_振り返る"/>
          <p:cNvSpPr txBox="1"/>
          <p:nvPr/>
        </p:nvSpPr>
        <p:spPr>
          <a:xfrm>
            <a:off x="9330756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3" name="戻り矢印"/>
          <p:cNvSpPr/>
          <p:nvPr/>
        </p:nvSpPr>
        <p:spPr>
          <a:xfrm>
            <a:off x="451033" y="5285549"/>
            <a:ext cx="11289932" cy="451033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B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戻り矢印文字"/>
          <p:cNvSpPr txBox="1"/>
          <p:nvPr/>
        </p:nvSpPr>
        <p:spPr>
          <a:xfrm>
            <a:off x="1550427" y="5285549"/>
            <a:ext cx="9373040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6" name="帯_1DAY"/>
          <p:cNvSpPr/>
          <p:nvPr/>
        </p:nvSpPr>
        <p:spPr>
          <a:xfrm>
            <a:off x="451033" y="1212152"/>
            <a:ext cx="5708393" cy="535602"/>
          </a:xfrm>
          <a:prstGeom prst="roundRect">
            <a:avLst>
              <a:gd name="adj" fmla="val 3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1DAY"/>
          <p:cNvSpPr txBox="1"/>
          <p:nvPr/>
        </p:nvSpPr>
        <p:spPr>
          <a:xfrm>
            <a:off x="648360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8" name="1DAY_見出し"/>
          <p:cNvSpPr txBox="1"/>
          <p:nvPr/>
        </p:nvSpPr>
        <p:spPr>
          <a:xfrm>
            <a:off x="1930987" y="1282626"/>
            <a:ext cx="4087491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</p:txBody>
      </p:sp>
      <p:sp>
        <p:nvSpPr>
          <p:cNvPr id="9" name="1DAY_補足"/>
          <p:cNvSpPr txBox="1"/>
          <p:nvPr/>
        </p:nvSpPr>
        <p:spPr>
          <a:xfrm>
            <a:off x="1930987" y="1522238"/>
            <a:ext cx="4087491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0" name="帯_5DAYS"/>
          <p:cNvSpPr/>
          <p:nvPr/>
        </p:nvSpPr>
        <p:spPr>
          <a:xfrm>
            <a:off x="6370848" y="1212152"/>
            <a:ext cx="5370117" cy="535602"/>
          </a:xfrm>
          <a:prstGeom prst="roundRect">
            <a:avLst>
              <a:gd name="adj" fmla="val 3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DAYS"/>
          <p:cNvSpPr txBox="1"/>
          <p:nvPr/>
        </p:nvSpPr>
        <p:spPr>
          <a:xfrm>
            <a:off x="6568175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2" name="5DAYS_見出し"/>
          <p:cNvSpPr txBox="1"/>
          <p:nvPr/>
        </p:nvSpPr>
        <p:spPr>
          <a:xfrm>
            <a:off x="7850802" y="1282626"/>
            <a:ext cx="3749216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</p:txBody>
      </p:sp>
      <p:sp>
        <p:nvSpPr>
          <p:cNvPr id="13" name="5DAYS_補足"/>
          <p:cNvSpPr txBox="1"/>
          <p:nvPr/>
        </p:nvSpPr>
        <p:spPr>
          <a:xfrm>
            <a:off x="7850802" y="1522238"/>
            <a:ext cx="3749216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033" y="1874608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"/>
          <p:cNvSpPr/>
          <p:nvPr/>
        </p:nvSpPr>
        <p:spPr>
          <a:xfrm>
            <a:off x="648360" y="2086030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時刻_9:30"/>
          <p:cNvSpPr txBox="1"/>
          <p:nvPr/>
        </p:nvSpPr>
        <p:spPr>
          <a:xfrm>
            <a:off x="648360" y="2086030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8" name="要点_受付とオープニング"/>
          <p:cNvSpPr txBox="1"/>
          <p:nvPr/>
        </p:nvSpPr>
        <p:spPr>
          <a:xfrm>
            <a:off x="1663186" y="1959176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</p:txBody>
      </p:sp>
      <p:sp>
        <p:nvSpPr>
          <p:cNvPr id="19" name="説明_受付とオープニング"/>
          <p:cNvSpPr txBox="1"/>
          <p:nvPr/>
        </p:nvSpPr>
        <p:spPr>
          <a:xfrm>
            <a:off x="1663186" y="2226978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033" y="2720295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時刻"/>
          <p:cNvSpPr/>
          <p:nvPr/>
        </p:nvSpPr>
        <p:spPr>
          <a:xfrm>
            <a:off x="648360" y="2931717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_10:00"/>
          <p:cNvSpPr txBox="1"/>
          <p:nvPr/>
        </p:nvSpPr>
        <p:spPr>
          <a:xfrm>
            <a:off x="648360" y="2931717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4" name="要点_現場シャドーイング＆伴走体験"/>
          <p:cNvSpPr txBox="1"/>
          <p:nvPr/>
        </p:nvSpPr>
        <p:spPr>
          <a:xfrm>
            <a:off x="1663186" y="2804864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現場シャドーイング＆伴走体験</a:t>
            </a:r>
          </a:p>
        </p:txBody>
      </p:sp>
      <p:sp>
        <p:nvSpPr>
          <p:cNvPr id="25" name="説明_現場シャドーイング＆伴走体験"/>
          <p:cNvSpPr txBox="1"/>
          <p:nvPr/>
        </p:nvSpPr>
        <p:spPr>
          <a:xfrm>
            <a:off x="1663186" y="3072665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介護現場のリアルを体験。利用者様との「対話・人生のお話の傾聴」が中心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1033" y="3565983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"/>
          <p:cNvSpPr/>
          <p:nvPr/>
        </p:nvSpPr>
        <p:spPr>
          <a:xfrm>
            <a:off x="648360" y="377740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時刻_12:00"/>
          <p:cNvSpPr txBox="1"/>
          <p:nvPr/>
        </p:nvSpPr>
        <p:spPr>
          <a:xfrm>
            <a:off x="648360" y="377740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30" name="要点_ランチセッション"/>
          <p:cNvSpPr txBox="1"/>
          <p:nvPr/>
        </p:nvSpPr>
        <p:spPr>
          <a:xfrm>
            <a:off x="1663186" y="3650552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</p:txBody>
      </p:sp>
      <p:sp>
        <p:nvSpPr>
          <p:cNvPr id="31" name="説明_ランチセッション"/>
          <p:cNvSpPr txBox="1"/>
          <p:nvPr/>
        </p:nvSpPr>
        <p:spPr>
          <a:xfrm>
            <a:off x="1663186" y="3918353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033" y="4411671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時刻"/>
          <p:cNvSpPr/>
          <p:nvPr/>
        </p:nvSpPr>
        <p:spPr>
          <a:xfrm>
            <a:off x="648360" y="4623093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_13:00"/>
          <p:cNvSpPr txBox="1"/>
          <p:nvPr/>
        </p:nvSpPr>
        <p:spPr>
          <a:xfrm>
            <a:off x="648360" y="4623093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36" name="要点_対話ワーク『100歳までの履歴書』"/>
          <p:cNvSpPr txBox="1"/>
          <p:nvPr/>
        </p:nvSpPr>
        <p:spPr>
          <a:xfrm>
            <a:off x="1663186" y="4496240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</p:txBody>
      </p:sp>
      <p:sp>
        <p:nvSpPr>
          <p:cNvPr id="37" name="説明_対話ワーク『100歳までの履歴書』"/>
          <p:cNvSpPr txBox="1"/>
          <p:nvPr/>
        </p:nvSpPr>
        <p:spPr>
          <a:xfrm>
            <a:off x="1663186" y="4764041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1033" y="5257359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"/>
          <p:cNvSpPr/>
          <p:nvPr/>
        </p:nvSpPr>
        <p:spPr>
          <a:xfrm>
            <a:off x="648360" y="546878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時刻_14:30"/>
          <p:cNvSpPr txBox="1"/>
          <p:nvPr/>
        </p:nvSpPr>
        <p:spPr>
          <a:xfrm>
            <a:off x="648360" y="546878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42" name="要点_リフレクション＆フィードバック"/>
          <p:cNvSpPr txBox="1"/>
          <p:nvPr/>
        </p:nvSpPr>
        <p:spPr>
          <a:xfrm>
            <a:off x="1663186" y="5341928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</p:txBody>
      </p:sp>
      <p:sp>
        <p:nvSpPr>
          <p:cNvPr id="43" name="説明_リフレクション＆フィードバック"/>
          <p:cNvSpPr txBox="1"/>
          <p:nvPr/>
        </p:nvSpPr>
        <p:spPr>
          <a:xfrm>
            <a:off x="1663186" y="5609729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0848" y="1874608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日"/>
          <p:cNvSpPr/>
          <p:nvPr/>
        </p:nvSpPr>
        <p:spPr>
          <a:xfrm>
            <a:off x="6568175" y="2086030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日_DAY1"/>
          <p:cNvSpPr txBox="1"/>
          <p:nvPr/>
        </p:nvSpPr>
        <p:spPr>
          <a:xfrm>
            <a:off x="6568175" y="2086030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48" name="要点_インストール"/>
          <p:cNvSpPr txBox="1"/>
          <p:nvPr/>
        </p:nvSpPr>
        <p:spPr>
          <a:xfrm>
            <a:off x="7611190" y="1959176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</p:txBody>
      </p:sp>
      <p:sp>
        <p:nvSpPr>
          <p:cNvPr id="49" name="説明_インストール"/>
          <p:cNvSpPr txBox="1"/>
          <p:nvPr/>
        </p:nvSpPr>
        <p:spPr>
          <a:xfrm>
            <a:off x="7611190" y="2226978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オリエンテーション・動画鑑賞・メンターと「実習中の目標」設定。利用者様の人生のお話に耳を傾ける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848" y="2720295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日"/>
          <p:cNvSpPr/>
          <p:nvPr/>
        </p:nvSpPr>
        <p:spPr>
          <a:xfrm>
            <a:off x="6568175" y="29317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日_DAY2-3"/>
          <p:cNvSpPr txBox="1"/>
          <p:nvPr/>
        </p:nvSpPr>
        <p:spPr>
          <a:xfrm>
            <a:off x="6568175" y="29317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54" name="要点_現場ケアと人間関係の構築"/>
          <p:cNvSpPr txBox="1"/>
          <p:nvPr/>
        </p:nvSpPr>
        <p:spPr>
          <a:xfrm>
            <a:off x="7611190" y="2804864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</p:txBody>
      </p:sp>
      <p:sp>
        <p:nvSpPr>
          <p:cNvPr id="55" name="説明_現場ケアと人間関係の構築"/>
          <p:cNvSpPr txBox="1"/>
          <p:nvPr/>
        </p:nvSpPr>
        <p:spPr>
          <a:xfrm>
            <a:off x="7611190" y="3072665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現場業務のサポートと利用者様との対話。メンターと毎日の振り返り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70848" y="3565983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日"/>
          <p:cNvSpPr/>
          <p:nvPr/>
        </p:nvSpPr>
        <p:spPr>
          <a:xfrm>
            <a:off x="6568175" y="377740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日_DAY4"/>
          <p:cNvSpPr txBox="1"/>
          <p:nvPr/>
        </p:nvSpPr>
        <p:spPr>
          <a:xfrm>
            <a:off x="6568175" y="377740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60" name="要点_笑顔を届けるプチ企画"/>
          <p:cNvSpPr txBox="1"/>
          <p:nvPr/>
        </p:nvSpPr>
        <p:spPr>
          <a:xfrm>
            <a:off x="7611190" y="3650552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</p:txBody>
      </p:sp>
      <p:sp>
        <p:nvSpPr>
          <p:cNvPr id="61" name="説明_笑顔を届けるプチ企画"/>
          <p:cNvSpPr txBox="1"/>
          <p:nvPr/>
        </p:nvSpPr>
        <p:spPr>
          <a:xfrm>
            <a:off x="7611190" y="3918353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学生が考えた「利用者様を喜ばせる小さな企画」（お茶会・手書きメッセージ等）を実践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70848" y="4411671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日"/>
          <p:cNvSpPr/>
          <p:nvPr/>
        </p:nvSpPr>
        <p:spPr>
          <a:xfrm>
            <a:off x="6568175" y="4623093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日_DAY5"/>
          <p:cNvSpPr txBox="1"/>
          <p:nvPr/>
        </p:nvSpPr>
        <p:spPr>
          <a:xfrm>
            <a:off x="6568175" y="4623093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66" name="要点_履歴書の発表会＆結びのランチ"/>
          <p:cNvSpPr txBox="1"/>
          <p:nvPr/>
        </p:nvSpPr>
        <p:spPr>
          <a:xfrm>
            <a:off x="7611190" y="4496240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</p:txBody>
      </p:sp>
      <p:sp>
        <p:nvSpPr>
          <p:cNvPr id="67" name="説明_履歴書の発表会＆結びのランチ"/>
          <p:cNvSpPr txBox="1"/>
          <p:nvPr/>
        </p:nvSpPr>
        <p:spPr>
          <a:xfrm>
            <a:off x="7611190" y="4764041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68" name="掲載ボックス"/>
          <p:cNvSpPr/>
          <p:nvPr/>
        </p:nvSpPr>
        <p:spPr>
          <a:xfrm>
            <a:off x="6370848" y="5257359"/>
            <a:ext cx="5370117" cy="831593"/>
          </a:xfrm>
          <a:prstGeom prst="roundRect">
            <a:avLst>
              <a:gd name="adj" fmla="val 14000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掲載_見出し"/>
          <p:cNvSpPr txBox="1"/>
          <p:nvPr/>
        </p:nvSpPr>
        <p:spPr>
          <a:xfrm>
            <a:off x="6596365" y="5370117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実習の体験は、実習サイトへ</a:t>
            </a:r>
          </a:p>
        </p:txBody>
      </p:sp>
      <p:sp>
        <p:nvSpPr>
          <p:cNvPr id="70" name="掲載_本文"/>
          <p:cNvSpPr txBox="1"/>
          <p:nvPr/>
        </p:nvSpPr>
        <p:spPr>
          <a:xfrm>
            <a:off x="6596365" y="5652013"/>
            <a:ext cx="4933179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実習の体験・感想を後日サイトに掲載。</a:t>
            </a:r>
          </a:p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Web掲載用の声としてストックします。</a:t>
            </a:r>
          </a:p>
        </p:txBody>
      </p:sp>
      <p:sp>
        <p:nvSpPr>
          <p:cNvPr id="71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1033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1033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1"/>
          <p:cNvSpPr txBox="1"/>
          <p:nvPr/>
        </p:nvSpPr>
        <p:spPr>
          <a:xfrm>
            <a:off x="634265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</a:p>
        </p:txBody>
      </p:sp>
      <p:sp>
        <p:nvSpPr>
          <p:cNvPr id="10" name="見出し_申し込む"/>
          <p:cNvSpPr txBox="1"/>
          <p:nvPr/>
        </p:nvSpPr>
        <p:spPr>
          <a:xfrm>
            <a:off x="15081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申し込む</a:t>
            </a:r>
          </a:p>
        </p:txBody>
      </p:sp>
      <p:sp>
        <p:nvSpPr>
          <p:cNvPr id="11" name="説明_申し込む"/>
          <p:cNvSpPr txBox="1"/>
          <p:nvPr/>
        </p:nvSpPr>
        <p:spPr>
          <a:xfrm>
            <a:off x="648360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2" name="矢印"/>
          <p:cNvSpPr/>
          <p:nvPr/>
        </p:nvSpPr>
        <p:spPr>
          <a:xfrm>
            <a:off x="3100855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40467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40467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0467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2"/>
          <p:cNvSpPr txBox="1"/>
          <p:nvPr/>
        </p:nvSpPr>
        <p:spPr>
          <a:xfrm>
            <a:off x="3523699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</a:p>
        </p:txBody>
      </p:sp>
      <p:sp>
        <p:nvSpPr>
          <p:cNvPr id="17" name="見出し_事前の連絡"/>
          <p:cNvSpPr txBox="1"/>
          <p:nvPr/>
        </p:nvSpPr>
        <p:spPr>
          <a:xfrm>
            <a:off x="4397576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537794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0289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9900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9900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9900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3"/>
          <p:cNvSpPr txBox="1"/>
          <p:nvPr/>
        </p:nvSpPr>
        <p:spPr>
          <a:xfrm>
            <a:off x="6413132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</a:p>
        </p:txBody>
      </p:sp>
      <p:sp>
        <p:nvSpPr>
          <p:cNvPr id="24" name="見出し_実習の当日"/>
          <p:cNvSpPr txBox="1"/>
          <p:nvPr/>
        </p:nvSpPr>
        <p:spPr>
          <a:xfrm>
            <a:off x="7287010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実習の当日</a:t>
            </a:r>
          </a:p>
        </p:txBody>
      </p:sp>
      <p:sp>
        <p:nvSpPr>
          <p:cNvPr id="25" name="説明_実習の当日"/>
          <p:cNvSpPr txBox="1"/>
          <p:nvPr/>
        </p:nvSpPr>
        <p:spPr>
          <a:xfrm>
            <a:off x="6427227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6" name="矢印"/>
          <p:cNvSpPr/>
          <p:nvPr/>
        </p:nvSpPr>
        <p:spPr>
          <a:xfrm>
            <a:off x="8879722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19334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9334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19334" y="1479953"/>
            <a:ext cx="2621632" cy="28189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4"/>
          <p:cNvSpPr txBox="1"/>
          <p:nvPr/>
        </p:nvSpPr>
        <p:spPr>
          <a:xfrm>
            <a:off x="9302566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</a:p>
        </p:txBody>
      </p:sp>
      <p:sp>
        <p:nvSpPr>
          <p:cNvPr id="31" name="見出し_振り返り"/>
          <p:cNvSpPr txBox="1"/>
          <p:nvPr/>
        </p:nvSpPr>
        <p:spPr>
          <a:xfrm>
            <a:off x="101764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振り返り</a:t>
            </a:r>
          </a:p>
        </p:txBody>
      </p:sp>
      <p:sp>
        <p:nvSpPr>
          <p:cNvPr id="32" name="説明_振り返り"/>
          <p:cNvSpPr txBox="1"/>
          <p:nvPr/>
        </p:nvSpPr>
        <p:spPr>
          <a:xfrm>
            <a:off x="9316661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3" name="見出し_サイト"/>
          <p:cNvSpPr txBox="1"/>
          <p:nvPr/>
        </p:nvSpPr>
        <p:spPr>
          <a:xfrm>
            <a:off x="451033" y="3086760"/>
            <a:ext cx="6342658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033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タイル_実習レポート"/>
          <p:cNvSpPr txBox="1"/>
          <p:nvPr/>
        </p:nvSpPr>
        <p:spPr>
          <a:xfrm>
            <a:off x="634265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</p:txBody>
      </p:sp>
      <p:sp>
        <p:nvSpPr>
          <p:cNvPr id="37" name="タイル説明_実習レポート"/>
          <p:cNvSpPr txBox="1"/>
          <p:nvPr/>
        </p:nvSpPr>
        <p:spPr>
          <a:xfrm>
            <a:off x="634265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5383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_職員の声"/>
          <p:cNvSpPr txBox="1"/>
          <p:nvPr/>
        </p:nvSpPr>
        <p:spPr>
          <a:xfrm>
            <a:off x="2537063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</p:txBody>
      </p:sp>
      <p:sp>
        <p:nvSpPr>
          <p:cNvPr id="41" name="タイル説明_職員の声"/>
          <p:cNvSpPr txBox="1"/>
          <p:nvPr/>
        </p:nvSpPr>
        <p:spPr>
          <a:xfrm>
            <a:off x="2537063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56628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タイル_人生の先輩の"/>
          <p:cNvSpPr txBox="1"/>
          <p:nvPr/>
        </p:nvSpPr>
        <p:spPr>
          <a:xfrm>
            <a:off x="4439861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</p:txBody>
      </p:sp>
      <p:sp>
        <p:nvSpPr>
          <p:cNvPr id="45" name="タイル説明_人生の先輩の"/>
          <p:cNvSpPr txBox="1"/>
          <p:nvPr/>
        </p:nvSpPr>
        <p:spPr>
          <a:xfrm>
            <a:off x="4439861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9426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タイル_お知らせ"/>
          <p:cNvSpPr txBox="1"/>
          <p:nvPr/>
        </p:nvSpPr>
        <p:spPr>
          <a:xfrm>
            <a:off x="6342658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</p:txBody>
      </p:sp>
      <p:sp>
        <p:nvSpPr>
          <p:cNvPr id="49" name="タイル説明_お知らせ"/>
          <p:cNvSpPr txBox="1"/>
          <p:nvPr/>
        </p:nvSpPr>
        <p:spPr>
          <a:xfrm>
            <a:off x="6342658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2224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タイル_事業所の"/>
          <p:cNvSpPr txBox="1"/>
          <p:nvPr/>
        </p:nvSpPr>
        <p:spPr>
          <a:xfrm>
            <a:off x="8245456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</p:txBody>
      </p:sp>
      <p:sp>
        <p:nvSpPr>
          <p:cNvPr id="53" name="タイル説明_事業所の"/>
          <p:cNvSpPr txBox="1"/>
          <p:nvPr/>
        </p:nvSpPr>
        <p:spPr>
          <a:xfrm>
            <a:off x="8245456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6502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タイル_経営者"/>
          <p:cNvSpPr txBox="1"/>
          <p:nvPr/>
        </p:nvSpPr>
        <p:spPr>
          <a:xfrm>
            <a:off x="10148254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</p:txBody>
      </p:sp>
      <p:sp>
        <p:nvSpPr>
          <p:cNvPr id="57" name="タイル説明_経営者"/>
          <p:cNvSpPr txBox="1"/>
          <p:nvPr/>
        </p:nvSpPr>
        <p:spPr>
          <a:xfrm>
            <a:off x="10148254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8" name="そのほか"/>
          <p:cNvSpPr/>
          <p:nvPr/>
        </p:nvSpPr>
        <p:spPr>
          <a:xfrm>
            <a:off x="451033" y="5299643"/>
            <a:ext cx="11289932" cy="7893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1033" y="5468781"/>
            <a:ext cx="56379" cy="45103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そのほか_見出し"/>
          <p:cNvSpPr txBox="1"/>
          <p:nvPr/>
        </p:nvSpPr>
        <p:spPr>
          <a:xfrm>
            <a:off x="704739" y="541240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</a:t>
            </a:r>
          </a:p>
        </p:txBody>
      </p:sp>
      <p:sp>
        <p:nvSpPr>
          <p:cNvPr id="61" name="そのほか_本文"/>
          <p:cNvSpPr txBox="1"/>
          <p:nvPr/>
        </p:nvSpPr>
        <p:spPr>
          <a:xfrm>
            <a:off x="704739" y="5680203"/>
            <a:ext cx="10852994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　／　個人情報の取扱い（プライバシーポリシー）　／　気になるキーワードから記事を探す　／　実習の申込フォーム</a:t>
            </a:r>
          </a:p>
        </p:txBody>
      </p:sp>
      <p:sp>
        <p:nvSpPr>
          <p:cNvPr id="62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6201710" cy="486270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グラフ見出し"/>
          <p:cNvSpPr txBox="1"/>
          <p:nvPr/>
        </p:nvSpPr>
        <p:spPr>
          <a:xfrm>
            <a:off x="704739" y="1381290"/>
            <a:ext cx="49331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8" name="拠点数グラフ"/>
          <p:cNvGraphicFramePr>
            <a:graphicFrameLocks noGrp="1"/>
          </p:cNvGraphicFramePr>
          <p:nvPr/>
        </p:nvGraphicFramePr>
        <p:xfrm>
          <a:off x="620171" y="1733660"/>
          <a:ext cx="5863435" cy="42284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6450" y="1240342"/>
            <a:ext cx="4834515" cy="184641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サービス見出し"/>
          <p:cNvSpPr txBox="1"/>
          <p:nvPr/>
        </p:nvSpPr>
        <p:spPr>
          <a:xfrm>
            <a:off x="7160157" y="1381290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1" name="サービス_有料老人ホーム"/>
          <p:cNvSpPr/>
          <p:nvPr/>
        </p:nvSpPr>
        <p:spPr>
          <a:xfrm>
            <a:off x="7160157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文字_有料老人ホーム"/>
          <p:cNvSpPr txBox="1"/>
          <p:nvPr/>
        </p:nvSpPr>
        <p:spPr>
          <a:xfrm>
            <a:off x="7160157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3" name="サービス_グループホーム"/>
          <p:cNvSpPr/>
          <p:nvPr/>
        </p:nvSpPr>
        <p:spPr>
          <a:xfrm>
            <a:off x="8654205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グループホーム"/>
          <p:cNvSpPr txBox="1"/>
          <p:nvPr/>
        </p:nvSpPr>
        <p:spPr>
          <a:xfrm>
            <a:off x="8654205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5" name="サービス_デイサービス"/>
          <p:cNvSpPr/>
          <p:nvPr/>
        </p:nvSpPr>
        <p:spPr>
          <a:xfrm>
            <a:off x="10148254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デイサービス"/>
          <p:cNvSpPr txBox="1"/>
          <p:nvPr/>
        </p:nvSpPr>
        <p:spPr>
          <a:xfrm>
            <a:off x="10148254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7" name="サービス_小規模多機能"/>
          <p:cNvSpPr/>
          <p:nvPr/>
        </p:nvSpPr>
        <p:spPr>
          <a:xfrm>
            <a:off x="7160157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小規模多機能"/>
          <p:cNvSpPr txBox="1"/>
          <p:nvPr/>
        </p:nvSpPr>
        <p:spPr>
          <a:xfrm>
            <a:off x="7160157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19" name="サービス_看護小規模多機能型"/>
          <p:cNvSpPr/>
          <p:nvPr/>
        </p:nvSpPr>
        <p:spPr>
          <a:xfrm>
            <a:off x="8654205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看護小規模多機能型"/>
          <p:cNvSpPr txBox="1"/>
          <p:nvPr/>
        </p:nvSpPr>
        <p:spPr>
          <a:xfrm>
            <a:off x="8654205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1" name="サービス_訪問介護"/>
          <p:cNvSpPr/>
          <p:nvPr/>
        </p:nvSpPr>
        <p:spPr>
          <a:xfrm>
            <a:off x="10148254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訪問介護"/>
          <p:cNvSpPr txBox="1"/>
          <p:nvPr/>
        </p:nvSpPr>
        <p:spPr>
          <a:xfrm>
            <a:off x="10148254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3" name="サービス_訪問看護"/>
          <p:cNvSpPr/>
          <p:nvPr/>
        </p:nvSpPr>
        <p:spPr>
          <a:xfrm>
            <a:off x="7160157" y="2649821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看護"/>
          <p:cNvSpPr txBox="1"/>
          <p:nvPr/>
        </p:nvSpPr>
        <p:spPr>
          <a:xfrm>
            <a:off x="7160157" y="2649821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6450" y="3255898"/>
            <a:ext cx="4834515" cy="284714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ツアー見出し"/>
          <p:cNvSpPr txBox="1"/>
          <p:nvPr/>
        </p:nvSpPr>
        <p:spPr>
          <a:xfrm>
            <a:off x="7160157" y="3425035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8" name="県"/>
          <p:cNvSpPr/>
          <p:nvPr/>
        </p:nvSpPr>
        <p:spPr>
          <a:xfrm>
            <a:off x="7160157" y="3890164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県_長野県"/>
          <p:cNvSpPr txBox="1"/>
          <p:nvPr/>
        </p:nvSpPr>
        <p:spPr>
          <a:xfrm>
            <a:off x="7160157" y="3890164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0" name="拠点数_長野県"/>
          <p:cNvSpPr txBox="1"/>
          <p:nvPr/>
        </p:nvSpPr>
        <p:spPr>
          <a:xfrm>
            <a:off x="8104508" y="3890164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1" name="所在地_長野県"/>
          <p:cNvSpPr txBox="1"/>
          <p:nvPr/>
        </p:nvSpPr>
        <p:spPr>
          <a:xfrm>
            <a:off x="8809248" y="3890164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2" name="県"/>
          <p:cNvSpPr/>
          <p:nvPr/>
        </p:nvSpPr>
        <p:spPr>
          <a:xfrm>
            <a:off x="7160157" y="443986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県_新潟県"/>
          <p:cNvSpPr txBox="1"/>
          <p:nvPr/>
        </p:nvSpPr>
        <p:spPr>
          <a:xfrm>
            <a:off x="7160157" y="443986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4" name="拠点数_新潟県"/>
          <p:cNvSpPr txBox="1"/>
          <p:nvPr/>
        </p:nvSpPr>
        <p:spPr>
          <a:xfrm>
            <a:off x="8104508" y="4439861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5" name="所在地_新潟県"/>
          <p:cNvSpPr txBox="1"/>
          <p:nvPr/>
        </p:nvSpPr>
        <p:spPr>
          <a:xfrm>
            <a:off x="8809248" y="4439861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6" name="県"/>
          <p:cNvSpPr/>
          <p:nvPr/>
        </p:nvSpPr>
        <p:spPr>
          <a:xfrm>
            <a:off x="7160157" y="4989558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県_栃木県"/>
          <p:cNvSpPr txBox="1"/>
          <p:nvPr/>
        </p:nvSpPr>
        <p:spPr>
          <a:xfrm>
            <a:off x="7160157" y="4989558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8" name="拠点数_栃木県"/>
          <p:cNvSpPr txBox="1"/>
          <p:nvPr/>
        </p:nvSpPr>
        <p:spPr>
          <a:xfrm>
            <a:off x="8104508" y="4989558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39" name="所在地_栃木県"/>
          <p:cNvSpPr txBox="1"/>
          <p:nvPr/>
        </p:nvSpPr>
        <p:spPr>
          <a:xfrm>
            <a:off x="8809248" y="4989558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0" name="県"/>
          <p:cNvSpPr/>
          <p:nvPr/>
        </p:nvSpPr>
        <p:spPr>
          <a:xfrm>
            <a:off x="7160157" y="553925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県_埼玉県"/>
          <p:cNvSpPr txBox="1"/>
          <p:nvPr/>
        </p:nvSpPr>
        <p:spPr>
          <a:xfrm>
            <a:off x="7160157" y="553925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2" name="拠点数_埼玉県"/>
          <p:cNvSpPr txBox="1"/>
          <p:nvPr/>
        </p:nvSpPr>
        <p:spPr>
          <a:xfrm>
            <a:off x="8104508" y="5539255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3" name="所在地_埼玉県"/>
          <p:cNvSpPr txBox="1"/>
          <p:nvPr/>
        </p:nvSpPr>
        <p:spPr>
          <a:xfrm>
            <a:off x="8809248" y="5539255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4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