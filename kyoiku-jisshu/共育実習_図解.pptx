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59636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拠点数</c:v>
                </c:pt>
              </c:strCache>
            </c:strRef>
          </c:tx>
          <c:dPt>
            <c:idx val="0"/>
            <c:spPr>
              <a:solidFill>
                <a:srgbClr val="F28C3C"/>
              </a:solidFill>
            </c:spPr>
          </c:dPt>
          <c:dPt>
            <c:idx val="1"/>
            <c:spPr>
              <a:solidFill>
                <a:srgbClr val="3FB39D"/>
              </a:solidFill>
            </c:spPr>
          </c:dPt>
          <c:dPt>
            <c:idx val="2"/>
            <c:spPr>
              <a:solidFill>
                <a:srgbClr val="3FB39D"/>
              </a:solidFill>
            </c:spPr>
          </c:dPt>
          <c:dPt>
            <c:idx val="3"/>
            <c:spPr>
              <a:solidFill>
                <a:srgbClr val="3FB39D"/>
              </a:solidFill>
            </c:spPr>
          </c:dPt>
          <c:dPt>
            <c:idx val="4"/>
            <c:spPr>
              <a:solidFill>
                <a:srgbClr val="3FB39D"/>
              </a:solidFill>
            </c:spPr>
          </c:dPt>
          <c:cat>
            <c:strRef>
              <c:f>Sheet1!$A$2:$A$6</c:f>
              <c:strCache>
                <c:ptCount val="5"/>
                <c:pt idx="0">
                  <c:v>長野県</c:v>
                </c:pt>
                <c:pt idx="1">
                  <c:v>新潟県</c:v>
                </c:pt>
                <c:pt idx="2">
                  <c:v>埼玉県</c:v>
                </c:pt>
                <c:pt idx="3">
                  <c:v>群馬県</c:v>
                </c:pt>
                <c:pt idx="4">
                  <c:v>栃木県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</c:v>
                </c:pt>
                <c:pt idx="1">
                  <c:v>15</c:v>
                </c:pt>
                <c:pt idx="2">
                  <c:v>15</c:v>
                </c:pt>
                <c:pt idx="3">
                  <c:v>12</c:v>
                </c:pt>
                <c:pt idx="4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2600" b="1">
                  <a:latin typeface="游ゴシック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22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共育実習の共創モデル。学校（高校・専門学校・大学）とエフビー側（エフビー介護サービス・社員・地域）がそれぞれ得る価値を示す。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実習ブランドが育つ循環：共育実習を行う→声が集まる→実習サイトに載せる→見て、動く→次の共育実習へ。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エフビー介護サービス 実習応募サイト（制作中）の概要。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実習サイト「エフビー流の学び」の循環図を整理。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1DAY（9:30〜15:00ごろ）と5DAYS（5日間）。内容は調整中。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申込から振り返りまでの4ステップと、サイトのコンテンツ構成。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7種109拠点。長野57・新潟15・埼玉15・群馬12・栃木10。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493317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施策①　共育実習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845687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共育実習の共創モデル</a:t>
            </a:r>
          </a:p>
        </p:txBody>
      </p:sp>
      <p:sp>
        <p:nvSpPr>
          <p:cNvPr id="6" name="中央円"/>
          <p:cNvSpPr/>
          <p:nvPr/>
        </p:nvSpPr>
        <p:spPr>
          <a:xfrm>
            <a:off x="4841563" y="2424305"/>
            <a:ext cx="2508873" cy="2508873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940226" y="2522968"/>
            <a:ext cx="2311546" cy="2311546"/>
          </a:xfrm>
          <a:prstGeom prst="ellipse">
            <a:avLst/>
          </a:prstGeom>
          <a:noFill/>
          <a:ln w="15240">
            <a:solidFill>
              <a:srgbClr val="CFEEE3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中央ミニ見出し"/>
          <p:cNvSpPr txBox="1"/>
          <p:nvPr/>
        </p:nvSpPr>
        <p:spPr>
          <a:xfrm>
            <a:off x="5038890" y="3129045"/>
            <a:ext cx="211421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76" b="1" spc="2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エフビー介護の</a:t>
            </a:r>
          </a:p>
        </p:txBody>
      </p:sp>
      <p:sp>
        <p:nvSpPr>
          <p:cNvPr id="9" name="中央タイトル"/>
          <p:cNvSpPr txBox="1"/>
          <p:nvPr/>
        </p:nvSpPr>
        <p:spPr>
          <a:xfrm>
            <a:off x="4933179" y="3312277"/>
            <a:ext cx="2325641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77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10" name="共に育つ帯"/>
          <p:cNvSpPr/>
          <p:nvPr/>
        </p:nvSpPr>
        <p:spPr>
          <a:xfrm>
            <a:off x="5546302" y="4045206"/>
            <a:ext cx="1099394" cy="267801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共に育つ"/>
          <p:cNvSpPr txBox="1"/>
          <p:nvPr/>
        </p:nvSpPr>
        <p:spPr>
          <a:xfrm>
            <a:off x="5546302" y="4045206"/>
            <a:ext cx="1099394" cy="2678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5" b="1" spc="3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共に育つ</a:t>
            </a:r>
          </a:p>
        </p:txBody>
      </p:sp>
      <p:sp>
        <p:nvSpPr>
          <p:cNvPr id="12" name="環_エフビー介護サービス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6356000"/>
              <a:gd name="adj2" fmla="val 19644000"/>
              <a:gd name="adj3" fmla="val 14539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環ラベル_エフビー介護サービス"/>
          <p:cNvSpPr txBox="1"/>
          <p:nvPr/>
        </p:nvSpPr>
        <p:spPr>
          <a:xfrm rot="1800000">
            <a:off x="6416656" y="2081011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</a:t>
            </a:r>
          </a:p>
        </p:txBody>
      </p:sp>
      <p:sp>
        <p:nvSpPr>
          <p:cNvPr id="14" name="環_社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9956000"/>
              <a:gd name="adj2" fmla="val 1644000"/>
              <a:gd name="adj3" fmla="val 14539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環ラベル_社員"/>
          <p:cNvSpPr txBox="1"/>
          <p:nvPr/>
        </p:nvSpPr>
        <p:spPr>
          <a:xfrm rot="5400000">
            <a:off x="7265868" y="3551889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sp>
        <p:nvSpPr>
          <p:cNvPr id="16" name="環_地域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955999"/>
              <a:gd name="adj2" fmla="val 5244000"/>
              <a:gd name="adj3" fmla="val 14539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環ラベル_地域"/>
          <p:cNvSpPr txBox="1"/>
          <p:nvPr/>
        </p:nvSpPr>
        <p:spPr>
          <a:xfrm rot="19800000">
            <a:off x="6416656" y="5022766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sp>
        <p:nvSpPr>
          <p:cNvPr id="18" name="環_大学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5556000"/>
              <a:gd name="adj2" fmla="val 8844000"/>
              <a:gd name="adj3" fmla="val 14539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環ラベル_大学"/>
          <p:cNvSpPr txBox="1"/>
          <p:nvPr/>
        </p:nvSpPr>
        <p:spPr>
          <a:xfrm rot="1800000">
            <a:off x="4718233" y="5022766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sp>
        <p:nvSpPr>
          <p:cNvPr id="20" name="環_専門学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9156000"/>
              <a:gd name="adj2" fmla="val 12443999"/>
              <a:gd name="adj3" fmla="val 14539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環ラベル_専門学校"/>
          <p:cNvSpPr txBox="1"/>
          <p:nvPr/>
        </p:nvSpPr>
        <p:spPr>
          <a:xfrm rot="16200000">
            <a:off x="3869021" y="3551889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sp>
        <p:nvSpPr>
          <p:cNvPr id="22" name="環_高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2756000"/>
              <a:gd name="adj2" fmla="val 16043999"/>
              <a:gd name="adj3" fmla="val 14539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環ラベル_高校"/>
          <p:cNvSpPr txBox="1"/>
          <p:nvPr/>
        </p:nvSpPr>
        <p:spPr>
          <a:xfrm rot="19800000">
            <a:off x="4718233" y="2081011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sp>
        <p:nvSpPr>
          <p:cNvPr id="24" name="循環マーク白"/>
          <p:cNvSpPr/>
          <p:nvPr/>
        </p:nvSpPr>
        <p:spPr>
          <a:xfrm>
            <a:off x="6004383" y="1888702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循環マーク矢印"/>
          <p:cNvSpPr/>
          <p:nvPr/>
        </p:nvSpPr>
        <p:spPr>
          <a:xfrm>
            <a:off x="6067810" y="1952129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84569" y="28190"/>
                </a:moveTo>
                <a:lnTo>
                  <a:pt x="0" y="56379"/>
                </a:lnTo>
                <a:lnTo>
                  <a:pt x="0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循環マーク白"/>
          <p:cNvSpPr/>
          <p:nvPr/>
        </p:nvSpPr>
        <p:spPr>
          <a:xfrm>
            <a:off x="7475261" y="2737914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循環マーク矢印"/>
          <p:cNvSpPr/>
          <p:nvPr/>
        </p:nvSpPr>
        <p:spPr>
          <a:xfrm>
            <a:off x="7528369" y="2791022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66698" y="87334"/>
                </a:moveTo>
                <a:lnTo>
                  <a:pt x="0" y="28190"/>
                </a:lnTo>
                <a:lnTo>
                  <a:pt x="48826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循環マーク白"/>
          <p:cNvSpPr/>
          <p:nvPr/>
        </p:nvSpPr>
        <p:spPr>
          <a:xfrm>
            <a:off x="7475261" y="4436337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循環マーク矢印"/>
          <p:cNvSpPr/>
          <p:nvPr/>
        </p:nvSpPr>
        <p:spPr>
          <a:xfrm>
            <a:off x="7538687" y="4489446"/>
            <a:ext cx="66698" cy="87333"/>
          </a:xfrm>
          <a:custGeom>
            <a:avLst/>
            <a:gdLst/>
            <a:ahLst/>
            <a:cxnLst/>
            <a:rect l="l" t="t" r="r" b="b"/>
            <a:pathLst>
              <a:path w="66698" h="87333">
                <a:moveTo>
                  <a:pt x="0" y="87333"/>
                </a:moveTo>
                <a:lnTo>
                  <a:pt x="17872" y="0"/>
                </a:lnTo>
                <a:lnTo>
                  <a:pt x="66698" y="2818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循環マーク白"/>
          <p:cNvSpPr/>
          <p:nvPr/>
        </p:nvSpPr>
        <p:spPr>
          <a:xfrm>
            <a:off x="6004383" y="5285549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循環マーク矢印"/>
          <p:cNvSpPr/>
          <p:nvPr/>
        </p:nvSpPr>
        <p:spPr>
          <a:xfrm>
            <a:off x="6039620" y="5348975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0" y="28190"/>
                </a:moveTo>
                <a:lnTo>
                  <a:pt x="84569" y="0"/>
                </a:lnTo>
                <a:lnTo>
                  <a:pt x="84569" y="5637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循環マーク白"/>
          <p:cNvSpPr/>
          <p:nvPr/>
        </p:nvSpPr>
        <p:spPr>
          <a:xfrm>
            <a:off x="4533506" y="4436337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循環マーク矢印"/>
          <p:cNvSpPr/>
          <p:nvPr/>
        </p:nvSpPr>
        <p:spPr>
          <a:xfrm>
            <a:off x="4596932" y="4479127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0" y="0"/>
                </a:moveTo>
                <a:lnTo>
                  <a:pt x="66698" y="59144"/>
                </a:lnTo>
                <a:lnTo>
                  <a:pt x="17872" y="8733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循環マーク白"/>
          <p:cNvSpPr/>
          <p:nvPr/>
        </p:nvSpPr>
        <p:spPr>
          <a:xfrm>
            <a:off x="4533506" y="2737914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循環マーク矢印"/>
          <p:cNvSpPr/>
          <p:nvPr/>
        </p:nvSpPr>
        <p:spPr>
          <a:xfrm>
            <a:off x="4586614" y="2780704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66698" y="0"/>
                </a:moveTo>
                <a:lnTo>
                  <a:pt x="48826" y="87334"/>
                </a:lnTo>
                <a:lnTo>
                  <a:pt x="0" y="5914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接続線_エフビー介護サービス"/>
          <p:cNvCxnSpPr/>
          <p:nvPr/>
        </p:nvCxnSpPr>
        <p:spPr>
          <a:xfrm flipH="1">
            <a:off x="7355100" y="2015556"/>
            <a:ext cx="1003115" cy="0"/>
          </a:xfrm>
          <a:prstGeom prst="line">
            <a:avLst/>
          </a:prstGeom>
          <a:ln w="22860">
            <a:solidFill>
              <a:srgbClr val="F28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7312815" y="1973271"/>
            <a:ext cx="84568" cy="84568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カード_エフビー介護サービス"/>
          <p:cNvSpPr/>
          <p:nvPr/>
        </p:nvSpPr>
        <p:spPr>
          <a:xfrm>
            <a:off x="8358215" y="1416527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名称_エフビー介護サービス"/>
          <p:cNvSpPr txBox="1"/>
          <p:nvPr/>
        </p:nvSpPr>
        <p:spPr>
          <a:xfrm>
            <a:off x="8611921" y="1585664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</p:txBody>
      </p:sp>
      <p:sp>
        <p:nvSpPr>
          <p:cNvPr id="41" name="要点_エフビー介護サービス"/>
          <p:cNvSpPr txBox="1"/>
          <p:nvPr/>
        </p:nvSpPr>
        <p:spPr>
          <a:xfrm>
            <a:off x="8611921" y="1782991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営業の差になる</a:t>
            </a:r>
          </a:p>
        </p:txBody>
      </p:sp>
      <p:sp>
        <p:nvSpPr>
          <p:cNvPr id="42" name="説明_エフビー介護サービス"/>
          <p:cNvSpPr txBox="1"/>
          <p:nvPr/>
        </p:nvSpPr>
        <p:spPr>
          <a:xfrm>
            <a:off x="8611921" y="2121267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志と実利で学校から選ばれ、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将来の担い手と出会えます。</a:t>
            </a:r>
          </a:p>
        </p:txBody>
      </p:sp>
      <p:cxnSp>
        <p:nvCxnSpPr>
          <p:cNvPr id="43" name="接続線_社員"/>
          <p:cNvCxnSpPr/>
          <p:nvPr/>
        </p:nvCxnSpPr>
        <p:spPr>
          <a:xfrm flipH="1">
            <a:off x="8182030" y="3678742"/>
            <a:ext cx="176185" cy="0"/>
          </a:xfrm>
          <a:prstGeom prst="line">
            <a:avLst/>
          </a:prstGeom>
          <a:ln w="22860">
            <a:solidFill>
              <a:srgbClr val="F7AB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139745" y="3636457"/>
            <a:ext cx="84568" cy="84568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カード_社員"/>
          <p:cNvSpPr/>
          <p:nvPr/>
        </p:nvSpPr>
        <p:spPr>
          <a:xfrm>
            <a:off x="8358215" y="3079713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名称_社員"/>
          <p:cNvSpPr txBox="1"/>
          <p:nvPr/>
        </p:nvSpPr>
        <p:spPr>
          <a:xfrm>
            <a:off x="8611921" y="3248850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sp>
        <p:nvSpPr>
          <p:cNvPr id="48" name="要点_社員"/>
          <p:cNvSpPr txBox="1"/>
          <p:nvPr/>
        </p:nvSpPr>
        <p:spPr>
          <a:xfrm>
            <a:off x="8611921" y="3446178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学びと生きがいが育つ</a:t>
            </a:r>
          </a:p>
        </p:txBody>
      </p:sp>
      <p:sp>
        <p:nvSpPr>
          <p:cNvPr id="49" name="説明_社員"/>
          <p:cNvSpPr txBox="1"/>
          <p:nvPr/>
        </p:nvSpPr>
        <p:spPr>
          <a:xfrm>
            <a:off x="8611921" y="3784453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学生から学び、仕事の意味を再発見。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利用者の生きがいも育ちます。</a:t>
            </a:r>
          </a:p>
        </p:txBody>
      </p:sp>
      <p:cxnSp>
        <p:nvCxnSpPr>
          <p:cNvPr id="50" name="接続線_地域"/>
          <p:cNvCxnSpPr/>
          <p:nvPr/>
        </p:nvCxnSpPr>
        <p:spPr>
          <a:xfrm flipH="1">
            <a:off x="7355100" y="5341928"/>
            <a:ext cx="1003115" cy="0"/>
          </a:xfrm>
          <a:prstGeom prst="line">
            <a:avLst/>
          </a:prstGeom>
          <a:ln w="22860">
            <a:solidFill>
              <a:srgbClr val="2E9E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7312815" y="5299643"/>
            <a:ext cx="84568" cy="84568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カード_地域"/>
          <p:cNvSpPr/>
          <p:nvPr/>
        </p:nvSpPr>
        <p:spPr>
          <a:xfrm>
            <a:off x="8358215" y="4742899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名称_地域"/>
          <p:cNvSpPr txBox="1"/>
          <p:nvPr/>
        </p:nvSpPr>
        <p:spPr>
          <a:xfrm>
            <a:off x="8611921" y="4912036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sp>
        <p:nvSpPr>
          <p:cNvPr id="55" name="要点_地域"/>
          <p:cNvSpPr txBox="1"/>
          <p:nvPr/>
        </p:nvSpPr>
        <p:spPr>
          <a:xfrm>
            <a:off x="8611921" y="5109364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担い手とまちの未来</a:t>
            </a:r>
          </a:p>
        </p:txBody>
      </p:sp>
      <p:sp>
        <p:nvSpPr>
          <p:cNvPr id="56" name="説明_地域"/>
          <p:cNvSpPr txBox="1"/>
          <p:nvPr/>
        </p:nvSpPr>
        <p:spPr>
          <a:xfrm>
            <a:off x="8611921" y="5447639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地域を担う人が育ち、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介護の現場が身近になります。</a:t>
            </a:r>
          </a:p>
        </p:txBody>
      </p:sp>
      <p:cxnSp>
        <p:nvCxnSpPr>
          <p:cNvPr id="57" name="接続線_大学"/>
          <p:cNvCxnSpPr/>
          <p:nvPr/>
        </p:nvCxnSpPr>
        <p:spPr>
          <a:xfrm>
            <a:off x="3833784" y="5341928"/>
            <a:ext cx="1003115" cy="0"/>
          </a:xfrm>
          <a:prstGeom prst="line">
            <a:avLst/>
          </a:prstGeom>
          <a:ln w="22860">
            <a:solidFill>
              <a:srgbClr val="54C5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4794615" y="5299643"/>
            <a:ext cx="84568" cy="84568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カード_大学"/>
          <p:cNvSpPr/>
          <p:nvPr/>
        </p:nvSpPr>
        <p:spPr>
          <a:xfrm>
            <a:off x="451033" y="4742899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名称_大学"/>
          <p:cNvSpPr txBox="1"/>
          <p:nvPr/>
        </p:nvSpPr>
        <p:spPr>
          <a:xfrm>
            <a:off x="704739" y="4912036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sp>
        <p:nvSpPr>
          <p:cNvPr id="62" name="要点_大学"/>
          <p:cNvSpPr txBox="1"/>
          <p:nvPr/>
        </p:nvSpPr>
        <p:spPr>
          <a:xfrm>
            <a:off x="704739" y="5109364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学部・学科の魅力向上</a:t>
            </a:r>
          </a:p>
        </p:txBody>
      </p:sp>
      <p:sp>
        <p:nvSpPr>
          <p:cNvPr id="63" name="説明_大学"/>
          <p:cNvSpPr txBox="1"/>
          <p:nvPr/>
        </p:nvSpPr>
        <p:spPr>
          <a:xfrm>
            <a:off x="704739" y="5447639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魅力的な実習を提供。社会テーマ型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プログラム「STA」で連携します。</a:t>
            </a:r>
          </a:p>
        </p:txBody>
      </p:sp>
      <p:cxnSp>
        <p:nvCxnSpPr>
          <p:cNvPr id="64" name="接続線_専門学校"/>
          <p:cNvCxnSpPr/>
          <p:nvPr/>
        </p:nvCxnSpPr>
        <p:spPr>
          <a:xfrm>
            <a:off x="3833784" y="3678742"/>
            <a:ext cx="176185" cy="0"/>
          </a:xfrm>
          <a:prstGeom prst="line">
            <a:avLst/>
          </a:prstGeom>
          <a:ln w="22860">
            <a:solidFill>
              <a:srgbClr val="3FB3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3967685" y="3636457"/>
            <a:ext cx="84568" cy="84568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カード_専門学校"/>
          <p:cNvSpPr/>
          <p:nvPr/>
        </p:nvSpPr>
        <p:spPr>
          <a:xfrm>
            <a:off x="451033" y="3079713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名称_専門学校"/>
          <p:cNvSpPr txBox="1"/>
          <p:nvPr/>
        </p:nvSpPr>
        <p:spPr>
          <a:xfrm>
            <a:off x="704739" y="3248850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sp>
        <p:nvSpPr>
          <p:cNvPr id="69" name="要点_専門学校"/>
          <p:cNvSpPr txBox="1"/>
          <p:nvPr/>
        </p:nvSpPr>
        <p:spPr>
          <a:xfrm>
            <a:off x="704739" y="3446178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実習先の選択肢が広がる</a:t>
            </a:r>
          </a:p>
        </p:txBody>
      </p:sp>
      <p:sp>
        <p:nvSpPr>
          <p:cNvPr id="70" name="説明_専門学校"/>
          <p:cNvSpPr txBox="1"/>
          <p:nvPr/>
        </p:nvSpPr>
        <p:spPr>
          <a:xfrm>
            <a:off x="704739" y="3784453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単位つきの実習先が増え、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介護の学びの入口が広がります。</a:t>
            </a:r>
          </a:p>
        </p:txBody>
      </p:sp>
      <p:cxnSp>
        <p:nvCxnSpPr>
          <p:cNvPr id="71" name="接続線_高校"/>
          <p:cNvCxnSpPr/>
          <p:nvPr/>
        </p:nvCxnSpPr>
        <p:spPr>
          <a:xfrm>
            <a:off x="3833784" y="2015556"/>
            <a:ext cx="1003115" cy="0"/>
          </a:xfrm>
          <a:prstGeom prst="line">
            <a:avLst/>
          </a:prstGeom>
          <a:ln w="22860">
            <a:solidFill>
              <a:srgbClr val="86D6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4794615" y="1973271"/>
            <a:ext cx="84568" cy="84568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カード_高校"/>
          <p:cNvSpPr/>
          <p:nvPr/>
        </p:nvSpPr>
        <p:spPr>
          <a:xfrm>
            <a:off x="451033" y="1416527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名称_高校"/>
          <p:cNvSpPr txBox="1"/>
          <p:nvPr/>
        </p:nvSpPr>
        <p:spPr>
          <a:xfrm>
            <a:off x="704739" y="1585664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sp>
        <p:nvSpPr>
          <p:cNvPr id="76" name="要点_高校"/>
          <p:cNvSpPr txBox="1"/>
          <p:nvPr/>
        </p:nvSpPr>
        <p:spPr>
          <a:xfrm>
            <a:off x="704739" y="1782991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探究と進路に生きる実績</a:t>
            </a:r>
          </a:p>
        </p:txBody>
      </p:sp>
      <p:sp>
        <p:nvSpPr>
          <p:cNvPr id="77" name="説明_高校"/>
          <p:cNvSpPr txBox="1"/>
          <p:nvPr/>
        </p:nvSpPr>
        <p:spPr>
          <a:xfrm>
            <a:off x="704739" y="2121267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単位つきで受け入れやすく、探究テーマ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探しと面接で語れる実績になります。</a:t>
            </a:r>
          </a:p>
        </p:txBody>
      </p:sp>
      <p:sp>
        <p:nvSpPr>
          <p:cNvPr id="78" name="キャッチコピー"/>
          <p:cNvSpPr txBox="1"/>
          <p:nvPr/>
        </p:nvSpPr>
        <p:spPr>
          <a:xfrm>
            <a:off x="1162820" y="5976194"/>
            <a:ext cx="9866358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</a:t>
            </a:r>
          </a:p>
        </p:txBody>
      </p:sp>
      <p:sp>
        <p:nvSpPr>
          <p:cNvPr id="79" name="下線"/>
          <p:cNvSpPr/>
          <p:nvPr/>
        </p:nvSpPr>
        <p:spPr>
          <a:xfrm>
            <a:off x="3100855" y="6399038"/>
            <a:ext cx="5990289" cy="2818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タイトル下線"/>
          <p:cNvSpPr/>
          <p:nvPr/>
        </p:nvSpPr>
        <p:spPr>
          <a:xfrm>
            <a:off x="451033" y="930256"/>
            <a:ext cx="507412" cy="35236"/>
          </a:xfrm>
          <a:prstGeom prst="rect">
            <a:avLst/>
          </a:prstGeom>
          <a:solidFill>
            <a:srgbClr val="54C5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493317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施策　実習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845687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どうブランドを育てていくか</a:t>
            </a:r>
          </a:p>
        </p:txBody>
      </p:sp>
      <p:sp>
        <p:nvSpPr>
          <p:cNvPr id="6" name="矢印_1から2"/>
          <p:cNvSpPr/>
          <p:nvPr/>
        </p:nvSpPr>
        <p:spPr>
          <a:xfrm>
            <a:off x="4228439" y="1677280"/>
            <a:ext cx="3735121" cy="451033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矢印_2から3"/>
          <p:cNvSpPr/>
          <p:nvPr/>
        </p:nvSpPr>
        <p:spPr>
          <a:xfrm>
            <a:off x="9711315" y="2579347"/>
            <a:ext cx="394654" cy="944351"/>
          </a:xfrm>
          <a:prstGeom prst="downArrow">
            <a:avLst>
              <a:gd name="adj1" fmla="val 50000"/>
              <a:gd name="adj2" fmla="val 55000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矢印_3から4"/>
          <p:cNvSpPr/>
          <p:nvPr/>
        </p:nvSpPr>
        <p:spPr>
          <a:xfrm>
            <a:off x="4228439" y="4045206"/>
            <a:ext cx="3735121" cy="451033"/>
          </a:xfrm>
          <a:prstGeom prst="leftArrow">
            <a:avLst>
              <a:gd name="adj1" fmla="val 50000"/>
              <a:gd name="adj2" fmla="val 55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矢印_4から1"/>
          <p:cNvSpPr/>
          <p:nvPr/>
        </p:nvSpPr>
        <p:spPr>
          <a:xfrm>
            <a:off x="2086030" y="2579347"/>
            <a:ext cx="394654" cy="944351"/>
          </a:xfrm>
          <a:prstGeom prst="upArrow">
            <a:avLst>
              <a:gd name="adj1" fmla="val 50000"/>
              <a:gd name="adj2" fmla="val 550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循環ラベル"/>
          <p:cNvSpPr txBox="1"/>
          <p:nvPr/>
        </p:nvSpPr>
        <p:spPr>
          <a:xfrm>
            <a:off x="2621632" y="2917623"/>
            <a:ext cx="3241803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次の共育実習につながる</a:t>
            </a:r>
          </a:p>
        </p:txBody>
      </p:sp>
      <p:sp>
        <p:nvSpPr>
          <p:cNvPr id="11" name="広がる輪"/>
          <p:cNvSpPr/>
          <p:nvPr/>
        </p:nvSpPr>
        <p:spPr>
          <a:xfrm>
            <a:off x="5306691" y="2156504"/>
            <a:ext cx="1578617" cy="1578617"/>
          </a:xfrm>
          <a:prstGeom prst="ellipse">
            <a:avLst/>
          </a:prstGeom>
          <a:solidFill>
            <a:srgbClr val="D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広がる輪"/>
          <p:cNvSpPr/>
          <p:nvPr/>
        </p:nvSpPr>
        <p:spPr>
          <a:xfrm>
            <a:off x="5489923" y="2339736"/>
            <a:ext cx="1212152" cy="1212152"/>
          </a:xfrm>
          <a:prstGeom prst="ellipse">
            <a:avLst/>
          </a:prstGeom>
          <a:solidFill>
            <a:srgbClr val="A9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広がる輪"/>
          <p:cNvSpPr/>
          <p:nvPr/>
        </p:nvSpPr>
        <p:spPr>
          <a:xfrm>
            <a:off x="5673156" y="2522968"/>
            <a:ext cx="845687" cy="845687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中央1"/>
          <p:cNvSpPr txBox="1"/>
          <p:nvPr/>
        </p:nvSpPr>
        <p:spPr>
          <a:xfrm>
            <a:off x="5616776" y="2706201"/>
            <a:ext cx="958446" cy="2396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</a:t>
            </a:r>
          </a:p>
        </p:txBody>
      </p:sp>
      <p:sp>
        <p:nvSpPr>
          <p:cNvPr id="15" name="中央2"/>
          <p:cNvSpPr txBox="1"/>
          <p:nvPr/>
        </p:nvSpPr>
        <p:spPr>
          <a:xfrm>
            <a:off x="5616776" y="2917623"/>
            <a:ext cx="958446" cy="2396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ブランド</a:t>
            </a:r>
          </a:p>
        </p:txBody>
      </p:sp>
      <p:sp>
        <p:nvSpPr>
          <p:cNvPr id="16" name="帯"/>
          <p:cNvSpPr/>
          <p:nvPr/>
        </p:nvSpPr>
        <p:spPr>
          <a:xfrm>
            <a:off x="5461734" y="3763310"/>
            <a:ext cx="1268531" cy="239611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帯文字"/>
          <p:cNvSpPr txBox="1"/>
          <p:nvPr/>
        </p:nvSpPr>
        <p:spPr>
          <a:xfrm>
            <a:off x="5461734" y="3763310"/>
            <a:ext cx="1268531" cy="2396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回るほど育つ</a:t>
            </a:r>
          </a:p>
        </p:txBody>
      </p:sp>
      <p:sp>
        <p:nvSpPr>
          <p:cNvPr id="18" name="カード_共育実習を行う"/>
          <p:cNvSpPr/>
          <p:nvPr/>
        </p:nvSpPr>
        <p:spPr>
          <a:xfrm>
            <a:off x="451033" y="1268531"/>
            <a:ext cx="3664647" cy="119805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"/>
          <p:cNvSpPr/>
          <p:nvPr/>
        </p:nvSpPr>
        <p:spPr>
          <a:xfrm>
            <a:off x="676550" y="1451764"/>
            <a:ext cx="366464" cy="3664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文字1"/>
          <p:cNvSpPr txBox="1"/>
          <p:nvPr/>
        </p:nvSpPr>
        <p:spPr>
          <a:xfrm>
            <a:off x="676550" y="1451764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22" name="要点_共育実習を行う"/>
          <p:cNvSpPr txBox="1"/>
          <p:nvPr/>
        </p:nvSpPr>
        <p:spPr>
          <a:xfrm>
            <a:off x="1169868" y="1479953"/>
            <a:ext cx="2818959" cy="3100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共育実習を行う</a:t>
            </a:r>
          </a:p>
        </p:txBody>
      </p:sp>
      <p:sp>
        <p:nvSpPr>
          <p:cNvPr id="23" name="説明_共育実習を行う"/>
          <p:cNvSpPr txBox="1"/>
          <p:nvPr/>
        </p:nvSpPr>
        <p:spPr>
          <a:xfrm>
            <a:off x="704739" y="1945082"/>
            <a:ext cx="331227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高校・専門学校・大学で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共育実習を実施します。</a:t>
            </a:r>
          </a:p>
        </p:txBody>
      </p:sp>
      <p:sp>
        <p:nvSpPr>
          <p:cNvPr id="24" name="カード_声が集まる"/>
          <p:cNvSpPr/>
          <p:nvPr/>
        </p:nvSpPr>
        <p:spPr>
          <a:xfrm>
            <a:off x="8076319" y="1268531"/>
            <a:ext cx="3664647" cy="119805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"/>
          <p:cNvSpPr/>
          <p:nvPr/>
        </p:nvSpPr>
        <p:spPr>
          <a:xfrm>
            <a:off x="8301835" y="1451764"/>
            <a:ext cx="366464" cy="366464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文字2"/>
          <p:cNvSpPr txBox="1"/>
          <p:nvPr/>
        </p:nvSpPr>
        <p:spPr>
          <a:xfrm>
            <a:off x="8301835" y="1451764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8" name="要点_声が集まる"/>
          <p:cNvSpPr txBox="1"/>
          <p:nvPr/>
        </p:nvSpPr>
        <p:spPr>
          <a:xfrm>
            <a:off x="8795153" y="1479953"/>
            <a:ext cx="2818959" cy="3100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声が集まる</a:t>
            </a:r>
          </a:p>
        </p:txBody>
      </p:sp>
      <p:sp>
        <p:nvSpPr>
          <p:cNvPr id="29" name="説明_声が集まる"/>
          <p:cNvSpPr txBox="1"/>
          <p:nvPr/>
        </p:nvSpPr>
        <p:spPr>
          <a:xfrm>
            <a:off x="8330025" y="1945082"/>
            <a:ext cx="331227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学生・先生・社員・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利用者さんの声が集まります。</a:t>
            </a:r>
          </a:p>
        </p:txBody>
      </p:sp>
      <p:sp>
        <p:nvSpPr>
          <p:cNvPr id="30" name="カード_実習サイトに載せる"/>
          <p:cNvSpPr/>
          <p:nvPr/>
        </p:nvSpPr>
        <p:spPr>
          <a:xfrm>
            <a:off x="8076319" y="3636457"/>
            <a:ext cx="3664647" cy="119805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番号"/>
          <p:cNvSpPr/>
          <p:nvPr/>
        </p:nvSpPr>
        <p:spPr>
          <a:xfrm>
            <a:off x="8301835" y="3819690"/>
            <a:ext cx="366464" cy="3664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番号文字3"/>
          <p:cNvSpPr txBox="1"/>
          <p:nvPr/>
        </p:nvSpPr>
        <p:spPr>
          <a:xfrm>
            <a:off x="8301835" y="3819690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4" name="要点_実習サイトに載せる"/>
          <p:cNvSpPr txBox="1"/>
          <p:nvPr/>
        </p:nvSpPr>
        <p:spPr>
          <a:xfrm>
            <a:off x="8795153" y="3847879"/>
            <a:ext cx="2818959" cy="3100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実習サイトに載せる</a:t>
            </a:r>
          </a:p>
        </p:txBody>
      </p:sp>
      <p:sp>
        <p:nvSpPr>
          <p:cNvPr id="35" name="説明_実習サイトに載せる"/>
          <p:cNvSpPr txBox="1"/>
          <p:nvPr/>
        </p:nvSpPr>
        <p:spPr>
          <a:xfrm>
            <a:off x="8330025" y="4313008"/>
            <a:ext cx="331227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プログラム内容と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口コミを掲載します。</a:t>
            </a:r>
          </a:p>
        </p:txBody>
      </p:sp>
      <p:sp>
        <p:nvSpPr>
          <p:cNvPr id="36" name="カード_見て、動く"/>
          <p:cNvSpPr/>
          <p:nvPr/>
        </p:nvSpPr>
        <p:spPr>
          <a:xfrm>
            <a:off x="451033" y="3636457"/>
            <a:ext cx="3664647" cy="119805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番号"/>
          <p:cNvSpPr/>
          <p:nvPr/>
        </p:nvSpPr>
        <p:spPr>
          <a:xfrm>
            <a:off x="676550" y="3819690"/>
            <a:ext cx="366464" cy="3664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番号文字4"/>
          <p:cNvSpPr txBox="1"/>
          <p:nvPr/>
        </p:nvSpPr>
        <p:spPr>
          <a:xfrm>
            <a:off x="676550" y="3819690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40" name="要点_見て、動く"/>
          <p:cNvSpPr txBox="1"/>
          <p:nvPr/>
        </p:nvSpPr>
        <p:spPr>
          <a:xfrm>
            <a:off x="1169868" y="3847879"/>
            <a:ext cx="2818959" cy="3100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見て、動く</a:t>
            </a:r>
          </a:p>
        </p:txBody>
      </p:sp>
      <p:sp>
        <p:nvSpPr>
          <p:cNvPr id="41" name="説明_見て、動く"/>
          <p:cNvSpPr txBox="1"/>
          <p:nvPr/>
        </p:nvSpPr>
        <p:spPr>
          <a:xfrm>
            <a:off x="704739" y="4313008"/>
            <a:ext cx="331227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学校は受け入れを判断し、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次の学生は参加を決めます。</a:t>
            </a:r>
          </a:p>
        </p:txBody>
      </p:sp>
      <p:sp>
        <p:nvSpPr>
          <p:cNvPr id="42" name="ボックス_サイトに載せるもの"/>
          <p:cNvSpPr/>
          <p:nvPr/>
        </p:nvSpPr>
        <p:spPr>
          <a:xfrm>
            <a:off x="451033" y="5179838"/>
            <a:ext cx="5778867" cy="105710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51033" y="5363070"/>
            <a:ext cx="56379" cy="690645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サイトに載せるもの_見出し"/>
          <p:cNvSpPr txBox="1"/>
          <p:nvPr/>
        </p:nvSpPr>
        <p:spPr>
          <a:xfrm>
            <a:off x="690645" y="5313738"/>
            <a:ext cx="535602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サイトに載せるもの</a:t>
            </a:r>
          </a:p>
        </p:txBody>
      </p:sp>
      <p:sp>
        <p:nvSpPr>
          <p:cNvPr id="45" name="サイトに載せるもの_本文"/>
          <p:cNvSpPr txBox="1"/>
          <p:nvPr/>
        </p:nvSpPr>
        <p:spPr>
          <a:xfrm>
            <a:off x="690645" y="5609729"/>
            <a:ext cx="5356023" cy="563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プログラム内容と口コミ。学校の先生が受け入れを判断でき、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学生が参加を決められる状態にする。</a:t>
            </a:r>
          </a:p>
        </p:txBody>
      </p:sp>
      <p:sp>
        <p:nvSpPr>
          <p:cNvPr id="46" name="ボックス_ほかの施策"/>
          <p:cNvSpPr/>
          <p:nvPr/>
        </p:nvSpPr>
        <p:spPr>
          <a:xfrm>
            <a:off x="6413132" y="5179838"/>
            <a:ext cx="5327833" cy="105710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413132" y="5363070"/>
            <a:ext cx="56379" cy="690645"/>
          </a:xfrm>
          <a:prstGeom prst="roundRect">
            <a:avLst>
              <a:gd name="adj" fmla="val 50000"/>
            </a:avLst>
          </a:prstGeom>
          <a:solidFill>
            <a:srgbClr val="B8C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ほかの施策_見出し"/>
          <p:cNvSpPr txBox="1"/>
          <p:nvPr/>
        </p:nvSpPr>
        <p:spPr>
          <a:xfrm>
            <a:off x="6652744" y="5313738"/>
            <a:ext cx="4904989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ほかの施策</a:t>
            </a:r>
          </a:p>
        </p:txBody>
      </p:sp>
      <p:sp>
        <p:nvSpPr>
          <p:cNvPr id="49" name="ほかの施策_本文"/>
          <p:cNvSpPr txBox="1"/>
          <p:nvPr/>
        </p:nvSpPr>
        <p:spPr>
          <a:xfrm>
            <a:off x="6652744" y="5609729"/>
            <a:ext cx="4904989" cy="563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・関連大学・専門学校を増やす</a:t>
            </a:r>
          </a:p>
          <a:p>
            <a:pPr algn="l">
              <a:lnSpc>
                <a:spcPct val="120000"/>
              </a:lnSpc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・対応地域</a:t>
            </a:r>
          </a:p>
          <a:p>
            <a:pPr algn="l">
              <a:lnSpc>
                <a:spcPct val="120000"/>
              </a:lnSpc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・産官学で連携（次世代の育成を地域のみなさんで実施）</a:t>
            </a:r>
          </a:p>
        </p:txBody>
      </p:sp>
      <p:sp>
        <p:nvSpPr>
          <p:cNvPr id="50" name="タイトル下線"/>
          <p:cNvSpPr/>
          <p:nvPr/>
        </p:nvSpPr>
        <p:spPr>
          <a:xfrm>
            <a:off x="451033" y="930256"/>
            <a:ext cx="507412" cy="35236"/>
          </a:xfrm>
          <a:prstGeom prst="rect">
            <a:avLst/>
          </a:prstGeom>
          <a:solidFill>
            <a:srgbClr val="54C5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実習応募サイト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実習応募サイトの全体像</a:t>
            </a:r>
          </a:p>
        </p:txBody>
      </p:sp>
      <p:sp>
        <p:nvSpPr>
          <p:cNvPr id="6" name="コンセプト"/>
          <p:cNvSpPr/>
          <p:nvPr/>
        </p:nvSpPr>
        <p:spPr>
          <a:xfrm>
            <a:off x="451033" y="1268531"/>
            <a:ext cx="4933179" cy="3100855"/>
          </a:xfrm>
          <a:prstGeom prst="roundRect">
            <a:avLst>
              <a:gd name="adj" fmla="val 7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英字"/>
          <p:cNvSpPr txBox="1"/>
          <p:nvPr/>
        </p:nvSpPr>
        <p:spPr>
          <a:xfrm>
            <a:off x="732929" y="1451764"/>
            <a:ext cx="4369387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600">
                <a:solidFill>
                  <a:srgbClr val="D9F6EE"/>
                </a:solidFill>
                <a:latin typeface="游ゴシック"/>
                <a:ea typeface="游ゴシック"/>
                <a:cs typeface="游ゴシック"/>
              </a:rPr>
              <a:t>CARE PRACTICE</a:t>
            </a:r>
          </a:p>
        </p:txBody>
      </p:sp>
      <p:sp>
        <p:nvSpPr>
          <p:cNvPr id="8" name="コピー1"/>
          <p:cNvSpPr txBox="1"/>
          <p:nvPr/>
        </p:nvSpPr>
        <p:spPr>
          <a:xfrm>
            <a:off x="732929" y="1691375"/>
            <a:ext cx="4369387" cy="634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32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FUN LIFE!</a:t>
            </a:r>
          </a:p>
        </p:txBody>
      </p:sp>
      <p:sp>
        <p:nvSpPr>
          <p:cNvPr id="9" name="コピー2"/>
          <p:cNvSpPr txBox="1"/>
          <p:nvPr/>
        </p:nvSpPr>
        <p:spPr>
          <a:xfrm>
            <a:off x="732929" y="2297452"/>
            <a:ext cx="4369387" cy="634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328" b="1">
                <a:solidFill>
                  <a:srgbClr val="FFE08A"/>
                </a:solidFill>
                <a:latin typeface="游ゴシック"/>
                <a:ea typeface="游ゴシック"/>
                <a:cs typeface="游ゴシック"/>
              </a:rPr>
              <a:t>FUN LOCAL!</a:t>
            </a:r>
          </a:p>
        </p:txBody>
      </p:sp>
      <p:sp>
        <p:nvSpPr>
          <p:cNvPr id="10" name="サブコピー"/>
          <p:cNvSpPr txBox="1"/>
          <p:nvPr/>
        </p:nvSpPr>
        <p:spPr>
          <a:xfrm>
            <a:off x="732929" y="3044476"/>
            <a:ext cx="4369387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生きがい、持ち寄る。地域の未来。</a:t>
            </a:r>
          </a:p>
        </p:txBody>
      </p:sp>
      <p:sp>
        <p:nvSpPr>
          <p:cNvPr id="11" name="メッセージ"/>
          <p:cNvSpPr txBox="1"/>
          <p:nvPr/>
        </p:nvSpPr>
        <p:spPr>
          <a:xfrm>
            <a:off x="732929" y="3481415"/>
            <a:ext cx="4369387" cy="775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65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介護や老後の話は、なんだか暗い。</a:t>
            </a:r>
          </a:p>
          <a:p>
            <a:pPr algn="l">
              <a:lnSpc>
                <a:spcPct val="125000"/>
              </a:lnSpc>
            </a:pPr>
            <a:r>
              <a:rPr sz="1165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そんなイメージを、一緒にひっくり返したい。</a:t>
            </a:r>
          </a:p>
          <a:p>
            <a:pPr algn="l">
              <a:lnSpc>
                <a:spcPct val="125000"/>
              </a:lnSpc>
            </a:pPr>
            <a:r>
              <a:rPr sz="1165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日本一長寿の県・長野から、最高に楽しい仕事を。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37919" y="1268531"/>
            <a:ext cx="2889433" cy="142357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ラベル_目的"/>
          <p:cNvSpPr txBox="1"/>
          <p:nvPr/>
        </p:nvSpPr>
        <p:spPr>
          <a:xfrm>
            <a:off x="5891625" y="1451764"/>
            <a:ext cx="2396115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目的</a:t>
            </a:r>
          </a:p>
        </p:txBody>
      </p:sp>
      <p:sp>
        <p:nvSpPr>
          <p:cNvPr id="15" name="値_目的"/>
          <p:cNvSpPr txBox="1"/>
          <p:nvPr/>
        </p:nvSpPr>
        <p:spPr>
          <a:xfrm>
            <a:off x="5891625" y="1733660"/>
            <a:ext cx="2466589" cy="775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介護の現場を実際に体験し、</a:t>
            </a:r>
          </a:p>
          <a:p>
            <a:pPr algn="l">
              <a:lnSpc>
                <a:spcPct val="12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仕事のイメージをつかむ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96490" y="1268531"/>
            <a:ext cx="2889433" cy="142357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ラベル_対象"/>
          <p:cNvSpPr txBox="1"/>
          <p:nvPr/>
        </p:nvSpPr>
        <p:spPr>
          <a:xfrm>
            <a:off x="8950196" y="1451764"/>
            <a:ext cx="2396115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対象</a:t>
            </a:r>
          </a:p>
        </p:txBody>
      </p:sp>
      <p:sp>
        <p:nvSpPr>
          <p:cNvPr id="19" name="値_対象"/>
          <p:cNvSpPr txBox="1"/>
          <p:nvPr/>
        </p:nvSpPr>
        <p:spPr>
          <a:xfrm>
            <a:off x="8950196" y="1733660"/>
            <a:ext cx="2466589" cy="775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学生のみなさん</a:t>
            </a:r>
          </a:p>
          <a:p>
            <a:pPr algn="l">
              <a:lnSpc>
                <a:spcPct val="125000"/>
              </a:lnSpc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保護者・先生もご覧ください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37919" y="2861243"/>
            <a:ext cx="2889433" cy="142357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ラベル_費用"/>
          <p:cNvSpPr txBox="1"/>
          <p:nvPr/>
        </p:nvSpPr>
        <p:spPr>
          <a:xfrm>
            <a:off x="5891625" y="3044476"/>
            <a:ext cx="2396115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費用</a:t>
            </a:r>
          </a:p>
        </p:txBody>
      </p:sp>
      <p:sp>
        <p:nvSpPr>
          <p:cNvPr id="23" name="値_費用"/>
          <p:cNvSpPr txBox="1"/>
          <p:nvPr/>
        </p:nvSpPr>
        <p:spPr>
          <a:xfrm>
            <a:off x="5891625" y="3298182"/>
            <a:ext cx="2396115" cy="563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551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無償</a:t>
            </a:r>
          </a:p>
        </p:txBody>
      </p:sp>
      <p:sp>
        <p:nvSpPr>
          <p:cNvPr id="24" name="値_費用補足"/>
          <p:cNvSpPr txBox="1"/>
          <p:nvPr/>
        </p:nvSpPr>
        <p:spPr>
          <a:xfrm>
            <a:off x="5891625" y="3890164"/>
            <a:ext cx="239611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実習は無料で参加できます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96490" y="2861243"/>
            <a:ext cx="2889433" cy="142357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ラベル_期間・時間"/>
          <p:cNvSpPr txBox="1"/>
          <p:nvPr/>
        </p:nvSpPr>
        <p:spPr>
          <a:xfrm>
            <a:off x="8950196" y="3044476"/>
            <a:ext cx="2396115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期間・時間</a:t>
            </a:r>
          </a:p>
        </p:txBody>
      </p:sp>
      <p:sp>
        <p:nvSpPr>
          <p:cNvPr id="28" name="値_期間・時間"/>
          <p:cNvSpPr txBox="1"/>
          <p:nvPr/>
        </p:nvSpPr>
        <p:spPr>
          <a:xfrm>
            <a:off x="8950196" y="3326372"/>
            <a:ext cx="2466589" cy="775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1DAY　9:30〜15:00ごろ</a:t>
            </a:r>
          </a:p>
          <a:p>
            <a:pPr algn="l">
              <a:lnSpc>
                <a:spcPct val="125000"/>
              </a:lnSpc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5DAYS　5日間じっくり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1033" y="4623093"/>
            <a:ext cx="2678011" cy="146585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数字_拠点"/>
          <p:cNvSpPr txBox="1"/>
          <p:nvPr/>
        </p:nvSpPr>
        <p:spPr>
          <a:xfrm>
            <a:off x="662455" y="4764041"/>
            <a:ext cx="1409479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1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109</a:t>
            </a:r>
          </a:p>
        </p:txBody>
      </p:sp>
      <p:sp>
        <p:nvSpPr>
          <p:cNvPr id="31" name="単位_拠点"/>
          <p:cNvSpPr txBox="1"/>
          <p:nvPr/>
        </p:nvSpPr>
        <p:spPr>
          <a:xfrm>
            <a:off x="1691375" y="5074127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sp>
        <p:nvSpPr>
          <p:cNvPr id="32" name="補足_拠点"/>
          <p:cNvSpPr txBox="1"/>
          <p:nvPr/>
        </p:nvSpPr>
        <p:spPr>
          <a:xfrm>
            <a:off x="662455" y="5609729"/>
            <a:ext cx="239611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信越・北関東に展開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19324" y="4623093"/>
            <a:ext cx="2678011" cy="146585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数字_種のサービス"/>
          <p:cNvSpPr txBox="1"/>
          <p:nvPr/>
        </p:nvSpPr>
        <p:spPr>
          <a:xfrm>
            <a:off x="3530746" y="4764041"/>
            <a:ext cx="1409479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1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7</a:t>
            </a:r>
          </a:p>
        </p:txBody>
      </p:sp>
      <p:sp>
        <p:nvSpPr>
          <p:cNvPr id="35" name="単位_種のサービス"/>
          <p:cNvSpPr txBox="1"/>
          <p:nvPr/>
        </p:nvSpPr>
        <p:spPr>
          <a:xfrm>
            <a:off x="3911306" y="5074127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種のサービス</a:t>
            </a:r>
          </a:p>
        </p:txBody>
      </p:sp>
      <p:sp>
        <p:nvSpPr>
          <p:cNvPr id="36" name="補足_種のサービス"/>
          <p:cNvSpPr txBox="1"/>
          <p:nvPr/>
        </p:nvSpPr>
        <p:spPr>
          <a:xfrm>
            <a:off x="3530746" y="5609729"/>
            <a:ext cx="239611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ホーム・デイ・訪問など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87616" y="4623093"/>
            <a:ext cx="2678011" cy="146585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数字_つのプログラム"/>
          <p:cNvSpPr txBox="1"/>
          <p:nvPr/>
        </p:nvSpPr>
        <p:spPr>
          <a:xfrm>
            <a:off x="6399038" y="4764041"/>
            <a:ext cx="1409479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17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39" name="単位_つのプログラム"/>
          <p:cNvSpPr txBox="1"/>
          <p:nvPr/>
        </p:nvSpPr>
        <p:spPr>
          <a:xfrm>
            <a:off x="6779597" y="5074127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つのプログラム</a:t>
            </a:r>
          </a:p>
        </p:txBody>
      </p:sp>
      <p:sp>
        <p:nvSpPr>
          <p:cNvPr id="40" name="補足_つのプログラム"/>
          <p:cNvSpPr txBox="1"/>
          <p:nvPr/>
        </p:nvSpPr>
        <p:spPr>
          <a:xfrm>
            <a:off x="6399038" y="5609729"/>
            <a:ext cx="239611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1DAY と 5DAYS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5907" y="4623093"/>
            <a:ext cx="2678011" cy="146585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数字_事業所"/>
          <p:cNvSpPr txBox="1"/>
          <p:nvPr/>
        </p:nvSpPr>
        <p:spPr>
          <a:xfrm>
            <a:off x="9267329" y="4764041"/>
            <a:ext cx="1409479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17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9</a:t>
            </a:r>
          </a:p>
        </p:txBody>
      </p:sp>
      <p:sp>
        <p:nvSpPr>
          <p:cNvPr id="43" name="単位_事業所"/>
          <p:cNvSpPr txBox="1"/>
          <p:nvPr/>
        </p:nvSpPr>
        <p:spPr>
          <a:xfrm>
            <a:off x="9647889" y="5074127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</a:t>
            </a:r>
          </a:p>
        </p:txBody>
      </p:sp>
      <p:sp>
        <p:nvSpPr>
          <p:cNvPr id="44" name="補足_事業所"/>
          <p:cNvSpPr txBox="1"/>
          <p:nvPr/>
        </p:nvSpPr>
        <p:spPr>
          <a:xfrm>
            <a:off x="9267329" y="5609729"/>
            <a:ext cx="239611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360°ツアーで見学できる</a:t>
            </a:r>
          </a:p>
        </p:txBody>
      </p:sp>
      <p:sp>
        <p:nvSpPr>
          <p:cNvPr id="45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対象・期間・時間などはサイト上でも仮・調整中の内容です。</a:t>
            </a:r>
          </a:p>
        </p:txBody>
      </p:sp>
      <p:sp>
        <p:nvSpPr>
          <p:cNvPr id="46" name="タイトル下線"/>
          <p:cNvSpPr/>
          <p:nvPr/>
        </p:nvSpPr>
        <p:spPr>
          <a:xfrm>
            <a:off x="451033" y="930256"/>
            <a:ext cx="507412" cy="35236"/>
          </a:xfrm>
          <a:prstGeom prst="rect">
            <a:avLst/>
          </a:prstGeom>
          <a:solidFill>
            <a:srgbClr val="54C5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エフビー流の学び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介護の現場を体験して学ぶ、4つのステップ</a:t>
            </a:r>
          </a:p>
        </p:txBody>
      </p:sp>
      <p:sp>
        <p:nvSpPr>
          <p:cNvPr id="6" name="帯"/>
          <p:cNvSpPr/>
          <p:nvPr/>
        </p:nvSpPr>
        <p:spPr>
          <a:xfrm>
            <a:off x="3981780" y="1240342"/>
            <a:ext cx="4228439" cy="451033"/>
          </a:xfrm>
          <a:prstGeom prst="roundRect">
            <a:avLst>
              <a:gd name="adj" fmla="val 50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帯文字"/>
          <p:cNvSpPr txBox="1"/>
          <p:nvPr/>
        </p:nvSpPr>
        <p:spPr>
          <a:xfrm>
            <a:off x="3981780" y="1240342"/>
            <a:ext cx="4228439" cy="45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033" y="1916892"/>
            <a:ext cx="2621632" cy="303038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番号"/>
          <p:cNvSpPr/>
          <p:nvPr/>
        </p:nvSpPr>
        <p:spPr>
          <a:xfrm>
            <a:off x="648360" y="2156504"/>
            <a:ext cx="422843" cy="422843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文字1"/>
          <p:cNvSpPr txBox="1"/>
          <p:nvPr/>
        </p:nvSpPr>
        <p:spPr>
          <a:xfrm>
            <a:off x="648360" y="2156504"/>
            <a:ext cx="422843" cy="4228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2" name="見出し_話して知る"/>
          <p:cNvSpPr txBox="1"/>
          <p:nvPr/>
        </p:nvSpPr>
        <p:spPr>
          <a:xfrm>
            <a:off x="1198057" y="2184693"/>
            <a:ext cx="1761849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話して知る</a:t>
            </a:r>
          </a:p>
        </p:txBody>
      </p:sp>
      <p:sp>
        <p:nvSpPr>
          <p:cNvPr id="13" name="小見出し_話して知る"/>
          <p:cNvSpPr txBox="1"/>
          <p:nvPr/>
        </p:nvSpPr>
        <p:spPr>
          <a:xfrm>
            <a:off x="662455" y="2762580"/>
            <a:ext cx="2255167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利用者さんの人生にふれる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455" y="3255898"/>
            <a:ext cx="2198788" cy="0"/>
          </a:xfrm>
          <a:prstGeom prst="line">
            <a:avLst/>
          </a:prstGeom>
          <a:ln w="19050">
            <a:solidFill>
              <a:srgbClr val="D7E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内容_話して知る"/>
          <p:cNvSpPr txBox="1"/>
          <p:nvPr/>
        </p:nvSpPr>
        <p:spPr>
          <a:xfrm>
            <a:off x="662455" y="3425035"/>
            <a:ext cx="2255167" cy="2114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・昔の暮らしや仕事の話を聴く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・笑顔が生まれる瞬間を見る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・「ありがとう」をもらう手応え</a:t>
            </a:r>
          </a:p>
        </p:txBody>
      </p:sp>
      <p:sp>
        <p:nvSpPr>
          <p:cNvPr id="16" name="矢印"/>
          <p:cNvSpPr/>
          <p:nvPr/>
        </p:nvSpPr>
        <p:spPr>
          <a:xfrm>
            <a:off x="3100855" y="3241803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40467" y="1916892"/>
            <a:ext cx="2621632" cy="303038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3537794" y="2156504"/>
            <a:ext cx="422843" cy="422843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文字2"/>
          <p:cNvSpPr txBox="1"/>
          <p:nvPr/>
        </p:nvSpPr>
        <p:spPr>
          <a:xfrm>
            <a:off x="3537794" y="2156504"/>
            <a:ext cx="422843" cy="4228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1" name="見出し_見て学ぶ"/>
          <p:cNvSpPr txBox="1"/>
          <p:nvPr/>
        </p:nvSpPr>
        <p:spPr>
          <a:xfrm>
            <a:off x="4087491" y="2184693"/>
            <a:ext cx="1761849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見て学ぶ</a:t>
            </a:r>
          </a:p>
        </p:txBody>
      </p:sp>
      <p:sp>
        <p:nvSpPr>
          <p:cNvPr id="22" name="小見出し_見て学ぶ"/>
          <p:cNvSpPr txBox="1"/>
          <p:nvPr/>
        </p:nvSpPr>
        <p:spPr>
          <a:xfrm>
            <a:off x="3551889" y="2762580"/>
            <a:ext cx="2255167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職員の仕事を観察する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551889" y="3255898"/>
            <a:ext cx="2198788" cy="0"/>
          </a:xfrm>
          <a:prstGeom prst="line">
            <a:avLst/>
          </a:prstGeom>
          <a:ln w="19050">
            <a:solidFill>
              <a:srgbClr val="D7E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内容_見て学ぶ"/>
          <p:cNvSpPr txBox="1"/>
          <p:nvPr/>
        </p:nvSpPr>
        <p:spPr>
          <a:xfrm>
            <a:off x="3551889" y="3425035"/>
            <a:ext cx="2255167" cy="2114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・声かけ・見守りの基本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・介護職の一日の流れと仕事の幅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・看護師など他職種との連携</a:t>
            </a:r>
          </a:p>
        </p:txBody>
      </p:sp>
      <p:sp>
        <p:nvSpPr>
          <p:cNvPr id="25" name="矢印"/>
          <p:cNvSpPr/>
          <p:nvPr/>
        </p:nvSpPr>
        <p:spPr>
          <a:xfrm>
            <a:off x="5990289" y="3241803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29900" y="1916892"/>
            <a:ext cx="2621632" cy="303038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"/>
          <p:cNvSpPr/>
          <p:nvPr/>
        </p:nvSpPr>
        <p:spPr>
          <a:xfrm>
            <a:off x="6427227" y="2156504"/>
            <a:ext cx="422843" cy="422843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番号文字3"/>
          <p:cNvSpPr txBox="1"/>
          <p:nvPr/>
        </p:nvSpPr>
        <p:spPr>
          <a:xfrm>
            <a:off x="6427227" y="2156504"/>
            <a:ext cx="422843" cy="4228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0" name="見出し_やってみる"/>
          <p:cNvSpPr txBox="1"/>
          <p:nvPr/>
        </p:nvSpPr>
        <p:spPr>
          <a:xfrm>
            <a:off x="6976924" y="2184693"/>
            <a:ext cx="1761849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86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やってみる</a:t>
            </a:r>
          </a:p>
        </p:txBody>
      </p:sp>
      <p:sp>
        <p:nvSpPr>
          <p:cNvPr id="31" name="小見出し_やってみる"/>
          <p:cNvSpPr txBox="1"/>
          <p:nvPr/>
        </p:nvSpPr>
        <p:spPr>
          <a:xfrm>
            <a:off x="6441322" y="2762580"/>
            <a:ext cx="2255167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できることから体験する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41322" y="3255898"/>
            <a:ext cx="2198788" cy="0"/>
          </a:xfrm>
          <a:prstGeom prst="line">
            <a:avLst/>
          </a:prstGeom>
          <a:ln w="19050">
            <a:solidFill>
              <a:srgbClr val="D7E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内容_やってみる"/>
          <p:cNvSpPr txBox="1"/>
          <p:nvPr/>
        </p:nvSpPr>
        <p:spPr>
          <a:xfrm>
            <a:off x="6441322" y="3425035"/>
            <a:ext cx="2255167" cy="2114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・食事・レクのお手伝い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・畑や行事など、地域にふれる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・職員がそばでサポート</a:t>
            </a:r>
          </a:p>
        </p:txBody>
      </p:sp>
      <p:sp>
        <p:nvSpPr>
          <p:cNvPr id="34" name="矢印"/>
          <p:cNvSpPr/>
          <p:nvPr/>
        </p:nvSpPr>
        <p:spPr>
          <a:xfrm>
            <a:off x="8879722" y="3241803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119334" y="1916892"/>
            <a:ext cx="2621632" cy="303038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番号"/>
          <p:cNvSpPr/>
          <p:nvPr/>
        </p:nvSpPr>
        <p:spPr>
          <a:xfrm>
            <a:off x="9316661" y="2156504"/>
            <a:ext cx="422843" cy="422843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番号文字4"/>
          <p:cNvSpPr txBox="1"/>
          <p:nvPr/>
        </p:nvSpPr>
        <p:spPr>
          <a:xfrm>
            <a:off x="9316661" y="2156504"/>
            <a:ext cx="422843" cy="4228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9" name="見出し_振り返る"/>
          <p:cNvSpPr txBox="1"/>
          <p:nvPr/>
        </p:nvSpPr>
        <p:spPr>
          <a:xfrm>
            <a:off x="9866358" y="2184693"/>
            <a:ext cx="1761849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86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振り返る</a:t>
            </a:r>
          </a:p>
        </p:txBody>
      </p:sp>
      <p:sp>
        <p:nvSpPr>
          <p:cNvPr id="40" name="小見出し_振り返る"/>
          <p:cNvSpPr txBox="1"/>
          <p:nvPr/>
        </p:nvSpPr>
        <p:spPr>
          <a:xfrm>
            <a:off x="9330756" y="2762580"/>
            <a:ext cx="2255167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気づきから、キャリアを考える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330756" y="3255898"/>
            <a:ext cx="2198788" cy="0"/>
          </a:xfrm>
          <a:prstGeom prst="line">
            <a:avLst/>
          </a:prstGeom>
          <a:ln w="19050">
            <a:solidFill>
              <a:srgbClr val="D7E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内容_振り返る"/>
          <p:cNvSpPr txBox="1"/>
          <p:nvPr/>
        </p:nvSpPr>
        <p:spPr>
          <a:xfrm>
            <a:off x="9330756" y="3425035"/>
            <a:ext cx="2255167" cy="2114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・感じたことを職員と話し合う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・資格や仕事の道すじを知る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・これからのキャリアを考える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・自分に向いているかの見極め</a:t>
            </a:r>
          </a:p>
        </p:txBody>
      </p:sp>
      <p:sp>
        <p:nvSpPr>
          <p:cNvPr id="43" name="戻り矢印"/>
          <p:cNvSpPr/>
          <p:nvPr/>
        </p:nvSpPr>
        <p:spPr>
          <a:xfrm>
            <a:off x="451033" y="5285549"/>
            <a:ext cx="11289932" cy="451033"/>
          </a:xfrm>
          <a:prstGeom prst="leftArrow">
            <a:avLst>
              <a:gd name="adj1" fmla="val 50000"/>
              <a:gd name="adj2" fmla="val 90000"/>
            </a:avLst>
          </a:prstGeom>
          <a:solidFill>
            <a:srgbClr val="B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戻り矢印文字"/>
          <p:cNvSpPr txBox="1"/>
          <p:nvPr/>
        </p:nvSpPr>
        <p:spPr>
          <a:xfrm>
            <a:off x="1550427" y="5285549"/>
            <a:ext cx="9373040" cy="45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④ 振り返りから、次の ① へ　体験をくり返しながら、学びを深めていく</a:t>
            </a:r>
          </a:p>
        </p:txBody>
      </p:sp>
      <p:sp>
        <p:nvSpPr>
          <p:cNvPr id="45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文章はサイト上でも仮の内容です（決まり次第、差し替え）。</a:t>
            </a:r>
          </a:p>
        </p:txBody>
      </p:sp>
      <p:sp>
        <p:nvSpPr>
          <p:cNvPr id="46" name="タイトル下線"/>
          <p:cNvSpPr/>
          <p:nvPr/>
        </p:nvSpPr>
        <p:spPr>
          <a:xfrm>
            <a:off x="451033" y="930256"/>
            <a:ext cx="507412" cy="35236"/>
          </a:xfrm>
          <a:prstGeom prst="rect">
            <a:avLst/>
          </a:prstGeom>
          <a:solidFill>
            <a:srgbClr val="54C5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実習プログラム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1日で、5日間で。目的に合わせて選べる2つのプログラム</a:t>
            </a:r>
          </a:p>
        </p:txBody>
      </p:sp>
      <p:sp>
        <p:nvSpPr>
          <p:cNvPr id="6" name="帯_1DAY"/>
          <p:cNvSpPr/>
          <p:nvPr/>
        </p:nvSpPr>
        <p:spPr>
          <a:xfrm>
            <a:off x="451033" y="1212152"/>
            <a:ext cx="5708393" cy="535602"/>
          </a:xfrm>
          <a:prstGeom prst="roundRect">
            <a:avLst>
              <a:gd name="adj" fmla="val 3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1DAY"/>
          <p:cNvSpPr txBox="1"/>
          <p:nvPr/>
        </p:nvSpPr>
        <p:spPr>
          <a:xfrm>
            <a:off x="648360" y="1212152"/>
            <a:ext cx="1409479" cy="5356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1DAY</a:t>
            </a:r>
          </a:p>
        </p:txBody>
      </p:sp>
      <p:sp>
        <p:nvSpPr>
          <p:cNvPr id="8" name="1DAY_見出し"/>
          <p:cNvSpPr txBox="1"/>
          <p:nvPr/>
        </p:nvSpPr>
        <p:spPr>
          <a:xfrm>
            <a:off x="1930987" y="1282626"/>
            <a:ext cx="4087491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1日で、現場をのぞいてみる</a:t>
            </a:r>
          </a:p>
        </p:txBody>
      </p:sp>
      <p:sp>
        <p:nvSpPr>
          <p:cNvPr id="9" name="1DAY_補足"/>
          <p:cNvSpPr txBox="1"/>
          <p:nvPr/>
        </p:nvSpPr>
        <p:spPr>
          <a:xfrm>
            <a:off x="1930987" y="1522238"/>
            <a:ext cx="4087491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4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9:30〜15:00ごろ　はじめての方に</a:t>
            </a:r>
          </a:p>
        </p:txBody>
      </p:sp>
      <p:sp>
        <p:nvSpPr>
          <p:cNvPr id="10" name="帯_5DAYS"/>
          <p:cNvSpPr/>
          <p:nvPr/>
        </p:nvSpPr>
        <p:spPr>
          <a:xfrm>
            <a:off x="6370848" y="1212152"/>
            <a:ext cx="5370117" cy="535602"/>
          </a:xfrm>
          <a:prstGeom prst="roundRect">
            <a:avLst>
              <a:gd name="adj" fmla="val 3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DAYS"/>
          <p:cNvSpPr txBox="1"/>
          <p:nvPr/>
        </p:nvSpPr>
        <p:spPr>
          <a:xfrm>
            <a:off x="6568175" y="1212152"/>
            <a:ext cx="1409479" cy="5356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5DAYS</a:t>
            </a:r>
          </a:p>
        </p:txBody>
      </p:sp>
      <p:sp>
        <p:nvSpPr>
          <p:cNvPr id="12" name="5DAYS_見出し"/>
          <p:cNvSpPr txBox="1"/>
          <p:nvPr/>
        </p:nvSpPr>
        <p:spPr>
          <a:xfrm>
            <a:off x="7850802" y="1282626"/>
            <a:ext cx="3749216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5日間で、じっくり向き合う</a:t>
            </a:r>
          </a:p>
        </p:txBody>
      </p:sp>
      <p:sp>
        <p:nvSpPr>
          <p:cNvPr id="13" name="5DAYS_補足"/>
          <p:cNvSpPr txBox="1"/>
          <p:nvPr/>
        </p:nvSpPr>
        <p:spPr>
          <a:xfrm>
            <a:off x="7850802" y="1522238"/>
            <a:ext cx="3749216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4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DAY1〜DAY5　じっくり学びたい方に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033" y="1874608"/>
            <a:ext cx="5708393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時刻"/>
          <p:cNvSpPr/>
          <p:nvPr/>
        </p:nvSpPr>
        <p:spPr>
          <a:xfrm>
            <a:off x="648360" y="2086030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時刻_9:30"/>
          <p:cNvSpPr txBox="1"/>
          <p:nvPr/>
        </p:nvSpPr>
        <p:spPr>
          <a:xfrm>
            <a:off x="648360" y="2086030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9:30</a:t>
            </a:r>
          </a:p>
        </p:txBody>
      </p:sp>
      <p:sp>
        <p:nvSpPr>
          <p:cNvPr id="18" name="要点_受付とオープニング"/>
          <p:cNvSpPr txBox="1"/>
          <p:nvPr/>
        </p:nvSpPr>
        <p:spPr>
          <a:xfrm>
            <a:off x="1663186" y="1959176"/>
            <a:ext cx="4369387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受付とオープニング</a:t>
            </a:r>
          </a:p>
        </p:txBody>
      </p:sp>
      <p:sp>
        <p:nvSpPr>
          <p:cNvPr id="19" name="説明_受付とオープニング"/>
          <p:cNvSpPr txBox="1"/>
          <p:nvPr/>
        </p:nvSpPr>
        <p:spPr>
          <a:xfrm>
            <a:off x="1663186" y="2226978"/>
            <a:ext cx="4369387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メンターが温かく出迎え。会社紹介のショート動画で雰囲気を共有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1033" y="2720295"/>
            <a:ext cx="5708393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時刻"/>
          <p:cNvSpPr/>
          <p:nvPr/>
        </p:nvSpPr>
        <p:spPr>
          <a:xfrm>
            <a:off x="648360" y="2931717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時刻_10:00"/>
          <p:cNvSpPr txBox="1"/>
          <p:nvPr/>
        </p:nvSpPr>
        <p:spPr>
          <a:xfrm>
            <a:off x="648360" y="2931717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10:00</a:t>
            </a:r>
          </a:p>
        </p:txBody>
      </p:sp>
      <p:sp>
        <p:nvSpPr>
          <p:cNvPr id="24" name="要点_現場シャドーイング＆伴走体験"/>
          <p:cNvSpPr txBox="1"/>
          <p:nvPr/>
        </p:nvSpPr>
        <p:spPr>
          <a:xfrm>
            <a:off x="1663186" y="2804864"/>
            <a:ext cx="4369387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現場シャドーイング＆伴走体験</a:t>
            </a:r>
          </a:p>
        </p:txBody>
      </p:sp>
      <p:sp>
        <p:nvSpPr>
          <p:cNvPr id="25" name="説明_現場シャドーイング＆伴走体験"/>
          <p:cNvSpPr txBox="1"/>
          <p:nvPr/>
        </p:nvSpPr>
        <p:spPr>
          <a:xfrm>
            <a:off x="1663186" y="3072665"/>
            <a:ext cx="4369387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介護現場のリアルを体験。利用者様との「対話・人生のお話の傾聴」が中心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1033" y="3565983"/>
            <a:ext cx="5708393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時刻"/>
          <p:cNvSpPr/>
          <p:nvPr/>
        </p:nvSpPr>
        <p:spPr>
          <a:xfrm>
            <a:off x="648360" y="3777405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時刻_12:00"/>
          <p:cNvSpPr txBox="1"/>
          <p:nvPr/>
        </p:nvSpPr>
        <p:spPr>
          <a:xfrm>
            <a:off x="648360" y="3777405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12:00</a:t>
            </a:r>
          </a:p>
        </p:txBody>
      </p:sp>
      <p:sp>
        <p:nvSpPr>
          <p:cNvPr id="30" name="要点_ランチセッション"/>
          <p:cNvSpPr txBox="1"/>
          <p:nvPr/>
        </p:nvSpPr>
        <p:spPr>
          <a:xfrm>
            <a:off x="1663186" y="3650552"/>
            <a:ext cx="4369387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ランチセッション</a:t>
            </a:r>
          </a:p>
        </p:txBody>
      </p:sp>
      <p:sp>
        <p:nvSpPr>
          <p:cNvPr id="31" name="説明_ランチセッション"/>
          <p:cNvSpPr txBox="1"/>
          <p:nvPr/>
        </p:nvSpPr>
        <p:spPr>
          <a:xfrm>
            <a:off x="1663186" y="3918353"/>
            <a:ext cx="4369387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美味しいご飯と、先輩社員の地方暮らし・働き方のホンネトーク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1033" y="4411671"/>
            <a:ext cx="5708393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時刻"/>
          <p:cNvSpPr/>
          <p:nvPr/>
        </p:nvSpPr>
        <p:spPr>
          <a:xfrm>
            <a:off x="648360" y="4623093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時刻_13:00"/>
          <p:cNvSpPr txBox="1"/>
          <p:nvPr/>
        </p:nvSpPr>
        <p:spPr>
          <a:xfrm>
            <a:off x="648360" y="4623093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13:00</a:t>
            </a:r>
          </a:p>
        </p:txBody>
      </p:sp>
      <p:sp>
        <p:nvSpPr>
          <p:cNvPr id="36" name="要点_対話ワーク『100歳までの履歴書』"/>
          <p:cNvSpPr txBox="1"/>
          <p:nvPr/>
        </p:nvSpPr>
        <p:spPr>
          <a:xfrm>
            <a:off x="1663186" y="4496240"/>
            <a:ext cx="4369387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対話ワーク『100歳までの履歴書』</a:t>
            </a:r>
          </a:p>
        </p:txBody>
      </p:sp>
      <p:sp>
        <p:nvSpPr>
          <p:cNvPr id="37" name="説明_対話ワーク『100歳までの履歴書』"/>
          <p:cNvSpPr txBox="1"/>
          <p:nvPr/>
        </p:nvSpPr>
        <p:spPr>
          <a:xfrm>
            <a:off x="1663186" y="4764041"/>
            <a:ext cx="4369387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「どんな大人になっていたいか」から逆算し、大切にしたい「CARE」を言語化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1033" y="5257359"/>
            <a:ext cx="5708393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時刻"/>
          <p:cNvSpPr/>
          <p:nvPr/>
        </p:nvSpPr>
        <p:spPr>
          <a:xfrm>
            <a:off x="648360" y="5468781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時刻_14:30"/>
          <p:cNvSpPr txBox="1"/>
          <p:nvPr/>
        </p:nvSpPr>
        <p:spPr>
          <a:xfrm>
            <a:off x="648360" y="5468781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14:30</a:t>
            </a:r>
          </a:p>
        </p:txBody>
      </p:sp>
      <p:sp>
        <p:nvSpPr>
          <p:cNvPr id="42" name="要点_リフレクション＆フィードバック"/>
          <p:cNvSpPr txBox="1"/>
          <p:nvPr/>
        </p:nvSpPr>
        <p:spPr>
          <a:xfrm>
            <a:off x="1663186" y="5341928"/>
            <a:ext cx="4369387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リフレクション＆フィードバック</a:t>
            </a:r>
          </a:p>
        </p:txBody>
      </p:sp>
      <p:sp>
        <p:nvSpPr>
          <p:cNvPr id="43" name="説明_リフレクション＆フィードバック"/>
          <p:cNvSpPr txBox="1"/>
          <p:nvPr/>
        </p:nvSpPr>
        <p:spPr>
          <a:xfrm>
            <a:off x="1663186" y="5609729"/>
            <a:ext cx="4369387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メンターからの応援メッセージとフィードバックシートをお渡し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70848" y="1874608"/>
            <a:ext cx="5370117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日"/>
          <p:cNvSpPr/>
          <p:nvPr/>
        </p:nvSpPr>
        <p:spPr>
          <a:xfrm>
            <a:off x="6568175" y="2086030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日_DAY1"/>
          <p:cNvSpPr txBox="1"/>
          <p:nvPr/>
        </p:nvSpPr>
        <p:spPr>
          <a:xfrm>
            <a:off x="6568175" y="2086030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DAY1</a:t>
            </a:r>
          </a:p>
        </p:txBody>
      </p:sp>
      <p:sp>
        <p:nvSpPr>
          <p:cNvPr id="48" name="要点_インストール"/>
          <p:cNvSpPr txBox="1"/>
          <p:nvPr/>
        </p:nvSpPr>
        <p:spPr>
          <a:xfrm>
            <a:off x="7611190" y="1959176"/>
            <a:ext cx="394654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インストール</a:t>
            </a:r>
          </a:p>
        </p:txBody>
      </p:sp>
      <p:sp>
        <p:nvSpPr>
          <p:cNvPr id="49" name="説明_インストール"/>
          <p:cNvSpPr txBox="1"/>
          <p:nvPr/>
        </p:nvSpPr>
        <p:spPr>
          <a:xfrm>
            <a:off x="7611190" y="2226978"/>
            <a:ext cx="3946543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オリエンテーション・動画鑑賞・メンターと「実習中の目標」設定。利用者様の人生のお話に耳を傾ける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70848" y="2720295"/>
            <a:ext cx="5370117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日"/>
          <p:cNvSpPr/>
          <p:nvPr/>
        </p:nvSpPr>
        <p:spPr>
          <a:xfrm>
            <a:off x="6568175" y="2931717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日_DAY2-3"/>
          <p:cNvSpPr txBox="1"/>
          <p:nvPr/>
        </p:nvSpPr>
        <p:spPr>
          <a:xfrm>
            <a:off x="6568175" y="2931717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DAY2-3</a:t>
            </a:r>
          </a:p>
        </p:txBody>
      </p:sp>
      <p:sp>
        <p:nvSpPr>
          <p:cNvPr id="54" name="要点_現場ケアと人間関係の構築"/>
          <p:cNvSpPr txBox="1"/>
          <p:nvPr/>
        </p:nvSpPr>
        <p:spPr>
          <a:xfrm>
            <a:off x="7611190" y="2804864"/>
            <a:ext cx="394654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現場ケアと人間関係の構築</a:t>
            </a:r>
          </a:p>
        </p:txBody>
      </p:sp>
      <p:sp>
        <p:nvSpPr>
          <p:cNvPr id="55" name="説明_現場ケアと人間関係の構築"/>
          <p:cNvSpPr txBox="1"/>
          <p:nvPr/>
        </p:nvSpPr>
        <p:spPr>
          <a:xfrm>
            <a:off x="7611190" y="3072665"/>
            <a:ext cx="3946543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現場業務のサポートと利用者様との対話。メンターと毎日の振り返り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70848" y="3565983"/>
            <a:ext cx="5370117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日"/>
          <p:cNvSpPr/>
          <p:nvPr/>
        </p:nvSpPr>
        <p:spPr>
          <a:xfrm>
            <a:off x="6568175" y="3777405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日_DAY4"/>
          <p:cNvSpPr txBox="1"/>
          <p:nvPr/>
        </p:nvSpPr>
        <p:spPr>
          <a:xfrm>
            <a:off x="6568175" y="3777405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DAY4</a:t>
            </a:r>
          </a:p>
        </p:txBody>
      </p:sp>
      <p:sp>
        <p:nvSpPr>
          <p:cNvPr id="60" name="要点_笑顔を届けるプチ企画"/>
          <p:cNvSpPr txBox="1"/>
          <p:nvPr/>
        </p:nvSpPr>
        <p:spPr>
          <a:xfrm>
            <a:off x="7611190" y="3650552"/>
            <a:ext cx="394654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笑顔を届けるプチ企画</a:t>
            </a:r>
          </a:p>
        </p:txBody>
      </p:sp>
      <p:sp>
        <p:nvSpPr>
          <p:cNvPr id="61" name="説明_笑顔を届けるプチ企画"/>
          <p:cNvSpPr txBox="1"/>
          <p:nvPr/>
        </p:nvSpPr>
        <p:spPr>
          <a:xfrm>
            <a:off x="7611190" y="3918353"/>
            <a:ext cx="3946543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学生が考えた「利用者様を喜ばせる小さな企画」（お茶会・手書きメッセージ等）を実践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70848" y="4411671"/>
            <a:ext cx="5370117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日"/>
          <p:cNvSpPr/>
          <p:nvPr/>
        </p:nvSpPr>
        <p:spPr>
          <a:xfrm>
            <a:off x="6568175" y="4623093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日_DAY5"/>
          <p:cNvSpPr txBox="1"/>
          <p:nvPr/>
        </p:nvSpPr>
        <p:spPr>
          <a:xfrm>
            <a:off x="6568175" y="4623093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DAY5</a:t>
            </a:r>
          </a:p>
        </p:txBody>
      </p:sp>
      <p:sp>
        <p:nvSpPr>
          <p:cNvPr id="66" name="要点_履歴書の発表会＆結びのランチ"/>
          <p:cNvSpPr txBox="1"/>
          <p:nvPr/>
        </p:nvSpPr>
        <p:spPr>
          <a:xfrm>
            <a:off x="7611190" y="4496240"/>
            <a:ext cx="394654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履歴書の発表会＆結びのランチ</a:t>
            </a:r>
          </a:p>
        </p:txBody>
      </p:sp>
      <p:sp>
        <p:nvSpPr>
          <p:cNvPr id="67" name="説明_履歴書の発表会＆結びのランチ"/>
          <p:cNvSpPr txBox="1"/>
          <p:nvPr/>
        </p:nvSpPr>
        <p:spPr>
          <a:xfrm>
            <a:off x="7611190" y="4764041"/>
            <a:ext cx="3946543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「100歳までの履歴書」の発表、メンター全員からのメッセージ、修了式</a:t>
            </a:r>
          </a:p>
        </p:txBody>
      </p:sp>
      <p:sp>
        <p:nvSpPr>
          <p:cNvPr id="68" name="掲載ボックス"/>
          <p:cNvSpPr/>
          <p:nvPr/>
        </p:nvSpPr>
        <p:spPr>
          <a:xfrm>
            <a:off x="6370848" y="5257359"/>
            <a:ext cx="5370117" cy="831593"/>
          </a:xfrm>
          <a:prstGeom prst="roundRect">
            <a:avLst>
              <a:gd name="adj" fmla="val 14000"/>
            </a:avLst>
          </a:prstGeom>
          <a:solidFill>
            <a:srgbClr val="FF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掲載_見出し"/>
          <p:cNvSpPr txBox="1"/>
          <p:nvPr/>
        </p:nvSpPr>
        <p:spPr>
          <a:xfrm>
            <a:off x="6596365" y="5370117"/>
            <a:ext cx="4933179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実習の体験は、実習サイトへ</a:t>
            </a:r>
          </a:p>
        </p:txBody>
      </p:sp>
      <p:sp>
        <p:nvSpPr>
          <p:cNvPr id="70" name="掲載_本文"/>
          <p:cNvSpPr txBox="1"/>
          <p:nvPr/>
        </p:nvSpPr>
        <p:spPr>
          <a:xfrm>
            <a:off x="6596365" y="5652013"/>
            <a:ext cx="4933179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実習の体験・感想を後日サイトに掲載。</a:t>
            </a:r>
          </a:p>
          <a:p>
            <a:pPr algn="l">
              <a:lnSpc>
                <a:spcPct val="12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Web掲載用の声としてストックします。</a:t>
            </a:r>
          </a:p>
        </p:txBody>
      </p:sp>
      <p:sp>
        <p:nvSpPr>
          <p:cNvPr id="71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プログラムの内容・日程はサイト上でも「調整中」です。</a:t>
            </a:r>
          </a:p>
        </p:txBody>
      </p:sp>
      <p:sp>
        <p:nvSpPr>
          <p:cNvPr id="72" name="タイトル下線"/>
          <p:cNvSpPr/>
          <p:nvPr/>
        </p:nvSpPr>
        <p:spPr>
          <a:xfrm>
            <a:off x="451033" y="930256"/>
            <a:ext cx="507412" cy="35236"/>
          </a:xfrm>
          <a:prstGeom prst="rect">
            <a:avLst/>
          </a:prstGeom>
          <a:solidFill>
            <a:srgbClr val="54C5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実習の流れ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はじめてでも安心。4つのステップと、サイトで届ける内容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1033" y="1212152"/>
            <a:ext cx="2621632" cy="1691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1033" y="1212152"/>
            <a:ext cx="2621632" cy="549697"/>
          </a:xfrm>
          <a:prstGeom prst="roundRect">
            <a:avLst>
              <a:gd name="adj" fmla="val 25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1033" y="1479953"/>
            <a:ext cx="2621632" cy="281895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TEP1"/>
          <p:cNvSpPr txBox="1"/>
          <p:nvPr/>
        </p:nvSpPr>
        <p:spPr>
          <a:xfrm>
            <a:off x="634265" y="1254436"/>
            <a:ext cx="916161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 spc="1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01</a:t>
            </a:r>
          </a:p>
        </p:txBody>
      </p:sp>
      <p:sp>
        <p:nvSpPr>
          <p:cNvPr id="10" name="見出し_申し込む"/>
          <p:cNvSpPr txBox="1"/>
          <p:nvPr/>
        </p:nvSpPr>
        <p:spPr>
          <a:xfrm>
            <a:off x="1508143" y="1254436"/>
            <a:ext cx="1479953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申し込む</a:t>
            </a:r>
          </a:p>
        </p:txBody>
      </p:sp>
      <p:sp>
        <p:nvSpPr>
          <p:cNvPr id="11" name="説明_申し込む"/>
          <p:cNvSpPr txBox="1"/>
          <p:nvPr/>
        </p:nvSpPr>
        <p:spPr>
          <a:xfrm>
            <a:off x="648360" y="1930987"/>
            <a:ext cx="2226978" cy="91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フォームから、行きたい日と事業所を選んで申込。質問だけでも大丈夫です。</a:t>
            </a:r>
          </a:p>
        </p:txBody>
      </p:sp>
      <p:sp>
        <p:nvSpPr>
          <p:cNvPr id="12" name="矢印"/>
          <p:cNvSpPr/>
          <p:nvPr/>
        </p:nvSpPr>
        <p:spPr>
          <a:xfrm>
            <a:off x="3100855" y="1888702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40467" y="1212152"/>
            <a:ext cx="2621632" cy="1691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40467" y="1212152"/>
            <a:ext cx="2621632" cy="549697"/>
          </a:xfrm>
          <a:prstGeom prst="roundRect">
            <a:avLst>
              <a:gd name="adj" fmla="val 25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40467" y="1479953"/>
            <a:ext cx="2621632" cy="281895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TEP2"/>
          <p:cNvSpPr txBox="1"/>
          <p:nvPr/>
        </p:nvSpPr>
        <p:spPr>
          <a:xfrm>
            <a:off x="3523699" y="1254436"/>
            <a:ext cx="916161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 spc="1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02</a:t>
            </a:r>
          </a:p>
        </p:txBody>
      </p:sp>
      <p:sp>
        <p:nvSpPr>
          <p:cNvPr id="17" name="見出し_事前の連絡"/>
          <p:cNvSpPr txBox="1"/>
          <p:nvPr/>
        </p:nvSpPr>
        <p:spPr>
          <a:xfrm>
            <a:off x="4397576" y="1254436"/>
            <a:ext cx="1479953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事前の連絡</a:t>
            </a:r>
          </a:p>
        </p:txBody>
      </p:sp>
      <p:sp>
        <p:nvSpPr>
          <p:cNvPr id="18" name="説明_事前の連絡"/>
          <p:cNvSpPr txBox="1"/>
          <p:nvPr/>
        </p:nvSpPr>
        <p:spPr>
          <a:xfrm>
            <a:off x="3537794" y="1930987"/>
            <a:ext cx="2226978" cy="91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持ち物や服装、当日の集合場所をお知らせします。</a:t>
            </a:r>
          </a:p>
        </p:txBody>
      </p:sp>
      <p:sp>
        <p:nvSpPr>
          <p:cNvPr id="19" name="矢印"/>
          <p:cNvSpPr/>
          <p:nvPr/>
        </p:nvSpPr>
        <p:spPr>
          <a:xfrm>
            <a:off x="5990289" y="1888702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29900" y="1212152"/>
            <a:ext cx="2621632" cy="1691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29900" y="1212152"/>
            <a:ext cx="2621632" cy="549697"/>
          </a:xfrm>
          <a:prstGeom prst="roundRect">
            <a:avLst>
              <a:gd name="adj" fmla="val 25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9900" y="1479953"/>
            <a:ext cx="2621632" cy="281895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TEP3"/>
          <p:cNvSpPr txBox="1"/>
          <p:nvPr/>
        </p:nvSpPr>
        <p:spPr>
          <a:xfrm>
            <a:off x="6413132" y="1254436"/>
            <a:ext cx="916161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 spc="1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03</a:t>
            </a:r>
          </a:p>
        </p:txBody>
      </p:sp>
      <p:sp>
        <p:nvSpPr>
          <p:cNvPr id="24" name="見出し_実習の当日"/>
          <p:cNvSpPr txBox="1"/>
          <p:nvPr/>
        </p:nvSpPr>
        <p:spPr>
          <a:xfrm>
            <a:off x="7287010" y="1254436"/>
            <a:ext cx="1479953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実習の当日</a:t>
            </a:r>
          </a:p>
        </p:txBody>
      </p:sp>
      <p:sp>
        <p:nvSpPr>
          <p:cNvPr id="25" name="説明_実習の当日"/>
          <p:cNvSpPr txBox="1"/>
          <p:nvPr/>
        </p:nvSpPr>
        <p:spPr>
          <a:xfrm>
            <a:off x="6427227" y="1930987"/>
            <a:ext cx="2226978" cy="91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職員がそばでサポート。利用者さんとおしゃべりしながら、現場を体験。</a:t>
            </a:r>
          </a:p>
        </p:txBody>
      </p:sp>
      <p:sp>
        <p:nvSpPr>
          <p:cNvPr id="26" name="矢印"/>
          <p:cNvSpPr/>
          <p:nvPr/>
        </p:nvSpPr>
        <p:spPr>
          <a:xfrm>
            <a:off x="8879722" y="1888702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19334" y="1212152"/>
            <a:ext cx="2621632" cy="1691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19334" y="1212152"/>
            <a:ext cx="2621632" cy="549697"/>
          </a:xfrm>
          <a:prstGeom prst="roundRect">
            <a:avLst>
              <a:gd name="adj" fmla="val 25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19334" y="1479953"/>
            <a:ext cx="2621632" cy="281895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EP4"/>
          <p:cNvSpPr txBox="1"/>
          <p:nvPr/>
        </p:nvSpPr>
        <p:spPr>
          <a:xfrm>
            <a:off x="9302566" y="1254436"/>
            <a:ext cx="916161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 spc="1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04</a:t>
            </a:r>
          </a:p>
        </p:txBody>
      </p:sp>
      <p:sp>
        <p:nvSpPr>
          <p:cNvPr id="31" name="見出し_振り返り"/>
          <p:cNvSpPr txBox="1"/>
          <p:nvPr/>
        </p:nvSpPr>
        <p:spPr>
          <a:xfrm>
            <a:off x="10176443" y="1254436"/>
            <a:ext cx="1479953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振り返り</a:t>
            </a:r>
          </a:p>
        </p:txBody>
      </p:sp>
      <p:sp>
        <p:nvSpPr>
          <p:cNvPr id="32" name="説明_振り返り"/>
          <p:cNvSpPr txBox="1"/>
          <p:nvPr/>
        </p:nvSpPr>
        <p:spPr>
          <a:xfrm>
            <a:off x="9316661" y="1930987"/>
            <a:ext cx="2226978" cy="91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感じたことや気づいたことを、職員と話し合います。</a:t>
            </a:r>
          </a:p>
        </p:txBody>
      </p:sp>
      <p:sp>
        <p:nvSpPr>
          <p:cNvPr id="33" name="見出し_サイト"/>
          <p:cNvSpPr txBox="1"/>
          <p:nvPr/>
        </p:nvSpPr>
        <p:spPr>
          <a:xfrm>
            <a:off x="451033" y="3086760"/>
            <a:ext cx="6342658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64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実習サイトで届ける内容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1033" y="3453225"/>
            <a:ext cx="1761849" cy="16349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タイル_実習レポート"/>
          <p:cNvSpPr txBox="1"/>
          <p:nvPr/>
        </p:nvSpPr>
        <p:spPr>
          <a:xfrm>
            <a:off x="634265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実習レポート</a:t>
            </a:r>
          </a:p>
        </p:txBody>
      </p:sp>
      <p:sp>
        <p:nvSpPr>
          <p:cNvPr id="37" name="タイル説明_実習レポート"/>
          <p:cNvSpPr txBox="1"/>
          <p:nvPr/>
        </p:nvSpPr>
        <p:spPr>
          <a:xfrm>
            <a:off x="634265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実習の1日の流れをたどる記事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353831" y="3453225"/>
            <a:ext cx="1761849" cy="16349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タイル_職員の声"/>
          <p:cNvSpPr txBox="1"/>
          <p:nvPr/>
        </p:nvSpPr>
        <p:spPr>
          <a:xfrm>
            <a:off x="2537063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職員の声</a:t>
            </a:r>
          </a:p>
        </p:txBody>
      </p:sp>
      <p:sp>
        <p:nvSpPr>
          <p:cNvPr id="41" name="タイル説明_職員の声"/>
          <p:cNvSpPr txBox="1"/>
          <p:nvPr/>
        </p:nvSpPr>
        <p:spPr>
          <a:xfrm>
            <a:off x="2537063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仕事のやりがいと、実習生へのメッセージ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56628" y="3453225"/>
            <a:ext cx="1761849" cy="16349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タイル_人生の先輩の"/>
          <p:cNvSpPr txBox="1"/>
          <p:nvPr/>
        </p:nvSpPr>
        <p:spPr>
          <a:xfrm>
            <a:off x="4439861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人生の先輩の</a:t>
            </a:r>
          </a:p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メッセージ</a:t>
            </a:r>
          </a:p>
        </p:txBody>
      </p:sp>
      <p:sp>
        <p:nvSpPr>
          <p:cNvPr id="45" name="タイル説明_人生の先輩の"/>
          <p:cNvSpPr txBox="1"/>
          <p:nvPr/>
        </p:nvSpPr>
        <p:spPr>
          <a:xfrm>
            <a:off x="4439861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ご利用者さんから、実習に来るみなさんへのひとこと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59426" y="3453225"/>
            <a:ext cx="1761849" cy="16349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タイル_お知らせ"/>
          <p:cNvSpPr txBox="1"/>
          <p:nvPr/>
        </p:nvSpPr>
        <p:spPr>
          <a:xfrm>
            <a:off x="6342658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お知らせ</a:t>
            </a:r>
          </a:p>
        </p:txBody>
      </p:sp>
      <p:sp>
        <p:nvSpPr>
          <p:cNvPr id="49" name="タイル説明_お知らせ"/>
          <p:cNvSpPr txBox="1"/>
          <p:nvPr/>
        </p:nvSpPr>
        <p:spPr>
          <a:xfrm>
            <a:off x="6342658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実習受け入れ拠点の追加など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62224" y="3453225"/>
            <a:ext cx="1761849" cy="16349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タイル_事業所の"/>
          <p:cNvSpPr txBox="1"/>
          <p:nvPr/>
        </p:nvSpPr>
        <p:spPr>
          <a:xfrm>
            <a:off x="8245456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事業所の</a:t>
            </a:r>
          </a:p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</a:t>
            </a:r>
          </a:p>
        </p:txBody>
      </p:sp>
      <p:sp>
        <p:nvSpPr>
          <p:cNvPr id="53" name="タイル説明_事業所の"/>
          <p:cNvSpPr txBox="1"/>
          <p:nvPr/>
        </p:nvSpPr>
        <p:spPr>
          <a:xfrm>
            <a:off x="8245456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事業所の中の様子をのぞける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65021" y="3453225"/>
            <a:ext cx="1761849" cy="16349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タイル_経営者"/>
          <p:cNvSpPr txBox="1"/>
          <p:nvPr/>
        </p:nvSpPr>
        <p:spPr>
          <a:xfrm>
            <a:off x="10148254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経営者</a:t>
            </a:r>
          </a:p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インタビュー</a:t>
            </a:r>
          </a:p>
        </p:txBody>
      </p:sp>
      <p:sp>
        <p:nvSpPr>
          <p:cNvPr id="57" name="タイル説明_経営者"/>
          <p:cNvSpPr txBox="1"/>
          <p:nvPr/>
        </p:nvSpPr>
        <p:spPr>
          <a:xfrm>
            <a:off x="10148254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社長に聞いた、これからのまちのカタチ（visions）</a:t>
            </a:r>
          </a:p>
        </p:txBody>
      </p:sp>
      <p:sp>
        <p:nvSpPr>
          <p:cNvPr id="58" name="そのほか"/>
          <p:cNvSpPr/>
          <p:nvPr/>
        </p:nvSpPr>
        <p:spPr>
          <a:xfrm>
            <a:off x="451033" y="5299643"/>
            <a:ext cx="11289932" cy="78930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51033" y="5468781"/>
            <a:ext cx="56379" cy="451033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そのほか_見出し"/>
          <p:cNvSpPr txBox="1"/>
          <p:nvPr/>
        </p:nvSpPr>
        <p:spPr>
          <a:xfrm>
            <a:off x="704739" y="5412402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そのほか</a:t>
            </a:r>
          </a:p>
        </p:txBody>
      </p:sp>
      <p:sp>
        <p:nvSpPr>
          <p:cNvPr id="61" name="そのほか_本文"/>
          <p:cNvSpPr txBox="1"/>
          <p:nvPr/>
        </p:nvSpPr>
        <p:spPr>
          <a:xfrm>
            <a:off x="704739" y="5680203"/>
            <a:ext cx="10852994" cy="352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よくある質問　／　個人情報の取扱い（プライバシーポリシー）　／　気になるキーワードから記事を探す　／　実習の申込フォーム</a:t>
            </a:r>
          </a:p>
        </p:txBody>
      </p:sp>
      <p:sp>
        <p:nvSpPr>
          <p:cNvPr id="62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申込フォーム・SNS・問い合わせ先は準備中です。記事の内容はサンプルです。</a:t>
            </a:r>
          </a:p>
        </p:txBody>
      </p:sp>
      <p:sp>
        <p:nvSpPr>
          <p:cNvPr id="63" name="タイトル下線"/>
          <p:cNvSpPr/>
          <p:nvPr/>
        </p:nvSpPr>
        <p:spPr>
          <a:xfrm>
            <a:off x="451033" y="930256"/>
            <a:ext cx="507412" cy="35236"/>
          </a:xfrm>
          <a:prstGeom prst="rect">
            <a:avLst/>
          </a:prstGeom>
          <a:solidFill>
            <a:srgbClr val="54C5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長野を中心に、信越・北関東に109の拠点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1033" y="1240342"/>
            <a:ext cx="6201710" cy="486270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グラフ見出し"/>
          <p:cNvSpPr txBox="1"/>
          <p:nvPr/>
        </p:nvSpPr>
        <p:spPr>
          <a:xfrm>
            <a:off x="704739" y="1381290"/>
            <a:ext cx="49331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都県別の拠点数（計109拠点）</a:t>
            </a:r>
          </a:p>
        </p:txBody>
      </p:sp>
      <p:graphicFrame>
        <p:nvGraphicFramePr>
          <p:cNvPr id="8" name="拠点数グラフ"/>
          <p:cNvGraphicFramePr>
            <a:graphicFrameLocks noGrp="1"/>
          </p:cNvGraphicFramePr>
          <p:nvPr/>
        </p:nvGraphicFramePr>
        <p:xfrm>
          <a:off x="620171" y="1733660"/>
          <a:ext cx="5863435" cy="422843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906450" y="1240342"/>
            <a:ext cx="4834515" cy="184641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サービス見出し"/>
          <p:cNvSpPr txBox="1"/>
          <p:nvPr/>
        </p:nvSpPr>
        <p:spPr>
          <a:xfrm>
            <a:off x="7160157" y="1381290"/>
            <a:ext cx="4369387" cy="2537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提供しているサービス　7種</a:t>
            </a:r>
          </a:p>
        </p:txBody>
      </p:sp>
      <p:sp>
        <p:nvSpPr>
          <p:cNvPr id="11" name="サービス_有料老人ホーム"/>
          <p:cNvSpPr/>
          <p:nvPr/>
        </p:nvSpPr>
        <p:spPr>
          <a:xfrm>
            <a:off x="7160157" y="1775944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サービス文字_有料老人ホーム"/>
          <p:cNvSpPr txBox="1"/>
          <p:nvPr/>
        </p:nvSpPr>
        <p:spPr>
          <a:xfrm>
            <a:off x="7160157" y="1775944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有料老人ホーム</a:t>
            </a:r>
          </a:p>
        </p:txBody>
      </p:sp>
      <p:sp>
        <p:nvSpPr>
          <p:cNvPr id="13" name="サービス_グループホーム"/>
          <p:cNvSpPr/>
          <p:nvPr/>
        </p:nvSpPr>
        <p:spPr>
          <a:xfrm>
            <a:off x="8654205" y="1775944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サービス文字_グループホーム"/>
          <p:cNvSpPr txBox="1"/>
          <p:nvPr/>
        </p:nvSpPr>
        <p:spPr>
          <a:xfrm>
            <a:off x="8654205" y="1775944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グループホーム</a:t>
            </a:r>
          </a:p>
        </p:txBody>
      </p:sp>
      <p:sp>
        <p:nvSpPr>
          <p:cNvPr id="15" name="サービス_デイサービス"/>
          <p:cNvSpPr/>
          <p:nvPr/>
        </p:nvSpPr>
        <p:spPr>
          <a:xfrm>
            <a:off x="10148254" y="1775944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サービス文字_デイサービス"/>
          <p:cNvSpPr txBox="1"/>
          <p:nvPr/>
        </p:nvSpPr>
        <p:spPr>
          <a:xfrm>
            <a:off x="10148254" y="1775944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デイサービス</a:t>
            </a:r>
          </a:p>
        </p:txBody>
      </p:sp>
      <p:sp>
        <p:nvSpPr>
          <p:cNvPr id="17" name="サービス_小規模多機能"/>
          <p:cNvSpPr/>
          <p:nvPr/>
        </p:nvSpPr>
        <p:spPr>
          <a:xfrm>
            <a:off x="7160157" y="2212883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サービス文字_小規模多機能"/>
          <p:cNvSpPr txBox="1"/>
          <p:nvPr/>
        </p:nvSpPr>
        <p:spPr>
          <a:xfrm>
            <a:off x="7160157" y="2212883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小規模多機能</a:t>
            </a:r>
          </a:p>
        </p:txBody>
      </p:sp>
      <p:sp>
        <p:nvSpPr>
          <p:cNvPr id="19" name="サービス_看護小規模多機能型"/>
          <p:cNvSpPr/>
          <p:nvPr/>
        </p:nvSpPr>
        <p:spPr>
          <a:xfrm>
            <a:off x="8654205" y="2212883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サービス文字_看護小規模多機能型"/>
          <p:cNvSpPr txBox="1"/>
          <p:nvPr/>
        </p:nvSpPr>
        <p:spPr>
          <a:xfrm>
            <a:off x="8654205" y="2212883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看護小規模多機能型</a:t>
            </a:r>
          </a:p>
        </p:txBody>
      </p:sp>
      <p:sp>
        <p:nvSpPr>
          <p:cNvPr id="21" name="サービス_訪問介護"/>
          <p:cNvSpPr/>
          <p:nvPr/>
        </p:nvSpPr>
        <p:spPr>
          <a:xfrm>
            <a:off x="10148254" y="2212883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サービス文字_訪問介護"/>
          <p:cNvSpPr txBox="1"/>
          <p:nvPr/>
        </p:nvSpPr>
        <p:spPr>
          <a:xfrm>
            <a:off x="10148254" y="2212883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訪問介護</a:t>
            </a:r>
          </a:p>
        </p:txBody>
      </p:sp>
      <p:sp>
        <p:nvSpPr>
          <p:cNvPr id="23" name="サービス_訪問看護"/>
          <p:cNvSpPr/>
          <p:nvPr/>
        </p:nvSpPr>
        <p:spPr>
          <a:xfrm>
            <a:off x="7160157" y="2649821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サービス文字_訪問看護"/>
          <p:cNvSpPr txBox="1"/>
          <p:nvPr/>
        </p:nvSpPr>
        <p:spPr>
          <a:xfrm>
            <a:off x="7160157" y="2649821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訪問看護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06450" y="3255898"/>
            <a:ext cx="4834515" cy="284714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ツアー見出し"/>
          <p:cNvSpPr txBox="1"/>
          <p:nvPr/>
        </p:nvSpPr>
        <p:spPr>
          <a:xfrm>
            <a:off x="7160157" y="3425035"/>
            <a:ext cx="4369387" cy="2537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360°ツアーで見学できる事業所　9拠点</a:t>
            </a:r>
          </a:p>
        </p:txBody>
      </p:sp>
      <p:sp>
        <p:nvSpPr>
          <p:cNvPr id="28" name="県"/>
          <p:cNvSpPr/>
          <p:nvPr/>
        </p:nvSpPr>
        <p:spPr>
          <a:xfrm>
            <a:off x="7160157" y="3890164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県_長野県"/>
          <p:cNvSpPr txBox="1"/>
          <p:nvPr/>
        </p:nvSpPr>
        <p:spPr>
          <a:xfrm>
            <a:off x="7160157" y="3890164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長野県</a:t>
            </a:r>
          </a:p>
        </p:txBody>
      </p:sp>
      <p:sp>
        <p:nvSpPr>
          <p:cNvPr id="30" name="拠点数_長野県"/>
          <p:cNvSpPr txBox="1"/>
          <p:nvPr/>
        </p:nvSpPr>
        <p:spPr>
          <a:xfrm>
            <a:off x="8104508" y="3890164"/>
            <a:ext cx="63426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5拠点</a:t>
            </a:r>
          </a:p>
        </p:txBody>
      </p:sp>
      <p:sp>
        <p:nvSpPr>
          <p:cNvPr id="31" name="所在地_長野県"/>
          <p:cNvSpPr txBox="1"/>
          <p:nvPr/>
        </p:nvSpPr>
        <p:spPr>
          <a:xfrm>
            <a:off x="8809248" y="3890164"/>
            <a:ext cx="274848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安曇野・松本・佐久・諏訪・上田</a:t>
            </a:r>
          </a:p>
        </p:txBody>
      </p:sp>
      <p:sp>
        <p:nvSpPr>
          <p:cNvPr id="32" name="県"/>
          <p:cNvSpPr/>
          <p:nvPr/>
        </p:nvSpPr>
        <p:spPr>
          <a:xfrm>
            <a:off x="7160157" y="4439861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県_新潟県"/>
          <p:cNvSpPr txBox="1"/>
          <p:nvPr/>
        </p:nvSpPr>
        <p:spPr>
          <a:xfrm>
            <a:off x="7160157" y="4439861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新潟県</a:t>
            </a:r>
          </a:p>
        </p:txBody>
      </p:sp>
      <p:sp>
        <p:nvSpPr>
          <p:cNvPr id="34" name="拠点数_新潟県"/>
          <p:cNvSpPr txBox="1"/>
          <p:nvPr/>
        </p:nvSpPr>
        <p:spPr>
          <a:xfrm>
            <a:off x="8104508" y="4439861"/>
            <a:ext cx="63426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1拠点</a:t>
            </a:r>
          </a:p>
        </p:txBody>
      </p:sp>
      <p:sp>
        <p:nvSpPr>
          <p:cNvPr id="35" name="所在地_新潟県"/>
          <p:cNvSpPr txBox="1"/>
          <p:nvPr/>
        </p:nvSpPr>
        <p:spPr>
          <a:xfrm>
            <a:off x="8809248" y="4439861"/>
            <a:ext cx="274848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糸魚川</a:t>
            </a:r>
          </a:p>
        </p:txBody>
      </p:sp>
      <p:sp>
        <p:nvSpPr>
          <p:cNvPr id="36" name="県"/>
          <p:cNvSpPr/>
          <p:nvPr/>
        </p:nvSpPr>
        <p:spPr>
          <a:xfrm>
            <a:off x="7160157" y="4989558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県_栃木県"/>
          <p:cNvSpPr txBox="1"/>
          <p:nvPr/>
        </p:nvSpPr>
        <p:spPr>
          <a:xfrm>
            <a:off x="7160157" y="4989558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栃木県</a:t>
            </a:r>
          </a:p>
        </p:txBody>
      </p:sp>
      <p:sp>
        <p:nvSpPr>
          <p:cNvPr id="38" name="拠点数_栃木県"/>
          <p:cNvSpPr txBox="1"/>
          <p:nvPr/>
        </p:nvSpPr>
        <p:spPr>
          <a:xfrm>
            <a:off x="8104508" y="4989558"/>
            <a:ext cx="63426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2拠点</a:t>
            </a:r>
          </a:p>
        </p:txBody>
      </p:sp>
      <p:sp>
        <p:nvSpPr>
          <p:cNvPr id="39" name="所在地_栃木県"/>
          <p:cNvSpPr txBox="1"/>
          <p:nvPr/>
        </p:nvSpPr>
        <p:spPr>
          <a:xfrm>
            <a:off x="8809248" y="4989558"/>
            <a:ext cx="274848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宇都宮・小山</a:t>
            </a:r>
          </a:p>
        </p:txBody>
      </p:sp>
      <p:sp>
        <p:nvSpPr>
          <p:cNvPr id="40" name="県"/>
          <p:cNvSpPr/>
          <p:nvPr/>
        </p:nvSpPr>
        <p:spPr>
          <a:xfrm>
            <a:off x="7160157" y="5539255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県_埼玉県"/>
          <p:cNvSpPr txBox="1"/>
          <p:nvPr/>
        </p:nvSpPr>
        <p:spPr>
          <a:xfrm>
            <a:off x="7160157" y="5539255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埼玉県</a:t>
            </a:r>
          </a:p>
        </p:txBody>
      </p:sp>
      <p:sp>
        <p:nvSpPr>
          <p:cNvPr id="42" name="拠点数_埼玉県"/>
          <p:cNvSpPr txBox="1"/>
          <p:nvPr/>
        </p:nvSpPr>
        <p:spPr>
          <a:xfrm>
            <a:off x="8104508" y="5539255"/>
            <a:ext cx="63426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1拠点</a:t>
            </a:r>
          </a:p>
        </p:txBody>
      </p:sp>
      <p:sp>
        <p:nvSpPr>
          <p:cNvPr id="43" name="所在地_埼玉県"/>
          <p:cNvSpPr txBox="1"/>
          <p:nvPr/>
        </p:nvSpPr>
        <p:spPr>
          <a:xfrm>
            <a:off x="8809248" y="5539255"/>
            <a:ext cx="274848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羽生</a:t>
            </a:r>
          </a:p>
        </p:txBody>
      </p:sp>
      <p:sp>
        <p:nvSpPr>
          <p:cNvPr id="44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出典：エフビー介護サービス コーポレートサイト（360°ツアー）ほか、実習サイトの掲載内容。</a:t>
            </a:r>
          </a:p>
        </p:txBody>
      </p:sp>
      <p:sp>
        <p:nvSpPr>
          <p:cNvPr id="45" name="タイトル下線"/>
          <p:cNvSpPr/>
          <p:nvPr/>
        </p:nvSpPr>
        <p:spPr>
          <a:xfrm>
            <a:off x="451033" y="930256"/>
            <a:ext cx="507412" cy="35236"/>
          </a:xfrm>
          <a:prstGeom prst="rect">
            <a:avLst/>
          </a:prstGeom>
          <a:solidFill>
            <a:srgbClr val="54C5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