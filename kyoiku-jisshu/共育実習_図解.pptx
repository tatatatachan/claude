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2.png"/><Relationship Id="rId7" Type="http://schemas.openxmlformats.org/officeDocument/2006/relationships/image" Target="../media/image8.png"/><Relationship Id="rId8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1E4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表紙イラスト（公式LINEバナーより）" descr="cover_ill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060"/>
            <a:ext cx="12192000" cy="4303059"/>
          </a:xfrm>
          <a:prstGeom prst="rect">
            <a:avLst/>
          </a:prstGeom>
        </p:spPr>
      </p:pic>
      <p:sp>
        <p:nvSpPr>
          <p:cNvPr id="4" name="波"/>
          <p:cNvSpPr/>
          <p:nvPr/>
        </p:nvSpPr>
        <p:spPr>
          <a:xfrm>
            <a:off x="0" y="2525871"/>
            <a:ext cx="12192000" cy="394603"/>
          </a:xfrm>
          <a:custGeom>
            <a:avLst/>
            <a:gdLst/>
            <a:ahLst/>
            <a:cxnLst/>
            <a:rect l="l" t="t" r="r" b="b"/>
            <a:pathLst>
              <a:path w="12192000" h="394603">
                <a:moveTo>
                  <a:pt x="0" y="0"/>
                </a:moveTo>
                <a:lnTo>
                  <a:pt x="12192000" y="0"/>
                </a:lnTo>
                <a:lnTo>
                  <a:pt x="12192000" y="196174"/>
                </a:lnTo>
                <a:lnTo>
                  <a:pt x="12090400" y="204609"/>
                </a:lnTo>
                <a:lnTo>
                  <a:pt x="11988800" y="213434"/>
                </a:lnTo>
                <a:lnTo>
                  <a:pt x="11887200" y="222594"/>
                </a:lnTo>
                <a:lnTo>
                  <a:pt x="11785600" y="232033"/>
                </a:lnTo>
                <a:lnTo>
                  <a:pt x="11684000" y="241692"/>
                </a:lnTo>
                <a:lnTo>
                  <a:pt x="11582400" y="251512"/>
                </a:lnTo>
                <a:lnTo>
                  <a:pt x="11480800" y="261433"/>
                </a:lnTo>
                <a:lnTo>
                  <a:pt x="11379200" y="271393"/>
                </a:lnTo>
                <a:lnTo>
                  <a:pt x="11277600" y="281330"/>
                </a:lnTo>
                <a:lnTo>
                  <a:pt x="11176000" y="291185"/>
                </a:lnTo>
                <a:lnTo>
                  <a:pt x="11074400" y="300895"/>
                </a:lnTo>
                <a:lnTo>
                  <a:pt x="10972800" y="310401"/>
                </a:lnTo>
                <a:lnTo>
                  <a:pt x="10871200" y="319644"/>
                </a:lnTo>
                <a:lnTo>
                  <a:pt x="10769600" y="328568"/>
                </a:lnTo>
                <a:lnTo>
                  <a:pt x="10668000" y="337117"/>
                </a:lnTo>
                <a:lnTo>
                  <a:pt x="10566400" y="345239"/>
                </a:lnTo>
                <a:lnTo>
                  <a:pt x="10464800" y="352884"/>
                </a:lnTo>
                <a:lnTo>
                  <a:pt x="10363200" y="360003"/>
                </a:lnTo>
                <a:lnTo>
                  <a:pt x="10261600" y="366555"/>
                </a:lnTo>
                <a:lnTo>
                  <a:pt x="10160000" y="372497"/>
                </a:lnTo>
                <a:lnTo>
                  <a:pt x="10058400" y="377794"/>
                </a:lnTo>
                <a:lnTo>
                  <a:pt x="9956800" y="382413"/>
                </a:lnTo>
                <a:lnTo>
                  <a:pt x="9855200" y="386325"/>
                </a:lnTo>
                <a:lnTo>
                  <a:pt x="9753600" y="389507"/>
                </a:lnTo>
                <a:lnTo>
                  <a:pt x="9652000" y="391938"/>
                </a:lnTo>
                <a:lnTo>
                  <a:pt x="9550400" y="393604"/>
                </a:lnTo>
                <a:lnTo>
                  <a:pt x="9448800" y="394494"/>
                </a:lnTo>
                <a:lnTo>
                  <a:pt x="9347200" y="394603"/>
                </a:lnTo>
                <a:lnTo>
                  <a:pt x="9245600" y="393930"/>
                </a:lnTo>
                <a:lnTo>
                  <a:pt x="9144000" y="392480"/>
                </a:lnTo>
                <a:lnTo>
                  <a:pt x="9042400" y="390261"/>
                </a:lnTo>
                <a:lnTo>
                  <a:pt x="8940800" y="387287"/>
                </a:lnTo>
                <a:lnTo>
                  <a:pt x="8839200" y="383576"/>
                </a:lnTo>
                <a:lnTo>
                  <a:pt x="8737600" y="379152"/>
                </a:lnTo>
                <a:lnTo>
                  <a:pt x="8636000" y="374041"/>
                </a:lnTo>
                <a:lnTo>
                  <a:pt x="8534400" y="368275"/>
                </a:lnTo>
                <a:lnTo>
                  <a:pt x="8432800" y="361889"/>
                </a:lnTo>
                <a:lnTo>
                  <a:pt x="8331200" y="354924"/>
                </a:lnTo>
                <a:lnTo>
                  <a:pt x="8229600" y="347421"/>
                </a:lnTo>
                <a:lnTo>
                  <a:pt x="8128000" y="339428"/>
                </a:lnTo>
                <a:lnTo>
                  <a:pt x="8026400" y="330992"/>
                </a:lnTo>
                <a:lnTo>
                  <a:pt x="7924800" y="322168"/>
                </a:lnTo>
                <a:lnTo>
                  <a:pt x="7823200" y="313008"/>
                </a:lnTo>
                <a:lnTo>
                  <a:pt x="7721600" y="303569"/>
                </a:lnTo>
                <a:lnTo>
                  <a:pt x="7620000" y="293910"/>
                </a:lnTo>
                <a:lnTo>
                  <a:pt x="7518400" y="284089"/>
                </a:lnTo>
                <a:lnTo>
                  <a:pt x="7416800" y="274169"/>
                </a:lnTo>
                <a:lnTo>
                  <a:pt x="7315200" y="264209"/>
                </a:lnTo>
                <a:lnTo>
                  <a:pt x="7213600" y="254271"/>
                </a:lnTo>
                <a:lnTo>
                  <a:pt x="7112000" y="244417"/>
                </a:lnTo>
                <a:lnTo>
                  <a:pt x="7010400" y="234707"/>
                </a:lnTo>
                <a:lnTo>
                  <a:pt x="6908800" y="225201"/>
                </a:lnTo>
                <a:lnTo>
                  <a:pt x="6807200" y="215957"/>
                </a:lnTo>
                <a:lnTo>
                  <a:pt x="6705600" y="207033"/>
                </a:lnTo>
                <a:lnTo>
                  <a:pt x="6604000" y="198484"/>
                </a:lnTo>
                <a:lnTo>
                  <a:pt x="6502400" y="190362"/>
                </a:lnTo>
                <a:lnTo>
                  <a:pt x="6400800" y="182718"/>
                </a:lnTo>
                <a:lnTo>
                  <a:pt x="6299200" y="175598"/>
                </a:lnTo>
                <a:lnTo>
                  <a:pt x="6197600" y="169047"/>
                </a:lnTo>
                <a:lnTo>
                  <a:pt x="6096000" y="163104"/>
                </a:lnTo>
                <a:lnTo>
                  <a:pt x="5994400" y="157807"/>
                </a:lnTo>
                <a:lnTo>
                  <a:pt x="5892800" y="153188"/>
                </a:lnTo>
                <a:lnTo>
                  <a:pt x="5791200" y="149276"/>
                </a:lnTo>
                <a:lnTo>
                  <a:pt x="5689600" y="146095"/>
                </a:lnTo>
                <a:lnTo>
                  <a:pt x="5588000" y="143664"/>
                </a:lnTo>
                <a:lnTo>
                  <a:pt x="5486400" y="141998"/>
                </a:lnTo>
                <a:lnTo>
                  <a:pt x="5384800" y="141108"/>
                </a:lnTo>
                <a:lnTo>
                  <a:pt x="5283200" y="140998"/>
                </a:lnTo>
                <a:lnTo>
                  <a:pt x="5181600" y="141671"/>
                </a:lnTo>
                <a:lnTo>
                  <a:pt x="5080000" y="143122"/>
                </a:lnTo>
                <a:lnTo>
                  <a:pt x="4978400" y="145341"/>
                </a:lnTo>
                <a:lnTo>
                  <a:pt x="4876800" y="148315"/>
                </a:lnTo>
                <a:lnTo>
                  <a:pt x="4775200" y="152025"/>
                </a:lnTo>
                <a:lnTo>
                  <a:pt x="4673600" y="156450"/>
                </a:lnTo>
                <a:lnTo>
                  <a:pt x="4572000" y="161561"/>
                </a:lnTo>
                <a:lnTo>
                  <a:pt x="4470400" y="167327"/>
                </a:lnTo>
                <a:lnTo>
                  <a:pt x="4368800" y="173712"/>
                </a:lnTo>
                <a:lnTo>
                  <a:pt x="4267200" y="180678"/>
                </a:lnTo>
                <a:lnTo>
                  <a:pt x="4165600" y="188181"/>
                </a:lnTo>
                <a:lnTo>
                  <a:pt x="4064000" y="196174"/>
                </a:lnTo>
                <a:lnTo>
                  <a:pt x="3962400" y="204609"/>
                </a:lnTo>
                <a:lnTo>
                  <a:pt x="3860800" y="213434"/>
                </a:lnTo>
                <a:lnTo>
                  <a:pt x="3759200" y="222594"/>
                </a:lnTo>
                <a:lnTo>
                  <a:pt x="3657600" y="232033"/>
                </a:lnTo>
                <a:lnTo>
                  <a:pt x="3556000" y="241692"/>
                </a:lnTo>
                <a:lnTo>
                  <a:pt x="3454400" y="251512"/>
                </a:lnTo>
                <a:lnTo>
                  <a:pt x="3352800" y="261433"/>
                </a:lnTo>
                <a:lnTo>
                  <a:pt x="3251200" y="271393"/>
                </a:lnTo>
                <a:lnTo>
                  <a:pt x="3149600" y="281330"/>
                </a:lnTo>
                <a:lnTo>
                  <a:pt x="3048000" y="291185"/>
                </a:lnTo>
                <a:lnTo>
                  <a:pt x="2946400" y="300895"/>
                </a:lnTo>
                <a:lnTo>
                  <a:pt x="2844800" y="310401"/>
                </a:lnTo>
                <a:lnTo>
                  <a:pt x="2743200" y="319644"/>
                </a:lnTo>
                <a:lnTo>
                  <a:pt x="2641600" y="328568"/>
                </a:lnTo>
                <a:lnTo>
                  <a:pt x="2540000" y="337117"/>
                </a:lnTo>
                <a:lnTo>
                  <a:pt x="2438400" y="345239"/>
                </a:lnTo>
                <a:lnTo>
                  <a:pt x="2336800" y="352884"/>
                </a:lnTo>
                <a:lnTo>
                  <a:pt x="2235200" y="360003"/>
                </a:lnTo>
                <a:lnTo>
                  <a:pt x="2133600" y="366555"/>
                </a:lnTo>
                <a:lnTo>
                  <a:pt x="2032000" y="372497"/>
                </a:lnTo>
                <a:lnTo>
                  <a:pt x="1930400" y="377794"/>
                </a:lnTo>
                <a:lnTo>
                  <a:pt x="1828800" y="382413"/>
                </a:lnTo>
                <a:lnTo>
                  <a:pt x="1727200" y="386325"/>
                </a:lnTo>
                <a:lnTo>
                  <a:pt x="1625600" y="389507"/>
                </a:lnTo>
                <a:lnTo>
                  <a:pt x="1524000" y="391938"/>
                </a:lnTo>
                <a:lnTo>
                  <a:pt x="1422400" y="393604"/>
                </a:lnTo>
                <a:lnTo>
                  <a:pt x="1320800" y="394494"/>
                </a:lnTo>
                <a:lnTo>
                  <a:pt x="1219200" y="394603"/>
                </a:lnTo>
                <a:lnTo>
                  <a:pt x="1117600" y="393930"/>
                </a:lnTo>
                <a:lnTo>
                  <a:pt x="1016000" y="392480"/>
                </a:lnTo>
                <a:lnTo>
                  <a:pt x="914400" y="390261"/>
                </a:lnTo>
                <a:lnTo>
                  <a:pt x="812800" y="387287"/>
                </a:lnTo>
                <a:lnTo>
                  <a:pt x="711200" y="383576"/>
                </a:lnTo>
                <a:lnTo>
                  <a:pt x="609600" y="379152"/>
                </a:lnTo>
                <a:lnTo>
                  <a:pt x="508000" y="374041"/>
                </a:lnTo>
                <a:lnTo>
                  <a:pt x="406400" y="368275"/>
                </a:lnTo>
                <a:lnTo>
                  <a:pt x="304800" y="361889"/>
                </a:lnTo>
                <a:lnTo>
                  <a:pt x="203200" y="354924"/>
                </a:lnTo>
                <a:lnTo>
                  <a:pt x="101600" y="347421"/>
                </a:lnTo>
                <a:lnTo>
                  <a:pt x="0" y="339428"/>
                </a:lnTo>
                <a:close/>
              </a:path>
            </a:pathLst>
          </a:custGeom>
          <a:solidFill>
            <a:srgbClr val="1E4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英字"/>
          <p:cNvSpPr txBox="1"/>
          <p:nvPr/>
        </p:nvSpPr>
        <p:spPr>
          <a:xfrm>
            <a:off x="704740" y="493318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500">
                <a:solidFill>
                  <a:srgbClr val="E8C872"/>
                </a:solidFill>
                <a:latin typeface="游ゴシック"/>
                <a:ea typeface="游ゴシック"/>
                <a:cs typeface="游ゴシック"/>
              </a:rPr>
              <a:t>EFB CARE SERVICE  ×  CO-GROWTH PRACTICE</a:t>
            </a:r>
          </a:p>
        </p:txBody>
      </p:sp>
      <p:sp>
        <p:nvSpPr>
          <p:cNvPr id="6" name="タイトル"/>
          <p:cNvSpPr txBox="1"/>
          <p:nvPr/>
        </p:nvSpPr>
        <p:spPr>
          <a:xfrm>
            <a:off x="676550" y="789309"/>
            <a:ext cx="7752139" cy="11980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935"/>
              </a:lnSpc>
              <a:spcBef>
                <a:spcPts val="0"/>
              </a:spcBef>
              <a:spcAft>
                <a:spcPts val="0"/>
              </a:spcAft>
            </a:pPr>
            <a:r>
              <a:rPr sz="7213" b="1">
                <a:solidFill>
                  <a:srgbClr val="FBF8EC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7" name="ライン"/>
          <p:cNvCxnSpPr/>
          <p:nvPr/>
        </p:nvCxnSpPr>
        <p:spPr>
          <a:xfrm>
            <a:off x="732929" y="2057840"/>
            <a:ext cx="676551" cy="0"/>
          </a:xfrm>
          <a:prstGeom prst="line">
            <a:avLst/>
          </a:prstGeom>
          <a:ln w="38100">
            <a:solidFill>
              <a:srgbClr val="E8C8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キャッチ"/>
          <p:cNvSpPr txBox="1"/>
          <p:nvPr/>
        </p:nvSpPr>
        <p:spPr>
          <a:xfrm>
            <a:off x="704740" y="2226978"/>
            <a:ext cx="8456879" cy="324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  <a:spcBef>
                <a:spcPts val="0"/>
              </a:spcBef>
              <a:spcAft>
                <a:spcPts val="0"/>
              </a:spcAft>
            </a:pPr>
            <a:r>
              <a:rPr sz="1553" b="0">
                <a:solidFill>
                  <a:srgbClr val="DDEBE0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学ぶ人も、迎える人も、地域も。みんなが共に育つ。</a:t>
            </a:r>
          </a:p>
        </p:txBody>
      </p:sp>
      <p:sp>
        <p:nvSpPr>
          <p:cNvPr id="9" name="宛名"/>
          <p:cNvSpPr txBox="1"/>
          <p:nvPr/>
        </p:nvSpPr>
        <p:spPr>
          <a:xfrm>
            <a:off x="8527353" y="535602"/>
            <a:ext cx="2959908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200">
                <a:solidFill>
                  <a:srgbClr val="E8C872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D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アーチ"/>
          <p:cNvSpPr/>
          <p:nvPr/>
        </p:nvSpPr>
        <p:spPr>
          <a:xfrm>
            <a:off x="7117873" y="563792"/>
            <a:ext cx="4369387" cy="572953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F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丘1"/>
          <p:cNvSpPr/>
          <p:nvPr/>
        </p:nvSpPr>
        <p:spPr>
          <a:xfrm>
            <a:off x="7117873" y="4404624"/>
            <a:ext cx="4369387" cy="1888703"/>
          </a:xfrm>
          <a:custGeom>
            <a:avLst/>
            <a:gdLst/>
            <a:ahLst/>
            <a:cxnLst/>
            <a:rect l="l" t="t" r="r" b="b"/>
            <a:pathLst>
              <a:path w="4369387" h="1888703">
                <a:moveTo>
                  <a:pt x="0" y="528555"/>
                </a:moveTo>
                <a:lnTo>
                  <a:pt x="1339006" y="105711"/>
                </a:lnTo>
                <a:lnTo>
                  <a:pt x="2818959" y="458081"/>
                </a:lnTo>
                <a:lnTo>
                  <a:pt x="4369387" y="0"/>
                </a:lnTo>
                <a:lnTo>
                  <a:pt x="4369387" y="1888703"/>
                </a:lnTo>
                <a:lnTo>
                  <a:pt x="0" y="1888703"/>
                </a:lnTo>
                <a:close/>
              </a:path>
            </a:pathLst>
          </a:custGeom>
          <a:solidFill>
            <a:srgbClr val="B5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丘2"/>
          <p:cNvSpPr/>
          <p:nvPr/>
        </p:nvSpPr>
        <p:spPr>
          <a:xfrm>
            <a:off x="7117873" y="5179838"/>
            <a:ext cx="4369387" cy="1113489"/>
          </a:xfrm>
          <a:custGeom>
            <a:avLst/>
            <a:gdLst/>
            <a:ahLst/>
            <a:cxnLst/>
            <a:rect l="l" t="t" r="r" b="b"/>
            <a:pathLst>
              <a:path w="4369387" h="1113489">
                <a:moveTo>
                  <a:pt x="0" y="387607"/>
                </a:moveTo>
                <a:lnTo>
                  <a:pt x="1761850" y="49332"/>
                </a:lnTo>
                <a:lnTo>
                  <a:pt x="3523699" y="352370"/>
                </a:lnTo>
                <a:lnTo>
                  <a:pt x="4369387" y="0"/>
                </a:lnTo>
                <a:lnTo>
                  <a:pt x="4369387" y="1113489"/>
                </a:lnTo>
                <a:lnTo>
                  <a:pt x="0" y="1113489"/>
                </a:lnTo>
                <a:close/>
              </a:path>
            </a:pathLst>
          </a:custGeom>
          <a:solidFill>
            <a:srgbClr val="7FB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931" y="1479954"/>
            <a:ext cx="1902798" cy="915086"/>
          </a:xfrm>
          <a:prstGeom prst="rect">
            <a:avLst/>
          </a:prstGeom>
        </p:spPr>
      </p:pic>
      <p:pic>
        <p:nvPicPr>
          <p:cNvPr id="7" name="イラスト_selfie" descr="self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010" y="3277040"/>
            <a:ext cx="1798052" cy="1761850"/>
          </a:xfrm>
          <a:prstGeom prst="rect">
            <a:avLst/>
          </a:prstGeom>
        </p:spPr>
      </p:pic>
      <p:pic>
        <p:nvPicPr>
          <p:cNvPr id="8" name="イラスト_boy" descr="bo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145" y="3594173"/>
            <a:ext cx="900829" cy="1656139"/>
          </a:xfrm>
          <a:prstGeom prst="rect">
            <a:avLst/>
          </a:prstGeom>
        </p:spPr>
      </p:pic>
      <p:pic>
        <p:nvPicPr>
          <p:cNvPr id="9" name="イラスト_elder" descr="e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2543" y="3100855"/>
            <a:ext cx="1331879" cy="2043746"/>
          </a:xfrm>
          <a:prstGeom prst="rect">
            <a:avLst/>
          </a:prstGeom>
        </p:spPr>
      </p:pic>
      <p:sp>
        <p:nvSpPr>
          <p:cNvPr id="10" name="アーチ下端"/>
          <p:cNvSpPr/>
          <p:nvPr/>
        </p:nvSpPr>
        <p:spPr>
          <a:xfrm>
            <a:off x="7103778" y="6236948"/>
            <a:ext cx="4397577" cy="56379"/>
          </a:xfrm>
          <a:prstGeom prst="rect">
            <a:avLst/>
          </a:prstGeom>
          <a:solidFill>
            <a:srgbClr val="D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小見出し"/>
          <p:cNvSpPr txBox="1"/>
          <p:nvPr/>
        </p:nvSpPr>
        <p:spPr>
          <a:xfrm>
            <a:off x="704740" y="704740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600">
                <a:solidFill>
                  <a:srgbClr val="2F6F5E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12" name="タイトル"/>
          <p:cNvSpPr txBox="1"/>
          <p:nvPr/>
        </p:nvSpPr>
        <p:spPr>
          <a:xfrm>
            <a:off x="676550" y="1057110"/>
            <a:ext cx="6342659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156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1F5A4C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13" name="ライン"/>
          <p:cNvCxnSpPr/>
          <p:nvPr/>
        </p:nvCxnSpPr>
        <p:spPr>
          <a:xfrm>
            <a:off x="732929" y="2818960"/>
            <a:ext cx="676551" cy="0"/>
          </a:xfrm>
          <a:prstGeom prst="line">
            <a:avLst/>
          </a:prstGeom>
          <a:ln w="38100">
            <a:solidFill>
              <a:srgbClr val="C9A2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キャッチ"/>
          <p:cNvSpPr txBox="1"/>
          <p:nvPr/>
        </p:nvSpPr>
        <p:spPr>
          <a:xfrm>
            <a:off x="704740" y="3100855"/>
            <a:ext cx="5778867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0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2830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15" name="宛名"/>
          <p:cNvSpPr txBox="1"/>
          <p:nvPr/>
        </p:nvSpPr>
        <p:spPr>
          <a:xfrm>
            <a:off x="704740" y="5778867"/>
            <a:ext cx="563791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200">
                <a:solidFill>
                  <a:srgbClr val="2F6F5E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sp>
        <p:nvSpPr>
          <p:cNvPr id="16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アジェンダ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このあと、お伝えすること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4284818"/>
            <a:ext cx="4143871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pic>
        <p:nvPicPr>
          <p:cNvPr id="12" name="イラスト_picnic" descr="pic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15" y="5017748"/>
            <a:ext cx="1409480" cy="947589"/>
          </a:xfrm>
          <a:prstGeom prst="rect">
            <a:avLst/>
          </a:prstGeom>
        </p:spPr>
      </p:pic>
      <p:pic>
        <p:nvPicPr>
          <p:cNvPr id="13" name="イラスト_runners" descr="run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605" y="5158696"/>
            <a:ext cx="1204428" cy="880925"/>
          </a:xfrm>
          <a:prstGeom prst="rect">
            <a:avLst/>
          </a:prstGeom>
        </p:spPr>
      </p:pic>
      <p:sp>
        <p:nvSpPr>
          <p:cNvPr id="14" name="番号点"/>
          <p:cNvSpPr/>
          <p:nvPr/>
        </p:nvSpPr>
        <p:spPr>
          <a:xfrm>
            <a:off x="6060763" y="1729432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1"/>
          <p:cNvSpPr txBox="1"/>
          <p:nvPr/>
        </p:nvSpPr>
        <p:spPr>
          <a:xfrm>
            <a:off x="6060763" y="1729432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6" name="項目_共育実習が目指すこと"/>
          <p:cNvSpPr txBox="1"/>
          <p:nvPr/>
        </p:nvSpPr>
        <p:spPr>
          <a:xfrm>
            <a:off x="6821882" y="1536333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共育実習が目指すこと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ビジョンと、みんなで育つ共創モデル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P.3–5</a:t>
            </a:r>
          </a:p>
        </p:txBody>
      </p:sp>
      <p:pic>
        <p:nvPicPr>
          <p:cNvPr id="17" name="イラスト_selfie" descr="self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458" y="1564523"/>
            <a:ext cx="796897" cy="780852"/>
          </a:xfrm>
          <a:prstGeom prst="rect">
            <a:avLst/>
          </a:prstGeom>
        </p:spPr>
      </p:pic>
      <p:cxnSp>
        <p:nvCxnSpPr>
          <p:cNvPr id="18" name="区切り"/>
          <p:cNvCxnSpPr/>
          <p:nvPr/>
        </p:nvCxnSpPr>
        <p:spPr>
          <a:xfrm>
            <a:off x="6046668" y="2444038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番号点"/>
          <p:cNvSpPr/>
          <p:nvPr/>
        </p:nvSpPr>
        <p:spPr>
          <a:xfrm>
            <a:off x="6060763" y="2707611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6060763" y="2707611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項目_いま、なぜ福祉人材か"/>
          <p:cNvSpPr txBox="1"/>
          <p:nvPr/>
        </p:nvSpPr>
        <p:spPr>
          <a:xfrm>
            <a:off x="6821882" y="2514512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いま、なぜ福祉人材か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人口の変化と、介護の需要、福祉の価値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P.6–8</a:t>
            </a:r>
          </a:p>
        </p:txBody>
      </p:sp>
      <p:pic>
        <p:nvPicPr>
          <p:cNvPr id="22" name="イラスト_elder" descr="e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2485" y="2542702"/>
            <a:ext cx="508870" cy="780852"/>
          </a:xfrm>
          <a:prstGeom prst="rect">
            <a:avLst/>
          </a:prstGeom>
        </p:spPr>
      </p:pic>
      <p:cxnSp>
        <p:nvCxnSpPr>
          <p:cNvPr id="23" name="区切り"/>
          <p:cNvCxnSpPr/>
          <p:nvPr/>
        </p:nvCxnSpPr>
        <p:spPr>
          <a:xfrm>
            <a:off x="6046668" y="3422217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番号点"/>
          <p:cNvSpPr/>
          <p:nvPr/>
        </p:nvSpPr>
        <p:spPr>
          <a:xfrm>
            <a:off x="6060763" y="3685790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番号3"/>
          <p:cNvSpPr txBox="1"/>
          <p:nvPr/>
        </p:nvSpPr>
        <p:spPr>
          <a:xfrm>
            <a:off x="6060763" y="3685790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6" name="項目_エフビー介護サービスを知る"/>
          <p:cNvSpPr txBox="1"/>
          <p:nvPr/>
        </p:nvSpPr>
        <p:spPr>
          <a:xfrm>
            <a:off x="6821882" y="3492691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エフビー介護サービスを知る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介護の考え方、沿革、事業の展開と成長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P.9–13</a:t>
            </a:r>
          </a:p>
        </p:txBody>
      </p:sp>
      <p:pic>
        <p:nvPicPr>
          <p:cNvPr id="27" name="イラスト_van" descr="v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1875" y="3520880"/>
            <a:ext cx="1409480" cy="677841"/>
          </a:xfrm>
          <a:prstGeom prst="rect">
            <a:avLst/>
          </a:prstGeom>
        </p:spPr>
      </p:pic>
      <p:cxnSp>
        <p:nvCxnSpPr>
          <p:cNvPr id="28" name="区切り"/>
          <p:cNvCxnSpPr/>
          <p:nvPr/>
        </p:nvCxnSpPr>
        <p:spPr>
          <a:xfrm>
            <a:off x="6046668" y="4400396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点"/>
          <p:cNvSpPr/>
          <p:nvPr/>
        </p:nvSpPr>
        <p:spPr>
          <a:xfrm>
            <a:off x="6060763" y="4663969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4"/>
          <p:cNvSpPr txBox="1"/>
          <p:nvPr/>
        </p:nvSpPr>
        <p:spPr>
          <a:xfrm>
            <a:off x="6060763" y="4663969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1" name="項目_実習で得られること"/>
          <p:cNvSpPr txBox="1"/>
          <p:nvPr/>
        </p:nvSpPr>
        <p:spPr>
          <a:xfrm>
            <a:off x="6821882" y="4470870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実習で得られること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他社との違い、プログラム、受け入れ体制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P.14–17</a:t>
            </a:r>
          </a:p>
        </p:txBody>
      </p:sp>
      <p:pic>
        <p:nvPicPr>
          <p:cNvPr id="32" name="イラスト_care" descr="c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198" y="4499059"/>
            <a:ext cx="840157" cy="780852"/>
          </a:xfrm>
          <a:prstGeom prst="rect">
            <a:avLst/>
          </a:prstGeom>
        </p:spPr>
      </p:pic>
      <p:cxnSp>
        <p:nvCxnSpPr>
          <p:cNvPr id="33" name="区切り"/>
          <p:cNvCxnSpPr/>
          <p:nvPr/>
        </p:nvCxnSpPr>
        <p:spPr>
          <a:xfrm>
            <a:off x="6046668" y="5378575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番号点"/>
          <p:cNvSpPr/>
          <p:nvPr/>
        </p:nvSpPr>
        <p:spPr>
          <a:xfrm>
            <a:off x="6060763" y="5642148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5"/>
          <p:cNvSpPr txBox="1"/>
          <p:nvPr/>
        </p:nvSpPr>
        <p:spPr>
          <a:xfrm>
            <a:off x="6060763" y="5642148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36" name="項目_実習のひろがり"/>
          <p:cNvSpPr txBox="1"/>
          <p:nvPr/>
        </p:nvSpPr>
        <p:spPr>
          <a:xfrm>
            <a:off x="6821882" y="5449049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ブランドの育ち方と、応募までの流れ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P.18–19</a:t>
            </a:r>
          </a:p>
        </p:txBody>
      </p:sp>
      <p:pic>
        <p:nvPicPr>
          <p:cNvPr id="37" name="イラスト_boy" descr="bo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6624" y="5477238"/>
            <a:ext cx="424731" cy="780852"/>
          </a:xfrm>
          <a:prstGeom prst="rect">
            <a:avLst/>
          </a:prstGeom>
        </p:spPr>
      </p:pic>
      <p:sp>
        <p:nvSpPr>
          <p:cNvPr id="3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