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参考（国連・5年ごと）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8">
                  <c:v>8575</c:v>
                </c:pt>
                <c:pt idx="133">
                  <c:v>8284</c:v>
                </c:pt>
                <c:pt idx="138">
                  <c:v>8030</c:v>
                </c:pt>
                <c:pt idx="143">
                  <c:v>7796</c:v>
                </c:pt>
                <c:pt idx="148">
                  <c:v>7574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厚生労働省の見通し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8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沿革。西暦は1年ごとの目盛り。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実習応募サイトの概要。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実習の声が、次の学びを広げる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実習の体験が声になり、声がサイトに載り、次の実習へつながる</a:t>
            </a:r>
          </a:p>
        </p:txBody>
      </p:sp>
      <p:sp>
        <p:nvSpPr>
          <p:cNvPr id="9" name="矢印_1から2"/>
          <p:cNvSpPr/>
          <p:nvPr/>
        </p:nvSpPr>
        <p:spPr>
          <a:xfrm>
            <a:off x="4848610" y="1860513"/>
            <a:ext cx="2494779" cy="451034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矢印_2から3"/>
          <p:cNvSpPr/>
          <p:nvPr/>
        </p:nvSpPr>
        <p:spPr>
          <a:xfrm>
            <a:off x="9316661" y="2804865"/>
            <a:ext cx="422844" cy="859783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矢印_3から4"/>
          <p:cNvSpPr/>
          <p:nvPr/>
        </p:nvSpPr>
        <p:spPr>
          <a:xfrm>
            <a:off x="4848610" y="4157965"/>
            <a:ext cx="2494779" cy="451034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矢印_4から1"/>
          <p:cNvSpPr/>
          <p:nvPr/>
        </p:nvSpPr>
        <p:spPr>
          <a:xfrm>
            <a:off x="2452495" y="2804865"/>
            <a:ext cx="422844" cy="859783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循環ラベル"/>
          <p:cNvSpPr txBox="1"/>
          <p:nvPr/>
        </p:nvSpPr>
        <p:spPr>
          <a:xfrm>
            <a:off x="3030382" y="3129045"/>
            <a:ext cx="2537064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4" name="広がる輪"/>
          <p:cNvSpPr/>
          <p:nvPr/>
        </p:nvSpPr>
        <p:spPr>
          <a:xfrm>
            <a:off x="5264407" y="2346784"/>
            <a:ext cx="1663186" cy="1663186"/>
          </a:xfrm>
          <a:prstGeom prst="ellipse">
            <a:avLst/>
          </a:prstGeom>
          <a:solidFill>
            <a:srgbClr val="DD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広がる輪"/>
          <p:cNvSpPr/>
          <p:nvPr/>
        </p:nvSpPr>
        <p:spPr>
          <a:xfrm>
            <a:off x="5461734" y="2544111"/>
            <a:ext cx="1268532" cy="1268532"/>
          </a:xfrm>
          <a:prstGeom prst="ellipse">
            <a:avLst/>
          </a:prstGeom>
          <a:solidFill>
            <a:srgbClr val="B5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広がる輪"/>
          <p:cNvSpPr/>
          <p:nvPr/>
        </p:nvSpPr>
        <p:spPr>
          <a:xfrm>
            <a:off x="5659061" y="2741438"/>
            <a:ext cx="873877" cy="87387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中央"/>
          <p:cNvSpPr txBox="1"/>
          <p:nvPr/>
        </p:nvSpPr>
        <p:spPr>
          <a:xfrm>
            <a:off x="5673156" y="2981050"/>
            <a:ext cx="845688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</a:t>
            </a:r>
          </a:p>
          <a:p>
            <a:pPr algn="ctr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8" name="帯"/>
          <p:cNvSpPr/>
          <p:nvPr/>
        </p:nvSpPr>
        <p:spPr>
          <a:xfrm>
            <a:off x="5419450" y="4080444"/>
            <a:ext cx="1353101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帯文字"/>
          <p:cNvSpPr txBox="1"/>
          <p:nvPr/>
        </p:nvSpPr>
        <p:spPr>
          <a:xfrm>
            <a:off x="5419450" y="4080444"/>
            <a:ext cx="1353101" cy="26780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回るほど広がる</a:t>
            </a:r>
          </a:p>
        </p:txBody>
      </p:sp>
      <p:sp>
        <p:nvSpPr>
          <p:cNvPr id="20" name="カード_共育実習を行う"/>
          <p:cNvSpPr/>
          <p:nvPr/>
        </p:nvSpPr>
        <p:spPr>
          <a:xfrm>
            <a:off x="620171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859783" y="1677281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1"/>
          <p:cNvSpPr txBox="1"/>
          <p:nvPr/>
        </p:nvSpPr>
        <p:spPr>
          <a:xfrm>
            <a:off x="859783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3" name="見出し_共育実習を行う"/>
          <p:cNvSpPr txBox="1"/>
          <p:nvPr/>
        </p:nvSpPr>
        <p:spPr>
          <a:xfrm>
            <a:off x="1423575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4" name="説明_共育実習を行う"/>
          <p:cNvSpPr txBox="1"/>
          <p:nvPr/>
        </p:nvSpPr>
        <p:spPr>
          <a:xfrm>
            <a:off x="859783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5" name="カード_声が集まる"/>
          <p:cNvSpPr/>
          <p:nvPr/>
        </p:nvSpPr>
        <p:spPr>
          <a:xfrm>
            <a:off x="7484338" y="1465859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7723949" y="1677281"/>
            <a:ext cx="394654" cy="39465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2"/>
          <p:cNvSpPr txBox="1"/>
          <p:nvPr/>
        </p:nvSpPr>
        <p:spPr>
          <a:xfrm>
            <a:off x="7723949" y="167728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見出し_声が集まる"/>
          <p:cNvSpPr txBox="1"/>
          <p:nvPr/>
        </p:nvSpPr>
        <p:spPr>
          <a:xfrm>
            <a:off x="8287741" y="1677281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7723949" y="2170599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7484338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番号"/>
          <p:cNvSpPr/>
          <p:nvPr/>
        </p:nvSpPr>
        <p:spPr>
          <a:xfrm>
            <a:off x="7723949" y="3974733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3"/>
          <p:cNvSpPr txBox="1"/>
          <p:nvPr/>
        </p:nvSpPr>
        <p:spPr>
          <a:xfrm>
            <a:off x="7723949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3" name="見出し_実習サイトに載せる"/>
          <p:cNvSpPr txBox="1"/>
          <p:nvPr/>
        </p:nvSpPr>
        <p:spPr>
          <a:xfrm>
            <a:off x="8287741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4" name="説明_実習サイトに載せる"/>
          <p:cNvSpPr txBox="1"/>
          <p:nvPr/>
        </p:nvSpPr>
        <p:spPr>
          <a:xfrm>
            <a:off x="7723949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5" name="カード_見て、動く"/>
          <p:cNvSpPr/>
          <p:nvPr/>
        </p:nvSpPr>
        <p:spPr>
          <a:xfrm>
            <a:off x="620171" y="3763311"/>
            <a:ext cx="4087491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"/>
          <p:cNvSpPr/>
          <p:nvPr/>
        </p:nvSpPr>
        <p:spPr>
          <a:xfrm>
            <a:off x="859783" y="3974733"/>
            <a:ext cx="394654" cy="39465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4"/>
          <p:cNvSpPr txBox="1"/>
          <p:nvPr/>
        </p:nvSpPr>
        <p:spPr>
          <a:xfrm>
            <a:off x="859783" y="3974733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8" name="見出し_見て、動く"/>
          <p:cNvSpPr txBox="1"/>
          <p:nvPr/>
        </p:nvSpPr>
        <p:spPr>
          <a:xfrm>
            <a:off x="1423575" y="3974733"/>
            <a:ext cx="3030382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9" name="説明_見て、動く"/>
          <p:cNvSpPr txBox="1"/>
          <p:nvPr/>
        </p:nvSpPr>
        <p:spPr>
          <a:xfrm>
            <a:off x="859783" y="4468051"/>
            <a:ext cx="3608268" cy="4651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0" name="サイトに載せるもの"/>
          <p:cNvSpPr/>
          <p:nvPr/>
        </p:nvSpPr>
        <p:spPr>
          <a:xfrm>
            <a:off x="620171" y="5215075"/>
            <a:ext cx="5637919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ほかの施策"/>
          <p:cNvSpPr/>
          <p:nvPr/>
        </p:nvSpPr>
        <p:spPr>
          <a:xfrm>
            <a:off x="6469512" y="5215075"/>
            <a:ext cx="5102317" cy="1141679"/>
          </a:xfrm>
          <a:prstGeom prst="roundRect">
            <a:avLst>
              <a:gd name="adj" fmla="val 12345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サイトに載せるもの本文"/>
          <p:cNvSpPr txBox="1"/>
          <p:nvPr/>
        </p:nvSpPr>
        <p:spPr>
          <a:xfrm>
            <a:off x="873877" y="5341928"/>
            <a:ext cx="5144601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プログラム内容と口コミ。学校の先生が受け入れを判断でき、学生が参加を決められる状態にする。</a:t>
            </a:r>
          </a:p>
        </p:txBody>
      </p:sp>
      <p:sp>
        <p:nvSpPr>
          <p:cNvPr id="43" name="これから本文"/>
          <p:cNvSpPr txBox="1"/>
          <p:nvPr/>
        </p:nvSpPr>
        <p:spPr>
          <a:xfrm>
            <a:off x="6723218" y="5341928"/>
            <a:ext cx="4594904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221"/>
              </a:spcAft>
            </a:pPr>
            <a:r>
              <a:rPr sz="1331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連携する大学・専門学校、対応地域を広げ、産官学で次世代の育成を地域のみなさんと進めます。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Prospects（2075年〜、推計方法が異なる参考値）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高齢者が増え、介護にかかる費用は2040年に向けて広がります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介護にかかる給付費（兆円・年度）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出典：社人研『社会保障費用統計』（〜2020年度）／厚生労働省『2040年を見据えた社会保障の将来見通し』計画ベース。2030・2035年度は公表なし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467320"/>
            <a:ext cx="10979847" cy="39465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47024" y="3495510"/>
            <a:ext cx="338275" cy="33827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704740" y="3565984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sp>
        <p:nvSpPr>
          <p:cNvPr id="11" name="年ラベル_1988"/>
          <p:cNvSpPr txBox="1"/>
          <p:nvPr/>
        </p:nvSpPr>
        <p:spPr>
          <a:xfrm>
            <a:off x="1040847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1988</a:t>
            </a:r>
          </a:p>
        </p:txBody>
      </p:sp>
      <p:sp>
        <p:nvSpPr>
          <p:cNvPr id="12" name="年ラベル_1989"/>
          <p:cNvSpPr txBox="1"/>
          <p:nvPr/>
        </p:nvSpPr>
        <p:spPr>
          <a:xfrm>
            <a:off x="1306479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1989</a:t>
            </a:r>
          </a:p>
        </p:txBody>
      </p:sp>
      <p:sp>
        <p:nvSpPr>
          <p:cNvPr id="13" name="年ラベル_1990"/>
          <p:cNvSpPr txBox="1"/>
          <p:nvPr/>
        </p:nvSpPr>
        <p:spPr>
          <a:xfrm>
            <a:off x="1572112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sp>
        <p:nvSpPr>
          <p:cNvPr id="14" name="年ラベル_1991"/>
          <p:cNvSpPr txBox="1"/>
          <p:nvPr/>
        </p:nvSpPr>
        <p:spPr>
          <a:xfrm>
            <a:off x="1837745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1991</a:t>
            </a:r>
          </a:p>
        </p:txBody>
      </p:sp>
      <p:sp>
        <p:nvSpPr>
          <p:cNvPr id="15" name="年ラベル_1992"/>
          <p:cNvSpPr txBox="1"/>
          <p:nvPr/>
        </p:nvSpPr>
        <p:spPr>
          <a:xfrm>
            <a:off x="2103378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1992</a:t>
            </a:r>
          </a:p>
        </p:txBody>
      </p:sp>
      <p:sp>
        <p:nvSpPr>
          <p:cNvPr id="16" name="年ラベル_1993"/>
          <p:cNvSpPr txBox="1"/>
          <p:nvPr/>
        </p:nvSpPr>
        <p:spPr>
          <a:xfrm>
            <a:off x="2369010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1993</a:t>
            </a:r>
          </a:p>
        </p:txBody>
      </p:sp>
      <p:sp>
        <p:nvSpPr>
          <p:cNvPr id="17" name="年ラベル_1994"/>
          <p:cNvSpPr txBox="1"/>
          <p:nvPr/>
        </p:nvSpPr>
        <p:spPr>
          <a:xfrm>
            <a:off x="2634643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1994</a:t>
            </a:r>
          </a:p>
        </p:txBody>
      </p:sp>
      <p:sp>
        <p:nvSpPr>
          <p:cNvPr id="18" name="年ラベル_1995"/>
          <p:cNvSpPr txBox="1"/>
          <p:nvPr/>
        </p:nvSpPr>
        <p:spPr>
          <a:xfrm>
            <a:off x="2900276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sp>
        <p:nvSpPr>
          <p:cNvPr id="19" name="年ラベル_1996"/>
          <p:cNvSpPr txBox="1"/>
          <p:nvPr/>
        </p:nvSpPr>
        <p:spPr>
          <a:xfrm>
            <a:off x="3165908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1996</a:t>
            </a:r>
          </a:p>
        </p:txBody>
      </p:sp>
      <p:sp>
        <p:nvSpPr>
          <p:cNvPr id="20" name="年ラベル_1997"/>
          <p:cNvSpPr txBox="1"/>
          <p:nvPr/>
        </p:nvSpPr>
        <p:spPr>
          <a:xfrm>
            <a:off x="3431541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1997</a:t>
            </a:r>
          </a:p>
        </p:txBody>
      </p:sp>
      <p:sp>
        <p:nvSpPr>
          <p:cNvPr id="21" name="年ラベル_1998"/>
          <p:cNvSpPr txBox="1"/>
          <p:nvPr/>
        </p:nvSpPr>
        <p:spPr>
          <a:xfrm>
            <a:off x="3697174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1998</a:t>
            </a:r>
          </a:p>
        </p:txBody>
      </p:sp>
      <p:sp>
        <p:nvSpPr>
          <p:cNvPr id="22" name="年ラベル_1999"/>
          <p:cNvSpPr txBox="1"/>
          <p:nvPr/>
        </p:nvSpPr>
        <p:spPr>
          <a:xfrm>
            <a:off x="3962807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1999</a:t>
            </a:r>
          </a:p>
        </p:txBody>
      </p:sp>
      <p:sp>
        <p:nvSpPr>
          <p:cNvPr id="23" name="年_2000"/>
          <p:cNvSpPr/>
          <p:nvPr/>
        </p:nvSpPr>
        <p:spPr>
          <a:xfrm>
            <a:off x="4200250" y="3495510"/>
            <a:ext cx="338275" cy="33827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57965" y="3565984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sp>
        <p:nvSpPr>
          <p:cNvPr id="25" name="年ラベル_2001"/>
          <p:cNvSpPr txBox="1"/>
          <p:nvPr/>
        </p:nvSpPr>
        <p:spPr>
          <a:xfrm>
            <a:off x="4494072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2001</a:t>
            </a:r>
          </a:p>
        </p:txBody>
      </p:sp>
      <p:sp>
        <p:nvSpPr>
          <p:cNvPr id="26" name="年_2002"/>
          <p:cNvSpPr/>
          <p:nvPr/>
        </p:nvSpPr>
        <p:spPr>
          <a:xfrm>
            <a:off x="4731515" y="3495510"/>
            <a:ext cx="338275" cy="33827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89231" y="3565984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sp>
        <p:nvSpPr>
          <p:cNvPr id="28" name="年ラベル_2003"/>
          <p:cNvSpPr txBox="1"/>
          <p:nvPr/>
        </p:nvSpPr>
        <p:spPr>
          <a:xfrm>
            <a:off x="5025337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2003</a:t>
            </a:r>
          </a:p>
        </p:txBody>
      </p:sp>
      <p:sp>
        <p:nvSpPr>
          <p:cNvPr id="29" name="年ラベル_2004"/>
          <p:cNvSpPr txBox="1"/>
          <p:nvPr/>
        </p:nvSpPr>
        <p:spPr>
          <a:xfrm>
            <a:off x="5290970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2004</a:t>
            </a:r>
          </a:p>
        </p:txBody>
      </p:sp>
      <p:sp>
        <p:nvSpPr>
          <p:cNvPr id="30" name="年ラベル_2005"/>
          <p:cNvSpPr txBox="1"/>
          <p:nvPr/>
        </p:nvSpPr>
        <p:spPr>
          <a:xfrm>
            <a:off x="5556603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sp>
        <p:nvSpPr>
          <p:cNvPr id="31" name="年ラベル_2006"/>
          <p:cNvSpPr txBox="1"/>
          <p:nvPr/>
        </p:nvSpPr>
        <p:spPr>
          <a:xfrm>
            <a:off x="5822236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2006</a:t>
            </a:r>
          </a:p>
        </p:txBody>
      </p:sp>
      <p:sp>
        <p:nvSpPr>
          <p:cNvPr id="32" name="年ラベル_2007"/>
          <p:cNvSpPr txBox="1"/>
          <p:nvPr/>
        </p:nvSpPr>
        <p:spPr>
          <a:xfrm>
            <a:off x="6087868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2007</a:t>
            </a:r>
          </a:p>
        </p:txBody>
      </p:sp>
      <p:sp>
        <p:nvSpPr>
          <p:cNvPr id="33" name="年ラベル_2008"/>
          <p:cNvSpPr txBox="1"/>
          <p:nvPr/>
        </p:nvSpPr>
        <p:spPr>
          <a:xfrm>
            <a:off x="6353501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2008</a:t>
            </a:r>
          </a:p>
        </p:txBody>
      </p:sp>
      <p:sp>
        <p:nvSpPr>
          <p:cNvPr id="34" name="年ラベル_2009"/>
          <p:cNvSpPr txBox="1"/>
          <p:nvPr/>
        </p:nvSpPr>
        <p:spPr>
          <a:xfrm>
            <a:off x="6619134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2009</a:t>
            </a:r>
          </a:p>
        </p:txBody>
      </p:sp>
      <p:sp>
        <p:nvSpPr>
          <p:cNvPr id="35" name="年ラベル_2010"/>
          <p:cNvSpPr txBox="1"/>
          <p:nvPr/>
        </p:nvSpPr>
        <p:spPr>
          <a:xfrm>
            <a:off x="6884767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sp>
        <p:nvSpPr>
          <p:cNvPr id="36" name="年ラベル_2011"/>
          <p:cNvSpPr txBox="1"/>
          <p:nvPr/>
        </p:nvSpPr>
        <p:spPr>
          <a:xfrm>
            <a:off x="7150399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2011</a:t>
            </a:r>
          </a:p>
        </p:txBody>
      </p:sp>
      <p:sp>
        <p:nvSpPr>
          <p:cNvPr id="37" name="年ラベル_2012"/>
          <p:cNvSpPr txBox="1"/>
          <p:nvPr/>
        </p:nvSpPr>
        <p:spPr>
          <a:xfrm>
            <a:off x="7416032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2012</a:t>
            </a:r>
          </a:p>
        </p:txBody>
      </p:sp>
      <p:sp>
        <p:nvSpPr>
          <p:cNvPr id="38" name="年ラベル_2013"/>
          <p:cNvSpPr txBox="1"/>
          <p:nvPr/>
        </p:nvSpPr>
        <p:spPr>
          <a:xfrm>
            <a:off x="7681665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2013</a:t>
            </a:r>
          </a:p>
        </p:txBody>
      </p:sp>
      <p:sp>
        <p:nvSpPr>
          <p:cNvPr id="39" name="年ラベル_2014"/>
          <p:cNvSpPr txBox="1"/>
          <p:nvPr/>
        </p:nvSpPr>
        <p:spPr>
          <a:xfrm>
            <a:off x="7947297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2014</a:t>
            </a:r>
          </a:p>
        </p:txBody>
      </p:sp>
      <p:sp>
        <p:nvSpPr>
          <p:cNvPr id="40" name="年ラベル_2015"/>
          <p:cNvSpPr txBox="1"/>
          <p:nvPr/>
        </p:nvSpPr>
        <p:spPr>
          <a:xfrm>
            <a:off x="8212930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sp>
        <p:nvSpPr>
          <p:cNvPr id="41" name="年ラベル_2016"/>
          <p:cNvSpPr txBox="1"/>
          <p:nvPr/>
        </p:nvSpPr>
        <p:spPr>
          <a:xfrm>
            <a:off x="8478563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2016</a:t>
            </a:r>
          </a:p>
        </p:txBody>
      </p:sp>
      <p:sp>
        <p:nvSpPr>
          <p:cNvPr id="42" name="年ラベル_2017"/>
          <p:cNvSpPr txBox="1"/>
          <p:nvPr/>
        </p:nvSpPr>
        <p:spPr>
          <a:xfrm>
            <a:off x="8744196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2017</a:t>
            </a:r>
          </a:p>
        </p:txBody>
      </p:sp>
      <p:sp>
        <p:nvSpPr>
          <p:cNvPr id="43" name="年ラベル_2018"/>
          <p:cNvSpPr txBox="1"/>
          <p:nvPr/>
        </p:nvSpPr>
        <p:spPr>
          <a:xfrm>
            <a:off x="9009828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2018</a:t>
            </a:r>
          </a:p>
        </p:txBody>
      </p:sp>
      <p:sp>
        <p:nvSpPr>
          <p:cNvPr id="44" name="年_2019"/>
          <p:cNvSpPr/>
          <p:nvPr/>
        </p:nvSpPr>
        <p:spPr>
          <a:xfrm>
            <a:off x="9247271" y="3495510"/>
            <a:ext cx="338275" cy="33827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204987" y="3565984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sp>
        <p:nvSpPr>
          <p:cNvPr id="46" name="年ラベル_2020"/>
          <p:cNvSpPr txBox="1"/>
          <p:nvPr/>
        </p:nvSpPr>
        <p:spPr>
          <a:xfrm>
            <a:off x="9541094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2020</a:t>
            </a:r>
          </a:p>
        </p:txBody>
      </p:sp>
      <p:sp>
        <p:nvSpPr>
          <p:cNvPr id="47" name="年ラベル_2021"/>
          <p:cNvSpPr txBox="1"/>
          <p:nvPr/>
        </p:nvSpPr>
        <p:spPr>
          <a:xfrm>
            <a:off x="9806727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2021</a:t>
            </a:r>
          </a:p>
        </p:txBody>
      </p:sp>
      <p:sp>
        <p:nvSpPr>
          <p:cNvPr id="48" name="年_2022"/>
          <p:cNvSpPr/>
          <p:nvPr/>
        </p:nvSpPr>
        <p:spPr>
          <a:xfrm>
            <a:off x="10044170" y="3495510"/>
            <a:ext cx="338275" cy="33827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10001885" y="3565984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sp>
        <p:nvSpPr>
          <p:cNvPr id="50" name="年ラベル_2023"/>
          <p:cNvSpPr txBox="1"/>
          <p:nvPr/>
        </p:nvSpPr>
        <p:spPr>
          <a:xfrm>
            <a:off x="10337992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2023</a:t>
            </a:r>
          </a:p>
        </p:txBody>
      </p:sp>
      <p:sp>
        <p:nvSpPr>
          <p:cNvPr id="51" name="年ラベル_2024"/>
          <p:cNvSpPr txBox="1"/>
          <p:nvPr/>
        </p:nvSpPr>
        <p:spPr>
          <a:xfrm>
            <a:off x="10603625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2024</a:t>
            </a:r>
          </a:p>
        </p:txBody>
      </p:sp>
      <p:sp>
        <p:nvSpPr>
          <p:cNvPr id="52" name="年ラベル_2025"/>
          <p:cNvSpPr txBox="1"/>
          <p:nvPr/>
        </p:nvSpPr>
        <p:spPr>
          <a:xfrm>
            <a:off x="10869257" y="3565984"/>
            <a:ext cx="281896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2025</a:t>
            </a:r>
          </a:p>
        </p:txBody>
      </p:sp>
      <p:sp>
        <p:nvSpPr>
          <p:cNvPr id="53" name="年_2026"/>
          <p:cNvSpPr/>
          <p:nvPr/>
        </p:nvSpPr>
        <p:spPr>
          <a:xfrm>
            <a:off x="11106701" y="3495510"/>
            <a:ext cx="338275" cy="338275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64416" y="3565984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932"/>
              </a:lnSpc>
              <a:spcBef>
                <a:spcPts val="0"/>
              </a:spcBef>
              <a:spcAft>
                <a:spcPts val="0"/>
              </a:spcAft>
            </a:pPr>
            <a:r>
              <a:rPr sz="77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298183"/>
            <a:ext cx="0" cy="169137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930987"/>
            <a:ext cx="232564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1987年4月</a:t>
            </a:r>
          </a:p>
          <a:p>
            <a:pPr algn="l">
              <a:lnSpc>
                <a:spcPts val="1872"/>
              </a:lnSpc>
              <a:spcBef>
                <a:spcPts val="0"/>
              </a:spcBef>
              <a:spcAft>
                <a:spcPts val="332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エフビー信州として設立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フランスベッドの代理店が原点。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本社は長野県佐久市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298183"/>
            <a:ext cx="0" cy="169137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930987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2002年10月</a:t>
            </a:r>
          </a:p>
          <a:p>
            <a:pPr algn="l">
              <a:lnSpc>
                <a:spcPts val="1872"/>
              </a:lnSpc>
              <a:spcBef>
                <a:spcPts val="0"/>
              </a:spcBef>
              <a:spcAft>
                <a:spcPts val="332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エフビー介護サービスへ商号変更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介護サービスの会社として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歩みを進める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298183"/>
            <a:ext cx="0" cy="169137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394348" y="1930987"/>
            <a:ext cx="2818960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2022年4月</a:t>
            </a:r>
          </a:p>
          <a:p>
            <a:pPr algn="r">
              <a:lnSpc>
                <a:spcPts val="1872"/>
              </a:lnSpc>
              <a:spcBef>
                <a:spcPts val="0"/>
              </a:spcBef>
              <a:spcAft>
                <a:spcPts val="332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東証スタンダード市場に上場</a:t>
            </a:r>
          </a:p>
          <a:p>
            <a:pPr algn="r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事業成長の加速へ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861975"/>
            <a:ext cx="0" cy="169137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4059302"/>
            <a:ext cx="310085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2000年4月</a:t>
            </a:r>
          </a:p>
          <a:p>
            <a:pPr algn="l">
              <a:lnSpc>
                <a:spcPts val="1872"/>
              </a:lnSpc>
              <a:spcBef>
                <a:spcPts val="0"/>
              </a:spcBef>
              <a:spcAft>
                <a:spcPts val="332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福祉用具のレンタルを開始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福祉用具の取り扱いの範囲を広げていく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861975"/>
            <a:ext cx="0" cy="169137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4059302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1872"/>
              </a:lnSpc>
              <a:spcBef>
                <a:spcPts val="0"/>
              </a:spcBef>
              <a:spcAft>
                <a:spcPts val="332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海外人材の受け入れ</a:t>
            </a:r>
          </a:p>
          <a:p>
            <a:pPr algn="r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ベトナム・ミャンマー・ネパール・</a:t>
            </a:r>
          </a:p>
          <a:p>
            <a:pPr algn="r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フィリピンなど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08393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891625"/>
            <a:ext cx="5393971" cy="563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11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2000年代〜　事業の広がり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居宅介護、小規模多機能へ。住まい・通い・訪問・泊まりで暮らしを支える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387135" y="4919084"/>
            <a:ext cx="2184694" cy="958446"/>
          </a:xfrm>
          <a:prstGeom prst="wedgeRoundRectCallout">
            <a:avLst>
              <a:gd name="adj1" fmla="val 36451"/>
              <a:gd name="adj2" fmla="val -155882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570368" y="4989558"/>
            <a:ext cx="1832324" cy="81749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1997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県別"/>
          <p:cNvSpPr txBox="1"/>
          <p:nvPr/>
        </p:nvSpPr>
        <p:spPr>
          <a:xfrm>
            <a:off x="6399038" y="2889434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長野57・新潟15・埼玉15・群馬12・栃木10</a:t>
            </a:r>
          </a:p>
        </p:txBody>
      </p:sp>
      <p:sp>
        <p:nvSpPr>
          <p:cNvPr id="17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8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1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4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7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3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6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9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2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5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8" name="グラフカード"/>
          <p:cNvSpPr/>
          <p:nvPr/>
        </p:nvSpPr>
        <p:spPr>
          <a:xfrm>
            <a:off x="620171" y="1465859"/>
            <a:ext cx="6342659" cy="4890895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グラフ見出し"/>
          <p:cNvSpPr txBox="1"/>
          <p:nvPr/>
        </p:nvSpPr>
        <p:spPr>
          <a:xfrm>
            <a:off x="902067" y="1677281"/>
            <a:ext cx="5778867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10" name="拠点数グラフ"/>
          <p:cNvGraphicFramePr>
            <a:graphicFrameLocks noGrp="1"/>
          </p:cNvGraphicFramePr>
          <p:nvPr/>
        </p:nvGraphicFramePr>
        <p:xfrm>
          <a:off x="831593" y="2057840"/>
          <a:ext cx="5919815" cy="411568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サービスカード"/>
          <p:cNvSpPr/>
          <p:nvPr/>
        </p:nvSpPr>
        <p:spPr>
          <a:xfrm>
            <a:off x="7188347" y="1465859"/>
            <a:ext cx="4383482" cy="21142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見出し"/>
          <p:cNvSpPr txBox="1"/>
          <p:nvPr/>
        </p:nvSpPr>
        <p:spPr>
          <a:xfrm>
            <a:off x="7442053" y="1663186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3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3" name="サービス_有料老人ホーム"/>
          <p:cNvSpPr/>
          <p:nvPr/>
        </p:nvSpPr>
        <p:spPr>
          <a:xfrm>
            <a:off x="7442053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有料老人ホーム"/>
          <p:cNvSpPr txBox="1"/>
          <p:nvPr/>
        </p:nvSpPr>
        <p:spPr>
          <a:xfrm>
            <a:off x="7442053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5" name="サービス_グループホーム"/>
          <p:cNvSpPr/>
          <p:nvPr/>
        </p:nvSpPr>
        <p:spPr>
          <a:xfrm>
            <a:off x="9436467" y="2057840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グループホーム"/>
          <p:cNvSpPr txBox="1"/>
          <p:nvPr/>
        </p:nvSpPr>
        <p:spPr>
          <a:xfrm>
            <a:off x="9436467" y="2057840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7" name="サービス_デイサービス"/>
          <p:cNvSpPr/>
          <p:nvPr/>
        </p:nvSpPr>
        <p:spPr>
          <a:xfrm>
            <a:off x="7442053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デイサービス"/>
          <p:cNvSpPr txBox="1"/>
          <p:nvPr/>
        </p:nvSpPr>
        <p:spPr>
          <a:xfrm>
            <a:off x="7442053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9" name="サービス_小規模多機能"/>
          <p:cNvSpPr/>
          <p:nvPr/>
        </p:nvSpPr>
        <p:spPr>
          <a:xfrm>
            <a:off x="9436467" y="2522969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小規模多機能"/>
          <p:cNvSpPr txBox="1"/>
          <p:nvPr/>
        </p:nvSpPr>
        <p:spPr>
          <a:xfrm>
            <a:off x="9436467" y="2522969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21" name="サービス_看護小規模多機能型"/>
          <p:cNvSpPr/>
          <p:nvPr/>
        </p:nvSpPr>
        <p:spPr>
          <a:xfrm>
            <a:off x="7442053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看護小規模多機能型"/>
          <p:cNvSpPr txBox="1"/>
          <p:nvPr/>
        </p:nvSpPr>
        <p:spPr>
          <a:xfrm>
            <a:off x="7442053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3" name="サービス_訪問介護"/>
          <p:cNvSpPr/>
          <p:nvPr/>
        </p:nvSpPr>
        <p:spPr>
          <a:xfrm>
            <a:off x="9436467" y="2988097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介護"/>
          <p:cNvSpPr txBox="1"/>
          <p:nvPr/>
        </p:nvSpPr>
        <p:spPr>
          <a:xfrm>
            <a:off x="9436467" y="2988097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5" name="サービス_訪問看護"/>
          <p:cNvSpPr/>
          <p:nvPr/>
        </p:nvSpPr>
        <p:spPr>
          <a:xfrm>
            <a:off x="7442053" y="3453225"/>
            <a:ext cx="1881655" cy="36646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サービス文字_訪問看護"/>
          <p:cNvSpPr txBox="1"/>
          <p:nvPr/>
        </p:nvSpPr>
        <p:spPr>
          <a:xfrm>
            <a:off x="7442053" y="3453225"/>
            <a:ext cx="188165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7" name="ツアーカード"/>
          <p:cNvSpPr/>
          <p:nvPr/>
        </p:nvSpPr>
        <p:spPr>
          <a:xfrm>
            <a:off x="7188347" y="3805595"/>
            <a:ext cx="4383482" cy="2551158"/>
          </a:xfrm>
          <a:prstGeom prst="roundRect">
            <a:avLst>
              <a:gd name="adj" fmla="val 552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ツアー見出し"/>
          <p:cNvSpPr txBox="1"/>
          <p:nvPr/>
        </p:nvSpPr>
        <p:spPr>
          <a:xfrm>
            <a:off x="7442053" y="4002923"/>
            <a:ext cx="387606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9" name="県"/>
          <p:cNvSpPr/>
          <p:nvPr/>
        </p:nvSpPr>
        <p:spPr>
          <a:xfrm>
            <a:off x="7442053" y="446276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県_長野県"/>
          <p:cNvSpPr txBox="1"/>
          <p:nvPr/>
        </p:nvSpPr>
        <p:spPr>
          <a:xfrm>
            <a:off x="7442053" y="446276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1" name="拠点数_長野県"/>
          <p:cNvSpPr txBox="1"/>
          <p:nvPr/>
        </p:nvSpPr>
        <p:spPr>
          <a:xfrm>
            <a:off x="8485068" y="4397577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2" name="所在地_長野県"/>
          <p:cNvSpPr txBox="1"/>
          <p:nvPr/>
        </p:nvSpPr>
        <p:spPr>
          <a:xfrm>
            <a:off x="9232092" y="4397577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3" name="県"/>
          <p:cNvSpPr/>
          <p:nvPr/>
        </p:nvSpPr>
        <p:spPr>
          <a:xfrm>
            <a:off x="7442053" y="49314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県_新潟県"/>
          <p:cNvSpPr txBox="1"/>
          <p:nvPr/>
        </p:nvSpPr>
        <p:spPr>
          <a:xfrm>
            <a:off x="7442053" y="49314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5" name="拠点数_新潟県"/>
          <p:cNvSpPr txBox="1"/>
          <p:nvPr/>
        </p:nvSpPr>
        <p:spPr>
          <a:xfrm>
            <a:off x="8485068" y="4866229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6" name="所在地_新潟県"/>
          <p:cNvSpPr txBox="1"/>
          <p:nvPr/>
        </p:nvSpPr>
        <p:spPr>
          <a:xfrm>
            <a:off x="9232092" y="4866229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7" name="県"/>
          <p:cNvSpPr/>
          <p:nvPr/>
        </p:nvSpPr>
        <p:spPr>
          <a:xfrm>
            <a:off x="7442053" y="5400069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県_栃木県"/>
          <p:cNvSpPr txBox="1"/>
          <p:nvPr/>
        </p:nvSpPr>
        <p:spPr>
          <a:xfrm>
            <a:off x="7442053" y="5400069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9" name="拠点数_栃木県"/>
          <p:cNvSpPr txBox="1"/>
          <p:nvPr/>
        </p:nvSpPr>
        <p:spPr>
          <a:xfrm>
            <a:off x="8485068" y="5334881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40" name="所在地_栃木県"/>
          <p:cNvSpPr txBox="1"/>
          <p:nvPr/>
        </p:nvSpPr>
        <p:spPr>
          <a:xfrm>
            <a:off x="9232092" y="5334881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1" name="県"/>
          <p:cNvSpPr/>
          <p:nvPr/>
        </p:nvSpPr>
        <p:spPr>
          <a:xfrm>
            <a:off x="7442053" y="5868721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県_埼玉県"/>
          <p:cNvSpPr txBox="1"/>
          <p:nvPr/>
        </p:nvSpPr>
        <p:spPr>
          <a:xfrm>
            <a:off x="7442053" y="5868721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3" name="拠点数_埼玉県"/>
          <p:cNvSpPr txBox="1"/>
          <p:nvPr/>
        </p:nvSpPr>
        <p:spPr>
          <a:xfrm>
            <a:off x="8485068" y="5803533"/>
            <a:ext cx="70474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4" name="所在地_埼玉県"/>
          <p:cNvSpPr txBox="1"/>
          <p:nvPr/>
        </p:nvSpPr>
        <p:spPr>
          <a:xfrm>
            <a:off x="9232092" y="5803533"/>
            <a:ext cx="2086030" cy="4686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  <p:sp>
        <p:nvSpPr>
          <p:cNvPr id="46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8" name="コンセプト"/>
          <p:cNvSpPr/>
          <p:nvPr/>
        </p:nvSpPr>
        <p:spPr>
          <a:xfrm>
            <a:off x="620171" y="1465859"/>
            <a:ext cx="4961369" cy="3467320"/>
          </a:xfrm>
          <a:prstGeom prst="roundRect">
            <a:avLst>
              <a:gd name="adj" fmla="val 4878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本文"/>
          <p:cNvSpPr txBox="1"/>
          <p:nvPr/>
        </p:nvSpPr>
        <p:spPr>
          <a:xfrm>
            <a:off x="986636" y="1775945"/>
            <a:ext cx="4228439" cy="29035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776"/>
              </a:spcAft>
            </a:pPr>
            <a:r>
              <a:rPr sz="998" b="1" spc="5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421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1220"/>
              </a:spcAft>
            </a:pPr>
            <a:r>
              <a:rPr sz="4217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  <a:p>
            <a:pPr algn="l">
              <a:lnSpc>
                <a:spcPts val="2164"/>
              </a:lnSpc>
              <a:spcBef>
                <a:spcPts val="0"/>
              </a:spcBef>
              <a:spcAft>
                <a:spcPts val="776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  <a:p>
            <a:pPr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10" name="カード_目的"/>
          <p:cNvSpPr/>
          <p:nvPr/>
        </p:nvSpPr>
        <p:spPr>
          <a:xfrm>
            <a:off x="5807057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文_目的"/>
          <p:cNvSpPr txBox="1"/>
          <p:nvPr/>
        </p:nvSpPr>
        <p:spPr>
          <a:xfrm>
            <a:off x="6046668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2" name="カード_対象"/>
          <p:cNvSpPr/>
          <p:nvPr/>
        </p:nvSpPr>
        <p:spPr>
          <a:xfrm>
            <a:off x="8802201" y="1465859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文_対象"/>
          <p:cNvSpPr txBox="1"/>
          <p:nvPr/>
        </p:nvSpPr>
        <p:spPr>
          <a:xfrm>
            <a:off x="9041813" y="1663186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14" name="カード_費用"/>
          <p:cNvSpPr/>
          <p:nvPr/>
        </p:nvSpPr>
        <p:spPr>
          <a:xfrm>
            <a:off x="5807057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本文_費用"/>
          <p:cNvSpPr txBox="1"/>
          <p:nvPr/>
        </p:nvSpPr>
        <p:spPr>
          <a:xfrm>
            <a:off x="6046668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110"/>
              </a:spcAft>
            </a:pPr>
            <a:r>
              <a:rPr sz="332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16" name="カード_期間・時間"/>
          <p:cNvSpPr/>
          <p:nvPr/>
        </p:nvSpPr>
        <p:spPr>
          <a:xfrm>
            <a:off x="8802201" y="3312277"/>
            <a:ext cx="2769628" cy="1620902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文_期間・時間"/>
          <p:cNvSpPr txBox="1"/>
          <p:nvPr/>
        </p:nvSpPr>
        <p:spPr>
          <a:xfrm>
            <a:off x="9041813" y="3509605"/>
            <a:ext cx="2290405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554"/>
              </a:spcAft>
            </a:pPr>
            <a:r>
              <a:rPr sz="998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18" name="カード_拠点"/>
          <p:cNvSpPr/>
          <p:nvPr/>
        </p:nvSpPr>
        <p:spPr>
          <a:xfrm>
            <a:off x="620171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拠点"/>
          <p:cNvSpPr txBox="1"/>
          <p:nvPr/>
        </p:nvSpPr>
        <p:spPr>
          <a:xfrm>
            <a:off x="859783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拠点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20" name="カード_種のサービス"/>
          <p:cNvSpPr/>
          <p:nvPr/>
        </p:nvSpPr>
        <p:spPr>
          <a:xfrm>
            <a:off x="3414465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本文_種のサービス"/>
          <p:cNvSpPr txBox="1"/>
          <p:nvPr/>
        </p:nvSpPr>
        <p:spPr>
          <a:xfrm>
            <a:off x="3654076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種のサービス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22" name="カード_つのプログラム"/>
          <p:cNvSpPr/>
          <p:nvPr/>
        </p:nvSpPr>
        <p:spPr>
          <a:xfrm>
            <a:off x="6208758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文_つのプログラム"/>
          <p:cNvSpPr txBox="1"/>
          <p:nvPr/>
        </p:nvSpPr>
        <p:spPr>
          <a:xfrm>
            <a:off x="6448370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つのプログラム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24" name="カード_事業所"/>
          <p:cNvSpPr/>
          <p:nvPr/>
        </p:nvSpPr>
        <p:spPr>
          <a:xfrm>
            <a:off x="9003052" y="5158696"/>
            <a:ext cx="2568777" cy="119805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事業所"/>
          <p:cNvSpPr txBox="1"/>
          <p:nvPr/>
        </p:nvSpPr>
        <p:spPr>
          <a:xfrm>
            <a:off x="9242664" y="5341928"/>
            <a:ext cx="2145933" cy="916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28"/>
              </a:lnSpc>
              <a:spcBef>
                <a:spcPts val="0"/>
              </a:spcBef>
              <a:spcAft>
                <a:spcPts val="221"/>
              </a:spcAft>
            </a:pPr>
            <a:r>
              <a:rPr sz="377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 事業所</a:t>
            </a:r>
          </a:p>
          <a:p>
            <a:pPr algn="l">
              <a:lnSpc>
                <a:spcPts val="147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2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日程・内容は調整中です。決まり次第ご案内します。</a:t>
            </a:r>
          </a:p>
        </p:txBody>
      </p:sp>
      <p:sp>
        <p:nvSpPr>
          <p:cNvPr id="2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