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711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Sheet1!$B$2:$B$155</c:f>
              <c:numCache>
                <c:formatCode>General</c:formatCode>
                <c:ptCount val="154"/>
                <c:pt idx="0">
                  <c:v>7810</c:v>
                </c:pt>
                <c:pt idx="1">
                  <c:v>8000</c:v>
                </c:pt>
                <c:pt idx="2">
                  <c:v>8177</c:v>
                </c:pt>
                <c:pt idx="3">
                  <c:v>8320</c:v>
                </c:pt>
                <c:pt idx="4">
                  <c:v>8454</c:v>
                </c:pt>
                <c:pt idx="5">
                  <c:v>8581</c:v>
                </c:pt>
                <c:pt idx="6">
                  <c:v>8698</c:v>
                </c:pt>
                <c:pt idx="7">
                  <c:v>8824</c:v>
                </c:pt>
                <c:pt idx="8">
                  <c:v>8928</c:v>
                </c:pt>
                <c:pt idx="9">
                  <c:v>9017</c:v>
                </c:pt>
                <c:pt idx="10">
                  <c:v>9093</c:v>
                </c:pt>
                <c:pt idx="11">
                  <c:v>9177</c:v>
                </c:pt>
                <c:pt idx="12">
                  <c:v>9264</c:v>
                </c:pt>
                <c:pt idx="13">
                  <c:v>9342</c:v>
                </c:pt>
                <c:pt idx="14">
                  <c:v>9429</c:v>
                </c:pt>
                <c:pt idx="15">
                  <c:v>9518</c:v>
                </c:pt>
                <c:pt idx="16">
                  <c:v>9616</c:v>
                </c:pt>
                <c:pt idx="17">
                  <c:v>9718</c:v>
                </c:pt>
                <c:pt idx="18">
                  <c:v>9828</c:v>
                </c:pt>
                <c:pt idx="19">
                  <c:v>9904</c:v>
                </c:pt>
                <c:pt idx="20">
                  <c:v>10020</c:v>
                </c:pt>
                <c:pt idx="21">
                  <c:v>10133</c:v>
                </c:pt>
                <c:pt idx="22">
                  <c:v>10254</c:v>
                </c:pt>
                <c:pt idx="23">
                  <c:v>10372</c:v>
                </c:pt>
                <c:pt idx="24">
                  <c:v>10514</c:v>
                </c:pt>
                <c:pt idx="25">
                  <c:v>10760</c:v>
                </c:pt>
                <c:pt idx="26">
                  <c:v>10910</c:v>
                </c:pt>
                <c:pt idx="27">
                  <c:v>11057</c:v>
                </c:pt>
                <c:pt idx="28">
                  <c:v>11194</c:v>
                </c:pt>
                <c:pt idx="29">
                  <c:v>11309</c:v>
                </c:pt>
                <c:pt idx="30">
                  <c:v>11416</c:v>
                </c:pt>
                <c:pt idx="31">
                  <c:v>11519</c:v>
                </c:pt>
                <c:pt idx="32">
                  <c:v>11616</c:v>
                </c:pt>
                <c:pt idx="33">
                  <c:v>11706</c:v>
                </c:pt>
                <c:pt idx="34">
                  <c:v>11790</c:v>
                </c:pt>
                <c:pt idx="35">
                  <c:v>11873</c:v>
                </c:pt>
                <c:pt idx="36">
                  <c:v>11954</c:v>
                </c:pt>
                <c:pt idx="37">
                  <c:v>12030</c:v>
                </c:pt>
                <c:pt idx="38">
                  <c:v>12105</c:v>
                </c:pt>
                <c:pt idx="39">
                  <c:v>12166</c:v>
                </c:pt>
                <c:pt idx="40">
                  <c:v>12224</c:v>
                </c:pt>
                <c:pt idx="41">
                  <c:v>12274</c:v>
                </c:pt>
                <c:pt idx="42">
                  <c:v>12320</c:v>
                </c:pt>
                <c:pt idx="43">
                  <c:v>12361</c:v>
                </c:pt>
                <c:pt idx="44">
                  <c:v>12410</c:v>
                </c:pt>
                <c:pt idx="45">
                  <c:v>12457</c:v>
                </c:pt>
                <c:pt idx="46">
                  <c:v>12494</c:v>
                </c:pt>
                <c:pt idx="47">
                  <c:v>12526</c:v>
                </c:pt>
                <c:pt idx="48">
                  <c:v>12557</c:v>
                </c:pt>
                <c:pt idx="49">
                  <c:v>12586</c:v>
                </c:pt>
                <c:pt idx="50">
                  <c:v>12616</c:v>
                </c:pt>
                <c:pt idx="51">
                  <c:v>12647</c:v>
                </c:pt>
                <c:pt idx="52">
                  <c:v>12667</c:v>
                </c:pt>
                <c:pt idx="53">
                  <c:v>12693</c:v>
                </c:pt>
                <c:pt idx="54">
                  <c:v>12732</c:v>
                </c:pt>
                <c:pt idx="55">
                  <c:v>12749</c:v>
                </c:pt>
                <c:pt idx="56">
                  <c:v>12769</c:v>
                </c:pt>
                <c:pt idx="57">
                  <c:v>12779</c:v>
                </c:pt>
                <c:pt idx="58">
                  <c:v>12777</c:v>
                </c:pt>
                <c:pt idx="59">
                  <c:v>12790</c:v>
                </c:pt>
                <c:pt idx="60">
                  <c:v>12803</c:v>
                </c:pt>
                <c:pt idx="61">
                  <c:v>12808</c:v>
                </c:pt>
                <c:pt idx="62">
                  <c:v>12803</c:v>
                </c:pt>
                <c:pt idx="63">
                  <c:v>12806</c:v>
                </c:pt>
                <c:pt idx="64">
                  <c:v>12783</c:v>
                </c:pt>
                <c:pt idx="65">
                  <c:v>12759</c:v>
                </c:pt>
                <c:pt idx="66">
                  <c:v>12741</c:v>
                </c:pt>
                <c:pt idx="67">
                  <c:v>12724</c:v>
                </c:pt>
                <c:pt idx="68">
                  <c:v>12710</c:v>
                </c:pt>
                <c:pt idx="69">
                  <c:v>12704</c:v>
                </c:pt>
                <c:pt idx="70">
                  <c:v>12692</c:v>
                </c:pt>
                <c:pt idx="71">
                  <c:v>12675</c:v>
                </c:pt>
                <c:pt idx="72">
                  <c:v>12656</c:v>
                </c:pt>
                <c:pt idx="73">
                  <c:v>12615</c:v>
                </c:pt>
                <c:pt idx="74">
                  <c:v>12550</c:v>
                </c:pt>
                <c:pt idx="75">
                  <c:v>12495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推計（社人研）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Sheet1!$C$2:$C$155</c:f>
              <c:numCache>
                <c:formatCode>General</c:formatCode>
                <c:ptCount val="154"/>
                <c:pt idx="76">
                  <c:v>12441</c:v>
                </c:pt>
                <c:pt idx="77">
                  <c:v>12384</c:v>
                </c:pt>
                <c:pt idx="78">
                  <c:v>12326</c:v>
                </c:pt>
                <c:pt idx="79">
                  <c:v>12266</c:v>
                </c:pt>
                <c:pt idx="80">
                  <c:v>12204</c:v>
                </c:pt>
                <c:pt idx="81">
                  <c:v>12141</c:v>
                </c:pt>
                <c:pt idx="82">
                  <c:v>12077</c:v>
                </c:pt>
                <c:pt idx="83">
                  <c:v>12012</c:v>
                </c:pt>
                <c:pt idx="84">
                  <c:v>11945</c:v>
                </c:pt>
                <c:pt idx="85">
                  <c:v>11877</c:v>
                </c:pt>
                <c:pt idx="86">
                  <c:v>11807</c:v>
                </c:pt>
                <c:pt idx="87">
                  <c:v>11736</c:v>
                </c:pt>
                <c:pt idx="88">
                  <c:v>11664</c:v>
                </c:pt>
                <c:pt idx="89">
                  <c:v>11590</c:v>
                </c:pt>
                <c:pt idx="90">
                  <c:v>11515</c:v>
                </c:pt>
                <c:pt idx="91">
                  <c:v>11439</c:v>
                </c:pt>
                <c:pt idx="92">
                  <c:v>11362</c:v>
                </c:pt>
                <c:pt idx="93">
                  <c:v>11284</c:v>
                </c:pt>
                <c:pt idx="94">
                  <c:v>11204</c:v>
                </c:pt>
                <c:pt idx="95">
                  <c:v>11124</c:v>
                </c:pt>
                <c:pt idx="96">
                  <c:v>11043</c:v>
                </c:pt>
                <c:pt idx="97">
                  <c:v>10962</c:v>
                </c:pt>
                <c:pt idx="98">
                  <c:v>10880</c:v>
                </c:pt>
                <c:pt idx="99">
                  <c:v>10798</c:v>
                </c:pt>
                <c:pt idx="100">
                  <c:v>10716</c:v>
                </c:pt>
                <c:pt idx="101">
                  <c:v>10634</c:v>
                </c:pt>
                <c:pt idx="102">
                  <c:v>10551</c:v>
                </c:pt>
                <c:pt idx="103">
                  <c:v>10469</c:v>
                </c:pt>
                <c:pt idx="104">
                  <c:v>10386</c:v>
                </c:pt>
                <c:pt idx="105">
                  <c:v>10303</c:v>
                </c:pt>
                <c:pt idx="106">
                  <c:v>10219</c:v>
                </c:pt>
                <c:pt idx="107">
                  <c:v>10135</c:v>
                </c:pt>
                <c:pt idx="108">
                  <c:v>10051</c:v>
                </c:pt>
                <c:pt idx="109">
                  <c:v>9965</c:v>
                </c:pt>
                <c:pt idx="110">
                  <c:v>9879</c:v>
                </c:pt>
                <c:pt idx="111">
                  <c:v>9792</c:v>
                </c:pt>
                <c:pt idx="112">
                  <c:v>9704</c:v>
                </c:pt>
                <c:pt idx="113">
                  <c:v>9615</c:v>
                </c:pt>
                <c:pt idx="114">
                  <c:v>9525</c:v>
                </c:pt>
                <c:pt idx="115">
                  <c:v>9434</c:v>
                </c:pt>
                <c:pt idx="116">
                  <c:v>9343</c:v>
                </c:pt>
                <c:pt idx="117">
                  <c:v>9251</c:v>
                </c:pt>
                <c:pt idx="118">
                  <c:v>9159</c:v>
                </c:pt>
                <c:pt idx="119">
                  <c:v>9066</c:v>
                </c:pt>
                <c:pt idx="120">
                  <c:v>8974</c:v>
                </c:pt>
                <c:pt idx="121">
                  <c:v>8882</c:v>
                </c:pt>
                <c:pt idx="122">
                  <c:v>8790</c:v>
                </c:pt>
                <c:pt idx="123">
                  <c:v>8700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参考（国連推計。5年ごとの値を結んだ年次）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Sheet1!$D$2:$D$155</c:f>
              <c:numCache>
                <c:formatCode>General</c:formatCode>
                <c:ptCount val="154"/>
                <c:pt idx="124">
                  <c:v>8675</c:v>
                </c:pt>
                <c:pt idx="125">
                  <c:v>8650</c:v>
                </c:pt>
                <c:pt idx="126">
                  <c:v>8625</c:v>
                </c:pt>
                <c:pt idx="127">
                  <c:v>8600</c:v>
                </c:pt>
                <c:pt idx="128">
                  <c:v>8575</c:v>
                </c:pt>
                <c:pt idx="129">
                  <c:v>8517</c:v>
                </c:pt>
                <c:pt idx="130">
                  <c:v>8459</c:v>
                </c:pt>
                <c:pt idx="131">
                  <c:v>8400</c:v>
                </c:pt>
                <c:pt idx="132">
                  <c:v>8342</c:v>
                </c:pt>
                <c:pt idx="133">
                  <c:v>8284</c:v>
                </c:pt>
                <c:pt idx="134">
                  <c:v>8233</c:v>
                </c:pt>
                <c:pt idx="135">
                  <c:v>8182</c:v>
                </c:pt>
                <c:pt idx="136">
                  <c:v>8132</c:v>
                </c:pt>
                <c:pt idx="137">
                  <c:v>8081</c:v>
                </c:pt>
                <c:pt idx="138">
                  <c:v>8030</c:v>
                </c:pt>
                <c:pt idx="139">
                  <c:v>7983</c:v>
                </c:pt>
                <c:pt idx="140">
                  <c:v>7936</c:v>
                </c:pt>
                <c:pt idx="141">
                  <c:v>7890</c:v>
                </c:pt>
                <c:pt idx="142">
                  <c:v>7843</c:v>
                </c:pt>
                <c:pt idx="143">
                  <c:v>7796</c:v>
                </c:pt>
                <c:pt idx="144">
                  <c:v>7752</c:v>
                </c:pt>
                <c:pt idx="145">
                  <c:v>7707</c:v>
                </c:pt>
                <c:pt idx="146">
                  <c:v>7663</c:v>
                </c:pt>
                <c:pt idx="147">
                  <c:v>7618</c:v>
                </c:pt>
                <c:pt idx="148">
                  <c:v>7574</c:v>
                </c:pt>
                <c:pt idx="149">
                  <c:v>7532</c:v>
                </c:pt>
                <c:pt idx="150">
                  <c:v>7490</c:v>
                </c:pt>
                <c:pt idx="151">
                  <c:v>7448</c:v>
                </c:pt>
                <c:pt idx="152">
                  <c:v>7406</c:v>
                </c:pt>
                <c:pt idx="153">
                  <c:v>7364</c:v>
                </c:pt>
              </c:numCache>
            </c:numRef>
          </c:val>
        </c:ser>
        <c:gapWidth val="1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  <c:tickLblSkip val="10"/>
        <c:tickMarkSkip val="10"/>
      </c:catAx>
      <c:valAx>
        <c:axId val="-2113994440"/>
        <c:scaling>
          <c:max val="18000.0"/>
          <c:min val="0.0"/>
        </c:scaling>
        <c:delete val="0"/>
        <c:axPos val="l"/>
        <c:majorGridlines>
          <c:spPr>
            <a:ln>
              <a:solidFill>
                <a:srgbClr val="E8EFE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3000.0"/>
      </c:valAx>
    </c:plotArea>
    <c:legend>
      <c:legendPos val="b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実績（社会保障費用統計）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3.3</c:v>
                </c:pt>
                <c:pt idx="1">
                  <c:v>5.9</c:v>
                </c:pt>
                <c:pt idx="2">
                  <c:v>7.5</c:v>
                </c:pt>
                <c:pt idx="3">
                  <c:v>9.5</c:v>
                </c:pt>
                <c:pt idx="4">
                  <c:v>11.4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見通し（厚生労働省）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5">
                  <c:v>15.3</c:v>
                </c:pt>
                <c:pt idx="8">
                  <c:v>25.8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参考：2025年度と2040年度を直線で補間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6">
                  <c:v>18.8</c:v>
                </c:pt>
                <c:pt idx="7">
                  <c:v>22.3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0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8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10.0"/>
      </c:valAx>
    </c:plotArea>
    <c:legend>
      <c:legendPos val="t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人口：1947〜2022年は実績（総務省統計局・人口統計資料集）、2023〜2070年は推計（社人研・令和5年推計 出生中位）、2075〜2100年は国連推計（5年ごと）。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介護費：社会保障費用統計 第8表「介護対策」（2000〜2020年度）、2025・2040年度は厚生労働省「2040年を見据えた社会保障の将来見通し」計画ベース。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長野大学×エフビー 産学連携プロジェクト資料（社会状況・やりがい）をもとに整理。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出典：企業説明会資料・経営者ヒアリング。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visions college（エフビー介護サービス回）Chapter02「感情労働の未来」をもとに整理。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沿革。西暦は5年ごとの目盛り。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小規模・多拠点・サービスの見せ方。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売上推移（26期〜36期）。出典：企業説明会資料。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申込から振り返りまでの流れと、サイトのコンテンツ。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.png"/><Relationship Id="rId7" Type="http://schemas.openxmlformats.org/officeDocument/2006/relationships/image" Target="../media/image3.png"/><Relationship Id="rId8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太陽"/>
          <p:cNvSpPr/>
          <p:nvPr/>
        </p:nvSpPr>
        <p:spPr>
          <a:xfrm>
            <a:off x="8668301" y="1268532"/>
            <a:ext cx="2114220" cy="2114220"/>
          </a:xfrm>
          <a:prstGeom prst="ellipse">
            <a:avLst/>
          </a:pr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太陽中"/>
          <p:cNvSpPr/>
          <p:nvPr/>
        </p:nvSpPr>
        <p:spPr>
          <a:xfrm>
            <a:off x="9091145" y="1691376"/>
            <a:ext cx="1268532" cy="1268532"/>
          </a:xfrm>
          <a:prstGeom prst="ellipse">
            <a:avLst/>
          </a:prstGeom>
          <a:solidFill>
            <a:srgbClr val="A6D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遠い山"/>
          <p:cNvSpPr/>
          <p:nvPr/>
        </p:nvSpPr>
        <p:spPr>
          <a:xfrm>
            <a:off x="0" y="3030382"/>
            <a:ext cx="12192000" cy="3826737"/>
          </a:xfrm>
          <a:custGeom>
            <a:avLst/>
            <a:gdLst/>
            <a:ahLst/>
            <a:cxnLst/>
            <a:rect l="l" t="t" r="r" b="b"/>
            <a:pathLst>
              <a:path w="12192000" h="3826737">
                <a:moveTo>
                  <a:pt x="0" y="3826737"/>
                </a:moveTo>
                <a:lnTo>
                  <a:pt x="0" y="1479953"/>
                </a:lnTo>
                <a:lnTo>
                  <a:pt x="99838" y="1467947"/>
                </a:lnTo>
                <a:lnTo>
                  <a:pt x="199676" y="1432745"/>
                </a:lnTo>
                <a:lnTo>
                  <a:pt x="299514" y="1376746"/>
                </a:lnTo>
                <a:lnTo>
                  <a:pt x="399353" y="1303768"/>
                </a:lnTo>
                <a:lnTo>
                  <a:pt x="499191" y="1218783"/>
                </a:lnTo>
                <a:lnTo>
                  <a:pt x="599029" y="1127583"/>
                </a:lnTo>
                <a:lnTo>
                  <a:pt x="698867" y="1036383"/>
                </a:lnTo>
                <a:lnTo>
                  <a:pt x="798705" y="951398"/>
                </a:lnTo>
                <a:lnTo>
                  <a:pt x="898543" y="878420"/>
                </a:lnTo>
                <a:lnTo>
                  <a:pt x="998382" y="822422"/>
                </a:lnTo>
                <a:lnTo>
                  <a:pt x="1098220" y="787220"/>
                </a:lnTo>
                <a:lnTo>
                  <a:pt x="1198058" y="775213"/>
                </a:lnTo>
                <a:lnTo>
                  <a:pt x="1292023" y="766809"/>
                </a:lnTo>
                <a:lnTo>
                  <a:pt x="1385988" y="742167"/>
                </a:lnTo>
                <a:lnTo>
                  <a:pt x="1479954" y="702969"/>
                </a:lnTo>
                <a:lnTo>
                  <a:pt x="1573919" y="651884"/>
                </a:lnTo>
                <a:lnTo>
                  <a:pt x="1667884" y="592394"/>
                </a:lnTo>
                <a:lnTo>
                  <a:pt x="1761850" y="528554"/>
                </a:lnTo>
                <a:lnTo>
                  <a:pt x="1855815" y="464714"/>
                </a:lnTo>
                <a:lnTo>
                  <a:pt x="1949780" y="405225"/>
                </a:lnTo>
                <a:lnTo>
                  <a:pt x="2043746" y="354140"/>
                </a:lnTo>
                <a:lnTo>
                  <a:pt x="2137711" y="314941"/>
                </a:lnTo>
                <a:lnTo>
                  <a:pt x="2231676" y="290300"/>
                </a:lnTo>
                <a:lnTo>
                  <a:pt x="2325642" y="281895"/>
                </a:lnTo>
                <a:lnTo>
                  <a:pt x="2437225" y="296304"/>
                </a:lnTo>
                <a:lnTo>
                  <a:pt x="2548809" y="338546"/>
                </a:lnTo>
                <a:lnTo>
                  <a:pt x="2660393" y="405744"/>
                </a:lnTo>
                <a:lnTo>
                  <a:pt x="2771977" y="493317"/>
                </a:lnTo>
                <a:lnTo>
                  <a:pt x="2883561" y="595299"/>
                </a:lnTo>
                <a:lnTo>
                  <a:pt x="2995145" y="704739"/>
                </a:lnTo>
                <a:lnTo>
                  <a:pt x="3106728" y="814179"/>
                </a:lnTo>
                <a:lnTo>
                  <a:pt x="3218312" y="916161"/>
                </a:lnTo>
                <a:lnTo>
                  <a:pt x="3329896" y="1003735"/>
                </a:lnTo>
                <a:lnTo>
                  <a:pt x="3441480" y="1070933"/>
                </a:lnTo>
                <a:lnTo>
                  <a:pt x="3553064" y="1113175"/>
                </a:lnTo>
                <a:lnTo>
                  <a:pt x="3664647" y="1127583"/>
                </a:lnTo>
                <a:lnTo>
                  <a:pt x="3805595" y="1140791"/>
                </a:lnTo>
                <a:lnTo>
                  <a:pt x="3946543" y="1179513"/>
                </a:lnTo>
                <a:lnTo>
                  <a:pt x="4087491" y="1241111"/>
                </a:lnTo>
                <a:lnTo>
                  <a:pt x="4228439" y="1321387"/>
                </a:lnTo>
                <a:lnTo>
                  <a:pt x="4369387" y="1414870"/>
                </a:lnTo>
                <a:lnTo>
                  <a:pt x="4510335" y="1515190"/>
                </a:lnTo>
                <a:lnTo>
                  <a:pt x="4651283" y="1615510"/>
                </a:lnTo>
                <a:lnTo>
                  <a:pt x="4792231" y="1708994"/>
                </a:lnTo>
                <a:lnTo>
                  <a:pt x="4933179" y="1789270"/>
                </a:lnTo>
                <a:lnTo>
                  <a:pt x="5074127" y="1850868"/>
                </a:lnTo>
                <a:lnTo>
                  <a:pt x="5215075" y="1889590"/>
                </a:lnTo>
                <a:lnTo>
                  <a:pt x="5356023" y="1902797"/>
                </a:lnTo>
                <a:lnTo>
                  <a:pt x="5485225" y="1908200"/>
                </a:lnTo>
                <a:lnTo>
                  <a:pt x="5614428" y="1924041"/>
                </a:lnTo>
                <a:lnTo>
                  <a:pt x="5743630" y="1949240"/>
                </a:lnTo>
                <a:lnTo>
                  <a:pt x="5872832" y="1982080"/>
                </a:lnTo>
                <a:lnTo>
                  <a:pt x="6002035" y="2020324"/>
                </a:lnTo>
                <a:lnTo>
                  <a:pt x="6131237" y="2061364"/>
                </a:lnTo>
                <a:lnTo>
                  <a:pt x="6260439" y="2102404"/>
                </a:lnTo>
                <a:lnTo>
                  <a:pt x="6389642" y="2140647"/>
                </a:lnTo>
                <a:lnTo>
                  <a:pt x="6518844" y="2173487"/>
                </a:lnTo>
                <a:lnTo>
                  <a:pt x="6648046" y="2198686"/>
                </a:lnTo>
                <a:lnTo>
                  <a:pt x="6777249" y="2214527"/>
                </a:lnTo>
                <a:lnTo>
                  <a:pt x="6906451" y="2219930"/>
                </a:lnTo>
                <a:lnTo>
                  <a:pt x="7035653" y="2210925"/>
                </a:lnTo>
                <a:lnTo>
                  <a:pt x="7164855" y="2184524"/>
                </a:lnTo>
                <a:lnTo>
                  <a:pt x="7294058" y="2142525"/>
                </a:lnTo>
                <a:lnTo>
                  <a:pt x="7423260" y="2087791"/>
                </a:lnTo>
                <a:lnTo>
                  <a:pt x="7552462" y="2024053"/>
                </a:lnTo>
                <a:lnTo>
                  <a:pt x="7681665" y="1955653"/>
                </a:lnTo>
                <a:lnTo>
                  <a:pt x="7810867" y="1887253"/>
                </a:lnTo>
                <a:lnTo>
                  <a:pt x="7940069" y="1823514"/>
                </a:lnTo>
                <a:lnTo>
                  <a:pt x="8069272" y="1768780"/>
                </a:lnTo>
                <a:lnTo>
                  <a:pt x="8198474" y="1726782"/>
                </a:lnTo>
                <a:lnTo>
                  <a:pt x="8327676" y="1700380"/>
                </a:lnTo>
                <a:lnTo>
                  <a:pt x="8456879" y="1691375"/>
                </a:lnTo>
                <a:lnTo>
                  <a:pt x="8574335" y="1673365"/>
                </a:lnTo>
                <a:lnTo>
                  <a:pt x="8691792" y="1620562"/>
                </a:lnTo>
                <a:lnTo>
                  <a:pt x="8809249" y="1536565"/>
                </a:lnTo>
                <a:lnTo>
                  <a:pt x="8926705" y="1427098"/>
                </a:lnTo>
                <a:lnTo>
                  <a:pt x="9044162" y="1299620"/>
                </a:lnTo>
                <a:lnTo>
                  <a:pt x="9161618" y="1162820"/>
                </a:lnTo>
                <a:lnTo>
                  <a:pt x="9279075" y="1026020"/>
                </a:lnTo>
                <a:lnTo>
                  <a:pt x="9396532" y="898543"/>
                </a:lnTo>
                <a:lnTo>
                  <a:pt x="9513988" y="789076"/>
                </a:lnTo>
                <a:lnTo>
                  <a:pt x="9631445" y="705078"/>
                </a:lnTo>
                <a:lnTo>
                  <a:pt x="9748902" y="652275"/>
                </a:lnTo>
                <a:lnTo>
                  <a:pt x="9866358" y="634265"/>
                </a:lnTo>
                <a:lnTo>
                  <a:pt x="9972069" y="623459"/>
                </a:lnTo>
                <a:lnTo>
                  <a:pt x="10077780" y="591778"/>
                </a:lnTo>
                <a:lnTo>
                  <a:pt x="10183491" y="541379"/>
                </a:lnTo>
                <a:lnTo>
                  <a:pt x="10289202" y="475699"/>
                </a:lnTo>
                <a:lnTo>
                  <a:pt x="10394913" y="399212"/>
                </a:lnTo>
                <a:lnTo>
                  <a:pt x="10500624" y="317132"/>
                </a:lnTo>
                <a:lnTo>
                  <a:pt x="10606335" y="235052"/>
                </a:lnTo>
                <a:lnTo>
                  <a:pt x="10712046" y="158566"/>
                </a:lnTo>
                <a:lnTo>
                  <a:pt x="10817757" y="92886"/>
                </a:lnTo>
                <a:lnTo>
                  <a:pt x="10923468" y="42487"/>
                </a:lnTo>
                <a:lnTo>
                  <a:pt x="11029179" y="10806"/>
                </a:lnTo>
                <a:lnTo>
                  <a:pt x="11134890" y="0"/>
                </a:lnTo>
                <a:lnTo>
                  <a:pt x="11222983" y="13207"/>
                </a:lnTo>
                <a:lnTo>
                  <a:pt x="11311075" y="51929"/>
                </a:lnTo>
                <a:lnTo>
                  <a:pt x="11399168" y="113527"/>
                </a:lnTo>
                <a:lnTo>
                  <a:pt x="11487260" y="193803"/>
                </a:lnTo>
                <a:lnTo>
                  <a:pt x="11575353" y="287286"/>
                </a:lnTo>
                <a:lnTo>
                  <a:pt x="11663445" y="387606"/>
                </a:lnTo>
                <a:lnTo>
                  <a:pt x="11751538" y="487926"/>
                </a:lnTo>
                <a:lnTo>
                  <a:pt x="11839630" y="581410"/>
                </a:lnTo>
                <a:lnTo>
                  <a:pt x="11927723" y="661686"/>
                </a:lnTo>
                <a:lnTo>
                  <a:pt x="12015815" y="723284"/>
                </a:lnTo>
                <a:lnTo>
                  <a:pt x="12103908" y="762006"/>
                </a:lnTo>
                <a:lnTo>
                  <a:pt x="12192000" y="775213"/>
                </a:lnTo>
                <a:lnTo>
                  <a:pt x="12192000" y="3826737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手前の山"/>
          <p:cNvSpPr/>
          <p:nvPr/>
        </p:nvSpPr>
        <p:spPr>
          <a:xfrm>
            <a:off x="0" y="4862705"/>
            <a:ext cx="12192000" cy="1994414"/>
          </a:xfrm>
          <a:custGeom>
            <a:avLst/>
            <a:gdLst/>
            <a:ahLst/>
            <a:cxnLst/>
            <a:rect l="l" t="t" r="r" b="b"/>
            <a:pathLst>
              <a:path w="12192000" h="1994414">
                <a:moveTo>
                  <a:pt x="0" y="1994414"/>
                </a:moveTo>
                <a:lnTo>
                  <a:pt x="0" y="634266"/>
                </a:lnTo>
                <a:lnTo>
                  <a:pt x="117457" y="623460"/>
                </a:lnTo>
                <a:lnTo>
                  <a:pt x="234913" y="591778"/>
                </a:lnTo>
                <a:lnTo>
                  <a:pt x="352370" y="541380"/>
                </a:lnTo>
                <a:lnTo>
                  <a:pt x="469827" y="475700"/>
                </a:lnTo>
                <a:lnTo>
                  <a:pt x="587283" y="399213"/>
                </a:lnTo>
                <a:lnTo>
                  <a:pt x="704740" y="317133"/>
                </a:lnTo>
                <a:lnTo>
                  <a:pt x="822197" y="235053"/>
                </a:lnTo>
                <a:lnTo>
                  <a:pt x="939653" y="158567"/>
                </a:lnTo>
                <a:lnTo>
                  <a:pt x="1057110" y="92886"/>
                </a:lnTo>
                <a:lnTo>
                  <a:pt x="1174566" y="42488"/>
                </a:lnTo>
                <a:lnTo>
                  <a:pt x="1292023" y="10806"/>
                </a:lnTo>
                <a:lnTo>
                  <a:pt x="1409480" y="0"/>
                </a:lnTo>
                <a:lnTo>
                  <a:pt x="1544555" y="6604"/>
                </a:lnTo>
                <a:lnTo>
                  <a:pt x="1679630" y="25965"/>
                </a:lnTo>
                <a:lnTo>
                  <a:pt x="1814705" y="56764"/>
                </a:lnTo>
                <a:lnTo>
                  <a:pt x="1949780" y="96902"/>
                </a:lnTo>
                <a:lnTo>
                  <a:pt x="2084855" y="143644"/>
                </a:lnTo>
                <a:lnTo>
                  <a:pt x="2219931" y="193804"/>
                </a:lnTo>
                <a:lnTo>
                  <a:pt x="2355006" y="243964"/>
                </a:lnTo>
                <a:lnTo>
                  <a:pt x="2490081" y="290705"/>
                </a:lnTo>
                <a:lnTo>
                  <a:pt x="2625156" y="330843"/>
                </a:lnTo>
                <a:lnTo>
                  <a:pt x="2760231" y="361642"/>
                </a:lnTo>
                <a:lnTo>
                  <a:pt x="2895306" y="381003"/>
                </a:lnTo>
                <a:lnTo>
                  <a:pt x="3030382" y="387607"/>
                </a:lnTo>
                <a:lnTo>
                  <a:pt x="3200694" y="396012"/>
                </a:lnTo>
                <a:lnTo>
                  <a:pt x="3371006" y="420653"/>
                </a:lnTo>
                <a:lnTo>
                  <a:pt x="3541318" y="459852"/>
                </a:lnTo>
                <a:lnTo>
                  <a:pt x="3711630" y="510937"/>
                </a:lnTo>
                <a:lnTo>
                  <a:pt x="3881942" y="570426"/>
                </a:lnTo>
                <a:lnTo>
                  <a:pt x="4052254" y="634266"/>
                </a:lnTo>
                <a:lnTo>
                  <a:pt x="4222566" y="698106"/>
                </a:lnTo>
                <a:lnTo>
                  <a:pt x="4392879" y="757596"/>
                </a:lnTo>
                <a:lnTo>
                  <a:pt x="4563191" y="808680"/>
                </a:lnTo>
                <a:lnTo>
                  <a:pt x="4733503" y="847879"/>
                </a:lnTo>
                <a:lnTo>
                  <a:pt x="4903815" y="872520"/>
                </a:lnTo>
                <a:lnTo>
                  <a:pt x="5074127" y="880925"/>
                </a:lnTo>
                <a:lnTo>
                  <a:pt x="5238566" y="885127"/>
                </a:lnTo>
                <a:lnTo>
                  <a:pt x="5403006" y="897448"/>
                </a:lnTo>
                <a:lnTo>
                  <a:pt x="5567445" y="917047"/>
                </a:lnTo>
                <a:lnTo>
                  <a:pt x="5731884" y="942590"/>
                </a:lnTo>
                <a:lnTo>
                  <a:pt x="5896324" y="972335"/>
                </a:lnTo>
                <a:lnTo>
                  <a:pt x="6060763" y="1004255"/>
                </a:lnTo>
                <a:lnTo>
                  <a:pt x="6225202" y="1036175"/>
                </a:lnTo>
                <a:lnTo>
                  <a:pt x="6389642" y="1065919"/>
                </a:lnTo>
                <a:lnTo>
                  <a:pt x="6554081" y="1091462"/>
                </a:lnTo>
                <a:lnTo>
                  <a:pt x="6718520" y="1111061"/>
                </a:lnTo>
                <a:lnTo>
                  <a:pt x="6882960" y="1123382"/>
                </a:lnTo>
                <a:lnTo>
                  <a:pt x="7047399" y="1127584"/>
                </a:lnTo>
                <a:lnTo>
                  <a:pt x="7223584" y="1121581"/>
                </a:lnTo>
                <a:lnTo>
                  <a:pt x="7399769" y="1103980"/>
                </a:lnTo>
                <a:lnTo>
                  <a:pt x="7575954" y="1075981"/>
                </a:lnTo>
                <a:lnTo>
                  <a:pt x="7752139" y="1039492"/>
                </a:lnTo>
                <a:lnTo>
                  <a:pt x="7928324" y="996999"/>
                </a:lnTo>
                <a:lnTo>
                  <a:pt x="8104509" y="951399"/>
                </a:lnTo>
                <a:lnTo>
                  <a:pt x="8280694" y="905799"/>
                </a:lnTo>
                <a:lnTo>
                  <a:pt x="8456879" y="863307"/>
                </a:lnTo>
                <a:lnTo>
                  <a:pt x="8633064" y="826817"/>
                </a:lnTo>
                <a:lnTo>
                  <a:pt x="8809249" y="798818"/>
                </a:lnTo>
                <a:lnTo>
                  <a:pt x="8985434" y="781217"/>
                </a:lnTo>
                <a:lnTo>
                  <a:pt x="9161618" y="775214"/>
                </a:lnTo>
                <a:lnTo>
                  <a:pt x="9279075" y="762007"/>
                </a:lnTo>
                <a:lnTo>
                  <a:pt x="9396532" y="723285"/>
                </a:lnTo>
                <a:lnTo>
                  <a:pt x="9513988" y="661687"/>
                </a:lnTo>
                <a:lnTo>
                  <a:pt x="9631445" y="581411"/>
                </a:lnTo>
                <a:lnTo>
                  <a:pt x="9748902" y="487927"/>
                </a:lnTo>
                <a:lnTo>
                  <a:pt x="9866358" y="387607"/>
                </a:lnTo>
                <a:lnTo>
                  <a:pt x="9983815" y="287287"/>
                </a:lnTo>
                <a:lnTo>
                  <a:pt x="10101272" y="193804"/>
                </a:lnTo>
                <a:lnTo>
                  <a:pt x="10218728" y="113528"/>
                </a:lnTo>
                <a:lnTo>
                  <a:pt x="10336185" y="51930"/>
                </a:lnTo>
                <a:lnTo>
                  <a:pt x="10453642" y="13208"/>
                </a:lnTo>
                <a:lnTo>
                  <a:pt x="10571098" y="0"/>
                </a:lnTo>
                <a:lnTo>
                  <a:pt x="10706173" y="4803"/>
                </a:lnTo>
                <a:lnTo>
                  <a:pt x="10841249" y="18884"/>
                </a:lnTo>
                <a:lnTo>
                  <a:pt x="10976324" y="41283"/>
                </a:lnTo>
                <a:lnTo>
                  <a:pt x="11111399" y="70474"/>
                </a:lnTo>
                <a:lnTo>
                  <a:pt x="11246474" y="104468"/>
                </a:lnTo>
                <a:lnTo>
                  <a:pt x="11381549" y="140948"/>
                </a:lnTo>
                <a:lnTo>
                  <a:pt x="11516624" y="177428"/>
                </a:lnTo>
                <a:lnTo>
                  <a:pt x="11651699" y="211422"/>
                </a:lnTo>
                <a:lnTo>
                  <a:pt x="11786775" y="240613"/>
                </a:lnTo>
                <a:lnTo>
                  <a:pt x="11921850" y="263013"/>
                </a:lnTo>
                <a:lnTo>
                  <a:pt x="12056925" y="277093"/>
                </a:lnTo>
                <a:lnTo>
                  <a:pt x="12192000" y="281896"/>
                </a:lnTo>
                <a:lnTo>
                  <a:pt x="12192000" y="1994414"/>
                </a:lnTo>
                <a:close/>
              </a:path>
            </a:pathLst>
          </a:custGeom>
          <a:solidFill>
            <a:srgbClr val="64B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盆地の底"/>
          <p:cNvSpPr/>
          <p:nvPr/>
        </p:nvSpPr>
        <p:spPr>
          <a:xfrm>
            <a:off x="0" y="5884578"/>
            <a:ext cx="12192000" cy="972541"/>
          </a:xfrm>
          <a:custGeom>
            <a:avLst/>
            <a:gdLst/>
            <a:ahLst/>
            <a:cxnLst/>
            <a:rect l="l" t="t" r="r" b="b"/>
            <a:pathLst>
              <a:path w="12192000" h="972541">
                <a:moveTo>
                  <a:pt x="0" y="972541"/>
                </a:moveTo>
                <a:lnTo>
                  <a:pt x="0" y="493318"/>
                </a:lnTo>
                <a:lnTo>
                  <a:pt x="293642" y="490917"/>
                </a:lnTo>
                <a:lnTo>
                  <a:pt x="587283" y="483876"/>
                </a:lnTo>
                <a:lnTo>
                  <a:pt x="880925" y="472677"/>
                </a:lnTo>
                <a:lnTo>
                  <a:pt x="1174566" y="458081"/>
                </a:lnTo>
                <a:lnTo>
                  <a:pt x="1468208" y="441084"/>
                </a:lnTo>
                <a:lnTo>
                  <a:pt x="1761850" y="422844"/>
                </a:lnTo>
                <a:lnTo>
                  <a:pt x="2055491" y="404604"/>
                </a:lnTo>
                <a:lnTo>
                  <a:pt x="2349133" y="387607"/>
                </a:lnTo>
                <a:lnTo>
                  <a:pt x="2642775" y="373011"/>
                </a:lnTo>
                <a:lnTo>
                  <a:pt x="2936416" y="361812"/>
                </a:lnTo>
                <a:lnTo>
                  <a:pt x="3230058" y="354771"/>
                </a:lnTo>
                <a:lnTo>
                  <a:pt x="3523699" y="352370"/>
                </a:lnTo>
                <a:lnTo>
                  <a:pt x="3758613" y="349608"/>
                </a:lnTo>
                <a:lnTo>
                  <a:pt x="3993526" y="341512"/>
                </a:lnTo>
                <a:lnTo>
                  <a:pt x="4228439" y="328632"/>
                </a:lnTo>
                <a:lnTo>
                  <a:pt x="4463353" y="311847"/>
                </a:lnTo>
                <a:lnTo>
                  <a:pt x="4698266" y="292301"/>
                </a:lnTo>
                <a:lnTo>
                  <a:pt x="4933179" y="271325"/>
                </a:lnTo>
                <a:lnTo>
                  <a:pt x="5168092" y="250349"/>
                </a:lnTo>
                <a:lnTo>
                  <a:pt x="5403006" y="230802"/>
                </a:lnTo>
                <a:lnTo>
                  <a:pt x="5637919" y="214017"/>
                </a:lnTo>
                <a:lnTo>
                  <a:pt x="5872832" y="201138"/>
                </a:lnTo>
                <a:lnTo>
                  <a:pt x="6107746" y="193041"/>
                </a:lnTo>
                <a:lnTo>
                  <a:pt x="6342659" y="190280"/>
                </a:lnTo>
                <a:lnTo>
                  <a:pt x="6577572" y="191240"/>
                </a:lnTo>
                <a:lnTo>
                  <a:pt x="6812486" y="194056"/>
                </a:lnTo>
                <a:lnTo>
                  <a:pt x="7047399" y="198536"/>
                </a:lnTo>
                <a:lnTo>
                  <a:pt x="7282312" y="204375"/>
                </a:lnTo>
                <a:lnTo>
                  <a:pt x="7517225" y="211173"/>
                </a:lnTo>
                <a:lnTo>
                  <a:pt x="7752139" y="218469"/>
                </a:lnTo>
                <a:lnTo>
                  <a:pt x="7987052" y="225765"/>
                </a:lnTo>
                <a:lnTo>
                  <a:pt x="8221965" y="232564"/>
                </a:lnTo>
                <a:lnTo>
                  <a:pt x="8456879" y="238402"/>
                </a:lnTo>
                <a:lnTo>
                  <a:pt x="8691792" y="242882"/>
                </a:lnTo>
                <a:lnTo>
                  <a:pt x="8926705" y="245698"/>
                </a:lnTo>
                <a:lnTo>
                  <a:pt x="9161618" y="246659"/>
                </a:lnTo>
                <a:lnTo>
                  <a:pt x="9414150" y="242457"/>
                </a:lnTo>
                <a:lnTo>
                  <a:pt x="9666682" y="230136"/>
                </a:lnTo>
                <a:lnTo>
                  <a:pt x="9919214" y="210537"/>
                </a:lnTo>
                <a:lnTo>
                  <a:pt x="10171746" y="184994"/>
                </a:lnTo>
                <a:lnTo>
                  <a:pt x="10424277" y="155250"/>
                </a:lnTo>
                <a:lnTo>
                  <a:pt x="10676809" y="123330"/>
                </a:lnTo>
                <a:lnTo>
                  <a:pt x="10929341" y="91409"/>
                </a:lnTo>
                <a:lnTo>
                  <a:pt x="11181873" y="61665"/>
                </a:lnTo>
                <a:lnTo>
                  <a:pt x="11434405" y="36122"/>
                </a:lnTo>
                <a:lnTo>
                  <a:pt x="11686936" y="16523"/>
                </a:lnTo>
                <a:lnTo>
                  <a:pt x="11939468" y="4202"/>
                </a:lnTo>
                <a:lnTo>
                  <a:pt x="12192000" y="0"/>
                </a:lnTo>
                <a:lnTo>
                  <a:pt x="12192000" y="972541"/>
                </a:lnTo>
                <a:close/>
              </a:path>
            </a:pathLst>
          </a:cu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小見出し"/>
          <p:cNvSpPr txBox="1"/>
          <p:nvPr/>
        </p:nvSpPr>
        <p:spPr>
          <a:xfrm>
            <a:off x="845688" y="1198058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 spc="6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</p:txBody>
      </p:sp>
      <p:sp>
        <p:nvSpPr>
          <p:cNvPr id="9" name="タイトル"/>
          <p:cNvSpPr txBox="1"/>
          <p:nvPr/>
        </p:nvSpPr>
        <p:spPr>
          <a:xfrm>
            <a:off x="845688" y="1620902"/>
            <a:ext cx="6342659" cy="18323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572"/>
              </a:lnSpc>
              <a:spcBef>
                <a:spcPts val="0"/>
              </a:spcBef>
              <a:spcAft>
                <a:spcPts val="0"/>
              </a:spcAft>
            </a:pPr>
            <a:r>
              <a:rPr sz="832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cxnSp>
        <p:nvCxnSpPr>
          <p:cNvPr id="10" name="ライン"/>
          <p:cNvCxnSpPr/>
          <p:nvPr/>
        </p:nvCxnSpPr>
        <p:spPr>
          <a:xfrm>
            <a:off x="873877" y="3523699"/>
            <a:ext cx="1240343" cy="0"/>
          </a:xfrm>
          <a:prstGeom prst="line">
            <a:avLst/>
          </a:prstGeom>
          <a:ln w="50800">
            <a:solidFill>
              <a:srgbClr val="FCE0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キャッチ"/>
          <p:cNvSpPr txBox="1"/>
          <p:nvPr/>
        </p:nvSpPr>
        <p:spPr>
          <a:xfrm>
            <a:off x="845688" y="3805595"/>
            <a:ext cx="5778867" cy="1127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学ぶ人も、迎える人も、地域も。</a:t>
            </a:r>
          </a:p>
          <a:p>
            <a:pPr algn="l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みんなが共に育つ、ケアの現場の実習。</a:t>
            </a:r>
          </a:p>
        </p:txBody>
      </p:sp>
      <p:sp>
        <p:nvSpPr>
          <p:cNvPr id="12" name="宛名"/>
          <p:cNvSpPr txBox="1"/>
          <p:nvPr/>
        </p:nvSpPr>
        <p:spPr>
          <a:xfrm>
            <a:off x="845688" y="5778867"/>
            <a:ext cx="6342659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大学の先生・学生のみなさまへ</a:t>
            </a:r>
          </a:p>
        </p:txBody>
      </p:sp>
      <p:sp>
        <p:nvSpPr>
          <p:cNvPr id="13" name="飾り"/>
          <p:cNvSpPr/>
          <p:nvPr/>
        </p:nvSpPr>
        <p:spPr>
          <a:xfrm>
            <a:off x="7730997" y="1670234"/>
            <a:ext cx="183232" cy="183232"/>
          </a:xfrm>
          <a:prstGeom prst="ellipse">
            <a:avLst/>
          </a:prstGeom>
          <a:solidFill>
            <a:srgbClr val="FCE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飾り"/>
          <p:cNvSpPr/>
          <p:nvPr/>
        </p:nvSpPr>
        <p:spPr>
          <a:xfrm>
            <a:off x="8752869" y="1141679"/>
            <a:ext cx="112758" cy="11275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飾り"/>
          <p:cNvSpPr/>
          <p:nvPr/>
        </p:nvSpPr>
        <p:spPr>
          <a:xfrm>
            <a:off x="11762109" y="3587126"/>
            <a:ext cx="155043" cy="155043"/>
          </a:xfrm>
          <a:prstGeom prst="ellipse">
            <a:avLst/>
          </a:prstGeom>
          <a:solidFill>
            <a:srgbClr val="FCE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飾り"/>
          <p:cNvSpPr/>
          <p:nvPr/>
        </p:nvSpPr>
        <p:spPr>
          <a:xfrm>
            <a:off x="6998067" y="3262946"/>
            <a:ext cx="98664" cy="98664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飾り"/>
          <p:cNvSpPr/>
          <p:nvPr/>
        </p:nvSpPr>
        <p:spPr>
          <a:xfrm>
            <a:off x="11494308" y="1064157"/>
            <a:ext cx="126853" cy="126853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飾り"/>
          <p:cNvSpPr/>
          <p:nvPr/>
        </p:nvSpPr>
        <p:spPr>
          <a:xfrm>
            <a:off x="10951658" y="4468051"/>
            <a:ext cx="84569" cy="84569"/>
          </a:xfrm>
          <a:prstGeom prst="ellipse">
            <a:avLst/>
          </a:prstGeom>
          <a:solidFill>
            <a:srgbClr val="FCE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イラスト_van" descr="v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0671" y="3911306"/>
            <a:ext cx="1339006" cy="643949"/>
          </a:xfrm>
          <a:prstGeom prst="rect">
            <a:avLst/>
          </a:prstGeom>
        </p:spPr>
      </p:pic>
      <p:pic>
        <p:nvPicPr>
          <p:cNvPr id="20" name="イラスト_picnic" descr="picn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9676" y="4510335"/>
            <a:ext cx="1268532" cy="852830"/>
          </a:xfrm>
          <a:prstGeom prst="rect">
            <a:avLst/>
          </a:prstGeom>
        </p:spPr>
      </p:pic>
      <p:pic>
        <p:nvPicPr>
          <p:cNvPr id="21" name="イラスト_care" descr="c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7873" y="4157965"/>
            <a:ext cx="947831" cy="880925"/>
          </a:xfrm>
          <a:prstGeom prst="rect">
            <a:avLst/>
          </a:prstGeom>
        </p:spPr>
      </p:pic>
      <p:pic>
        <p:nvPicPr>
          <p:cNvPr id="22" name="イラスト_runner" descr="run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6023" y="5250312"/>
            <a:ext cx="1655827" cy="1268532"/>
          </a:xfrm>
          <a:prstGeom prst="rect">
            <a:avLst/>
          </a:prstGeom>
        </p:spPr>
      </p:pic>
      <p:pic>
        <p:nvPicPr>
          <p:cNvPr id="23" name="イラスト_selfie" descr="selfi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4134" y="5038890"/>
            <a:ext cx="1510364" cy="1479954"/>
          </a:xfrm>
          <a:prstGeom prst="rect">
            <a:avLst/>
          </a:prstGeom>
        </p:spPr>
      </p:pic>
      <p:pic>
        <p:nvPicPr>
          <p:cNvPr id="24" name="イラスト_boy" descr="bo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06783" y="5144601"/>
            <a:ext cx="747496" cy="1374243"/>
          </a:xfrm>
          <a:prstGeom prst="rect">
            <a:avLst/>
          </a:prstGeom>
        </p:spPr>
      </p:pic>
      <p:pic>
        <p:nvPicPr>
          <p:cNvPr id="25" name="イラスト_elder" descr="eld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96563" y="4933179"/>
            <a:ext cx="1033355" cy="1585665"/>
          </a:xfrm>
          <a:prstGeom prst="rect">
            <a:avLst/>
          </a:prstGeom>
        </p:spPr>
      </p:pic>
      <p:pic>
        <p:nvPicPr>
          <p:cNvPr id="26" name="イラスト_runners" descr="runner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2202" y="5687251"/>
            <a:ext cx="1136980" cy="8315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山1"/>
          <p:cNvSpPr/>
          <p:nvPr/>
        </p:nvSpPr>
        <p:spPr>
          <a:xfrm>
            <a:off x="7752139" y="4933179"/>
            <a:ext cx="4439861" cy="1923940"/>
          </a:xfrm>
          <a:custGeom>
            <a:avLst/>
            <a:gdLst/>
            <a:ahLst/>
            <a:cxnLst/>
            <a:rect l="l" t="t" r="r" b="b"/>
            <a:pathLst>
              <a:path w="4439861" h="1923940">
                <a:moveTo>
                  <a:pt x="0" y="1923940"/>
                </a:moveTo>
                <a:lnTo>
                  <a:pt x="1620901" y="422844"/>
                </a:lnTo>
                <a:lnTo>
                  <a:pt x="2466589" y="1057110"/>
                </a:lnTo>
                <a:lnTo>
                  <a:pt x="3382751" y="0"/>
                </a:lnTo>
                <a:lnTo>
                  <a:pt x="4439861" y="1127584"/>
                </a:lnTo>
                <a:lnTo>
                  <a:pt x="4439861" y="192394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845688" y="634266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 spc="8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PROJECT VISION</a:t>
            </a:r>
          </a:p>
        </p:txBody>
      </p:sp>
      <p:sp>
        <p:nvSpPr>
          <p:cNvPr id="5" name="ビジョン"/>
          <p:cNvSpPr txBox="1"/>
          <p:nvPr/>
        </p:nvSpPr>
        <p:spPr>
          <a:xfrm>
            <a:off x="845688" y="986636"/>
            <a:ext cx="10571098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長寿の国、長野発、</a:t>
            </a:r>
          </a:p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希望の地域モデルづくりへ</a:t>
            </a:r>
          </a:p>
        </p:txBody>
      </p:sp>
      <p:cxnSp>
        <p:nvCxnSpPr>
          <p:cNvPr id="6" name="ライン"/>
          <p:cNvCxnSpPr/>
          <p:nvPr/>
        </p:nvCxnSpPr>
        <p:spPr>
          <a:xfrm>
            <a:off x="873877" y="2678012"/>
            <a:ext cx="1240343" cy="0"/>
          </a:xfrm>
          <a:prstGeom prst="line">
            <a:avLst/>
          </a:prstGeom>
          <a:ln w="50800">
            <a:solidFill>
              <a:srgbClr val="FCE0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実習ステートメント"/>
          <p:cNvSpPr txBox="1"/>
          <p:nvPr/>
        </p:nvSpPr>
        <p:spPr>
          <a:xfrm>
            <a:off x="845688" y="2889434"/>
            <a:ext cx="10571098" cy="35236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「実習」と聞いて、どんなイメージを持ちますか？大変そう？ 自分にはまだ早いかも？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もし少しでも「やってみたい」と思うなら、ぜひ、私たちの現場に来てください。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共育実習は、「教える・教わる」だけの実習ではありません。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学生さんも、先生も、利用者さんも、社員も、地域の人も。みんなで福祉の人材を育てていく取り組みです。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学生さんは現場から学び、社員は学生さんから、仕事の意味を学びなおす。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人が育てば、地域の幸福度が高まる。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これから人口が減っていく長野で、支え合う人が育つことが、地域の希望になる。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介護や老後の話は、なんだか暗い。そんなイメージを、一緒にひっくり返したい。</a:t>
            </a:r>
          </a:p>
        </p:txBody>
      </p:sp>
      <p:sp>
        <p:nvSpPr>
          <p:cNvPr id="8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アジェンダ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このあと、お伝えすること</a:t>
            </a:r>
          </a:p>
        </p:txBody>
      </p:sp>
      <p:sp>
        <p:nvSpPr>
          <p:cNvPr id="8" name="コンセプト面"/>
          <p:cNvSpPr/>
          <p:nvPr/>
        </p:nvSpPr>
        <p:spPr>
          <a:xfrm>
            <a:off x="620171" y="1465859"/>
            <a:ext cx="4933179" cy="4890895"/>
          </a:xfrm>
          <a:prstGeom prst="roundRect">
            <a:avLst>
              <a:gd name="adj" fmla="val 4034"/>
            </a:avLst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コンセプト小見出し"/>
          <p:cNvSpPr txBox="1"/>
          <p:nvPr/>
        </p:nvSpPr>
        <p:spPr>
          <a:xfrm>
            <a:off x="1014825" y="1804134"/>
            <a:ext cx="4143871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 spc="6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</p:txBody>
      </p:sp>
      <p:sp>
        <p:nvSpPr>
          <p:cNvPr id="10" name="コンセプト"/>
          <p:cNvSpPr txBox="1"/>
          <p:nvPr/>
        </p:nvSpPr>
        <p:spPr>
          <a:xfrm>
            <a:off x="1014825" y="2142409"/>
            <a:ext cx="4298913" cy="2114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CE08E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</p:txBody>
      </p:sp>
      <p:sp>
        <p:nvSpPr>
          <p:cNvPr id="11" name="コンセプト文"/>
          <p:cNvSpPr txBox="1"/>
          <p:nvPr/>
        </p:nvSpPr>
        <p:spPr>
          <a:xfrm>
            <a:off x="1014825" y="4284818"/>
            <a:ext cx="4143871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6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</p:txBody>
      </p:sp>
      <p:pic>
        <p:nvPicPr>
          <p:cNvPr id="12" name="イラスト_picnic" descr="pic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015" y="5017748"/>
            <a:ext cx="1409480" cy="947589"/>
          </a:xfrm>
          <a:prstGeom prst="rect">
            <a:avLst/>
          </a:prstGeom>
        </p:spPr>
      </p:pic>
      <p:pic>
        <p:nvPicPr>
          <p:cNvPr id="13" name="イラスト_runners" descr="runn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605" y="5158696"/>
            <a:ext cx="1204428" cy="880925"/>
          </a:xfrm>
          <a:prstGeom prst="rect">
            <a:avLst/>
          </a:prstGeom>
        </p:spPr>
      </p:pic>
      <p:sp>
        <p:nvSpPr>
          <p:cNvPr id="14" name="番号点"/>
          <p:cNvSpPr/>
          <p:nvPr/>
        </p:nvSpPr>
        <p:spPr>
          <a:xfrm>
            <a:off x="6060763" y="1729432"/>
            <a:ext cx="451034" cy="45103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1"/>
          <p:cNvSpPr txBox="1"/>
          <p:nvPr/>
        </p:nvSpPr>
        <p:spPr>
          <a:xfrm>
            <a:off x="6060763" y="1729432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6" name="項目_共育実習が目指すこと"/>
          <p:cNvSpPr txBox="1"/>
          <p:nvPr/>
        </p:nvSpPr>
        <p:spPr>
          <a:xfrm>
            <a:off x="6821882" y="1536333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共育実習が目指すこと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ビジョンと、みんなで育つ共創モデル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P.2–4</a:t>
            </a:r>
          </a:p>
        </p:txBody>
      </p:sp>
      <p:pic>
        <p:nvPicPr>
          <p:cNvPr id="17" name="イラスト_selfie" descr="self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4458" y="1564523"/>
            <a:ext cx="796897" cy="780852"/>
          </a:xfrm>
          <a:prstGeom prst="rect">
            <a:avLst/>
          </a:prstGeom>
        </p:spPr>
      </p:pic>
      <p:cxnSp>
        <p:nvCxnSpPr>
          <p:cNvPr id="18" name="区切り"/>
          <p:cNvCxnSpPr/>
          <p:nvPr/>
        </p:nvCxnSpPr>
        <p:spPr>
          <a:xfrm>
            <a:off x="6046668" y="2444038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番号点"/>
          <p:cNvSpPr/>
          <p:nvPr/>
        </p:nvSpPr>
        <p:spPr>
          <a:xfrm>
            <a:off x="6060763" y="2707611"/>
            <a:ext cx="451034" cy="45103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2"/>
          <p:cNvSpPr txBox="1"/>
          <p:nvPr/>
        </p:nvSpPr>
        <p:spPr>
          <a:xfrm>
            <a:off x="6060763" y="2707611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項目_いま、なぜ福祉人材か"/>
          <p:cNvSpPr txBox="1"/>
          <p:nvPr/>
        </p:nvSpPr>
        <p:spPr>
          <a:xfrm>
            <a:off x="6821882" y="2514512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いま、なぜ福祉人材か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人口の変化と、介護の需要、福祉の価値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P.5–7</a:t>
            </a:r>
          </a:p>
        </p:txBody>
      </p:sp>
      <p:pic>
        <p:nvPicPr>
          <p:cNvPr id="22" name="イラスト_elder" descr="el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2485" y="2542702"/>
            <a:ext cx="508870" cy="780852"/>
          </a:xfrm>
          <a:prstGeom prst="rect">
            <a:avLst/>
          </a:prstGeom>
        </p:spPr>
      </p:pic>
      <p:cxnSp>
        <p:nvCxnSpPr>
          <p:cNvPr id="23" name="区切り"/>
          <p:cNvCxnSpPr/>
          <p:nvPr/>
        </p:nvCxnSpPr>
        <p:spPr>
          <a:xfrm>
            <a:off x="6046668" y="3422217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番号点"/>
          <p:cNvSpPr/>
          <p:nvPr/>
        </p:nvSpPr>
        <p:spPr>
          <a:xfrm>
            <a:off x="6060763" y="3685790"/>
            <a:ext cx="451034" cy="45103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番号3"/>
          <p:cNvSpPr txBox="1"/>
          <p:nvPr/>
        </p:nvSpPr>
        <p:spPr>
          <a:xfrm>
            <a:off x="6060763" y="3685790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6" name="項目_エフビー介護サービスを知る"/>
          <p:cNvSpPr txBox="1"/>
          <p:nvPr/>
        </p:nvSpPr>
        <p:spPr>
          <a:xfrm>
            <a:off x="6821882" y="3492691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エフビー介護サービスを知る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介護の考え方、沿革、事業の展開と成長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P.8–12</a:t>
            </a:r>
          </a:p>
        </p:txBody>
      </p:sp>
      <p:pic>
        <p:nvPicPr>
          <p:cNvPr id="27" name="イラスト_van" descr="v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1875" y="3520880"/>
            <a:ext cx="1409480" cy="677841"/>
          </a:xfrm>
          <a:prstGeom prst="rect">
            <a:avLst/>
          </a:prstGeom>
        </p:spPr>
      </p:pic>
      <p:cxnSp>
        <p:nvCxnSpPr>
          <p:cNvPr id="28" name="区切り"/>
          <p:cNvCxnSpPr/>
          <p:nvPr/>
        </p:nvCxnSpPr>
        <p:spPr>
          <a:xfrm>
            <a:off x="6046668" y="4400396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番号点"/>
          <p:cNvSpPr/>
          <p:nvPr/>
        </p:nvSpPr>
        <p:spPr>
          <a:xfrm>
            <a:off x="6060763" y="4663969"/>
            <a:ext cx="451034" cy="45103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番号4"/>
          <p:cNvSpPr txBox="1"/>
          <p:nvPr/>
        </p:nvSpPr>
        <p:spPr>
          <a:xfrm>
            <a:off x="6060763" y="4663969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1" name="項目_実習で得られること"/>
          <p:cNvSpPr txBox="1"/>
          <p:nvPr/>
        </p:nvSpPr>
        <p:spPr>
          <a:xfrm>
            <a:off x="6821882" y="4470870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実習で得られること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他社との違い、プログラム、受け入れ体制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P.13–16</a:t>
            </a:r>
          </a:p>
        </p:txBody>
      </p:sp>
      <p:pic>
        <p:nvPicPr>
          <p:cNvPr id="32" name="イラスト_care" descr="car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1198" y="4499059"/>
            <a:ext cx="840157" cy="780852"/>
          </a:xfrm>
          <a:prstGeom prst="rect">
            <a:avLst/>
          </a:prstGeom>
        </p:spPr>
      </p:pic>
      <p:cxnSp>
        <p:nvCxnSpPr>
          <p:cNvPr id="33" name="区切り"/>
          <p:cNvCxnSpPr/>
          <p:nvPr/>
        </p:nvCxnSpPr>
        <p:spPr>
          <a:xfrm>
            <a:off x="6046668" y="5378575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番号点"/>
          <p:cNvSpPr/>
          <p:nvPr/>
        </p:nvSpPr>
        <p:spPr>
          <a:xfrm>
            <a:off x="6060763" y="5642148"/>
            <a:ext cx="451034" cy="45103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5"/>
          <p:cNvSpPr txBox="1"/>
          <p:nvPr/>
        </p:nvSpPr>
        <p:spPr>
          <a:xfrm>
            <a:off x="6060763" y="5642148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</p:txBody>
      </p:sp>
      <p:sp>
        <p:nvSpPr>
          <p:cNvPr id="36" name="項目_実習のひろがり"/>
          <p:cNvSpPr txBox="1"/>
          <p:nvPr/>
        </p:nvSpPr>
        <p:spPr>
          <a:xfrm>
            <a:off x="6821882" y="5449049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実習のひろがり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ブランドの育ち方と、応募までの流れ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P.17–18</a:t>
            </a:r>
          </a:p>
        </p:txBody>
      </p:sp>
      <p:pic>
        <p:nvPicPr>
          <p:cNvPr id="37" name="イラスト_boy" descr="bo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76624" y="5477238"/>
            <a:ext cx="424731" cy="780852"/>
          </a:xfrm>
          <a:prstGeom prst="rect">
            <a:avLst/>
          </a:prstGeom>
        </p:spPr>
      </p:pic>
      <p:sp>
        <p:nvSpPr>
          <p:cNvPr id="38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9" name="中央円"/>
          <p:cNvSpPr/>
          <p:nvPr/>
        </p:nvSpPr>
        <p:spPr>
          <a:xfrm>
            <a:off x="4912037" y="2706201"/>
            <a:ext cx="2367926" cy="2367926"/>
          </a:xfrm>
          <a:prstGeom prst="ellipse">
            <a:avLst/>
          </a:prstGeom>
          <a:solidFill>
            <a:srgbClr val="FFFFFF"/>
          </a:solidFill>
          <a:ln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中央ミニ"/>
          <p:cNvSpPr txBox="1"/>
          <p:nvPr/>
        </p:nvSpPr>
        <p:spPr>
          <a:xfrm>
            <a:off x="5038890" y="3213614"/>
            <a:ext cx="211422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11" name="中央タイトル"/>
          <p:cNvSpPr txBox="1"/>
          <p:nvPr/>
        </p:nvSpPr>
        <p:spPr>
          <a:xfrm>
            <a:off x="4897942" y="3467320"/>
            <a:ext cx="239611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61"/>
              </a:lnSpc>
              <a:spcBef>
                <a:spcPts val="0"/>
              </a:spcBef>
              <a:spcAft>
                <a:spcPts val="0"/>
              </a:spcAft>
            </a:pPr>
            <a:r>
              <a:rPr sz="388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2" name="共に育つ帯"/>
          <p:cNvSpPr/>
          <p:nvPr/>
        </p:nvSpPr>
        <p:spPr>
          <a:xfrm>
            <a:off x="5518113" y="4256629"/>
            <a:ext cx="1155773" cy="281896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共に育つ"/>
          <p:cNvSpPr txBox="1"/>
          <p:nvPr/>
        </p:nvSpPr>
        <p:spPr>
          <a:xfrm>
            <a:off x="5518113" y="4256629"/>
            <a:ext cx="1155773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4" name="環_エフビー介護サービス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6356000"/>
              <a:gd name="adj2" fmla="val 19644000"/>
              <a:gd name="adj3" fmla="val 14492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エフビー介護サービス"/>
          <p:cNvSpPr txBox="1"/>
          <p:nvPr/>
        </p:nvSpPr>
        <p:spPr>
          <a:xfrm rot="1800000">
            <a:off x="6363801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cxnSp>
        <p:nvCxnSpPr>
          <p:cNvPr id="16" name="接続線_エフビー介護サービス"/>
          <p:cNvCxnSpPr/>
          <p:nvPr/>
        </p:nvCxnSpPr>
        <p:spPr>
          <a:xfrm flipH="1">
            <a:off x="7307825" y="2226978"/>
            <a:ext cx="951726" cy="0"/>
          </a:xfrm>
          <a:prstGeom prst="line">
            <a:avLst/>
          </a:prstGeom>
          <a:ln w="25400">
            <a:solidFill>
              <a:srgbClr val="F28C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接続点_エフビー介護サービス"/>
          <p:cNvSpPr/>
          <p:nvPr/>
        </p:nvSpPr>
        <p:spPr>
          <a:xfrm>
            <a:off x="7265540" y="2184694"/>
            <a:ext cx="84569" cy="8456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エフビー介護サービス"/>
          <p:cNvSpPr/>
          <p:nvPr/>
        </p:nvSpPr>
        <p:spPr>
          <a:xfrm>
            <a:off x="825955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本文_エフビー介護サービス"/>
          <p:cNvSpPr txBox="1"/>
          <p:nvPr/>
        </p:nvSpPr>
        <p:spPr>
          <a:xfrm>
            <a:off x="849916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若い世代との出会い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学生から学び、地域の担い手づくりに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関わることができます。</a:t>
            </a:r>
          </a:p>
        </p:txBody>
      </p:sp>
      <p:sp>
        <p:nvSpPr>
          <p:cNvPr id="20" name="環_社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956000"/>
              <a:gd name="adj2" fmla="val 1644000"/>
              <a:gd name="adj3" fmla="val 14492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社員"/>
          <p:cNvSpPr txBox="1"/>
          <p:nvPr/>
        </p:nvSpPr>
        <p:spPr>
          <a:xfrm rot="5400000">
            <a:off x="7195394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cxnSp>
        <p:nvCxnSpPr>
          <p:cNvPr id="22" name="接続線_社員"/>
          <p:cNvCxnSpPr/>
          <p:nvPr/>
        </p:nvCxnSpPr>
        <p:spPr>
          <a:xfrm flipH="1">
            <a:off x="8153840" y="3890164"/>
            <a:ext cx="105711" cy="0"/>
          </a:xfrm>
          <a:prstGeom prst="line">
            <a:avLst/>
          </a:prstGeom>
          <a:ln w="25400">
            <a:solidFill>
              <a:srgbClr val="F7AB6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接続点_社員"/>
          <p:cNvSpPr/>
          <p:nvPr/>
        </p:nvSpPr>
        <p:spPr>
          <a:xfrm>
            <a:off x="8111556" y="3847880"/>
            <a:ext cx="84569" cy="84569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カード_社員"/>
          <p:cNvSpPr/>
          <p:nvPr/>
        </p:nvSpPr>
        <p:spPr>
          <a:xfrm>
            <a:off x="825955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本文_社員"/>
          <p:cNvSpPr txBox="1"/>
          <p:nvPr/>
        </p:nvSpPr>
        <p:spPr>
          <a:xfrm>
            <a:off x="849916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学生に教えることで、仕事の意味を再発見。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sp>
        <p:nvSpPr>
          <p:cNvPr id="26" name="環_地域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55999"/>
              <a:gd name="adj2" fmla="val 5244000"/>
              <a:gd name="adj3" fmla="val 14492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環ラベル_地域"/>
          <p:cNvSpPr txBox="1"/>
          <p:nvPr/>
        </p:nvSpPr>
        <p:spPr>
          <a:xfrm rot="19800000">
            <a:off x="6363801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cxnSp>
        <p:nvCxnSpPr>
          <p:cNvPr id="28" name="接続線_地域"/>
          <p:cNvCxnSpPr/>
          <p:nvPr/>
        </p:nvCxnSpPr>
        <p:spPr>
          <a:xfrm flipH="1">
            <a:off x="7307825" y="5553350"/>
            <a:ext cx="951726" cy="0"/>
          </a:xfrm>
          <a:prstGeom prst="line">
            <a:avLst/>
          </a:prstGeom>
          <a:ln w="25400">
            <a:solidFill>
              <a:srgbClr val="2E9E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接続点_地域"/>
          <p:cNvSpPr/>
          <p:nvPr/>
        </p:nvSpPr>
        <p:spPr>
          <a:xfrm>
            <a:off x="7265540" y="5511066"/>
            <a:ext cx="84569" cy="84569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カード_地域"/>
          <p:cNvSpPr/>
          <p:nvPr/>
        </p:nvSpPr>
        <p:spPr>
          <a:xfrm>
            <a:off x="825955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本文_地域"/>
          <p:cNvSpPr txBox="1"/>
          <p:nvPr/>
        </p:nvSpPr>
        <p:spPr>
          <a:xfrm>
            <a:off x="849916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sp>
        <p:nvSpPr>
          <p:cNvPr id="32" name="環_大学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5556000"/>
              <a:gd name="adj2" fmla="val 8844000"/>
              <a:gd name="adj3" fmla="val 14492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環ラベル_大学"/>
          <p:cNvSpPr txBox="1"/>
          <p:nvPr/>
        </p:nvSpPr>
        <p:spPr>
          <a:xfrm rot="1800000">
            <a:off x="4700615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cxnSp>
        <p:nvCxnSpPr>
          <p:cNvPr id="34" name="接続線_大学"/>
          <p:cNvCxnSpPr/>
          <p:nvPr/>
        </p:nvCxnSpPr>
        <p:spPr>
          <a:xfrm>
            <a:off x="3932449" y="5553350"/>
            <a:ext cx="951726" cy="0"/>
          </a:xfrm>
          <a:prstGeom prst="line">
            <a:avLst/>
          </a:prstGeom>
          <a:ln w="25400">
            <a:solidFill>
              <a:srgbClr val="54C5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接続点_大学"/>
          <p:cNvSpPr/>
          <p:nvPr/>
        </p:nvSpPr>
        <p:spPr>
          <a:xfrm>
            <a:off x="4841891" y="5511066"/>
            <a:ext cx="84569" cy="84569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カード_大学"/>
          <p:cNvSpPr/>
          <p:nvPr/>
        </p:nvSpPr>
        <p:spPr>
          <a:xfrm>
            <a:off x="62017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本文_大学"/>
          <p:cNvSpPr txBox="1"/>
          <p:nvPr/>
        </p:nvSpPr>
        <p:spPr>
          <a:xfrm>
            <a:off x="85978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魅力的な実習で、学部・学科の魅力が向上。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社会テーマ型プログラム「STA」で連携。</a:t>
            </a:r>
          </a:p>
        </p:txBody>
      </p:sp>
      <p:sp>
        <p:nvSpPr>
          <p:cNvPr id="38" name="環_専門学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9156000"/>
              <a:gd name="adj2" fmla="val 12443999"/>
              <a:gd name="adj3" fmla="val 14492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環ラベル_専門学校"/>
          <p:cNvSpPr txBox="1"/>
          <p:nvPr/>
        </p:nvSpPr>
        <p:spPr>
          <a:xfrm rot="16200000">
            <a:off x="3869022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cxnSp>
        <p:nvCxnSpPr>
          <p:cNvPr id="40" name="接続線_専門学校"/>
          <p:cNvCxnSpPr/>
          <p:nvPr/>
        </p:nvCxnSpPr>
        <p:spPr>
          <a:xfrm>
            <a:off x="3932449" y="3890164"/>
            <a:ext cx="105711" cy="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接続点_専門学校"/>
          <p:cNvSpPr/>
          <p:nvPr/>
        </p:nvSpPr>
        <p:spPr>
          <a:xfrm>
            <a:off x="3995875" y="3847880"/>
            <a:ext cx="84569" cy="84569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カード_専門学校"/>
          <p:cNvSpPr/>
          <p:nvPr/>
        </p:nvSpPr>
        <p:spPr>
          <a:xfrm>
            <a:off x="62017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本文_専門学校"/>
          <p:cNvSpPr txBox="1"/>
          <p:nvPr/>
        </p:nvSpPr>
        <p:spPr>
          <a:xfrm>
            <a:off x="85978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sp>
        <p:nvSpPr>
          <p:cNvPr id="44" name="環_高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2756000"/>
              <a:gd name="adj2" fmla="val 16043999"/>
              <a:gd name="adj3" fmla="val 14492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環ラベル_高校"/>
          <p:cNvSpPr txBox="1"/>
          <p:nvPr/>
        </p:nvSpPr>
        <p:spPr>
          <a:xfrm rot="19800000">
            <a:off x="4700615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cxnSp>
        <p:nvCxnSpPr>
          <p:cNvPr id="46" name="接続線_高校"/>
          <p:cNvCxnSpPr/>
          <p:nvPr/>
        </p:nvCxnSpPr>
        <p:spPr>
          <a:xfrm>
            <a:off x="3932449" y="2226978"/>
            <a:ext cx="951726" cy="0"/>
          </a:xfrm>
          <a:prstGeom prst="line">
            <a:avLst/>
          </a:prstGeom>
          <a:ln w="25400">
            <a:solidFill>
              <a:srgbClr val="86D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接続点_高校"/>
          <p:cNvSpPr/>
          <p:nvPr/>
        </p:nvSpPr>
        <p:spPr>
          <a:xfrm>
            <a:off x="4841891" y="2184694"/>
            <a:ext cx="84569" cy="84569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カード_高校"/>
          <p:cNvSpPr/>
          <p:nvPr/>
        </p:nvSpPr>
        <p:spPr>
          <a:xfrm>
            <a:off x="62017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本文_高校"/>
          <p:cNvSpPr txBox="1"/>
          <p:nvPr/>
        </p:nvSpPr>
        <p:spPr>
          <a:xfrm>
            <a:off x="85978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50" name="循環マーク白"/>
          <p:cNvSpPr/>
          <p:nvPr/>
        </p:nvSpPr>
        <p:spPr>
          <a:xfrm>
            <a:off x="5997336" y="212831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循環マーク矢印"/>
          <p:cNvSpPr/>
          <p:nvPr/>
        </p:nvSpPr>
        <p:spPr>
          <a:xfrm>
            <a:off x="6067810" y="2198788"/>
            <a:ext cx="84569" cy="56380"/>
          </a:xfrm>
          <a:custGeom>
            <a:avLst/>
            <a:gdLst/>
            <a:ahLst/>
            <a:cxnLst/>
            <a:rect l="l" t="t" r="r" b="b"/>
            <a:pathLst>
              <a:path w="84569" h="56380">
                <a:moveTo>
                  <a:pt x="84569" y="28190"/>
                </a:moveTo>
                <a:lnTo>
                  <a:pt x="0" y="56380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循環マーク白"/>
          <p:cNvSpPr/>
          <p:nvPr/>
        </p:nvSpPr>
        <p:spPr>
          <a:xfrm>
            <a:off x="7437698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循環マーク矢印"/>
          <p:cNvSpPr/>
          <p:nvPr/>
        </p:nvSpPr>
        <p:spPr>
          <a:xfrm>
            <a:off x="7497854" y="3020063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循環マーク白"/>
          <p:cNvSpPr/>
          <p:nvPr/>
        </p:nvSpPr>
        <p:spPr>
          <a:xfrm>
            <a:off x="7437698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循環マーク矢印"/>
          <p:cNvSpPr/>
          <p:nvPr/>
        </p:nvSpPr>
        <p:spPr>
          <a:xfrm>
            <a:off x="7508172" y="4683250"/>
            <a:ext cx="66697" cy="87333"/>
          </a:xfrm>
          <a:custGeom>
            <a:avLst/>
            <a:gdLst/>
            <a:ahLst/>
            <a:cxnLst/>
            <a:rect l="l" t="t" r="r" b="b"/>
            <a:pathLst>
              <a:path w="66697" h="87333">
                <a:moveTo>
                  <a:pt x="0" y="87333"/>
                </a:moveTo>
                <a:lnTo>
                  <a:pt x="17871" y="0"/>
                </a:lnTo>
                <a:lnTo>
                  <a:pt x="66697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循環マーク白"/>
          <p:cNvSpPr/>
          <p:nvPr/>
        </p:nvSpPr>
        <p:spPr>
          <a:xfrm>
            <a:off x="5997336" y="5454687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循環マーク矢印"/>
          <p:cNvSpPr/>
          <p:nvPr/>
        </p:nvSpPr>
        <p:spPr>
          <a:xfrm>
            <a:off x="6039621" y="5525161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89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循環マーク白"/>
          <p:cNvSpPr/>
          <p:nvPr/>
        </p:nvSpPr>
        <p:spPr>
          <a:xfrm>
            <a:off x="4556975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循環マーク矢印"/>
          <p:cNvSpPr/>
          <p:nvPr/>
        </p:nvSpPr>
        <p:spPr>
          <a:xfrm>
            <a:off x="4627449" y="4672931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0" y="0"/>
                </a:moveTo>
                <a:lnTo>
                  <a:pt x="66697" y="59144"/>
                </a:lnTo>
                <a:lnTo>
                  <a:pt x="17871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循環マーク白"/>
          <p:cNvSpPr/>
          <p:nvPr/>
        </p:nvSpPr>
        <p:spPr>
          <a:xfrm>
            <a:off x="4556975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循環マーク矢印"/>
          <p:cNvSpPr/>
          <p:nvPr/>
        </p:nvSpPr>
        <p:spPr>
          <a:xfrm>
            <a:off x="4617131" y="3009745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日本の人口は、2008年をピークに減り続けていきます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6342659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日本の総人口（万人）  第一次ベビーブーム（1947年）から2100年まで</a:t>
            </a:r>
          </a:p>
        </p:txBody>
      </p:sp>
      <p:graphicFrame>
        <p:nvGraphicFramePr>
          <p:cNvPr id="9" name="総人口グラフ"/>
          <p:cNvGraphicFramePr>
            <a:graphicFrameLocks noGrp="1"/>
          </p:cNvGraphicFramePr>
          <p:nvPr/>
        </p:nvGraphicFramePr>
        <p:xfrm>
          <a:off x="563792" y="1677281"/>
          <a:ext cx="11064416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2008"/>
          <p:cNvSpPr/>
          <p:nvPr/>
        </p:nvSpPr>
        <p:spPr>
          <a:xfrm>
            <a:off x="3536696" y="1930987"/>
            <a:ext cx="2114220" cy="591982"/>
          </a:xfrm>
          <a:prstGeom prst="wedgeRoundRectCallout">
            <a:avLst>
              <a:gd name="adj1" fmla="val 33333"/>
              <a:gd name="adj2" fmla="val 111023"/>
              <a:gd name="adj3" fmla="val 22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2008"/>
          <p:cNvSpPr txBox="1"/>
          <p:nvPr/>
        </p:nvSpPr>
        <p:spPr>
          <a:xfrm>
            <a:off x="3635360" y="1973272"/>
            <a:ext cx="1916892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2008年がピーク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1億2,808万人</a:t>
            </a:r>
          </a:p>
        </p:txBody>
      </p:sp>
      <p:sp>
        <p:nvSpPr>
          <p:cNvPr id="12" name="吹き出し_2050"/>
          <p:cNvSpPr/>
          <p:nvPr/>
        </p:nvSpPr>
        <p:spPr>
          <a:xfrm>
            <a:off x="7211594" y="2198788"/>
            <a:ext cx="1902798" cy="591982"/>
          </a:xfrm>
          <a:prstGeom prst="wedgeRoundRectCallout">
            <a:avLst>
              <a:gd name="adj1" fmla="val -1851"/>
              <a:gd name="adj2" fmla="val 153342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吹き出し文_2050"/>
          <p:cNvSpPr txBox="1"/>
          <p:nvPr/>
        </p:nvSpPr>
        <p:spPr>
          <a:xfrm>
            <a:off x="7310258" y="2241073"/>
            <a:ext cx="1719565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2050年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約1億469万人</a:t>
            </a:r>
          </a:p>
        </p:txBody>
      </p:sp>
      <p:sp>
        <p:nvSpPr>
          <p:cNvPr id="14" name="吹き出し_2100"/>
          <p:cNvSpPr/>
          <p:nvPr/>
        </p:nvSpPr>
        <p:spPr>
          <a:xfrm>
            <a:off x="9381644" y="2706201"/>
            <a:ext cx="2043746" cy="591982"/>
          </a:xfrm>
          <a:prstGeom prst="wedgeRoundRectCallout">
            <a:avLst>
              <a:gd name="adj1" fmla="val 51379"/>
              <a:gd name="adj2" fmla="val 183860"/>
              <a:gd name="adj3" fmla="val 22000"/>
            </a:avLst>
          </a:prstGeom>
          <a:solidFill>
            <a:srgbClr val="E9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吹き出し文_2100"/>
          <p:cNvSpPr txBox="1"/>
          <p:nvPr/>
        </p:nvSpPr>
        <p:spPr>
          <a:xfrm>
            <a:off x="9480307" y="2748486"/>
            <a:ext cx="184641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2100年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約7,364万人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出典：総務省統計局／社人研 令和5年推計・出生中位（〜2070年）／国連 World Population Prospects（2075年〜は5年ごとの値を直線で結んだ参考値）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介護の社会保障給付費は、2040年度に向けて広がります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7117873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社会保障給付費「介護」の推移（兆円・年度）  5年ごとの比較</a:t>
            </a:r>
          </a:p>
        </p:txBody>
      </p:sp>
      <p:graphicFrame>
        <p:nvGraphicFramePr>
          <p:cNvPr id="9" name="介護費グラフ"/>
          <p:cNvGraphicFramePr>
            <a:graphicFrameLocks noGrp="1"/>
          </p:cNvGraphicFramePr>
          <p:nvPr/>
        </p:nvGraphicFramePr>
        <p:xfrm>
          <a:off x="563792" y="1677281"/>
          <a:ext cx="7117873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8倍"/>
          <p:cNvSpPr/>
          <p:nvPr/>
        </p:nvSpPr>
        <p:spPr>
          <a:xfrm>
            <a:off x="8090414" y="1747755"/>
            <a:ext cx="3481415" cy="1057110"/>
          </a:xfrm>
          <a:prstGeom prst="wedgeRoundRectCallout">
            <a:avLst>
              <a:gd name="adj1" fmla="val -41902"/>
              <a:gd name="adj2" fmla="val 90000"/>
              <a:gd name="adj3" fmla="val 14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8倍"/>
          <p:cNvSpPr txBox="1"/>
          <p:nvPr/>
        </p:nvSpPr>
        <p:spPr>
          <a:xfrm>
            <a:off x="8330025" y="1832324"/>
            <a:ext cx="3002192" cy="8879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2000年度と比べて</a:t>
            </a:r>
          </a:p>
          <a:p>
            <a:pPr algn="l">
              <a:lnSpc>
                <a:spcPts val="2358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2040年度は約8倍</a:t>
            </a:r>
          </a:p>
        </p:txBody>
      </p:sp>
      <p:sp>
        <p:nvSpPr>
          <p:cNvPr id="12" name="ライン"/>
          <p:cNvSpPr/>
          <p:nvPr/>
        </p:nvSpPr>
        <p:spPr>
          <a:xfrm>
            <a:off x="8090414" y="3608268"/>
            <a:ext cx="42284" cy="789309"/>
          </a:xfrm>
          <a:prstGeom prst="rect">
            <a:avLst/>
          </a:prstGeom>
          <a:solidFill>
            <a:srgbClr val="1F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補足_65歳以上の割合"/>
          <p:cNvSpPr txBox="1"/>
          <p:nvPr/>
        </p:nvSpPr>
        <p:spPr>
          <a:xfrm>
            <a:off x="8259551" y="3580079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65歳以上の割合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 28.6%  →  2050年 37.1%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2100年には 約38.7%（国連推計）</a:t>
            </a:r>
          </a:p>
        </p:txBody>
      </p:sp>
      <p:sp>
        <p:nvSpPr>
          <p:cNvPr id="14" name="ライン"/>
          <p:cNvSpPr/>
          <p:nvPr/>
        </p:nvSpPr>
        <p:spPr>
          <a:xfrm>
            <a:off x="8090414" y="4735852"/>
            <a:ext cx="42284" cy="789309"/>
          </a:xfrm>
          <a:prstGeom prst="rect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補足_支える人は減っていく"/>
          <p:cNvSpPr txBox="1"/>
          <p:nvPr/>
        </p:nvSpPr>
        <p:spPr>
          <a:xfrm>
            <a:off x="8259551" y="4707662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支える人は減っていく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15〜64歳の人口は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2020年の7,509万人から減少が続きます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出典：社人研『社会保障費用統計』（〜2020年度）／厚生労働省『2040年を見据えた社会保障の将来見通し』計画ベース。2030・2035年度は公表値がなく、直線補間の参考値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福祉人材のこれからの価値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なぜ、福祉が大切なのか</a:t>
            </a:r>
          </a:p>
        </p:txBody>
      </p:sp>
      <p:sp>
        <p:nvSpPr>
          <p:cNvPr id="8" name="問い"/>
          <p:cNvSpPr/>
          <p:nvPr/>
        </p:nvSpPr>
        <p:spPr>
          <a:xfrm>
            <a:off x="620171" y="1465859"/>
            <a:ext cx="3805595" cy="4890895"/>
          </a:xfrm>
          <a:prstGeom prst="roundRect">
            <a:avLst>
              <a:gd name="adj" fmla="val 4444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問い本文"/>
          <p:cNvSpPr txBox="1"/>
          <p:nvPr/>
        </p:nvSpPr>
        <p:spPr>
          <a:xfrm>
            <a:off x="958446" y="1804134"/>
            <a:ext cx="3129045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1442"/>
              </a:spcAft>
            </a:pPr>
            <a:r>
              <a:rPr sz="998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WHY WELFARE</a:t>
            </a:r>
          </a:p>
          <a:p>
            <a:pPr algn="l">
              <a:lnSpc>
                <a:spcPts val="3218"/>
              </a:lnSpc>
              <a:spcBef>
                <a:spcPts val="0"/>
              </a:spcBef>
              <a:spcAft>
                <a:spcPts val="1775"/>
              </a:spcAft>
            </a:pPr>
            <a:r>
              <a:rPr sz="221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人を支える仕事が、地域の未来を支える。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122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2040年に向けて、支える人は減り、支えられる人は増えていきます。福祉は、社会を成り立たせる土台です。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それでも「福祉」が若者に選ばれにくいのは、仕事の価値が、まだ十分に伝わっていないから。</a:t>
            </a:r>
          </a:p>
        </p:txBody>
      </p:sp>
      <p:sp>
        <p:nvSpPr>
          <p:cNvPr id="10" name="カード_社会を支えるインフラだから"/>
          <p:cNvSpPr/>
          <p:nvPr/>
        </p:nvSpPr>
        <p:spPr>
          <a:xfrm>
            <a:off x="4651283" y="1465859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904990" y="2013207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904990" y="2013207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理由_1"/>
          <p:cNvSpPr txBox="1"/>
          <p:nvPr/>
        </p:nvSpPr>
        <p:spPr>
          <a:xfrm>
            <a:off x="5567445" y="1620902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社会を支えるインフラだから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現役世代2.1人で1人の高齢者を支える構造（2020年）から、2040年には約1.6人で1人を支える構造へ。「支える人」と「支えられる人」のバランスが崩れ、社会インフラの持続可能性が問われています。</a:t>
            </a:r>
          </a:p>
        </p:txBody>
      </p:sp>
      <p:sp>
        <p:nvSpPr>
          <p:cNvPr id="14" name="カード_「生きてて良かった」を支える仕事だから"/>
          <p:cNvSpPr/>
          <p:nvPr/>
        </p:nvSpPr>
        <p:spPr>
          <a:xfrm>
            <a:off x="4651283" y="3152536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904990" y="3699884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904990" y="3699884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理由_2"/>
          <p:cNvSpPr txBox="1"/>
          <p:nvPr/>
        </p:nvSpPr>
        <p:spPr>
          <a:xfrm>
            <a:off x="5567445" y="3307579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「生きてて良かった」を支える仕事だから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福祉は、残された命をいかに生きるかを支える仕事。人の命と生活を預かり、利用者さんの「最終ページ」に出てくる人物として、その人の生きがいに関わります。</a:t>
            </a:r>
          </a:p>
        </p:txBody>
      </p:sp>
      <p:sp>
        <p:nvSpPr>
          <p:cNvPr id="18" name="カード_地域の未来をつくる人を育てるから"/>
          <p:cNvSpPr/>
          <p:nvPr/>
        </p:nvSpPr>
        <p:spPr>
          <a:xfrm>
            <a:off x="4651283" y="4839214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4904990" y="5386562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4904990" y="5386562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理由_3"/>
          <p:cNvSpPr txBox="1"/>
          <p:nvPr/>
        </p:nvSpPr>
        <p:spPr>
          <a:xfrm>
            <a:off x="5567445" y="4994257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地域の未来をつくる人を育てるから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「3K」というイメージを変え、福祉人材が福祉の枠を超えて活躍できる場へ。長寿の国・長野発の、希望の地域モデルをつくる起点になります。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出典：エフビー介護サービス×長野大学 産学連携プロジェクト資料（2025年12月・2026年3月）、雫石部長ヒアリング。人口の数字は国立社会保障・人口問題研究所の推計に基づきます。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介護への考え方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エフビー介護サービスの、介護への考え方</a:t>
            </a:r>
          </a:p>
        </p:txBody>
      </p:sp>
      <p:sp>
        <p:nvSpPr>
          <p:cNvPr id="8" name="夢"/>
          <p:cNvSpPr/>
          <p:nvPr/>
        </p:nvSpPr>
        <p:spPr>
          <a:xfrm>
            <a:off x="620171" y="1465859"/>
            <a:ext cx="10951658" cy="1212153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夢本文"/>
          <p:cNvSpPr txBox="1"/>
          <p:nvPr/>
        </p:nvSpPr>
        <p:spPr>
          <a:xfrm>
            <a:off x="930257" y="1649091"/>
            <a:ext cx="10331487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332"/>
              </a:spcAft>
            </a:pPr>
            <a:r>
              <a:rPr sz="998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わたしたちの夢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554"/>
              </a:spcAft>
            </a:pPr>
            <a:r>
              <a:rPr sz="210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人生の最終ステージを、利用者様の幸せと満足で元気にする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利用者様の笑顔と、数多くの「ありがとう」を求め、喜ばれること</a:t>
            </a:r>
          </a:p>
        </p:txBody>
      </p:sp>
      <p:sp>
        <p:nvSpPr>
          <p:cNvPr id="10" name="カード_創業からの想い"/>
          <p:cNvSpPr/>
          <p:nvPr/>
        </p:nvSpPr>
        <p:spPr>
          <a:xfrm>
            <a:off x="620171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創業からの想い"/>
          <p:cNvSpPr txBox="1"/>
          <p:nvPr/>
        </p:nvSpPr>
        <p:spPr>
          <a:xfrm>
            <a:off x="902067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創業からの想い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902067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番号"/>
          <p:cNvSpPr/>
          <p:nvPr/>
        </p:nvSpPr>
        <p:spPr>
          <a:xfrm>
            <a:off x="902067" y="3789151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1"/>
          <p:cNvSpPr txBox="1"/>
          <p:nvPr/>
        </p:nvSpPr>
        <p:spPr>
          <a:xfrm>
            <a:off x="902067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創業からの想い_1"/>
          <p:cNvSpPr txBox="1"/>
          <p:nvPr/>
        </p:nvSpPr>
        <p:spPr>
          <a:xfrm>
            <a:off x="1465859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経営理念と介護方針を基本として、利用者様とご家族の安心感と満足を目指します</a:t>
            </a:r>
          </a:p>
        </p:txBody>
      </p:sp>
      <p:cxnSp>
        <p:nvCxnSpPr>
          <p:cNvPr id="16" name="区切り"/>
          <p:cNvCxnSpPr/>
          <p:nvPr/>
        </p:nvCxnSpPr>
        <p:spPr>
          <a:xfrm>
            <a:off x="902067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番号"/>
          <p:cNvSpPr/>
          <p:nvPr/>
        </p:nvSpPr>
        <p:spPr>
          <a:xfrm>
            <a:off x="902067" y="4714710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2"/>
          <p:cNvSpPr txBox="1"/>
          <p:nvPr/>
        </p:nvSpPr>
        <p:spPr>
          <a:xfrm>
            <a:off x="902067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9" name="創業からの想い_2"/>
          <p:cNvSpPr txBox="1"/>
          <p:nvPr/>
        </p:nvSpPr>
        <p:spPr>
          <a:xfrm>
            <a:off x="1465859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心の温かい法人、事業所、そして心の優しい人間の集団になります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902067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番号"/>
          <p:cNvSpPr/>
          <p:nvPr/>
        </p:nvSpPr>
        <p:spPr>
          <a:xfrm>
            <a:off x="902067" y="5640268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902067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創業からの想い_3"/>
          <p:cNvSpPr txBox="1"/>
          <p:nvPr/>
        </p:nvSpPr>
        <p:spPr>
          <a:xfrm>
            <a:off x="1465859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利用者様に喜ばれる介護サービスと介護用品を提供し、スピーディーな対応に専心する社員になります</a:t>
            </a:r>
          </a:p>
        </p:txBody>
      </p:sp>
      <p:sp>
        <p:nvSpPr>
          <p:cNvPr id="24" name="カード_大切にしている姿勢"/>
          <p:cNvSpPr/>
          <p:nvPr/>
        </p:nvSpPr>
        <p:spPr>
          <a:xfrm>
            <a:off x="6208758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見出し_大切にしている姿勢"/>
          <p:cNvSpPr txBox="1"/>
          <p:nvPr/>
        </p:nvSpPr>
        <p:spPr>
          <a:xfrm>
            <a:off x="6490654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大切にしている姿勢</a:t>
            </a:r>
          </a:p>
        </p:txBody>
      </p:sp>
      <p:cxnSp>
        <p:nvCxnSpPr>
          <p:cNvPr id="26" name="区切り"/>
          <p:cNvCxnSpPr/>
          <p:nvPr/>
        </p:nvCxnSpPr>
        <p:spPr>
          <a:xfrm>
            <a:off x="6490654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番号"/>
          <p:cNvSpPr/>
          <p:nvPr/>
        </p:nvSpPr>
        <p:spPr>
          <a:xfrm>
            <a:off x="6490654" y="3789151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1"/>
          <p:cNvSpPr txBox="1"/>
          <p:nvPr/>
        </p:nvSpPr>
        <p:spPr>
          <a:xfrm>
            <a:off x="6490654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9" name="大切にしている姿勢_1"/>
          <p:cNvSpPr txBox="1"/>
          <p:nvPr/>
        </p:nvSpPr>
        <p:spPr>
          <a:xfrm>
            <a:off x="7054446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利用者様を「お客様」として敬い、その人としての尊厳を大切にします</a:t>
            </a:r>
          </a:p>
        </p:txBody>
      </p:sp>
      <p:cxnSp>
        <p:nvCxnSpPr>
          <p:cNvPr id="30" name="区切り"/>
          <p:cNvCxnSpPr/>
          <p:nvPr/>
        </p:nvCxnSpPr>
        <p:spPr>
          <a:xfrm>
            <a:off x="6490654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番号"/>
          <p:cNvSpPr/>
          <p:nvPr/>
        </p:nvSpPr>
        <p:spPr>
          <a:xfrm>
            <a:off x="6490654" y="4714710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2"/>
          <p:cNvSpPr txBox="1"/>
          <p:nvPr/>
        </p:nvSpPr>
        <p:spPr>
          <a:xfrm>
            <a:off x="6490654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3" name="大切にしている姿勢_2"/>
          <p:cNvSpPr txBox="1"/>
          <p:nvPr/>
        </p:nvSpPr>
        <p:spPr>
          <a:xfrm>
            <a:off x="7054446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「自分の親を面倒見るつもりで」。笑顔・言葉づかい・態度の接遇に力を入れています</a:t>
            </a:r>
          </a:p>
        </p:txBody>
      </p:sp>
      <p:cxnSp>
        <p:nvCxnSpPr>
          <p:cNvPr id="34" name="区切り"/>
          <p:cNvCxnSpPr/>
          <p:nvPr/>
        </p:nvCxnSpPr>
        <p:spPr>
          <a:xfrm>
            <a:off x="6490654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番号"/>
          <p:cNvSpPr/>
          <p:nvPr/>
        </p:nvSpPr>
        <p:spPr>
          <a:xfrm>
            <a:off x="6490654" y="5640268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3"/>
          <p:cNvSpPr txBox="1"/>
          <p:nvPr/>
        </p:nvSpPr>
        <p:spPr>
          <a:xfrm>
            <a:off x="6490654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7" name="大切にしている姿勢_3"/>
          <p:cNvSpPr txBox="1"/>
          <p:nvPr/>
        </p:nvSpPr>
        <p:spPr>
          <a:xfrm>
            <a:off x="7054446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介護する人・される人の区別なく、できることを持ち寄る。「誰かのためにはたらく」ことが生きがい</a:t>
            </a:r>
          </a:p>
        </p:txBody>
      </p:sp>
      <p:sp>
        <p:nvSpPr>
          <p:cNvPr id="38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 企業説明会資料／経営者ヒアリング（2025年）。文言は要約しています。</a:t>
            </a:r>
          </a:p>
        </p:txBody>
      </p:sp>
      <p:sp>
        <p:nvSpPr>
          <p:cNvPr id="39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感情労働の価値：人の心を動かし、意欲を引き出す仕事</a:t>
            </a:r>
          </a:p>
        </p:txBody>
      </p:sp>
      <p:sp>
        <p:nvSpPr>
          <p:cNvPr id="8" name="カード_肉体労働"/>
          <p:cNvSpPr/>
          <p:nvPr/>
        </p:nvSpPr>
        <p:spPr>
          <a:xfrm>
            <a:off x="620171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タグ"/>
          <p:cNvSpPr/>
          <p:nvPr/>
        </p:nvSpPr>
        <p:spPr>
          <a:xfrm>
            <a:off x="845688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番号タグ"/>
          <p:cNvSpPr txBox="1"/>
          <p:nvPr/>
        </p:nvSpPr>
        <p:spPr>
          <a:xfrm>
            <a:off x="845688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1</a:t>
            </a:r>
          </a:p>
        </p:txBody>
      </p:sp>
      <p:sp>
        <p:nvSpPr>
          <p:cNvPr id="11" name="本文_肉体労働"/>
          <p:cNvSpPr txBox="1"/>
          <p:nvPr/>
        </p:nvSpPr>
        <p:spPr>
          <a:xfrm>
            <a:off x="845688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体力を使って、対価を得る</a:t>
            </a:r>
          </a:p>
        </p:txBody>
      </p:sp>
      <p:sp>
        <p:nvSpPr>
          <p:cNvPr id="12" name="カード_頭脳労働"/>
          <p:cNvSpPr/>
          <p:nvPr/>
        </p:nvSpPr>
        <p:spPr>
          <a:xfrm>
            <a:off x="4336499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タグ"/>
          <p:cNvSpPr/>
          <p:nvPr/>
        </p:nvSpPr>
        <p:spPr>
          <a:xfrm>
            <a:off x="4562016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タグ"/>
          <p:cNvSpPr txBox="1"/>
          <p:nvPr/>
        </p:nvSpPr>
        <p:spPr>
          <a:xfrm>
            <a:off x="4562016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2</a:t>
            </a:r>
          </a:p>
        </p:txBody>
      </p:sp>
      <p:sp>
        <p:nvSpPr>
          <p:cNvPr id="15" name="本文_頭脳労働"/>
          <p:cNvSpPr txBox="1"/>
          <p:nvPr/>
        </p:nvSpPr>
        <p:spPr>
          <a:xfrm>
            <a:off x="4562016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アイデアなどを提供する</a:t>
            </a:r>
          </a:p>
        </p:txBody>
      </p:sp>
      <p:sp>
        <p:nvSpPr>
          <p:cNvPr id="16" name="カード_感情労働"/>
          <p:cNvSpPr/>
          <p:nvPr/>
        </p:nvSpPr>
        <p:spPr>
          <a:xfrm>
            <a:off x="8052828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6EC"/>
          </a:solidFill>
          <a:ln w="12700">
            <a:solidFill>
              <a:srgbClr val="F28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タグ"/>
          <p:cNvSpPr/>
          <p:nvPr/>
        </p:nvSpPr>
        <p:spPr>
          <a:xfrm>
            <a:off x="8278345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タグ"/>
          <p:cNvSpPr txBox="1"/>
          <p:nvPr/>
        </p:nvSpPr>
        <p:spPr>
          <a:xfrm>
            <a:off x="8278345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TYPE 3</a:t>
            </a:r>
          </a:p>
        </p:txBody>
      </p:sp>
      <p:sp>
        <p:nvSpPr>
          <p:cNvPr id="19" name="本文_感情労働"/>
          <p:cNvSpPr txBox="1"/>
          <p:nvPr/>
        </p:nvSpPr>
        <p:spPr>
          <a:xfrm>
            <a:off x="8278345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つねに自分の感情をコントロールし、相手に合わせた言葉や態度で応対する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介護・医療など「ひと」を相手にする仕事</a:t>
            </a:r>
          </a:p>
        </p:txBody>
      </p:sp>
      <p:sp>
        <p:nvSpPr>
          <p:cNvPr id="20" name="従来これから"/>
          <p:cNvSpPr/>
          <p:nvPr/>
        </p:nvSpPr>
        <p:spPr>
          <a:xfrm>
            <a:off x="620171" y="3439131"/>
            <a:ext cx="6765503" cy="1437669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変化見出し"/>
          <p:cNvSpPr txBox="1"/>
          <p:nvPr/>
        </p:nvSpPr>
        <p:spPr>
          <a:xfrm>
            <a:off x="873877" y="3608268"/>
            <a:ext cx="2818960" cy="22551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働き方のとらえ方が、変わっていく</a:t>
            </a:r>
          </a:p>
        </p:txBody>
      </p:sp>
      <p:sp>
        <p:nvSpPr>
          <p:cNvPr id="22" name="ラベル_従来"/>
          <p:cNvSpPr txBox="1"/>
          <p:nvPr/>
        </p:nvSpPr>
        <p:spPr>
          <a:xfrm>
            <a:off x="873877" y="3988828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従来</a:t>
            </a:r>
          </a:p>
        </p:txBody>
      </p:sp>
      <p:sp>
        <p:nvSpPr>
          <p:cNvPr id="23" name="チップ"/>
          <p:cNvSpPr/>
          <p:nvPr/>
        </p:nvSpPr>
        <p:spPr>
          <a:xfrm>
            <a:off x="1677281" y="3988828"/>
            <a:ext cx="2234025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チップ_頭脳労働（感情労働を含む）"/>
          <p:cNvSpPr txBox="1"/>
          <p:nvPr/>
        </p:nvSpPr>
        <p:spPr>
          <a:xfrm>
            <a:off x="1677281" y="3988828"/>
            <a:ext cx="2234025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頭脳労働（感情労働を含む）</a:t>
            </a:r>
          </a:p>
        </p:txBody>
      </p:sp>
      <p:sp>
        <p:nvSpPr>
          <p:cNvPr id="25" name="チップ"/>
          <p:cNvSpPr/>
          <p:nvPr/>
        </p:nvSpPr>
        <p:spPr>
          <a:xfrm>
            <a:off x="3953591" y="3988828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チップ_肉体労働"/>
          <p:cNvSpPr txBox="1"/>
          <p:nvPr/>
        </p:nvSpPr>
        <p:spPr>
          <a:xfrm>
            <a:off x="3953591" y="3988828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27" name="ラベル_これから"/>
          <p:cNvSpPr txBox="1"/>
          <p:nvPr/>
        </p:nvSpPr>
        <p:spPr>
          <a:xfrm>
            <a:off x="873877" y="4411672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これから</a:t>
            </a:r>
          </a:p>
        </p:txBody>
      </p:sp>
      <p:sp>
        <p:nvSpPr>
          <p:cNvPr id="28" name="チップ"/>
          <p:cNvSpPr/>
          <p:nvPr/>
        </p:nvSpPr>
        <p:spPr>
          <a:xfrm>
            <a:off x="1677281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チップ_頭脳労働"/>
          <p:cNvSpPr txBox="1"/>
          <p:nvPr/>
        </p:nvSpPr>
        <p:spPr>
          <a:xfrm>
            <a:off x="1677281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</p:txBody>
      </p:sp>
      <p:sp>
        <p:nvSpPr>
          <p:cNvPr id="30" name="チップ"/>
          <p:cNvSpPr/>
          <p:nvPr/>
        </p:nvSpPr>
        <p:spPr>
          <a:xfrm>
            <a:off x="262163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チップ_感情労働"/>
          <p:cNvSpPr txBox="1"/>
          <p:nvPr/>
        </p:nvSpPr>
        <p:spPr>
          <a:xfrm>
            <a:off x="262163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32" name="チップ"/>
          <p:cNvSpPr/>
          <p:nvPr/>
        </p:nvSpPr>
        <p:spPr>
          <a:xfrm>
            <a:off x="3565984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チップ_肉体労働"/>
          <p:cNvSpPr txBox="1"/>
          <p:nvPr/>
        </p:nvSpPr>
        <p:spPr>
          <a:xfrm>
            <a:off x="3565984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34" name="定義"/>
          <p:cNvSpPr/>
          <p:nvPr/>
        </p:nvSpPr>
        <p:spPr>
          <a:xfrm>
            <a:off x="7583001" y="3439131"/>
            <a:ext cx="3988828" cy="1437669"/>
          </a:xfrm>
          <a:prstGeom prst="roundRect">
            <a:avLst>
              <a:gd name="adj" fmla="val 9803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定義本文"/>
          <p:cNvSpPr txBox="1"/>
          <p:nvPr/>
        </p:nvSpPr>
        <p:spPr>
          <a:xfrm>
            <a:off x="7808518" y="3608268"/>
            <a:ext cx="3537794" cy="11557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443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感情労働とは</a:t>
            </a:r>
          </a:p>
          <a:p>
            <a:pPr algn="l">
              <a:lnSpc>
                <a:spcPts val="168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相手に感謝や安心の気持ちを喚起させるために行う、感情の管理。（A.R.ホックシールドが提唱）</a:t>
            </a:r>
          </a:p>
        </p:txBody>
      </p:sp>
      <p:sp>
        <p:nvSpPr>
          <p:cNvPr id="36" name="雫石部長"/>
          <p:cNvSpPr/>
          <p:nvPr/>
        </p:nvSpPr>
        <p:spPr>
          <a:xfrm>
            <a:off x="620171" y="5074127"/>
            <a:ext cx="5778867" cy="1282627"/>
          </a:xfrm>
          <a:prstGeom prst="roundRect">
            <a:avLst>
              <a:gd name="adj" fmla="val 1098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引用"/>
          <p:cNvSpPr txBox="1"/>
          <p:nvPr/>
        </p:nvSpPr>
        <p:spPr>
          <a:xfrm>
            <a:off x="902067" y="5215075"/>
            <a:ext cx="5215075" cy="107120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332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雫石部長（介護事業部）より</a:t>
            </a:r>
          </a:p>
          <a:p>
            <a:pPr algn="l">
              <a:lnSpc>
                <a:spcPts val="215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介護は、感情労働。単に感情を使うのではなく、自分と相手の感情を管理する仕事です。</a:t>
            </a:r>
          </a:p>
        </p:txBody>
      </p:sp>
      <p:sp>
        <p:nvSpPr>
          <p:cNvPr id="38" name="まとめ"/>
          <p:cNvSpPr/>
          <p:nvPr/>
        </p:nvSpPr>
        <p:spPr>
          <a:xfrm>
            <a:off x="6596365" y="5074127"/>
            <a:ext cx="4975464" cy="1282627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まとめ本文"/>
          <p:cNvSpPr txBox="1"/>
          <p:nvPr/>
        </p:nvSpPr>
        <p:spPr>
          <a:xfrm>
            <a:off x="6850072" y="5200980"/>
            <a:ext cx="4468051" cy="10993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・人の心を動かし、人の意欲を引き出す仕事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・お互いの感情を管理しながら行う、高度な技術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・これから社会に出る人にとって、どの仕事でも必須のスキル</a:t>
            </a:r>
          </a:p>
        </p:txBody>
      </p:sp>
      <p:sp>
        <p:nvSpPr>
          <p:cNvPr id="4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出典：visions college（エフビー介護サービス回、2026年2月24日）、長野大学×エフビー介護サービス 産学連携プロジェクト資料。</a:t>
            </a:r>
          </a:p>
        </p:txBody>
      </p:sp>
      <p:sp>
        <p:nvSpPr>
          <p:cNvPr id="41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沿革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福祉用具から、地域に根ざす介護の総合企業へ</a:t>
            </a:r>
          </a:p>
        </p:txBody>
      </p:sp>
      <p:sp>
        <p:nvSpPr>
          <p:cNvPr id="8" name="年表の帯"/>
          <p:cNvSpPr/>
          <p:nvPr/>
        </p:nvSpPr>
        <p:spPr>
          <a:xfrm>
            <a:off x="606076" y="3298183"/>
            <a:ext cx="10979847" cy="451034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年_1987"/>
          <p:cNvSpPr/>
          <p:nvPr/>
        </p:nvSpPr>
        <p:spPr>
          <a:xfrm>
            <a:off x="711787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年ラベル_1987"/>
          <p:cNvSpPr txBox="1"/>
          <p:nvPr/>
        </p:nvSpPr>
        <p:spPr>
          <a:xfrm>
            <a:off x="676550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1987</a:t>
            </a:r>
          </a:p>
        </p:txBody>
      </p:sp>
      <p:cxnSp>
        <p:nvCxnSpPr>
          <p:cNvPr id="11" name="目盛り"/>
          <p:cNvCxnSpPr/>
          <p:nvPr/>
        </p:nvCxnSpPr>
        <p:spPr>
          <a:xfrm>
            <a:off x="118179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目盛り"/>
          <p:cNvCxnSpPr/>
          <p:nvPr/>
        </p:nvCxnSpPr>
        <p:spPr>
          <a:xfrm>
            <a:off x="144742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年ラベル_1990"/>
          <p:cNvSpPr txBox="1"/>
          <p:nvPr/>
        </p:nvSpPr>
        <p:spPr>
          <a:xfrm>
            <a:off x="1501638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1990</a:t>
            </a:r>
          </a:p>
        </p:txBody>
      </p:sp>
      <p:cxnSp>
        <p:nvCxnSpPr>
          <p:cNvPr id="14" name="目盛り"/>
          <p:cNvCxnSpPr/>
          <p:nvPr/>
        </p:nvCxnSpPr>
        <p:spPr>
          <a:xfrm>
            <a:off x="197869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目盛り"/>
          <p:cNvCxnSpPr/>
          <p:nvPr/>
        </p:nvCxnSpPr>
        <p:spPr>
          <a:xfrm>
            <a:off x="224432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目盛り"/>
          <p:cNvCxnSpPr/>
          <p:nvPr/>
        </p:nvCxnSpPr>
        <p:spPr>
          <a:xfrm>
            <a:off x="250995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目盛り"/>
          <p:cNvCxnSpPr/>
          <p:nvPr/>
        </p:nvCxnSpPr>
        <p:spPr>
          <a:xfrm>
            <a:off x="277559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年ラベル_1995"/>
          <p:cNvSpPr txBox="1"/>
          <p:nvPr/>
        </p:nvSpPr>
        <p:spPr>
          <a:xfrm>
            <a:off x="2829802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1995</a:t>
            </a:r>
          </a:p>
        </p:txBody>
      </p:sp>
      <p:cxnSp>
        <p:nvCxnSpPr>
          <p:cNvPr id="19" name="目盛り"/>
          <p:cNvCxnSpPr/>
          <p:nvPr/>
        </p:nvCxnSpPr>
        <p:spPr>
          <a:xfrm>
            <a:off x="330685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目盛り"/>
          <p:cNvCxnSpPr/>
          <p:nvPr/>
        </p:nvCxnSpPr>
        <p:spPr>
          <a:xfrm>
            <a:off x="357248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目盛り"/>
          <p:cNvCxnSpPr/>
          <p:nvPr/>
        </p:nvCxnSpPr>
        <p:spPr>
          <a:xfrm>
            <a:off x="383812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目盛り"/>
          <p:cNvCxnSpPr/>
          <p:nvPr/>
        </p:nvCxnSpPr>
        <p:spPr>
          <a:xfrm>
            <a:off x="410375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年_2000"/>
          <p:cNvSpPr/>
          <p:nvPr/>
        </p:nvSpPr>
        <p:spPr>
          <a:xfrm>
            <a:off x="416501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年ラベル_2000"/>
          <p:cNvSpPr txBox="1"/>
          <p:nvPr/>
        </p:nvSpPr>
        <p:spPr>
          <a:xfrm>
            <a:off x="412977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2000</a:t>
            </a:r>
          </a:p>
        </p:txBody>
      </p:sp>
      <p:cxnSp>
        <p:nvCxnSpPr>
          <p:cNvPr id="25" name="目盛り"/>
          <p:cNvCxnSpPr/>
          <p:nvPr/>
        </p:nvCxnSpPr>
        <p:spPr>
          <a:xfrm>
            <a:off x="463502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年_2002"/>
          <p:cNvSpPr/>
          <p:nvPr/>
        </p:nvSpPr>
        <p:spPr>
          <a:xfrm>
            <a:off x="4696278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年ラベル_2002"/>
          <p:cNvSpPr txBox="1"/>
          <p:nvPr/>
        </p:nvSpPr>
        <p:spPr>
          <a:xfrm>
            <a:off x="4661041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2002</a:t>
            </a:r>
          </a:p>
        </p:txBody>
      </p:sp>
      <p:cxnSp>
        <p:nvCxnSpPr>
          <p:cNvPr id="28" name="目盛り"/>
          <p:cNvCxnSpPr/>
          <p:nvPr/>
        </p:nvCxnSpPr>
        <p:spPr>
          <a:xfrm>
            <a:off x="516628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目盛り"/>
          <p:cNvCxnSpPr/>
          <p:nvPr/>
        </p:nvCxnSpPr>
        <p:spPr>
          <a:xfrm>
            <a:off x="543191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年ラベル_2005"/>
          <p:cNvSpPr txBox="1"/>
          <p:nvPr/>
        </p:nvSpPr>
        <p:spPr>
          <a:xfrm>
            <a:off x="5486129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2005</a:t>
            </a:r>
          </a:p>
        </p:txBody>
      </p:sp>
      <p:cxnSp>
        <p:nvCxnSpPr>
          <p:cNvPr id="31" name="目盛り"/>
          <p:cNvCxnSpPr/>
          <p:nvPr/>
        </p:nvCxnSpPr>
        <p:spPr>
          <a:xfrm>
            <a:off x="596318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目盛り"/>
          <p:cNvCxnSpPr/>
          <p:nvPr/>
        </p:nvCxnSpPr>
        <p:spPr>
          <a:xfrm>
            <a:off x="622881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目盛り"/>
          <p:cNvCxnSpPr/>
          <p:nvPr/>
        </p:nvCxnSpPr>
        <p:spPr>
          <a:xfrm>
            <a:off x="649444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目盛り"/>
          <p:cNvCxnSpPr/>
          <p:nvPr/>
        </p:nvCxnSpPr>
        <p:spPr>
          <a:xfrm>
            <a:off x="676008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年ラベル_2010"/>
          <p:cNvSpPr txBox="1"/>
          <p:nvPr/>
        </p:nvSpPr>
        <p:spPr>
          <a:xfrm>
            <a:off x="6814293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2010</a:t>
            </a:r>
          </a:p>
        </p:txBody>
      </p:sp>
      <p:cxnSp>
        <p:nvCxnSpPr>
          <p:cNvPr id="36" name="目盛り"/>
          <p:cNvCxnSpPr/>
          <p:nvPr/>
        </p:nvCxnSpPr>
        <p:spPr>
          <a:xfrm>
            <a:off x="729134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目盛り"/>
          <p:cNvCxnSpPr/>
          <p:nvPr/>
        </p:nvCxnSpPr>
        <p:spPr>
          <a:xfrm>
            <a:off x="755698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目盛り"/>
          <p:cNvCxnSpPr/>
          <p:nvPr/>
        </p:nvCxnSpPr>
        <p:spPr>
          <a:xfrm>
            <a:off x="782261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目盛り"/>
          <p:cNvCxnSpPr/>
          <p:nvPr/>
        </p:nvCxnSpPr>
        <p:spPr>
          <a:xfrm>
            <a:off x="808824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年ラベル_2015"/>
          <p:cNvSpPr txBox="1"/>
          <p:nvPr/>
        </p:nvSpPr>
        <p:spPr>
          <a:xfrm>
            <a:off x="8142456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2015</a:t>
            </a:r>
          </a:p>
        </p:txBody>
      </p:sp>
      <p:cxnSp>
        <p:nvCxnSpPr>
          <p:cNvPr id="41" name="目盛り"/>
          <p:cNvCxnSpPr/>
          <p:nvPr/>
        </p:nvCxnSpPr>
        <p:spPr>
          <a:xfrm>
            <a:off x="861951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目盛り"/>
          <p:cNvCxnSpPr/>
          <p:nvPr/>
        </p:nvCxnSpPr>
        <p:spPr>
          <a:xfrm>
            <a:off x="888514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目盛り"/>
          <p:cNvCxnSpPr/>
          <p:nvPr/>
        </p:nvCxnSpPr>
        <p:spPr>
          <a:xfrm>
            <a:off x="915077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年_2019"/>
          <p:cNvSpPr/>
          <p:nvPr/>
        </p:nvSpPr>
        <p:spPr>
          <a:xfrm>
            <a:off x="9212035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年ラベル_2019"/>
          <p:cNvSpPr txBox="1"/>
          <p:nvPr/>
        </p:nvSpPr>
        <p:spPr>
          <a:xfrm>
            <a:off x="9176798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2019</a:t>
            </a:r>
          </a:p>
        </p:txBody>
      </p:sp>
      <p:cxnSp>
        <p:nvCxnSpPr>
          <p:cNvPr id="46" name="目盛り"/>
          <p:cNvCxnSpPr/>
          <p:nvPr/>
        </p:nvCxnSpPr>
        <p:spPr>
          <a:xfrm>
            <a:off x="968204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目盛り"/>
          <p:cNvCxnSpPr/>
          <p:nvPr/>
        </p:nvCxnSpPr>
        <p:spPr>
          <a:xfrm>
            <a:off x="994767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年_2022"/>
          <p:cNvSpPr/>
          <p:nvPr/>
        </p:nvSpPr>
        <p:spPr>
          <a:xfrm>
            <a:off x="1000893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年ラベル_2022"/>
          <p:cNvSpPr txBox="1"/>
          <p:nvPr/>
        </p:nvSpPr>
        <p:spPr>
          <a:xfrm>
            <a:off x="997369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2022</a:t>
            </a:r>
          </a:p>
        </p:txBody>
      </p:sp>
      <p:cxnSp>
        <p:nvCxnSpPr>
          <p:cNvPr id="50" name="目盛り"/>
          <p:cNvCxnSpPr/>
          <p:nvPr/>
        </p:nvCxnSpPr>
        <p:spPr>
          <a:xfrm>
            <a:off x="1047894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目盛り"/>
          <p:cNvCxnSpPr/>
          <p:nvPr/>
        </p:nvCxnSpPr>
        <p:spPr>
          <a:xfrm>
            <a:off x="1074457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目盛り"/>
          <p:cNvCxnSpPr/>
          <p:nvPr/>
        </p:nvCxnSpPr>
        <p:spPr>
          <a:xfrm>
            <a:off x="1101020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年_2026"/>
          <p:cNvSpPr/>
          <p:nvPr/>
        </p:nvSpPr>
        <p:spPr>
          <a:xfrm>
            <a:off x="11071464" y="3319325"/>
            <a:ext cx="408749" cy="408749"/>
          </a:xfrm>
          <a:prstGeom prst="ellipse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年ラベル_2026"/>
          <p:cNvSpPr txBox="1"/>
          <p:nvPr/>
        </p:nvSpPr>
        <p:spPr>
          <a:xfrm>
            <a:off x="11036227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2026</a:t>
            </a:r>
          </a:p>
        </p:txBody>
      </p:sp>
      <p:cxnSp>
        <p:nvCxnSpPr>
          <p:cNvPr id="55" name="接続線"/>
          <p:cNvCxnSpPr/>
          <p:nvPr/>
        </p:nvCxnSpPr>
        <p:spPr>
          <a:xfrm>
            <a:off x="916162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沿革_1987"/>
          <p:cNvSpPr txBox="1"/>
          <p:nvPr/>
        </p:nvSpPr>
        <p:spPr>
          <a:xfrm>
            <a:off x="916162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1987年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エフビー信州を設立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フランスベッドの代理店から</a:t>
            </a:r>
          </a:p>
        </p:txBody>
      </p:sp>
      <p:cxnSp>
        <p:nvCxnSpPr>
          <p:cNvPr id="57" name="接続線"/>
          <p:cNvCxnSpPr/>
          <p:nvPr/>
        </p:nvCxnSpPr>
        <p:spPr>
          <a:xfrm>
            <a:off x="4900653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沿革_2002"/>
          <p:cNvSpPr txBox="1"/>
          <p:nvPr/>
        </p:nvSpPr>
        <p:spPr>
          <a:xfrm>
            <a:off x="4900653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2002年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商号を変更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エフビー介護サービスへ</a:t>
            </a:r>
          </a:p>
        </p:txBody>
      </p:sp>
      <p:cxnSp>
        <p:nvCxnSpPr>
          <p:cNvPr id="59" name="接続線"/>
          <p:cNvCxnSpPr/>
          <p:nvPr/>
        </p:nvCxnSpPr>
        <p:spPr>
          <a:xfrm>
            <a:off x="10213307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沿革_2022"/>
          <p:cNvSpPr txBox="1"/>
          <p:nvPr/>
        </p:nvSpPr>
        <p:spPr>
          <a:xfrm>
            <a:off x="7535296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2022年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東証に上場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スタンダード市場へ</a:t>
            </a:r>
          </a:p>
        </p:txBody>
      </p:sp>
      <p:cxnSp>
        <p:nvCxnSpPr>
          <p:cNvPr id="61" name="接続線"/>
          <p:cNvCxnSpPr/>
          <p:nvPr/>
        </p:nvCxnSpPr>
        <p:spPr>
          <a:xfrm>
            <a:off x="4369387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沿革_2000"/>
          <p:cNvSpPr txBox="1"/>
          <p:nvPr/>
        </p:nvSpPr>
        <p:spPr>
          <a:xfrm>
            <a:off x="4369387" y="3960638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2000年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レンタル開始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福祉用具の取り扱いを広げる</a:t>
            </a:r>
          </a:p>
        </p:txBody>
      </p:sp>
      <p:cxnSp>
        <p:nvCxnSpPr>
          <p:cNvPr id="63" name="接続線"/>
          <p:cNvCxnSpPr/>
          <p:nvPr/>
        </p:nvCxnSpPr>
        <p:spPr>
          <a:xfrm>
            <a:off x="9416409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沿革_2019"/>
          <p:cNvSpPr txBox="1"/>
          <p:nvPr/>
        </p:nvSpPr>
        <p:spPr>
          <a:xfrm>
            <a:off x="6456502" y="3960638"/>
            <a:ext cx="2959908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2019年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海外人材を受け入れ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ベトナム・ネパールなど</a:t>
            </a:r>
          </a:p>
        </p:txBody>
      </p:sp>
      <p:sp>
        <p:nvSpPr>
          <p:cNvPr id="65" name="期間バー"/>
          <p:cNvSpPr/>
          <p:nvPr/>
        </p:nvSpPr>
        <p:spPr>
          <a:xfrm>
            <a:off x="5166285" y="5792962"/>
            <a:ext cx="3984491" cy="112758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事業の広がり"/>
          <p:cNvSpPr txBox="1"/>
          <p:nvPr/>
        </p:nvSpPr>
        <p:spPr>
          <a:xfrm>
            <a:off x="5166285" y="5976194"/>
            <a:ext cx="3984491" cy="4933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居宅介護・小規模多機能へ事業を広げる</a:t>
            </a:r>
          </a:p>
        </p:txBody>
      </p:sp>
      <p:sp>
        <p:nvSpPr>
          <p:cNvPr id="67" name="吹き出し_現在"/>
          <p:cNvSpPr/>
          <p:nvPr/>
        </p:nvSpPr>
        <p:spPr>
          <a:xfrm>
            <a:off x="9246187" y="4806326"/>
            <a:ext cx="2325642" cy="1057110"/>
          </a:xfrm>
          <a:prstGeom prst="wedgeRoundRectCallout">
            <a:avLst>
              <a:gd name="adj1" fmla="val 37272"/>
              <a:gd name="adj2" fmla="val -146000"/>
              <a:gd name="adj3" fmla="val 14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吹き出し文_現在"/>
          <p:cNvSpPr txBox="1"/>
          <p:nvPr/>
        </p:nvSpPr>
        <p:spPr>
          <a:xfrm>
            <a:off x="9457609" y="4876800"/>
            <a:ext cx="2043746" cy="9161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現在</a:t>
            </a:r>
          </a:p>
          <a:p>
            <a:pPr algn="l">
              <a:lnSpc>
                <a:spcPts val="2264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7種109拠点</a:t>
            </a:r>
          </a:p>
          <a:p>
            <a:pPr algn="l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従業員 1,250名</a:t>
            </a:r>
          </a:p>
        </p:txBody>
      </p:sp>
      <p:sp>
        <p:nvSpPr>
          <p:cNvPr id="6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出典：エフビー介護サービス 企業説明会資料、経営者ヒアリング、決算説明資料（従業員数は2023年4月時点）。</a:t>
            </a:r>
          </a:p>
        </p:txBody>
      </p:sp>
      <p:sp>
        <p:nvSpPr>
          <p:cNvPr id="70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事業の展開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小規模な施設を、地域ごとに。7つのサービスで暮らしを支える</a:t>
            </a:r>
          </a:p>
        </p:txBody>
      </p:sp>
      <p:sp>
        <p:nvSpPr>
          <p:cNvPr id="8" name="こだわり"/>
          <p:cNvSpPr/>
          <p:nvPr/>
        </p:nvSpPr>
        <p:spPr>
          <a:xfrm>
            <a:off x="620171" y="1465859"/>
            <a:ext cx="5356023" cy="1846418"/>
          </a:xfrm>
          <a:prstGeom prst="roundRect">
            <a:avLst>
              <a:gd name="adj" fmla="val 916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こだわり本文"/>
          <p:cNvSpPr txBox="1"/>
          <p:nvPr/>
        </p:nvSpPr>
        <p:spPr>
          <a:xfrm>
            <a:off x="958446" y="1705471"/>
            <a:ext cx="4679473" cy="14940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55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わたしたちのちょっとしたこだわり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大規模な施設ではなく、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665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小規模な施設をメインに展開する。</a:t>
            </a:r>
          </a:p>
          <a:p>
            <a:pPr algn="l">
              <a:lnSpc>
                <a:spcPts val="1634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地域の文化・風土を取り入れた、きめ細やかなサービス。住み慣れた地元で、長く生活できる環境を。</a:t>
            </a:r>
          </a:p>
        </p:txBody>
      </p:sp>
      <p:sp>
        <p:nvSpPr>
          <p:cNvPr id="10" name="拠点見出し"/>
          <p:cNvSpPr txBox="1"/>
          <p:nvPr/>
        </p:nvSpPr>
        <p:spPr>
          <a:xfrm>
            <a:off x="6399038" y="1649091"/>
            <a:ext cx="5172791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多拠点で、地域に根ざす</a:t>
            </a:r>
          </a:p>
        </p:txBody>
      </p:sp>
      <p:sp>
        <p:nvSpPr>
          <p:cNvPr id="11" name="数字_拠点"/>
          <p:cNvSpPr txBox="1"/>
          <p:nvPr/>
        </p:nvSpPr>
        <p:spPr>
          <a:xfrm>
            <a:off x="6399038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8024638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数字_種のサービス"/>
          <p:cNvSpPr txBox="1"/>
          <p:nvPr/>
        </p:nvSpPr>
        <p:spPr>
          <a:xfrm>
            <a:off x="8123302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cxnSp>
        <p:nvCxnSpPr>
          <p:cNvPr id="14" name="区切り"/>
          <p:cNvCxnSpPr/>
          <p:nvPr/>
        </p:nvCxnSpPr>
        <p:spPr>
          <a:xfrm>
            <a:off x="9748902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数字_県"/>
          <p:cNvSpPr txBox="1"/>
          <p:nvPr/>
        </p:nvSpPr>
        <p:spPr>
          <a:xfrm>
            <a:off x="9847565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県</a:t>
            </a:r>
          </a:p>
        </p:txBody>
      </p:sp>
      <p:sp>
        <p:nvSpPr>
          <p:cNvPr id="16" name="サービス見出し"/>
          <p:cNvSpPr txBox="1"/>
          <p:nvPr/>
        </p:nvSpPr>
        <p:spPr>
          <a:xfrm>
            <a:off x="620171" y="3551889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暮らし方に合わせて選べる、7つのサービス</a:t>
            </a:r>
          </a:p>
        </p:txBody>
      </p:sp>
      <p:sp>
        <p:nvSpPr>
          <p:cNvPr id="17" name="ヘッダー_自宅で暮らし続ける"/>
          <p:cNvSpPr/>
          <p:nvPr/>
        </p:nvSpPr>
        <p:spPr>
          <a:xfrm>
            <a:off x="620171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ヘッダー下"/>
          <p:cNvSpPr/>
          <p:nvPr/>
        </p:nvSpPr>
        <p:spPr>
          <a:xfrm>
            <a:off x="620171" y="4298913"/>
            <a:ext cx="3519001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見出し_自宅で暮らし続ける"/>
          <p:cNvSpPr txBox="1"/>
          <p:nvPr/>
        </p:nvSpPr>
        <p:spPr>
          <a:xfrm>
            <a:off x="845688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自宅で暮らし続ける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自宅での生活を支援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761119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ドット"/>
          <p:cNvSpPr/>
          <p:nvPr/>
        </p:nvSpPr>
        <p:spPr>
          <a:xfrm>
            <a:off x="895020" y="4975464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サービス_訪問介護"/>
          <p:cNvSpPr txBox="1"/>
          <p:nvPr/>
        </p:nvSpPr>
        <p:spPr>
          <a:xfrm>
            <a:off x="1113489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ご自宅で、生活を支援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761119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ドット"/>
          <p:cNvSpPr/>
          <p:nvPr/>
        </p:nvSpPr>
        <p:spPr>
          <a:xfrm>
            <a:off x="895020" y="5807057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サービス_訪問看護"/>
          <p:cNvSpPr txBox="1"/>
          <p:nvPr/>
        </p:nvSpPr>
        <p:spPr>
          <a:xfrm>
            <a:off x="1113489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ご自宅へ、看護を届ける</a:t>
            </a:r>
          </a:p>
        </p:txBody>
      </p:sp>
      <p:sp>
        <p:nvSpPr>
          <p:cNvPr id="26" name="ヘッダー_通い・訪問・泊まりで支える"/>
          <p:cNvSpPr/>
          <p:nvPr/>
        </p:nvSpPr>
        <p:spPr>
          <a:xfrm>
            <a:off x="4336499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ヘッダー下"/>
          <p:cNvSpPr/>
          <p:nvPr/>
        </p:nvSpPr>
        <p:spPr>
          <a:xfrm>
            <a:off x="4336499" y="4298913"/>
            <a:ext cx="3519001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見出し_通い・訪問・泊まりで支える"/>
          <p:cNvSpPr txBox="1"/>
          <p:nvPr/>
        </p:nvSpPr>
        <p:spPr>
          <a:xfrm>
            <a:off x="4562016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通い・訪問・泊まりで支える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小規模多機能で、暮らしを支える</a:t>
            </a:r>
          </a:p>
        </p:txBody>
      </p:sp>
      <p:cxnSp>
        <p:nvCxnSpPr>
          <p:cNvPr id="29" name="区切り"/>
          <p:cNvCxnSpPr/>
          <p:nvPr/>
        </p:nvCxnSpPr>
        <p:spPr>
          <a:xfrm>
            <a:off x="4477447" y="5163394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ドット"/>
          <p:cNvSpPr/>
          <p:nvPr/>
        </p:nvSpPr>
        <p:spPr>
          <a:xfrm>
            <a:off x="4611348" y="483686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サービス_デイサービス"/>
          <p:cNvSpPr txBox="1"/>
          <p:nvPr/>
        </p:nvSpPr>
        <p:spPr>
          <a:xfrm>
            <a:off x="4829817" y="4707662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通いで過ごす</a:t>
            </a:r>
          </a:p>
        </p:txBody>
      </p:sp>
      <p:cxnSp>
        <p:nvCxnSpPr>
          <p:cNvPr id="32" name="区切り"/>
          <p:cNvCxnSpPr/>
          <p:nvPr/>
        </p:nvCxnSpPr>
        <p:spPr>
          <a:xfrm>
            <a:off x="4477447" y="5717790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ドット"/>
          <p:cNvSpPr/>
          <p:nvPr/>
        </p:nvSpPr>
        <p:spPr>
          <a:xfrm>
            <a:off x="4611348" y="5391260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サービス_小規模多機能型"/>
          <p:cNvSpPr txBox="1"/>
          <p:nvPr/>
        </p:nvSpPr>
        <p:spPr>
          <a:xfrm>
            <a:off x="4829817" y="5262058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通い・訪問・泊まりを組み合わせて</a:t>
            </a:r>
          </a:p>
        </p:txBody>
      </p:sp>
      <p:cxnSp>
        <p:nvCxnSpPr>
          <p:cNvPr id="35" name="区切り"/>
          <p:cNvCxnSpPr/>
          <p:nvPr/>
        </p:nvCxnSpPr>
        <p:spPr>
          <a:xfrm>
            <a:off x="4477447" y="6272185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ドット"/>
          <p:cNvSpPr/>
          <p:nvPr/>
        </p:nvSpPr>
        <p:spPr>
          <a:xfrm>
            <a:off x="4611348" y="594565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サービス_看護小規模多機能型"/>
          <p:cNvSpPr txBox="1"/>
          <p:nvPr/>
        </p:nvSpPr>
        <p:spPr>
          <a:xfrm>
            <a:off x="4829817" y="5816453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看護も組み合わせて</a:t>
            </a:r>
          </a:p>
        </p:txBody>
      </p:sp>
      <p:sp>
        <p:nvSpPr>
          <p:cNvPr id="38" name="ヘッダー_住まいで暮らす"/>
          <p:cNvSpPr/>
          <p:nvPr/>
        </p:nvSpPr>
        <p:spPr>
          <a:xfrm>
            <a:off x="8052828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ヘッダー下"/>
          <p:cNvSpPr/>
          <p:nvPr/>
        </p:nvSpPr>
        <p:spPr>
          <a:xfrm>
            <a:off x="8052828" y="4298913"/>
            <a:ext cx="3519001" cy="225517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見出し_住まいで暮らす"/>
          <p:cNvSpPr txBox="1"/>
          <p:nvPr/>
        </p:nvSpPr>
        <p:spPr>
          <a:xfrm>
            <a:off x="8278345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住まいで暮らす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居住いただき、支援する</a:t>
            </a:r>
          </a:p>
        </p:txBody>
      </p:sp>
      <p:cxnSp>
        <p:nvCxnSpPr>
          <p:cNvPr id="41" name="区切り"/>
          <p:cNvCxnSpPr/>
          <p:nvPr/>
        </p:nvCxnSpPr>
        <p:spPr>
          <a:xfrm>
            <a:off x="8193776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ドット"/>
          <p:cNvSpPr/>
          <p:nvPr/>
        </p:nvSpPr>
        <p:spPr>
          <a:xfrm>
            <a:off x="8327676" y="4975464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サービス_有料老人ホーム"/>
          <p:cNvSpPr txBox="1"/>
          <p:nvPr/>
        </p:nvSpPr>
        <p:spPr>
          <a:xfrm>
            <a:off x="8546146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住まいで、暮らしを支援</a:t>
            </a:r>
          </a:p>
        </p:txBody>
      </p:sp>
      <p:cxnSp>
        <p:nvCxnSpPr>
          <p:cNvPr id="44" name="区切り"/>
          <p:cNvCxnSpPr/>
          <p:nvPr/>
        </p:nvCxnSpPr>
        <p:spPr>
          <a:xfrm>
            <a:off x="8193776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ドット"/>
          <p:cNvSpPr/>
          <p:nvPr/>
        </p:nvSpPr>
        <p:spPr>
          <a:xfrm>
            <a:off x="8327676" y="5807057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サービス_グループホーム"/>
          <p:cNvSpPr txBox="1"/>
          <p:nvPr/>
        </p:nvSpPr>
        <p:spPr>
          <a:xfrm>
            <a:off x="8546146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少人数で暮らす、家庭的な雰囲気</a:t>
            </a:r>
          </a:p>
        </p:txBody>
      </p:sp>
      <p:sp>
        <p:nvSpPr>
          <p:cNvPr id="47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出典：企業説明会資料、経営者ヒアリング、実習サイトの掲載内容。サービスの分け方は暮らし方に合わせた整理です。</a:t>
            </a:r>
          </a:p>
        </p:txBody>
      </p:sp>
      <p:sp>
        <p:nvSpPr>
          <p:cNvPr id="48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事業の成長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事業は着実に成長。上場企業ならではの安心感</a:t>
            </a:r>
          </a:p>
        </p:txBody>
      </p:sp>
      <p:sp>
        <p:nvSpPr>
          <p:cNvPr id="8" name="売上見出し"/>
          <p:cNvSpPr txBox="1"/>
          <p:nvPr/>
        </p:nvSpPr>
        <p:spPr>
          <a:xfrm>
            <a:off x="620171" y="1494049"/>
            <a:ext cx="422843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売上の推移（26期〜36期）</a:t>
            </a:r>
          </a:p>
        </p:txBody>
      </p:sp>
      <p:sp>
        <p:nvSpPr>
          <p:cNvPr id="9" name="凡例_用具"/>
          <p:cNvSpPr/>
          <p:nvPr/>
        </p:nvSpPr>
        <p:spPr>
          <a:xfrm>
            <a:off x="4989558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凡例文字_用具"/>
          <p:cNvSpPr txBox="1"/>
          <p:nvPr/>
        </p:nvSpPr>
        <p:spPr>
          <a:xfrm>
            <a:off x="5215075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用具</a:t>
            </a:r>
          </a:p>
        </p:txBody>
      </p:sp>
      <p:sp>
        <p:nvSpPr>
          <p:cNvPr id="11" name="凡例_介護"/>
          <p:cNvSpPr/>
          <p:nvPr/>
        </p:nvSpPr>
        <p:spPr>
          <a:xfrm>
            <a:off x="5976194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凡例文字_介護"/>
          <p:cNvSpPr txBox="1"/>
          <p:nvPr/>
        </p:nvSpPr>
        <p:spPr>
          <a:xfrm>
            <a:off x="6201711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</a:t>
            </a:r>
          </a:p>
        </p:txBody>
      </p:sp>
      <p:sp>
        <p:nvSpPr>
          <p:cNvPr id="13" name="凡例_居宅"/>
          <p:cNvSpPr/>
          <p:nvPr/>
        </p:nvSpPr>
        <p:spPr>
          <a:xfrm>
            <a:off x="6962830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凡例文字_居宅"/>
          <p:cNvSpPr txBox="1"/>
          <p:nvPr/>
        </p:nvSpPr>
        <p:spPr>
          <a:xfrm>
            <a:off x="7188347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居宅</a:t>
            </a:r>
          </a:p>
        </p:txBody>
      </p:sp>
      <p:sp>
        <p:nvSpPr>
          <p:cNvPr id="15" name="単位"/>
          <p:cNvSpPr txBox="1"/>
          <p:nvPr/>
        </p:nvSpPr>
        <p:spPr>
          <a:xfrm>
            <a:off x="620171" y="1790039"/>
            <a:ext cx="422843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単位：百万円</a:t>
            </a:r>
          </a:p>
        </p:txBody>
      </p:sp>
      <p:sp>
        <p:nvSpPr>
          <p:cNvPr id="16" name="棒_26期"/>
          <p:cNvSpPr/>
          <p:nvPr/>
        </p:nvSpPr>
        <p:spPr>
          <a:xfrm>
            <a:off x="1050062" y="5116686"/>
            <a:ext cx="408749" cy="64808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値"/>
          <p:cNvSpPr txBox="1"/>
          <p:nvPr/>
        </p:nvSpPr>
        <p:spPr>
          <a:xfrm>
            <a:off x="965494" y="5116686"/>
            <a:ext cx="577887" cy="648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2,137</a:t>
            </a:r>
          </a:p>
        </p:txBody>
      </p:sp>
      <p:sp>
        <p:nvSpPr>
          <p:cNvPr id="18" name="棒_26期"/>
          <p:cNvSpPr/>
          <p:nvPr/>
        </p:nvSpPr>
        <p:spPr>
          <a:xfrm>
            <a:off x="1050062" y="4621751"/>
            <a:ext cx="408749" cy="49493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値"/>
          <p:cNvSpPr txBox="1"/>
          <p:nvPr/>
        </p:nvSpPr>
        <p:spPr>
          <a:xfrm>
            <a:off x="965494" y="4621751"/>
            <a:ext cx="577887" cy="49493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1,632</a:t>
            </a:r>
          </a:p>
        </p:txBody>
      </p:sp>
      <p:sp>
        <p:nvSpPr>
          <p:cNvPr id="20" name="棒_26期"/>
          <p:cNvSpPr/>
          <p:nvPr/>
        </p:nvSpPr>
        <p:spPr>
          <a:xfrm>
            <a:off x="1050062" y="4599309"/>
            <a:ext cx="408749" cy="2244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合計_26期"/>
          <p:cNvSpPr txBox="1"/>
          <p:nvPr/>
        </p:nvSpPr>
        <p:spPr>
          <a:xfrm>
            <a:off x="951399" y="4359697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3,843</a:t>
            </a:r>
          </a:p>
        </p:txBody>
      </p:sp>
      <p:sp>
        <p:nvSpPr>
          <p:cNvPr id="22" name="期_26"/>
          <p:cNvSpPr txBox="1"/>
          <p:nvPr/>
        </p:nvSpPr>
        <p:spPr>
          <a:xfrm>
            <a:off x="95139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26期</a:t>
            </a:r>
          </a:p>
        </p:txBody>
      </p:sp>
      <p:sp>
        <p:nvSpPr>
          <p:cNvPr id="23" name="棒_27期"/>
          <p:cNvSpPr/>
          <p:nvPr/>
        </p:nvSpPr>
        <p:spPr>
          <a:xfrm>
            <a:off x="1656139" y="5060278"/>
            <a:ext cx="408749" cy="70449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棒_27期"/>
          <p:cNvSpPr/>
          <p:nvPr/>
        </p:nvSpPr>
        <p:spPr>
          <a:xfrm>
            <a:off x="1656139" y="4503779"/>
            <a:ext cx="408749" cy="55649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棒_27期"/>
          <p:cNvSpPr/>
          <p:nvPr/>
        </p:nvSpPr>
        <p:spPr>
          <a:xfrm>
            <a:off x="1656139" y="4477698"/>
            <a:ext cx="408749" cy="2608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合計_27期"/>
          <p:cNvSpPr txBox="1"/>
          <p:nvPr/>
        </p:nvSpPr>
        <p:spPr>
          <a:xfrm>
            <a:off x="1557475" y="42380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4,244</a:t>
            </a:r>
          </a:p>
        </p:txBody>
      </p:sp>
      <p:sp>
        <p:nvSpPr>
          <p:cNvPr id="27" name="期_27"/>
          <p:cNvSpPr txBox="1"/>
          <p:nvPr/>
        </p:nvSpPr>
        <p:spPr>
          <a:xfrm>
            <a:off x="1557475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27期</a:t>
            </a:r>
          </a:p>
        </p:txBody>
      </p:sp>
      <p:sp>
        <p:nvSpPr>
          <p:cNvPr id="28" name="棒_28期"/>
          <p:cNvSpPr/>
          <p:nvPr/>
        </p:nvSpPr>
        <p:spPr>
          <a:xfrm>
            <a:off x="2262215" y="5027525"/>
            <a:ext cx="408749" cy="73724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棒_28期"/>
          <p:cNvSpPr/>
          <p:nvPr/>
        </p:nvSpPr>
        <p:spPr>
          <a:xfrm>
            <a:off x="2262215" y="4394602"/>
            <a:ext cx="408749" cy="632923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棒_28期"/>
          <p:cNvSpPr/>
          <p:nvPr/>
        </p:nvSpPr>
        <p:spPr>
          <a:xfrm>
            <a:off x="2262215" y="4364275"/>
            <a:ext cx="408749" cy="30327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合計_28期"/>
          <p:cNvSpPr txBox="1"/>
          <p:nvPr/>
        </p:nvSpPr>
        <p:spPr>
          <a:xfrm>
            <a:off x="2163551" y="412466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4,618</a:t>
            </a:r>
          </a:p>
        </p:txBody>
      </p:sp>
      <p:sp>
        <p:nvSpPr>
          <p:cNvPr id="32" name="期_28"/>
          <p:cNvSpPr txBox="1"/>
          <p:nvPr/>
        </p:nvSpPr>
        <p:spPr>
          <a:xfrm>
            <a:off x="2163551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28期</a:t>
            </a:r>
          </a:p>
        </p:txBody>
      </p:sp>
      <p:sp>
        <p:nvSpPr>
          <p:cNvPr id="33" name="棒_29期"/>
          <p:cNvSpPr/>
          <p:nvPr/>
        </p:nvSpPr>
        <p:spPr>
          <a:xfrm>
            <a:off x="2868291" y="4975059"/>
            <a:ext cx="408749" cy="78971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棒_29期"/>
          <p:cNvSpPr/>
          <p:nvPr/>
        </p:nvSpPr>
        <p:spPr>
          <a:xfrm>
            <a:off x="2868291" y="4245090"/>
            <a:ext cx="408749" cy="72996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棒_29期"/>
          <p:cNvSpPr/>
          <p:nvPr/>
        </p:nvSpPr>
        <p:spPr>
          <a:xfrm>
            <a:off x="2868291" y="4212034"/>
            <a:ext cx="408749" cy="3305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合計_29期"/>
          <p:cNvSpPr txBox="1"/>
          <p:nvPr/>
        </p:nvSpPr>
        <p:spPr>
          <a:xfrm>
            <a:off x="2769628" y="397242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5,120</a:t>
            </a:r>
          </a:p>
        </p:txBody>
      </p:sp>
      <p:sp>
        <p:nvSpPr>
          <p:cNvPr id="37" name="期_29"/>
          <p:cNvSpPr txBox="1"/>
          <p:nvPr/>
        </p:nvSpPr>
        <p:spPr>
          <a:xfrm>
            <a:off x="2769628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29期</a:t>
            </a:r>
          </a:p>
        </p:txBody>
      </p:sp>
      <p:sp>
        <p:nvSpPr>
          <p:cNvPr id="38" name="棒_30期"/>
          <p:cNvSpPr/>
          <p:nvPr/>
        </p:nvSpPr>
        <p:spPr>
          <a:xfrm>
            <a:off x="3474368" y="4918348"/>
            <a:ext cx="408749" cy="84642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棒_30期"/>
          <p:cNvSpPr/>
          <p:nvPr/>
        </p:nvSpPr>
        <p:spPr>
          <a:xfrm>
            <a:off x="3474368" y="4116807"/>
            <a:ext cx="408749" cy="80154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棒_30期"/>
          <p:cNvSpPr/>
          <p:nvPr/>
        </p:nvSpPr>
        <p:spPr>
          <a:xfrm>
            <a:off x="3474368" y="4081022"/>
            <a:ext cx="408749" cy="3578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合計_30期"/>
          <p:cNvSpPr txBox="1"/>
          <p:nvPr/>
        </p:nvSpPr>
        <p:spPr>
          <a:xfrm>
            <a:off x="3375704" y="384141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5,552</a:t>
            </a:r>
          </a:p>
        </p:txBody>
      </p:sp>
      <p:sp>
        <p:nvSpPr>
          <p:cNvPr id="42" name="期_30"/>
          <p:cNvSpPr txBox="1"/>
          <p:nvPr/>
        </p:nvSpPr>
        <p:spPr>
          <a:xfrm>
            <a:off x="3375704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30期</a:t>
            </a:r>
          </a:p>
        </p:txBody>
      </p:sp>
      <p:sp>
        <p:nvSpPr>
          <p:cNvPr id="43" name="棒_31期"/>
          <p:cNvSpPr/>
          <p:nvPr/>
        </p:nvSpPr>
        <p:spPr>
          <a:xfrm>
            <a:off x="4080444" y="4854055"/>
            <a:ext cx="408749" cy="9107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棒_31期"/>
          <p:cNvSpPr/>
          <p:nvPr/>
        </p:nvSpPr>
        <p:spPr>
          <a:xfrm>
            <a:off x="4080444" y="3969115"/>
            <a:ext cx="408749" cy="884940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棒_31期"/>
          <p:cNvSpPr/>
          <p:nvPr/>
        </p:nvSpPr>
        <p:spPr>
          <a:xfrm>
            <a:off x="4080444" y="3931813"/>
            <a:ext cx="408749" cy="3730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合計_31期"/>
          <p:cNvSpPr txBox="1"/>
          <p:nvPr/>
        </p:nvSpPr>
        <p:spPr>
          <a:xfrm>
            <a:off x="3981780" y="369220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6,044</a:t>
            </a:r>
          </a:p>
        </p:txBody>
      </p:sp>
      <p:sp>
        <p:nvSpPr>
          <p:cNvPr id="47" name="期_31"/>
          <p:cNvSpPr txBox="1"/>
          <p:nvPr/>
        </p:nvSpPr>
        <p:spPr>
          <a:xfrm>
            <a:off x="3981780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31期</a:t>
            </a:r>
          </a:p>
        </p:txBody>
      </p:sp>
      <p:sp>
        <p:nvSpPr>
          <p:cNvPr id="48" name="棒_32期"/>
          <p:cNvSpPr/>
          <p:nvPr/>
        </p:nvSpPr>
        <p:spPr>
          <a:xfrm>
            <a:off x="4686520" y="4785516"/>
            <a:ext cx="408749" cy="97925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棒_32期"/>
          <p:cNvSpPr/>
          <p:nvPr/>
        </p:nvSpPr>
        <p:spPr>
          <a:xfrm>
            <a:off x="4686520" y="3641888"/>
            <a:ext cx="408749" cy="1143628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棒_32期"/>
          <p:cNvSpPr/>
          <p:nvPr/>
        </p:nvSpPr>
        <p:spPr>
          <a:xfrm>
            <a:off x="4686520" y="3596397"/>
            <a:ext cx="408749" cy="4549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合計_32期"/>
          <p:cNvSpPr txBox="1"/>
          <p:nvPr/>
        </p:nvSpPr>
        <p:spPr>
          <a:xfrm>
            <a:off x="4587857" y="33567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7,150</a:t>
            </a:r>
          </a:p>
        </p:txBody>
      </p:sp>
      <p:sp>
        <p:nvSpPr>
          <p:cNvPr id="52" name="期_32"/>
          <p:cNvSpPr txBox="1"/>
          <p:nvPr/>
        </p:nvSpPr>
        <p:spPr>
          <a:xfrm>
            <a:off x="4587857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32期</a:t>
            </a:r>
          </a:p>
        </p:txBody>
      </p:sp>
      <p:sp>
        <p:nvSpPr>
          <p:cNvPr id="53" name="棒_33期"/>
          <p:cNvSpPr/>
          <p:nvPr/>
        </p:nvSpPr>
        <p:spPr>
          <a:xfrm>
            <a:off x="5292597" y="4697265"/>
            <a:ext cx="408749" cy="1067508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棒_33期"/>
          <p:cNvSpPr/>
          <p:nvPr/>
        </p:nvSpPr>
        <p:spPr>
          <a:xfrm>
            <a:off x="5292597" y="3493286"/>
            <a:ext cx="408749" cy="120397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棒_33期"/>
          <p:cNvSpPr/>
          <p:nvPr/>
        </p:nvSpPr>
        <p:spPr>
          <a:xfrm>
            <a:off x="5292597" y="3439607"/>
            <a:ext cx="408749" cy="5367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合計_33期"/>
          <p:cNvSpPr txBox="1"/>
          <p:nvPr/>
        </p:nvSpPr>
        <p:spPr>
          <a:xfrm>
            <a:off x="5193933" y="319999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7,667</a:t>
            </a:r>
          </a:p>
        </p:txBody>
      </p:sp>
      <p:sp>
        <p:nvSpPr>
          <p:cNvPr id="57" name="期_33"/>
          <p:cNvSpPr txBox="1"/>
          <p:nvPr/>
        </p:nvSpPr>
        <p:spPr>
          <a:xfrm>
            <a:off x="5193933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33期</a:t>
            </a:r>
          </a:p>
        </p:txBody>
      </p:sp>
      <p:sp>
        <p:nvSpPr>
          <p:cNvPr id="58" name="棒_34期"/>
          <p:cNvSpPr/>
          <p:nvPr/>
        </p:nvSpPr>
        <p:spPr>
          <a:xfrm>
            <a:off x="5898673" y="4612349"/>
            <a:ext cx="408749" cy="115242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棒_34期"/>
          <p:cNvSpPr/>
          <p:nvPr/>
        </p:nvSpPr>
        <p:spPr>
          <a:xfrm>
            <a:off x="5898673" y="3368945"/>
            <a:ext cx="408749" cy="1243404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棒_34期"/>
          <p:cNvSpPr/>
          <p:nvPr/>
        </p:nvSpPr>
        <p:spPr>
          <a:xfrm>
            <a:off x="5898673" y="3311324"/>
            <a:ext cx="408749" cy="5762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合計_34期"/>
          <p:cNvSpPr txBox="1"/>
          <p:nvPr/>
        </p:nvSpPr>
        <p:spPr>
          <a:xfrm>
            <a:off x="5800009" y="307171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8,090</a:t>
            </a:r>
          </a:p>
        </p:txBody>
      </p:sp>
      <p:sp>
        <p:nvSpPr>
          <p:cNvPr id="62" name="期_34"/>
          <p:cNvSpPr txBox="1"/>
          <p:nvPr/>
        </p:nvSpPr>
        <p:spPr>
          <a:xfrm>
            <a:off x="580000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34期</a:t>
            </a:r>
          </a:p>
        </p:txBody>
      </p:sp>
      <p:sp>
        <p:nvSpPr>
          <p:cNvPr id="63" name="棒_35期"/>
          <p:cNvSpPr/>
          <p:nvPr/>
        </p:nvSpPr>
        <p:spPr>
          <a:xfrm>
            <a:off x="6504749" y="4608407"/>
            <a:ext cx="408749" cy="115636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棒_35期"/>
          <p:cNvSpPr/>
          <p:nvPr/>
        </p:nvSpPr>
        <p:spPr>
          <a:xfrm>
            <a:off x="6504749" y="3170911"/>
            <a:ext cx="408749" cy="1437496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棒_35期"/>
          <p:cNvSpPr/>
          <p:nvPr/>
        </p:nvSpPr>
        <p:spPr>
          <a:xfrm>
            <a:off x="6504749" y="3103282"/>
            <a:ext cx="408749" cy="6762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合計_35期"/>
          <p:cNvSpPr txBox="1"/>
          <p:nvPr/>
        </p:nvSpPr>
        <p:spPr>
          <a:xfrm>
            <a:off x="6406086" y="286367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8,776</a:t>
            </a:r>
          </a:p>
        </p:txBody>
      </p:sp>
      <p:sp>
        <p:nvSpPr>
          <p:cNvPr id="67" name="期_35"/>
          <p:cNvSpPr txBox="1"/>
          <p:nvPr/>
        </p:nvSpPr>
        <p:spPr>
          <a:xfrm>
            <a:off x="6406086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35期</a:t>
            </a:r>
          </a:p>
        </p:txBody>
      </p:sp>
      <p:sp>
        <p:nvSpPr>
          <p:cNvPr id="68" name="棒_36期"/>
          <p:cNvSpPr/>
          <p:nvPr/>
        </p:nvSpPr>
        <p:spPr>
          <a:xfrm>
            <a:off x="7110825" y="4453436"/>
            <a:ext cx="408749" cy="131133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値"/>
          <p:cNvSpPr txBox="1"/>
          <p:nvPr/>
        </p:nvSpPr>
        <p:spPr>
          <a:xfrm>
            <a:off x="7026257" y="4453436"/>
            <a:ext cx="577887" cy="1311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4,324</a:t>
            </a:r>
          </a:p>
        </p:txBody>
      </p:sp>
      <p:sp>
        <p:nvSpPr>
          <p:cNvPr id="70" name="棒_36期"/>
          <p:cNvSpPr/>
          <p:nvPr/>
        </p:nvSpPr>
        <p:spPr>
          <a:xfrm>
            <a:off x="7110825" y="2896755"/>
            <a:ext cx="408749" cy="155668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値"/>
          <p:cNvSpPr txBox="1"/>
          <p:nvPr/>
        </p:nvSpPr>
        <p:spPr>
          <a:xfrm>
            <a:off x="7026257" y="2896755"/>
            <a:ext cx="577887" cy="15566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5,133</a:t>
            </a:r>
          </a:p>
        </p:txBody>
      </p:sp>
      <p:sp>
        <p:nvSpPr>
          <p:cNvPr id="72" name="棒_36期"/>
          <p:cNvSpPr/>
          <p:nvPr/>
        </p:nvSpPr>
        <p:spPr>
          <a:xfrm>
            <a:off x="7110825" y="2804865"/>
            <a:ext cx="408749" cy="9189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合計_36期"/>
          <p:cNvSpPr txBox="1"/>
          <p:nvPr/>
        </p:nvSpPr>
        <p:spPr>
          <a:xfrm>
            <a:off x="7012162" y="256525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9,760</a:t>
            </a:r>
          </a:p>
        </p:txBody>
      </p:sp>
      <p:sp>
        <p:nvSpPr>
          <p:cNvPr id="74" name="期_36"/>
          <p:cNvSpPr txBox="1"/>
          <p:nvPr/>
        </p:nvSpPr>
        <p:spPr>
          <a:xfrm>
            <a:off x="7012162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36期</a:t>
            </a:r>
          </a:p>
        </p:txBody>
      </p:sp>
      <p:cxnSp>
        <p:nvCxnSpPr>
          <p:cNvPr id="75" name="基準線"/>
          <p:cNvCxnSpPr/>
          <p:nvPr/>
        </p:nvCxnSpPr>
        <p:spPr>
          <a:xfrm>
            <a:off x="902067" y="5764772"/>
            <a:ext cx="6765503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吹き出し_成長"/>
          <p:cNvSpPr/>
          <p:nvPr/>
        </p:nvSpPr>
        <p:spPr>
          <a:xfrm>
            <a:off x="4002923" y="2057840"/>
            <a:ext cx="2537064" cy="676550"/>
          </a:xfrm>
          <a:prstGeom prst="wedgeRoundRectCallout">
            <a:avLst>
              <a:gd name="adj1" fmla="val 73333"/>
              <a:gd name="adj2" fmla="val 18750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吹き出し文_成長"/>
          <p:cNvSpPr txBox="1"/>
          <p:nvPr/>
        </p:nvSpPr>
        <p:spPr>
          <a:xfrm>
            <a:off x="4186155" y="2114220"/>
            <a:ext cx="2184694" cy="563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2013年 → 2023年</a:t>
            </a:r>
          </a:p>
          <a:p>
            <a:pPr algn="l">
              <a:lnSpc>
                <a:spcPts val="1942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10年で約2.5倍に成長</a:t>
            </a:r>
          </a:p>
        </p:txBody>
      </p:sp>
      <p:cxnSp>
        <p:nvCxnSpPr>
          <p:cNvPr id="78" name="区切り"/>
          <p:cNvCxnSpPr/>
          <p:nvPr/>
        </p:nvCxnSpPr>
        <p:spPr>
          <a:xfrm>
            <a:off x="8160888" y="1536333"/>
            <a:ext cx="0" cy="4749947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戦略見出し"/>
          <p:cNvSpPr txBox="1"/>
          <p:nvPr/>
        </p:nvSpPr>
        <p:spPr>
          <a:xfrm>
            <a:off x="8626016" y="1677281"/>
            <a:ext cx="2692106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これから目指すこと</a:t>
            </a:r>
          </a:p>
        </p:txBody>
      </p:sp>
      <p:sp>
        <p:nvSpPr>
          <p:cNvPr id="80" name="タグ"/>
          <p:cNvSpPr/>
          <p:nvPr/>
        </p:nvSpPr>
        <p:spPr>
          <a:xfrm>
            <a:off x="8626016" y="2170599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タグ文字_福祉用具事業"/>
          <p:cNvSpPr txBox="1"/>
          <p:nvPr/>
        </p:nvSpPr>
        <p:spPr>
          <a:xfrm>
            <a:off x="8626016" y="2170599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福祉用具事業</a:t>
            </a:r>
          </a:p>
        </p:txBody>
      </p:sp>
      <p:sp>
        <p:nvSpPr>
          <p:cNvPr id="82" name="戦略_福祉用具事業"/>
          <p:cNvSpPr txBox="1"/>
          <p:nvPr/>
        </p:nvSpPr>
        <p:spPr>
          <a:xfrm>
            <a:off x="8626016" y="2551158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・福祉用具のラインナップの充実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・より多くの方へのご提案</a:t>
            </a:r>
          </a:p>
        </p:txBody>
      </p:sp>
      <p:sp>
        <p:nvSpPr>
          <p:cNvPr id="83" name="タグ"/>
          <p:cNvSpPr/>
          <p:nvPr/>
        </p:nvSpPr>
        <p:spPr>
          <a:xfrm>
            <a:off x="8626016" y="3382751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タグ文字_介護事業"/>
          <p:cNvSpPr txBox="1"/>
          <p:nvPr/>
        </p:nvSpPr>
        <p:spPr>
          <a:xfrm>
            <a:off x="8626016" y="3382751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介護事業</a:t>
            </a:r>
          </a:p>
        </p:txBody>
      </p:sp>
      <p:sp>
        <p:nvSpPr>
          <p:cNvPr id="85" name="戦略_介護事業"/>
          <p:cNvSpPr txBox="1"/>
          <p:nvPr/>
        </p:nvSpPr>
        <p:spPr>
          <a:xfrm>
            <a:off x="8626016" y="3763311"/>
            <a:ext cx="2692106" cy="12121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・事業所の運営方法の見直し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・新たな介護サービスへの挑戦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・ニーズにあったきめ細やかなサービス</a:t>
            </a:r>
          </a:p>
        </p:txBody>
      </p:sp>
      <p:sp>
        <p:nvSpPr>
          <p:cNvPr id="86" name="タグ"/>
          <p:cNvSpPr/>
          <p:nvPr/>
        </p:nvSpPr>
        <p:spPr>
          <a:xfrm>
            <a:off x="8626016" y="5130506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タグ文字_人と技術"/>
          <p:cNvSpPr txBox="1"/>
          <p:nvPr/>
        </p:nvSpPr>
        <p:spPr>
          <a:xfrm>
            <a:off x="8626016" y="5130506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人と技術</a:t>
            </a:r>
          </a:p>
        </p:txBody>
      </p:sp>
      <p:sp>
        <p:nvSpPr>
          <p:cNvPr id="88" name="戦略_人と技術"/>
          <p:cNvSpPr txBox="1"/>
          <p:nvPr/>
        </p:nvSpPr>
        <p:spPr>
          <a:xfrm>
            <a:off x="8626016" y="5511066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・ICT・DXを進めながらも、介護には人の力が不可欠。業務効率化と質の高いサービスの両立を目指します</a:t>
            </a:r>
          </a:p>
        </p:txBody>
      </p:sp>
      <p:sp>
        <p:nvSpPr>
          <p:cNvPr id="8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売上は用具・介護・居宅の合計（エフビー介護サービス 企業説明会資料）。</a:t>
            </a:r>
          </a:p>
        </p:txBody>
      </p:sp>
      <p:sp>
        <p:nvSpPr>
          <p:cNvPr id="90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実習の魅力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ほかの法人と比べて見える、エフビーの実習の魅力</a:t>
            </a:r>
          </a:p>
        </p:txBody>
      </p:sp>
      <p:graphicFrame>
        <p:nvGraphicFramePr>
          <p:cNvPr id="8" name="他社比較表"/>
          <p:cNvGraphicFramePr>
            <a:graphicFrameLocks noGrp="1"/>
          </p:cNvGraphicFramePr>
          <p:nvPr/>
        </p:nvGraphicFramePr>
        <p:xfrm>
          <a:off x="620171" y="1465859"/>
          <a:ext cx="10951656" cy="3072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10816"/>
                <a:gridCol w="2833054"/>
                <a:gridCol w="2269262"/>
                <a:gridCol w="2269262"/>
                <a:gridCol w="2269262"/>
              </a:tblGrid>
              <a:tr h="310086"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/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エフビー介護サービス</a:t>
                      </a:r>
                    </a:p>
                  </a:txBody>
                  <a:tcPr marL="126853" marR="126853" marT="56379" marB="56379" anchor="ctr">
                    <a:solidFill>
                      <a:srgbClr val="F28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B社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</a:tr>
              <a:tr h="648361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ビジョン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「共生」をテーマにした、人々が助け合う地域創生（エフビータウン構想・コミュニティタワー構想）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暮らしを、共に。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535602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事業フェーズ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成長期〜拡大期（2022年 スタンダード市場上場）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安定期〜成熟期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地域密着・安定運営期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成長期〜拡大期（2024年 スタンダード市場上場）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902067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事業・特徴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有料老人ホーム、グループホーム、デイ、訪問介護・看護、小規模多機能、福祉用具ほか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特養、ケアハウス、デイ、ショートステイ、居宅介護支援、地域包括支援センター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病院運営、老健、デイケア、グループホーム、訪問看護ほか。病院母体の医療＋介護連携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有料老人ホームをシリーズで運営（首都圏中心）。都市型の有料老人ホーム特化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676550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人・メンバー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関わる人たちが、みんな優しく・温かい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「感謝の心を基にした関係」を築き、真心をもってサービスを提供できる人材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「利用者はもちろん、職員にとっても安心できる居場所」を重視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近年は毎年170名以上の新卒社員を受け入れ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魅力見出し"/>
          <p:cNvSpPr txBox="1"/>
          <p:nvPr/>
        </p:nvSpPr>
        <p:spPr>
          <a:xfrm>
            <a:off x="620171" y="4820421"/>
            <a:ext cx="10951658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エフビーの実習ならではの、3つの魅力</a:t>
            </a:r>
          </a:p>
        </p:txBody>
      </p:sp>
      <p:sp>
        <p:nvSpPr>
          <p:cNvPr id="10" name="カード_成長産業の上場企業"/>
          <p:cNvSpPr/>
          <p:nvPr/>
        </p:nvSpPr>
        <p:spPr>
          <a:xfrm>
            <a:off x="620171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59783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59783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魅力_1"/>
          <p:cNvSpPr txBox="1"/>
          <p:nvPr/>
        </p:nvSpPr>
        <p:spPr>
          <a:xfrm>
            <a:off x="1395385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成長産業の上場企業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その根本となる理念がある</a:t>
            </a:r>
          </a:p>
        </p:txBody>
      </p:sp>
      <p:sp>
        <p:nvSpPr>
          <p:cNvPr id="14" name="カード_ニーズに合わせたサービス展開"/>
          <p:cNvSpPr/>
          <p:nvPr/>
        </p:nvSpPr>
        <p:spPr>
          <a:xfrm>
            <a:off x="4336499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576111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576111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魅力_2"/>
          <p:cNvSpPr txBox="1"/>
          <p:nvPr/>
        </p:nvSpPr>
        <p:spPr>
          <a:xfrm>
            <a:off x="5111713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ニーズに合わせたサービス展開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ご利用者さんに合わせた、実習経験の幅</a:t>
            </a:r>
          </a:p>
        </p:txBody>
      </p:sp>
      <p:sp>
        <p:nvSpPr>
          <p:cNvPr id="18" name="カード_ダイバーシティな環境"/>
          <p:cNvSpPr/>
          <p:nvPr/>
        </p:nvSpPr>
        <p:spPr>
          <a:xfrm>
            <a:off x="8052828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8292439" y="5602682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8292439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魅力_3"/>
          <p:cNvSpPr txBox="1"/>
          <p:nvPr/>
        </p:nvSpPr>
        <p:spPr>
          <a:xfrm>
            <a:off x="8828042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ダイバーシティな環境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女性や技能実習生など、多様な人が活躍できる環境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他法人の記載は、公開情報をもとにした要約です。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sp>
        <p:nvSpPr>
          <p:cNvPr id="8" name="帯"/>
          <p:cNvSpPr/>
          <p:nvPr/>
        </p:nvSpPr>
        <p:spPr>
          <a:xfrm>
            <a:off x="3981780" y="1465859"/>
            <a:ext cx="4228439" cy="422844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帯文字"/>
          <p:cNvSpPr txBox="1"/>
          <p:nvPr/>
        </p:nvSpPr>
        <p:spPr>
          <a:xfrm>
            <a:off x="3981780" y="1465859"/>
            <a:ext cx="4228439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31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10" name="カード_話して知る"/>
          <p:cNvSpPr/>
          <p:nvPr/>
        </p:nvSpPr>
        <p:spPr>
          <a:xfrm>
            <a:off x="620171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45688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45688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話して知る"/>
          <p:cNvSpPr txBox="1"/>
          <p:nvPr/>
        </p:nvSpPr>
        <p:spPr>
          <a:xfrm>
            <a:off x="1409480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4" name="小見出し_話して知る"/>
          <p:cNvSpPr txBox="1"/>
          <p:nvPr/>
        </p:nvSpPr>
        <p:spPr>
          <a:xfrm>
            <a:off x="845688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5" name="区切り"/>
          <p:cNvCxnSpPr/>
          <p:nvPr/>
        </p:nvCxnSpPr>
        <p:spPr>
          <a:xfrm>
            <a:off x="845688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内容_話して知る"/>
          <p:cNvSpPr txBox="1"/>
          <p:nvPr/>
        </p:nvSpPr>
        <p:spPr>
          <a:xfrm>
            <a:off x="845688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17" name="矢印"/>
          <p:cNvSpPr/>
          <p:nvPr/>
        </p:nvSpPr>
        <p:spPr>
          <a:xfrm>
            <a:off x="3188948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見て学ぶ"/>
          <p:cNvSpPr/>
          <p:nvPr/>
        </p:nvSpPr>
        <p:spPr>
          <a:xfrm>
            <a:off x="3428560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3654076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2"/>
          <p:cNvSpPr txBox="1"/>
          <p:nvPr/>
        </p:nvSpPr>
        <p:spPr>
          <a:xfrm>
            <a:off x="3654076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見出し_見て学ぶ"/>
          <p:cNvSpPr txBox="1"/>
          <p:nvPr/>
        </p:nvSpPr>
        <p:spPr>
          <a:xfrm>
            <a:off x="4217868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2" name="小見出し_見て学ぶ"/>
          <p:cNvSpPr txBox="1"/>
          <p:nvPr/>
        </p:nvSpPr>
        <p:spPr>
          <a:xfrm>
            <a:off x="3654076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3654076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_見て学ぶ"/>
          <p:cNvSpPr txBox="1"/>
          <p:nvPr/>
        </p:nvSpPr>
        <p:spPr>
          <a:xfrm>
            <a:off x="3654076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5" name="矢印"/>
          <p:cNvSpPr/>
          <p:nvPr/>
        </p:nvSpPr>
        <p:spPr>
          <a:xfrm>
            <a:off x="5997336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やってみる"/>
          <p:cNvSpPr/>
          <p:nvPr/>
        </p:nvSpPr>
        <p:spPr>
          <a:xfrm>
            <a:off x="6236948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"/>
          <p:cNvSpPr/>
          <p:nvPr/>
        </p:nvSpPr>
        <p:spPr>
          <a:xfrm>
            <a:off x="6462465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3"/>
          <p:cNvSpPr txBox="1"/>
          <p:nvPr/>
        </p:nvSpPr>
        <p:spPr>
          <a:xfrm>
            <a:off x="6462465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9" name="見出し_やってみる"/>
          <p:cNvSpPr txBox="1"/>
          <p:nvPr/>
        </p:nvSpPr>
        <p:spPr>
          <a:xfrm>
            <a:off x="7026257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0" name="小見出し_やってみる"/>
          <p:cNvSpPr txBox="1"/>
          <p:nvPr/>
        </p:nvSpPr>
        <p:spPr>
          <a:xfrm>
            <a:off x="6462465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1" name="区切り"/>
          <p:cNvCxnSpPr/>
          <p:nvPr/>
        </p:nvCxnSpPr>
        <p:spPr>
          <a:xfrm>
            <a:off x="6462465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内容_やってみる"/>
          <p:cNvSpPr txBox="1"/>
          <p:nvPr/>
        </p:nvSpPr>
        <p:spPr>
          <a:xfrm>
            <a:off x="6462465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3" name="矢印"/>
          <p:cNvSpPr/>
          <p:nvPr/>
        </p:nvSpPr>
        <p:spPr>
          <a:xfrm>
            <a:off x="8805725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カード_振り返る"/>
          <p:cNvSpPr/>
          <p:nvPr/>
        </p:nvSpPr>
        <p:spPr>
          <a:xfrm>
            <a:off x="9045336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"/>
          <p:cNvSpPr/>
          <p:nvPr/>
        </p:nvSpPr>
        <p:spPr>
          <a:xfrm>
            <a:off x="9270853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4"/>
          <p:cNvSpPr txBox="1"/>
          <p:nvPr/>
        </p:nvSpPr>
        <p:spPr>
          <a:xfrm>
            <a:off x="9270853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7" name="見出し_振り返る"/>
          <p:cNvSpPr txBox="1"/>
          <p:nvPr/>
        </p:nvSpPr>
        <p:spPr>
          <a:xfrm>
            <a:off x="9834645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38" name="小見出し_振り返る"/>
          <p:cNvSpPr txBox="1"/>
          <p:nvPr/>
        </p:nvSpPr>
        <p:spPr>
          <a:xfrm>
            <a:off x="9270853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39" name="区切り"/>
          <p:cNvCxnSpPr/>
          <p:nvPr/>
        </p:nvCxnSpPr>
        <p:spPr>
          <a:xfrm>
            <a:off x="9270853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内容_振り返る"/>
          <p:cNvSpPr txBox="1"/>
          <p:nvPr/>
        </p:nvSpPr>
        <p:spPr>
          <a:xfrm>
            <a:off x="9270853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1" name="戻り矢印"/>
          <p:cNvSpPr/>
          <p:nvPr/>
        </p:nvSpPr>
        <p:spPr>
          <a:xfrm>
            <a:off x="620171" y="5821151"/>
            <a:ext cx="10951658" cy="535602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D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戻り矢印文字"/>
          <p:cNvSpPr txBox="1"/>
          <p:nvPr/>
        </p:nvSpPr>
        <p:spPr>
          <a:xfrm>
            <a:off x="1254437" y="5821151"/>
            <a:ext cx="10105970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3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内容は検討中のものです。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sp>
        <p:nvSpPr>
          <p:cNvPr id="8" name="帯_1DAY"/>
          <p:cNvSpPr/>
          <p:nvPr/>
        </p:nvSpPr>
        <p:spPr>
          <a:xfrm>
            <a:off x="620171" y="1465859"/>
            <a:ext cx="5577593" cy="591982"/>
          </a:xfrm>
          <a:prstGeom prst="roundRect">
            <a:avLst>
              <a:gd name="adj" fmla="val 28571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1DAY"/>
          <p:cNvSpPr txBox="1"/>
          <p:nvPr/>
        </p:nvSpPr>
        <p:spPr>
          <a:xfrm>
            <a:off x="84568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10" name="1DAY_見出し"/>
          <p:cNvSpPr txBox="1"/>
          <p:nvPr/>
        </p:nvSpPr>
        <p:spPr>
          <a:xfrm>
            <a:off x="2100125" y="1536333"/>
            <a:ext cx="3942597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1" name="帯_5DAYS"/>
          <p:cNvSpPr/>
          <p:nvPr/>
        </p:nvSpPr>
        <p:spPr>
          <a:xfrm>
            <a:off x="6423281" y="1465859"/>
            <a:ext cx="5148548" cy="591982"/>
          </a:xfrm>
          <a:prstGeom prst="roundRect">
            <a:avLst>
              <a:gd name="adj" fmla="val 28571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DAYS"/>
          <p:cNvSpPr txBox="1"/>
          <p:nvPr/>
        </p:nvSpPr>
        <p:spPr>
          <a:xfrm>
            <a:off x="664879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3" name="5DAYS_見出し"/>
          <p:cNvSpPr txBox="1"/>
          <p:nvPr/>
        </p:nvSpPr>
        <p:spPr>
          <a:xfrm>
            <a:off x="7903235" y="1536333"/>
            <a:ext cx="3513551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4" name="行_受付とオープニング"/>
          <p:cNvSpPr/>
          <p:nvPr/>
        </p:nvSpPr>
        <p:spPr>
          <a:xfrm>
            <a:off x="620171" y="2226978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時刻"/>
          <p:cNvSpPr/>
          <p:nvPr/>
        </p:nvSpPr>
        <p:spPr>
          <a:xfrm>
            <a:off x="789309" y="2436991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時刻_9:30"/>
          <p:cNvSpPr txBox="1"/>
          <p:nvPr/>
        </p:nvSpPr>
        <p:spPr>
          <a:xfrm>
            <a:off x="789309" y="2436991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7" name="行本文_受付とオープニング"/>
          <p:cNvSpPr txBox="1"/>
          <p:nvPr/>
        </p:nvSpPr>
        <p:spPr>
          <a:xfrm>
            <a:off x="1775945" y="2297452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18" name="行_現場シャドーイング＆その人らしさへの傾聴体験"/>
          <p:cNvSpPr/>
          <p:nvPr/>
        </p:nvSpPr>
        <p:spPr>
          <a:xfrm>
            <a:off x="620171" y="3069847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時刻"/>
          <p:cNvSpPr/>
          <p:nvPr/>
        </p:nvSpPr>
        <p:spPr>
          <a:xfrm>
            <a:off x="789309" y="3279859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時刻_10:00"/>
          <p:cNvSpPr txBox="1"/>
          <p:nvPr/>
        </p:nvSpPr>
        <p:spPr>
          <a:xfrm>
            <a:off x="789309" y="3279859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1" name="行本文_現場シャドーイング＆その人らしさへの傾聴体験"/>
          <p:cNvSpPr txBox="1"/>
          <p:nvPr/>
        </p:nvSpPr>
        <p:spPr>
          <a:xfrm>
            <a:off x="1775945" y="3140321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現場シャドーイング＆その人らしさへの傾聴体験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現場業務のサポートと利用者様へのインタビュー。対話・傾聴が中心</a:t>
            </a:r>
          </a:p>
        </p:txBody>
      </p:sp>
      <p:sp>
        <p:nvSpPr>
          <p:cNvPr id="22" name="行_ランチセッション"/>
          <p:cNvSpPr/>
          <p:nvPr/>
        </p:nvSpPr>
        <p:spPr>
          <a:xfrm>
            <a:off x="620171" y="3912716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時刻"/>
          <p:cNvSpPr/>
          <p:nvPr/>
        </p:nvSpPr>
        <p:spPr>
          <a:xfrm>
            <a:off x="789309" y="4122728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時刻_12:00"/>
          <p:cNvSpPr txBox="1"/>
          <p:nvPr/>
        </p:nvSpPr>
        <p:spPr>
          <a:xfrm>
            <a:off x="789309" y="4122728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25" name="行本文_ランチセッション"/>
          <p:cNvSpPr txBox="1"/>
          <p:nvPr/>
        </p:nvSpPr>
        <p:spPr>
          <a:xfrm>
            <a:off x="1775945" y="3983190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26" name="行_対話ワーク『100歳までの履歴書』"/>
          <p:cNvSpPr/>
          <p:nvPr/>
        </p:nvSpPr>
        <p:spPr>
          <a:xfrm>
            <a:off x="620171" y="4755585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時刻"/>
          <p:cNvSpPr/>
          <p:nvPr/>
        </p:nvSpPr>
        <p:spPr>
          <a:xfrm>
            <a:off x="789309" y="4965597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時刻_13:00"/>
          <p:cNvSpPr txBox="1"/>
          <p:nvPr/>
        </p:nvSpPr>
        <p:spPr>
          <a:xfrm>
            <a:off x="789309" y="4965597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29" name="行本文_対話ワーク『100歳までの履歴書』"/>
          <p:cNvSpPr txBox="1"/>
          <p:nvPr/>
        </p:nvSpPr>
        <p:spPr>
          <a:xfrm>
            <a:off x="1775945" y="4826059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0" name="行_リフレクション＆フィードバック"/>
          <p:cNvSpPr/>
          <p:nvPr/>
        </p:nvSpPr>
        <p:spPr>
          <a:xfrm>
            <a:off x="620171" y="5598454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時刻"/>
          <p:cNvSpPr/>
          <p:nvPr/>
        </p:nvSpPr>
        <p:spPr>
          <a:xfrm>
            <a:off x="789309" y="5808466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時刻_14:30"/>
          <p:cNvSpPr txBox="1"/>
          <p:nvPr/>
        </p:nvSpPr>
        <p:spPr>
          <a:xfrm>
            <a:off x="789309" y="5808466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33" name="行本文_リフレクション＆フィードバック"/>
          <p:cNvSpPr txBox="1"/>
          <p:nvPr/>
        </p:nvSpPr>
        <p:spPr>
          <a:xfrm>
            <a:off x="1775945" y="5668928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34" name="行_インストール"/>
          <p:cNvSpPr/>
          <p:nvPr/>
        </p:nvSpPr>
        <p:spPr>
          <a:xfrm>
            <a:off x="6423281" y="2226978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時刻"/>
          <p:cNvSpPr/>
          <p:nvPr/>
        </p:nvSpPr>
        <p:spPr>
          <a:xfrm>
            <a:off x="6592419" y="2436991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時刻_DAY1"/>
          <p:cNvSpPr txBox="1"/>
          <p:nvPr/>
        </p:nvSpPr>
        <p:spPr>
          <a:xfrm>
            <a:off x="6592419" y="2436991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37" name="行本文_インストール"/>
          <p:cNvSpPr txBox="1"/>
          <p:nvPr/>
        </p:nvSpPr>
        <p:spPr>
          <a:xfrm>
            <a:off x="7635434" y="2297452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オリエンテーション・動画鑑賞・目標設定。利用者様の人生のお話に耳を傾ける</a:t>
            </a:r>
          </a:p>
        </p:txBody>
      </p:sp>
      <p:sp>
        <p:nvSpPr>
          <p:cNvPr id="38" name="行_現場ケアと人間関係の構築"/>
          <p:cNvSpPr/>
          <p:nvPr/>
        </p:nvSpPr>
        <p:spPr>
          <a:xfrm>
            <a:off x="6423281" y="3069847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時刻"/>
          <p:cNvSpPr/>
          <p:nvPr/>
        </p:nvSpPr>
        <p:spPr>
          <a:xfrm>
            <a:off x="6592419" y="3279859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時刻_DAY2-3"/>
          <p:cNvSpPr txBox="1"/>
          <p:nvPr/>
        </p:nvSpPr>
        <p:spPr>
          <a:xfrm>
            <a:off x="6592419" y="3279859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41" name="行本文_現場ケアと人間関係の構築"/>
          <p:cNvSpPr txBox="1"/>
          <p:nvPr/>
        </p:nvSpPr>
        <p:spPr>
          <a:xfrm>
            <a:off x="7635434" y="3140321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現場サポートと利用者様へのインタビュー。毎日の振り返り（※実習サイトへ）</a:t>
            </a:r>
          </a:p>
        </p:txBody>
      </p:sp>
      <p:sp>
        <p:nvSpPr>
          <p:cNvPr id="42" name="行_笑顔を届けるプチ企画"/>
          <p:cNvSpPr/>
          <p:nvPr/>
        </p:nvSpPr>
        <p:spPr>
          <a:xfrm>
            <a:off x="6423281" y="3912716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時刻"/>
          <p:cNvSpPr/>
          <p:nvPr/>
        </p:nvSpPr>
        <p:spPr>
          <a:xfrm>
            <a:off x="6592419" y="4122728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時刻_DAY4"/>
          <p:cNvSpPr txBox="1"/>
          <p:nvPr/>
        </p:nvSpPr>
        <p:spPr>
          <a:xfrm>
            <a:off x="6592419" y="4122728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45" name="行本文_笑顔を届けるプチ企画"/>
          <p:cNvSpPr txBox="1"/>
          <p:nvPr/>
        </p:nvSpPr>
        <p:spPr>
          <a:xfrm>
            <a:off x="7635434" y="3983190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学生が考えた「利用者様を喜ばせる小さな企画」を実践</a:t>
            </a:r>
          </a:p>
        </p:txBody>
      </p:sp>
      <p:sp>
        <p:nvSpPr>
          <p:cNvPr id="46" name="行_履歴書の発表会＆結びのランチ"/>
          <p:cNvSpPr/>
          <p:nvPr/>
        </p:nvSpPr>
        <p:spPr>
          <a:xfrm>
            <a:off x="6423281" y="4755585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時刻"/>
          <p:cNvSpPr/>
          <p:nvPr/>
        </p:nvSpPr>
        <p:spPr>
          <a:xfrm>
            <a:off x="6592419" y="4965597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時刻_DAY5"/>
          <p:cNvSpPr txBox="1"/>
          <p:nvPr/>
        </p:nvSpPr>
        <p:spPr>
          <a:xfrm>
            <a:off x="6592419" y="4965597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49" name="行本文_履歴書の発表会＆結びのランチ"/>
          <p:cNvSpPr txBox="1"/>
          <p:nvPr/>
        </p:nvSpPr>
        <p:spPr>
          <a:xfrm>
            <a:off x="7635434" y="4826059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50" name="標準化ボックス"/>
          <p:cNvSpPr/>
          <p:nvPr/>
        </p:nvSpPr>
        <p:spPr>
          <a:xfrm>
            <a:off x="6423281" y="5598454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標準化本文"/>
          <p:cNvSpPr txBox="1"/>
          <p:nvPr/>
        </p:nvSpPr>
        <p:spPr>
          <a:xfrm>
            <a:off x="6634703" y="5668928"/>
            <a:ext cx="4725704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体験はサイトへ、運営は標準化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体験・感想は後日、実習サイトに掲載。学習シートを用意し、プログラムを標準化します。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プログラムの内容・日程は調整中です。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実習の受け入れ体制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誰が担当しても伝わる、再現性の高い受け入れの仕組み</a:t>
            </a:r>
          </a:p>
        </p:txBody>
      </p:sp>
      <p:sp>
        <p:nvSpPr>
          <p:cNvPr id="8" name="方針"/>
          <p:cNvSpPr/>
          <p:nvPr/>
        </p:nvSpPr>
        <p:spPr>
          <a:xfrm>
            <a:off x="620171" y="1465859"/>
            <a:ext cx="3664647" cy="4890895"/>
          </a:xfrm>
          <a:prstGeom prst="roundRect">
            <a:avLst>
              <a:gd name="adj" fmla="val 4615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方針本文"/>
          <p:cNvSpPr txBox="1"/>
          <p:nvPr/>
        </p:nvSpPr>
        <p:spPr>
          <a:xfrm>
            <a:off x="958446" y="1804134"/>
            <a:ext cx="2988097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166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実習の運営体制</a:t>
            </a:r>
          </a:p>
          <a:p>
            <a:pPr algn="l">
              <a:lnSpc>
                <a:spcPts val="3057"/>
              </a:lnSpc>
              <a:spcBef>
                <a:spcPts val="0"/>
              </a:spcBef>
              <a:spcAft>
                <a:spcPts val="1997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誰が担当しても、温かさとメッセージが伝わる。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「再現性の高い仕組み」をつくります。学生向けの学習シートなどを用意し、プログラムを標準化します。</a:t>
            </a:r>
          </a:p>
        </p:txBody>
      </p:sp>
      <p:sp>
        <p:nvSpPr>
          <p:cNvPr id="10" name="カード_メンター体制"/>
          <p:cNvSpPr/>
          <p:nvPr/>
        </p:nvSpPr>
        <p:spPr>
          <a:xfrm>
            <a:off x="4510335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764042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764042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メンター体制"/>
          <p:cNvSpPr txBox="1"/>
          <p:nvPr/>
        </p:nvSpPr>
        <p:spPr>
          <a:xfrm>
            <a:off x="5327834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メンター体制</a:t>
            </a:r>
          </a:p>
        </p:txBody>
      </p:sp>
      <p:sp>
        <p:nvSpPr>
          <p:cNvPr id="14" name="説明_メンター体制"/>
          <p:cNvSpPr txBox="1"/>
          <p:nvPr/>
        </p:nvSpPr>
        <p:spPr>
          <a:xfrm>
            <a:off x="4764042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現場スタッフを「実習メンター」として配置。学生1〜2名につき1名が、親身に伴走します。</a:t>
            </a:r>
          </a:p>
        </p:txBody>
      </p:sp>
      <p:sp>
        <p:nvSpPr>
          <p:cNvPr id="15" name="カード_標準動画（ツール）"/>
          <p:cNvSpPr/>
          <p:nvPr/>
        </p:nvSpPr>
        <p:spPr>
          <a:xfrm>
            <a:off x="8153840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"/>
          <p:cNvSpPr/>
          <p:nvPr/>
        </p:nvSpPr>
        <p:spPr>
          <a:xfrm>
            <a:off x="8407547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2"/>
          <p:cNvSpPr txBox="1"/>
          <p:nvPr/>
        </p:nvSpPr>
        <p:spPr>
          <a:xfrm>
            <a:off x="8407547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見出し_標準動画（ツール）"/>
          <p:cNvSpPr txBox="1"/>
          <p:nvPr/>
        </p:nvSpPr>
        <p:spPr>
          <a:xfrm>
            <a:off x="8971339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標準動画（ツール）</a:t>
            </a:r>
          </a:p>
        </p:txBody>
      </p:sp>
      <p:sp>
        <p:nvSpPr>
          <p:cNvPr id="19" name="説明_標準動画（ツール）"/>
          <p:cNvSpPr txBox="1"/>
          <p:nvPr/>
        </p:nvSpPr>
        <p:spPr>
          <a:xfrm>
            <a:off x="8407547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「ショート導入動画」などを活用。誰が説明しても、エフビーの温かさや社風がストレートに伝わります。</a:t>
            </a:r>
          </a:p>
        </p:txBody>
      </p:sp>
      <p:sp>
        <p:nvSpPr>
          <p:cNvPr id="20" name="カード_実習生の声の資産化"/>
          <p:cNvSpPr/>
          <p:nvPr/>
        </p:nvSpPr>
        <p:spPr>
          <a:xfrm>
            <a:off x="4510335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4764042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4764042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見出し_実習生の声の資産化"/>
          <p:cNvSpPr txBox="1"/>
          <p:nvPr/>
        </p:nvSpPr>
        <p:spPr>
          <a:xfrm>
            <a:off x="5327834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実習生の声の資産化</a:t>
            </a:r>
          </a:p>
        </p:txBody>
      </p:sp>
      <p:sp>
        <p:nvSpPr>
          <p:cNvPr id="24" name="説明_実習生の声の資産化"/>
          <p:cNvSpPr txBox="1"/>
          <p:nvPr/>
        </p:nvSpPr>
        <p:spPr>
          <a:xfrm>
            <a:off x="4764042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リアルな体験談・本音の感想を、Web上に蓄積・公開。次年度の学生や学校（教授・就職課）にも届けます。</a:t>
            </a:r>
          </a:p>
        </p:txBody>
      </p:sp>
      <p:sp>
        <p:nvSpPr>
          <p:cNvPr id="25" name="カード_年間PDCAの循環"/>
          <p:cNvSpPr/>
          <p:nvPr/>
        </p:nvSpPr>
        <p:spPr>
          <a:xfrm>
            <a:off x="8153840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407547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4"/>
          <p:cNvSpPr txBox="1"/>
          <p:nvPr/>
        </p:nvSpPr>
        <p:spPr>
          <a:xfrm>
            <a:off x="8407547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8" name="見出し_年間PDCAの循環"/>
          <p:cNvSpPr txBox="1"/>
          <p:nvPr/>
        </p:nvSpPr>
        <p:spPr>
          <a:xfrm>
            <a:off x="8971339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年間PDCAの循環</a:t>
            </a:r>
          </a:p>
        </p:txBody>
      </p:sp>
      <p:sp>
        <p:nvSpPr>
          <p:cNvPr id="29" name="説明_年間PDCAの循環"/>
          <p:cNvSpPr txBox="1"/>
          <p:nvPr/>
        </p:nvSpPr>
        <p:spPr>
          <a:xfrm>
            <a:off x="8407547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受け入れと振り返りを定期的にくり返し、学校や地域とのつながりを広げていきます。</a:t>
            </a:r>
          </a:p>
        </p:txBody>
      </p:sp>
      <p:sp>
        <p:nvSpPr>
          <p:cNvPr id="3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出典：エフビー介護サービス。</a:t>
            </a:r>
          </a:p>
        </p:txBody>
      </p:sp>
      <p:sp>
        <p:nvSpPr>
          <p:cNvPr id="31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実習のブランド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実習のブランドは、先輩の声で育っていく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回るほど、大学にも学生さんにも、メリットが広がります</a:t>
            </a:r>
          </a:p>
        </p:txBody>
      </p:sp>
      <p:sp>
        <p:nvSpPr>
          <p:cNvPr id="9" name="手順_共育実習を行う"/>
          <p:cNvSpPr/>
          <p:nvPr/>
        </p:nvSpPr>
        <p:spPr>
          <a:xfrm>
            <a:off x="620171" y="1522238"/>
            <a:ext cx="2776675" cy="732929"/>
          </a:xfrm>
          <a:prstGeom prst="homePlat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手順文_共育実習を行う"/>
          <p:cNvSpPr txBox="1"/>
          <p:nvPr/>
        </p:nvSpPr>
        <p:spPr>
          <a:xfrm>
            <a:off x="831593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1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11" name="ラベル"/>
          <p:cNvSpPr/>
          <p:nvPr/>
        </p:nvSpPr>
        <p:spPr>
          <a:xfrm>
            <a:off x="62017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ラベル_大学にとって"/>
          <p:cNvSpPr txBox="1"/>
          <p:nvPr/>
        </p:nvSpPr>
        <p:spPr>
          <a:xfrm>
            <a:off x="62017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13" name="本文_共育実習を行う_大学にとって"/>
          <p:cNvSpPr txBox="1"/>
          <p:nvPr/>
        </p:nvSpPr>
        <p:spPr>
          <a:xfrm>
            <a:off x="62017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単位つき・社会テーマ型の、講義を生かす実践の場が増えます</a:t>
            </a:r>
          </a:p>
        </p:txBody>
      </p:sp>
      <p:sp>
        <p:nvSpPr>
          <p:cNvPr id="14" name="ラベル"/>
          <p:cNvSpPr/>
          <p:nvPr/>
        </p:nvSpPr>
        <p:spPr>
          <a:xfrm>
            <a:off x="62017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ラベル_学生さんにとって"/>
          <p:cNvSpPr txBox="1"/>
          <p:nvPr/>
        </p:nvSpPr>
        <p:spPr>
          <a:xfrm>
            <a:off x="62017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16" name="本文_共育実習を行う_学生さんにとって"/>
          <p:cNvSpPr txBox="1"/>
          <p:nvPr/>
        </p:nvSpPr>
        <p:spPr>
          <a:xfrm>
            <a:off x="62017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現場の体験から、「自分に合う仕事か」を考えるきっかけになります</a:t>
            </a:r>
          </a:p>
        </p:txBody>
      </p:sp>
      <p:sp>
        <p:nvSpPr>
          <p:cNvPr id="17" name="手順_声が集まる"/>
          <p:cNvSpPr/>
          <p:nvPr/>
        </p:nvSpPr>
        <p:spPr>
          <a:xfrm>
            <a:off x="3396846" y="1522238"/>
            <a:ext cx="2776675" cy="732929"/>
          </a:xfrm>
          <a:prstGeom prst="chevron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手順文_声が集まる"/>
          <p:cNvSpPr txBox="1"/>
          <p:nvPr/>
        </p:nvSpPr>
        <p:spPr>
          <a:xfrm>
            <a:off x="377740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2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19" name="ラベル"/>
          <p:cNvSpPr/>
          <p:nvPr/>
        </p:nvSpPr>
        <p:spPr>
          <a:xfrm>
            <a:off x="3396846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ラベル_大学にとって"/>
          <p:cNvSpPr txBox="1"/>
          <p:nvPr/>
        </p:nvSpPr>
        <p:spPr>
          <a:xfrm>
            <a:off x="3396846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1" name="本文_声が集まる_大学にとって"/>
          <p:cNvSpPr txBox="1"/>
          <p:nvPr/>
        </p:nvSpPr>
        <p:spPr>
          <a:xfrm>
            <a:off x="3396846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学生の気づきや感想が、先生にも伝わり、指導に生かせます</a:t>
            </a:r>
          </a:p>
        </p:txBody>
      </p:sp>
      <p:sp>
        <p:nvSpPr>
          <p:cNvPr id="22" name="ラベル"/>
          <p:cNvSpPr/>
          <p:nvPr/>
        </p:nvSpPr>
        <p:spPr>
          <a:xfrm>
            <a:off x="3396846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ラベル_学生さんにとって"/>
          <p:cNvSpPr txBox="1"/>
          <p:nvPr/>
        </p:nvSpPr>
        <p:spPr>
          <a:xfrm>
            <a:off x="3396846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24" name="本文_声が集まる_学生さんにとって"/>
          <p:cNvSpPr txBox="1"/>
          <p:nvPr/>
        </p:nvSpPr>
        <p:spPr>
          <a:xfrm>
            <a:off x="3396846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自分の体験が「価値のある声」として残ります</a:t>
            </a:r>
          </a:p>
        </p:txBody>
      </p:sp>
      <p:sp>
        <p:nvSpPr>
          <p:cNvPr id="25" name="手順_実習サイトに載せる"/>
          <p:cNvSpPr/>
          <p:nvPr/>
        </p:nvSpPr>
        <p:spPr>
          <a:xfrm>
            <a:off x="6173521" y="1522238"/>
            <a:ext cx="2776675" cy="732929"/>
          </a:xfrm>
          <a:prstGeom prst="chevron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手順文_実習サイトに載せる"/>
          <p:cNvSpPr txBox="1"/>
          <p:nvPr/>
        </p:nvSpPr>
        <p:spPr>
          <a:xfrm>
            <a:off x="6554081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3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27" name="ラベル"/>
          <p:cNvSpPr/>
          <p:nvPr/>
        </p:nvSpPr>
        <p:spPr>
          <a:xfrm>
            <a:off x="617352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ラベル_大学にとって"/>
          <p:cNvSpPr txBox="1"/>
          <p:nvPr/>
        </p:nvSpPr>
        <p:spPr>
          <a:xfrm>
            <a:off x="617352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9" name="本文_実習サイトに載せる_大学にとって"/>
          <p:cNvSpPr txBox="1"/>
          <p:nvPr/>
        </p:nvSpPr>
        <p:spPr>
          <a:xfrm>
            <a:off x="617352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プログラムと口コミで、受け入れを安心して判断できます</a:t>
            </a:r>
          </a:p>
        </p:txBody>
      </p:sp>
      <p:sp>
        <p:nvSpPr>
          <p:cNvPr id="30" name="ラベル"/>
          <p:cNvSpPr/>
          <p:nvPr/>
        </p:nvSpPr>
        <p:spPr>
          <a:xfrm>
            <a:off x="617352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ラベル_学生さんにとって"/>
          <p:cNvSpPr txBox="1"/>
          <p:nvPr/>
        </p:nvSpPr>
        <p:spPr>
          <a:xfrm>
            <a:off x="617352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32" name="本文_実習サイトに載せる_学生さんにとって"/>
          <p:cNvSpPr txBox="1"/>
          <p:nvPr/>
        </p:nvSpPr>
        <p:spPr>
          <a:xfrm>
            <a:off x="617352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先輩のリアルな声で、参加前に実習のイメージがつかめます</a:t>
            </a:r>
          </a:p>
        </p:txBody>
      </p:sp>
      <p:sp>
        <p:nvSpPr>
          <p:cNvPr id="33" name="手順_見て、動く"/>
          <p:cNvSpPr/>
          <p:nvPr/>
        </p:nvSpPr>
        <p:spPr>
          <a:xfrm>
            <a:off x="8950197" y="1522238"/>
            <a:ext cx="2621632" cy="732929"/>
          </a:xfrm>
          <a:prstGeom prst="chevron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手順文_見て、動く"/>
          <p:cNvSpPr txBox="1"/>
          <p:nvPr/>
        </p:nvSpPr>
        <p:spPr>
          <a:xfrm>
            <a:off x="933075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4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35" name="ラベル"/>
          <p:cNvSpPr/>
          <p:nvPr/>
        </p:nvSpPr>
        <p:spPr>
          <a:xfrm>
            <a:off x="8950197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ラベル_大学にとって"/>
          <p:cNvSpPr txBox="1"/>
          <p:nvPr/>
        </p:nvSpPr>
        <p:spPr>
          <a:xfrm>
            <a:off x="8950197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37" name="本文_見て、動く_大学にとって"/>
          <p:cNvSpPr txBox="1"/>
          <p:nvPr/>
        </p:nvSpPr>
        <p:spPr>
          <a:xfrm>
            <a:off x="8950197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実習の評判が、学部・学科の魅力と連携先の広がりにつながります</a:t>
            </a:r>
          </a:p>
        </p:txBody>
      </p:sp>
      <p:sp>
        <p:nvSpPr>
          <p:cNvPr id="38" name="ラベル"/>
          <p:cNvSpPr/>
          <p:nvPr/>
        </p:nvSpPr>
        <p:spPr>
          <a:xfrm>
            <a:off x="8950197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ラベル_学生さんにとって"/>
          <p:cNvSpPr txBox="1"/>
          <p:nvPr/>
        </p:nvSpPr>
        <p:spPr>
          <a:xfrm>
            <a:off x="8950197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40" name="本文_見て、動く_学生さんにとって"/>
          <p:cNvSpPr txBox="1"/>
          <p:nvPr/>
        </p:nvSpPr>
        <p:spPr>
          <a:xfrm>
            <a:off x="8950197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自分に合う実習を選び、次の学びと進路へつなげられます</a:t>
            </a:r>
          </a:p>
        </p:txBody>
      </p:sp>
      <p:cxnSp>
        <p:nvCxnSpPr>
          <p:cNvPr id="41" name="区切り"/>
          <p:cNvCxnSpPr/>
          <p:nvPr/>
        </p:nvCxnSpPr>
        <p:spPr>
          <a:xfrm>
            <a:off x="620171" y="4031112"/>
            <a:ext cx="10951658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循環矢印"/>
          <p:cNvSpPr/>
          <p:nvPr/>
        </p:nvSpPr>
        <p:spPr>
          <a:xfrm>
            <a:off x="620171" y="5891625"/>
            <a:ext cx="10951658" cy="465128"/>
          </a:xfrm>
          <a:prstGeom prst="leftArrow">
            <a:avLst>
              <a:gd name="adj1" fmla="val 62000"/>
              <a:gd name="adj2" fmla="val 9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循環文"/>
          <p:cNvSpPr txBox="1"/>
          <p:nvPr/>
        </p:nvSpPr>
        <p:spPr>
          <a:xfrm>
            <a:off x="1395385" y="5891625"/>
            <a:ext cx="9824074" cy="4651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次の大学・次の学生へ。回るほど、実習への信頼が積み上がります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sp>
        <p:nvSpPr>
          <p:cNvPr id="8" name="カード_申し込む"/>
          <p:cNvSpPr/>
          <p:nvPr/>
        </p:nvSpPr>
        <p:spPr>
          <a:xfrm>
            <a:off x="620171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ステップ帯"/>
          <p:cNvSpPr/>
          <p:nvPr/>
        </p:nvSpPr>
        <p:spPr>
          <a:xfrm>
            <a:off x="620171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ステップ帯下"/>
          <p:cNvSpPr/>
          <p:nvPr/>
        </p:nvSpPr>
        <p:spPr>
          <a:xfrm>
            <a:off x="620171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申し込む"/>
          <p:cNvSpPr txBox="1"/>
          <p:nvPr/>
        </p:nvSpPr>
        <p:spPr>
          <a:xfrm>
            <a:off x="831593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申し込む</a:t>
            </a:r>
          </a:p>
        </p:txBody>
      </p:sp>
      <p:sp>
        <p:nvSpPr>
          <p:cNvPr id="12" name="説明_申し込む"/>
          <p:cNvSpPr txBox="1"/>
          <p:nvPr/>
        </p:nvSpPr>
        <p:spPr>
          <a:xfrm>
            <a:off x="831593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3" name="矢印"/>
          <p:cNvSpPr/>
          <p:nvPr/>
        </p:nvSpPr>
        <p:spPr>
          <a:xfrm>
            <a:off x="3188948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カード_事前の連絡"/>
          <p:cNvSpPr/>
          <p:nvPr/>
        </p:nvSpPr>
        <p:spPr>
          <a:xfrm>
            <a:off x="3428560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ステップ帯"/>
          <p:cNvSpPr/>
          <p:nvPr/>
        </p:nvSpPr>
        <p:spPr>
          <a:xfrm>
            <a:off x="3428560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ステップ帯下"/>
          <p:cNvSpPr/>
          <p:nvPr/>
        </p:nvSpPr>
        <p:spPr>
          <a:xfrm>
            <a:off x="3428560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見出し_事前の連絡"/>
          <p:cNvSpPr txBox="1"/>
          <p:nvPr/>
        </p:nvSpPr>
        <p:spPr>
          <a:xfrm>
            <a:off x="3639982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事前の連絡</a:t>
            </a:r>
          </a:p>
        </p:txBody>
      </p:sp>
      <p:sp>
        <p:nvSpPr>
          <p:cNvPr id="18" name="説明_事前の連絡"/>
          <p:cNvSpPr txBox="1"/>
          <p:nvPr/>
        </p:nvSpPr>
        <p:spPr>
          <a:xfrm>
            <a:off x="3639982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19" name="矢印"/>
          <p:cNvSpPr/>
          <p:nvPr/>
        </p:nvSpPr>
        <p:spPr>
          <a:xfrm>
            <a:off x="5997336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カード_実習の当日"/>
          <p:cNvSpPr/>
          <p:nvPr/>
        </p:nvSpPr>
        <p:spPr>
          <a:xfrm>
            <a:off x="6236948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ステップ帯"/>
          <p:cNvSpPr/>
          <p:nvPr/>
        </p:nvSpPr>
        <p:spPr>
          <a:xfrm>
            <a:off x="6236948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ステップ帯下"/>
          <p:cNvSpPr/>
          <p:nvPr/>
        </p:nvSpPr>
        <p:spPr>
          <a:xfrm>
            <a:off x="6236948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見出し_実習の当日"/>
          <p:cNvSpPr txBox="1"/>
          <p:nvPr/>
        </p:nvSpPr>
        <p:spPr>
          <a:xfrm>
            <a:off x="6448370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実習の当日</a:t>
            </a:r>
          </a:p>
        </p:txBody>
      </p:sp>
      <p:sp>
        <p:nvSpPr>
          <p:cNvPr id="24" name="説明_実習の当日"/>
          <p:cNvSpPr txBox="1"/>
          <p:nvPr/>
        </p:nvSpPr>
        <p:spPr>
          <a:xfrm>
            <a:off x="6448370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5" name="矢印"/>
          <p:cNvSpPr/>
          <p:nvPr/>
        </p:nvSpPr>
        <p:spPr>
          <a:xfrm>
            <a:off x="8805725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振り返り"/>
          <p:cNvSpPr/>
          <p:nvPr/>
        </p:nvSpPr>
        <p:spPr>
          <a:xfrm>
            <a:off x="9045336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ステップ帯"/>
          <p:cNvSpPr/>
          <p:nvPr/>
        </p:nvSpPr>
        <p:spPr>
          <a:xfrm>
            <a:off x="9045336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ステップ帯下"/>
          <p:cNvSpPr/>
          <p:nvPr/>
        </p:nvSpPr>
        <p:spPr>
          <a:xfrm>
            <a:off x="9045336" y="1747755"/>
            <a:ext cx="2526492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見出し_振り返り"/>
          <p:cNvSpPr txBox="1"/>
          <p:nvPr/>
        </p:nvSpPr>
        <p:spPr>
          <a:xfrm>
            <a:off x="9256758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振り返り</a:t>
            </a:r>
          </a:p>
        </p:txBody>
      </p:sp>
      <p:sp>
        <p:nvSpPr>
          <p:cNvPr id="30" name="説明_振り返り"/>
          <p:cNvSpPr txBox="1"/>
          <p:nvPr/>
        </p:nvSpPr>
        <p:spPr>
          <a:xfrm>
            <a:off x="9256758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1" name="サイト見出し"/>
          <p:cNvSpPr txBox="1"/>
          <p:nvPr/>
        </p:nvSpPr>
        <p:spPr>
          <a:xfrm>
            <a:off x="620171" y="3410941"/>
            <a:ext cx="6342659" cy="26780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2" name="タイル_実習レポート"/>
          <p:cNvSpPr/>
          <p:nvPr/>
        </p:nvSpPr>
        <p:spPr>
          <a:xfrm>
            <a:off x="62017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色"/>
          <p:cNvSpPr/>
          <p:nvPr/>
        </p:nvSpPr>
        <p:spPr>
          <a:xfrm>
            <a:off x="789309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タイル本文_実習レポート"/>
          <p:cNvSpPr txBox="1"/>
          <p:nvPr/>
        </p:nvSpPr>
        <p:spPr>
          <a:xfrm>
            <a:off x="789309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5" name="タイル_職員の声"/>
          <p:cNvSpPr/>
          <p:nvPr/>
        </p:nvSpPr>
        <p:spPr>
          <a:xfrm>
            <a:off x="2473637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色"/>
          <p:cNvSpPr/>
          <p:nvPr/>
        </p:nvSpPr>
        <p:spPr>
          <a:xfrm>
            <a:off x="2642775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タイル本文_職員の声"/>
          <p:cNvSpPr txBox="1"/>
          <p:nvPr/>
        </p:nvSpPr>
        <p:spPr>
          <a:xfrm>
            <a:off x="2642775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38" name="タイル_人生の先輩の&#10;メッセージ"/>
          <p:cNvSpPr/>
          <p:nvPr/>
        </p:nvSpPr>
        <p:spPr>
          <a:xfrm>
            <a:off x="4327103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色"/>
          <p:cNvSpPr/>
          <p:nvPr/>
        </p:nvSpPr>
        <p:spPr>
          <a:xfrm>
            <a:off x="4496240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イル本文_人生の先輩の&#10;メッセージ"/>
          <p:cNvSpPr txBox="1"/>
          <p:nvPr/>
        </p:nvSpPr>
        <p:spPr>
          <a:xfrm>
            <a:off x="4496240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1" name="タイル_お知らせ"/>
          <p:cNvSpPr/>
          <p:nvPr/>
        </p:nvSpPr>
        <p:spPr>
          <a:xfrm>
            <a:off x="6180569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色"/>
          <p:cNvSpPr/>
          <p:nvPr/>
        </p:nvSpPr>
        <p:spPr>
          <a:xfrm>
            <a:off x="6349706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タイル本文_お知らせ"/>
          <p:cNvSpPr txBox="1"/>
          <p:nvPr/>
        </p:nvSpPr>
        <p:spPr>
          <a:xfrm>
            <a:off x="6349706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44" name="タイル_事業所の&#10;360°ツアー"/>
          <p:cNvSpPr/>
          <p:nvPr/>
        </p:nvSpPr>
        <p:spPr>
          <a:xfrm>
            <a:off x="8034035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色"/>
          <p:cNvSpPr/>
          <p:nvPr/>
        </p:nvSpPr>
        <p:spPr>
          <a:xfrm>
            <a:off x="8203172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タイル本文_事業所の&#10;360°ツアー"/>
          <p:cNvSpPr txBox="1"/>
          <p:nvPr/>
        </p:nvSpPr>
        <p:spPr>
          <a:xfrm>
            <a:off x="8203172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47" name="タイル_経営者&#10;インタビュー"/>
          <p:cNvSpPr/>
          <p:nvPr/>
        </p:nvSpPr>
        <p:spPr>
          <a:xfrm>
            <a:off x="988750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色"/>
          <p:cNvSpPr/>
          <p:nvPr/>
        </p:nvSpPr>
        <p:spPr>
          <a:xfrm>
            <a:off x="10056638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タイル本文_経営者&#10;インタビュー"/>
          <p:cNvSpPr txBox="1"/>
          <p:nvPr/>
        </p:nvSpPr>
        <p:spPr>
          <a:xfrm>
            <a:off x="10056638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0" name="そのほか"/>
          <p:cNvSpPr/>
          <p:nvPr/>
        </p:nvSpPr>
        <p:spPr>
          <a:xfrm>
            <a:off x="620171" y="5821151"/>
            <a:ext cx="10951658" cy="535602"/>
          </a:xfrm>
          <a:prstGeom prst="roundRect">
            <a:avLst>
              <a:gd name="adj" fmla="val 21052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そのほか本文"/>
          <p:cNvSpPr txBox="1"/>
          <p:nvPr/>
        </p:nvSpPr>
        <p:spPr>
          <a:xfrm>
            <a:off x="873877" y="5821151"/>
            <a:ext cx="10444245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　</a:t>
            </a: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よくある質問／個人情報の取扱い／気になるキーワードから記事を探す／実習の申込フォーム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