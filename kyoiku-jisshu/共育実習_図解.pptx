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63" r:id="rId15"/>
    <p:sldId id="264" r:id="rId16"/>
    <p:sldId id="265" r:id="rId17"/>
    <p:sldId id="266" r:id="rId18"/>
    <p:sldId id="259" r:id="rId11"/>
    <p:sldId id="260" r:id="rId12"/>
    <p:sldId id="267" r:id="rId19"/>
    <p:sldId id="261" r:id="rId13"/>
    <p:sldId id="262" r:id="rId14"/>
  </p:sldIdLst>
  <p:sldSz cx="12192000" cy="659636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拠点数</c:v>
                </c:pt>
              </c:strCache>
            </c:strRef>
          </c:tx>
          <c:dPt>
            <c:idx val="0"/>
            <c:spPr>
              <a:solidFill>
                <a:srgbClr val="F28C3C"/>
              </a:solidFill>
            </c:spPr>
          </c:dPt>
          <c:dPt>
            <c:idx val="1"/>
            <c:spPr>
              <a:solidFill>
                <a:srgbClr val="3FB39D"/>
              </a:solidFill>
            </c:spPr>
          </c:dPt>
          <c:dPt>
            <c:idx val="2"/>
            <c:spPr>
              <a:solidFill>
                <a:srgbClr val="3FB39D"/>
              </a:solidFill>
            </c:spPr>
          </c:dPt>
          <c:dPt>
            <c:idx val="3"/>
            <c:spPr>
              <a:solidFill>
                <a:srgbClr val="3FB39D"/>
              </a:solidFill>
            </c:spPr>
          </c:dPt>
          <c:dPt>
            <c:idx val="4"/>
            <c:spPr>
              <a:solidFill>
                <a:srgbClr val="3FB39D"/>
              </a:solidFill>
            </c:spPr>
          </c:dPt>
          <c:cat>
            <c:strRef>
              <c:f>Sheet1!$A$2:$A$6</c:f>
              <c:strCache>
                <c:ptCount val="5"/>
                <c:pt idx="0">
                  <c:v>長野県</c:v>
                </c:pt>
                <c:pt idx="1">
                  <c:v>新潟県</c:v>
                </c:pt>
                <c:pt idx="2">
                  <c:v>埼玉県</c:v>
                </c:pt>
                <c:pt idx="3">
                  <c:v>群馬県</c:v>
                </c:pt>
                <c:pt idx="4">
                  <c:v>栃木県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57</c:v>
                </c:pt>
                <c:pt idx="1">
                  <c:v>15</c:v>
                </c:pt>
                <c:pt idx="2">
                  <c:v>15</c:v>
                </c:pt>
                <c:pt idx="3">
                  <c:v>12</c:v>
                </c:pt>
                <c:pt idx="4">
                  <c:v>10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2600" b="1">
                  <a:latin typeface="游ゴシック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6D1"/>
            </a:solidFill>
          </a:ln>
        </c:spPr>
        <c:txPr>
          <a:bodyPr/>
          <a:lstStyle/>
          <a:p>
            <a:pPr>
              <a:defRPr sz="2200">
                <a:latin typeface="游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6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共育実習の共創モデル。学校（高校・専門学校・大学）とエフビー側（エフビー介護サービス・社員・地域）がそれぞれ得る価値を示す。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実習ブランドが育つ循環：共育実習を行う→声が集まる→実習サイトに載せる→見て、動く→次の共育実習へ。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エフビー介護サービス 実習応募サイト（制作中）の概要。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実習サイト「エフビー流の学び」の循環図を整理。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1DAY（9:30〜15:00ごろ）と5DAYS（5日間）。内容は調整中。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申込から振り返りまでの4ステップと、サイトのコンテンツ構成。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7種109拠点。長野57・新潟15・埼玉15・群馬12・栃木10。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創業からの想いと、介護で大切にしている姿勢。出典：エフビー介護サービス 企業説明会資料、経営者ヒアリング。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わたしたちのちょっとしたこだわり。小規模な施設をメインに、信越・北関東に7種109拠点。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福祉用具レンタル・販売と各種介護サービスの2本柱で拡大。2022年4月東証スタンダード上場。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P24：採用戦略テーマ（他社比較）。出典：1023採用定例資料。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P27：実習の受け入れ体制（運用・仕組み）。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5963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113489"/>
          </a:xfrm>
          <a:custGeom>
            <a:avLst/>
            <a:gdLst/>
            <a:ahLst/>
            <a:cxnLst/>
            <a:rect l="l" t="t" r="r" b="b"/>
            <a:pathLst>
              <a:path w="12192000" h="1113489">
                <a:moveTo>
                  <a:pt x="0" y="0"/>
                </a:moveTo>
                <a:lnTo>
                  <a:pt x="12192000" y="0"/>
                </a:lnTo>
                <a:lnTo>
                  <a:pt x="12192000" y="1028920"/>
                </a:lnTo>
                <a:lnTo>
                  <a:pt x="12141200" y="1026706"/>
                </a:lnTo>
                <a:lnTo>
                  <a:pt x="12090400" y="1024494"/>
                </a:lnTo>
                <a:lnTo>
                  <a:pt x="12039600" y="1022285"/>
                </a:lnTo>
                <a:lnTo>
                  <a:pt x="11988800" y="1020080"/>
                </a:lnTo>
                <a:lnTo>
                  <a:pt x="11938000" y="1017881"/>
                </a:lnTo>
                <a:lnTo>
                  <a:pt x="11887200" y="1015690"/>
                </a:lnTo>
                <a:lnTo>
                  <a:pt x="11836400" y="1013508"/>
                </a:lnTo>
                <a:lnTo>
                  <a:pt x="11785600" y="1011337"/>
                </a:lnTo>
                <a:lnTo>
                  <a:pt x="11734800" y="1009178"/>
                </a:lnTo>
                <a:lnTo>
                  <a:pt x="11684000" y="1007032"/>
                </a:lnTo>
                <a:lnTo>
                  <a:pt x="11633200" y="1004901"/>
                </a:lnTo>
                <a:lnTo>
                  <a:pt x="11582400" y="1002787"/>
                </a:lnTo>
                <a:lnTo>
                  <a:pt x="11531600" y="1000690"/>
                </a:lnTo>
                <a:lnTo>
                  <a:pt x="11480800" y="998613"/>
                </a:lnTo>
                <a:lnTo>
                  <a:pt x="11430000" y="996557"/>
                </a:lnTo>
                <a:lnTo>
                  <a:pt x="11379200" y="994523"/>
                </a:lnTo>
                <a:lnTo>
                  <a:pt x="11328400" y="992512"/>
                </a:lnTo>
                <a:lnTo>
                  <a:pt x="11277600" y="990526"/>
                </a:lnTo>
                <a:lnTo>
                  <a:pt x="11226800" y="988567"/>
                </a:lnTo>
                <a:lnTo>
                  <a:pt x="11176000" y="986635"/>
                </a:lnTo>
                <a:lnTo>
                  <a:pt x="11125200" y="984733"/>
                </a:lnTo>
                <a:lnTo>
                  <a:pt x="11074400" y="982860"/>
                </a:lnTo>
                <a:lnTo>
                  <a:pt x="11023600" y="981019"/>
                </a:lnTo>
                <a:lnTo>
                  <a:pt x="10972800" y="979211"/>
                </a:lnTo>
                <a:lnTo>
                  <a:pt x="10922000" y="977438"/>
                </a:lnTo>
                <a:lnTo>
                  <a:pt x="10871200" y="975699"/>
                </a:lnTo>
                <a:lnTo>
                  <a:pt x="10820400" y="973997"/>
                </a:lnTo>
                <a:lnTo>
                  <a:pt x="10769600" y="972332"/>
                </a:lnTo>
                <a:lnTo>
                  <a:pt x="10718800" y="970706"/>
                </a:lnTo>
                <a:lnTo>
                  <a:pt x="10668000" y="969121"/>
                </a:lnTo>
                <a:lnTo>
                  <a:pt x="10617200" y="967576"/>
                </a:lnTo>
                <a:lnTo>
                  <a:pt x="10566400" y="966073"/>
                </a:lnTo>
                <a:lnTo>
                  <a:pt x="10515600" y="964613"/>
                </a:lnTo>
                <a:lnTo>
                  <a:pt x="10464800" y="963197"/>
                </a:lnTo>
                <a:lnTo>
                  <a:pt x="10414000" y="961827"/>
                </a:lnTo>
                <a:lnTo>
                  <a:pt x="10363200" y="960502"/>
                </a:lnTo>
                <a:lnTo>
                  <a:pt x="10312400" y="959224"/>
                </a:lnTo>
                <a:lnTo>
                  <a:pt x="10261600" y="957994"/>
                </a:lnTo>
                <a:lnTo>
                  <a:pt x="10210800" y="956813"/>
                </a:lnTo>
                <a:lnTo>
                  <a:pt x="10160000" y="955681"/>
                </a:lnTo>
                <a:lnTo>
                  <a:pt x="10109200" y="954599"/>
                </a:lnTo>
                <a:lnTo>
                  <a:pt x="10058400" y="953568"/>
                </a:lnTo>
                <a:lnTo>
                  <a:pt x="10007600" y="952589"/>
                </a:lnTo>
                <a:lnTo>
                  <a:pt x="9956800" y="951662"/>
                </a:lnTo>
                <a:lnTo>
                  <a:pt x="9906000" y="950788"/>
                </a:lnTo>
                <a:lnTo>
                  <a:pt x="9855200" y="949968"/>
                </a:lnTo>
                <a:lnTo>
                  <a:pt x="9804400" y="949202"/>
                </a:lnTo>
                <a:lnTo>
                  <a:pt x="9753600" y="948490"/>
                </a:lnTo>
                <a:lnTo>
                  <a:pt x="9702800" y="947834"/>
                </a:lnTo>
                <a:lnTo>
                  <a:pt x="9652000" y="947233"/>
                </a:lnTo>
                <a:lnTo>
                  <a:pt x="9601200" y="946688"/>
                </a:lnTo>
                <a:lnTo>
                  <a:pt x="9550400" y="946199"/>
                </a:lnTo>
                <a:lnTo>
                  <a:pt x="9499600" y="945767"/>
                </a:lnTo>
                <a:lnTo>
                  <a:pt x="9448800" y="945392"/>
                </a:lnTo>
                <a:lnTo>
                  <a:pt x="9398000" y="945074"/>
                </a:lnTo>
                <a:lnTo>
                  <a:pt x="9347200" y="944814"/>
                </a:lnTo>
                <a:lnTo>
                  <a:pt x="9296400" y="944612"/>
                </a:lnTo>
                <a:lnTo>
                  <a:pt x="9245600" y="944467"/>
                </a:lnTo>
                <a:lnTo>
                  <a:pt x="9194800" y="944380"/>
                </a:lnTo>
                <a:lnTo>
                  <a:pt x="9144000" y="944351"/>
                </a:lnTo>
                <a:lnTo>
                  <a:pt x="9093200" y="944380"/>
                </a:lnTo>
                <a:lnTo>
                  <a:pt x="9042400" y="944467"/>
                </a:lnTo>
                <a:lnTo>
                  <a:pt x="8991600" y="944612"/>
                </a:lnTo>
                <a:lnTo>
                  <a:pt x="8940800" y="944814"/>
                </a:lnTo>
                <a:lnTo>
                  <a:pt x="8890000" y="945074"/>
                </a:lnTo>
                <a:lnTo>
                  <a:pt x="8839200" y="945392"/>
                </a:lnTo>
                <a:lnTo>
                  <a:pt x="8788400" y="945767"/>
                </a:lnTo>
                <a:lnTo>
                  <a:pt x="8737600" y="946199"/>
                </a:lnTo>
                <a:lnTo>
                  <a:pt x="8686800" y="946688"/>
                </a:lnTo>
                <a:lnTo>
                  <a:pt x="8636000" y="947233"/>
                </a:lnTo>
                <a:lnTo>
                  <a:pt x="8585200" y="947834"/>
                </a:lnTo>
                <a:lnTo>
                  <a:pt x="8534400" y="948490"/>
                </a:lnTo>
                <a:lnTo>
                  <a:pt x="8483599" y="949202"/>
                </a:lnTo>
                <a:lnTo>
                  <a:pt x="8432800" y="949968"/>
                </a:lnTo>
                <a:lnTo>
                  <a:pt x="8382000" y="950788"/>
                </a:lnTo>
                <a:lnTo>
                  <a:pt x="8331199" y="951662"/>
                </a:lnTo>
                <a:lnTo>
                  <a:pt x="8280400" y="952589"/>
                </a:lnTo>
                <a:lnTo>
                  <a:pt x="8229600" y="953568"/>
                </a:lnTo>
                <a:lnTo>
                  <a:pt x="8178799" y="954599"/>
                </a:lnTo>
                <a:lnTo>
                  <a:pt x="8128000" y="955681"/>
                </a:lnTo>
                <a:lnTo>
                  <a:pt x="8077200" y="956813"/>
                </a:lnTo>
                <a:lnTo>
                  <a:pt x="8026399" y="957994"/>
                </a:lnTo>
                <a:lnTo>
                  <a:pt x="7975600" y="959224"/>
                </a:lnTo>
                <a:lnTo>
                  <a:pt x="7924800" y="960502"/>
                </a:lnTo>
                <a:lnTo>
                  <a:pt x="7873999" y="961827"/>
                </a:lnTo>
                <a:lnTo>
                  <a:pt x="7823200" y="963197"/>
                </a:lnTo>
                <a:lnTo>
                  <a:pt x="7772400" y="964613"/>
                </a:lnTo>
                <a:lnTo>
                  <a:pt x="7721599" y="966073"/>
                </a:lnTo>
                <a:lnTo>
                  <a:pt x="7670800" y="967576"/>
                </a:lnTo>
                <a:lnTo>
                  <a:pt x="7620000" y="969121"/>
                </a:lnTo>
                <a:lnTo>
                  <a:pt x="7569199" y="970706"/>
                </a:lnTo>
                <a:lnTo>
                  <a:pt x="7518400" y="972332"/>
                </a:lnTo>
                <a:lnTo>
                  <a:pt x="7467600" y="973997"/>
                </a:lnTo>
                <a:lnTo>
                  <a:pt x="7416799" y="975699"/>
                </a:lnTo>
                <a:lnTo>
                  <a:pt x="7366000" y="977438"/>
                </a:lnTo>
                <a:lnTo>
                  <a:pt x="7315200" y="979211"/>
                </a:lnTo>
                <a:lnTo>
                  <a:pt x="7264399" y="981019"/>
                </a:lnTo>
                <a:lnTo>
                  <a:pt x="7213600" y="982860"/>
                </a:lnTo>
                <a:lnTo>
                  <a:pt x="7162800" y="984733"/>
                </a:lnTo>
                <a:lnTo>
                  <a:pt x="7112000" y="986635"/>
                </a:lnTo>
                <a:lnTo>
                  <a:pt x="7061200" y="988567"/>
                </a:lnTo>
                <a:lnTo>
                  <a:pt x="7010400" y="990526"/>
                </a:lnTo>
                <a:lnTo>
                  <a:pt x="6959600" y="992512"/>
                </a:lnTo>
                <a:lnTo>
                  <a:pt x="6908800" y="994523"/>
                </a:lnTo>
                <a:lnTo>
                  <a:pt x="6858000" y="996557"/>
                </a:lnTo>
                <a:lnTo>
                  <a:pt x="6807200" y="998613"/>
                </a:lnTo>
                <a:lnTo>
                  <a:pt x="6756400" y="1000690"/>
                </a:lnTo>
                <a:lnTo>
                  <a:pt x="6705600" y="1002787"/>
                </a:lnTo>
                <a:lnTo>
                  <a:pt x="6654800" y="1004901"/>
                </a:lnTo>
                <a:lnTo>
                  <a:pt x="6604000" y="1007032"/>
                </a:lnTo>
                <a:lnTo>
                  <a:pt x="6553200" y="1009178"/>
                </a:lnTo>
                <a:lnTo>
                  <a:pt x="6502400" y="1011337"/>
                </a:lnTo>
                <a:lnTo>
                  <a:pt x="6451600" y="1013508"/>
                </a:lnTo>
                <a:lnTo>
                  <a:pt x="6400800" y="1015690"/>
                </a:lnTo>
                <a:lnTo>
                  <a:pt x="6350000" y="1017881"/>
                </a:lnTo>
                <a:lnTo>
                  <a:pt x="6299200" y="1020080"/>
                </a:lnTo>
                <a:lnTo>
                  <a:pt x="6248400" y="1022285"/>
                </a:lnTo>
                <a:lnTo>
                  <a:pt x="6197600" y="1024494"/>
                </a:lnTo>
                <a:lnTo>
                  <a:pt x="6146800" y="1026706"/>
                </a:lnTo>
                <a:lnTo>
                  <a:pt x="6096000" y="1028920"/>
                </a:lnTo>
                <a:lnTo>
                  <a:pt x="6045200" y="1031133"/>
                </a:lnTo>
                <a:lnTo>
                  <a:pt x="5994400" y="1033346"/>
                </a:lnTo>
                <a:lnTo>
                  <a:pt x="5943600" y="1035555"/>
                </a:lnTo>
                <a:lnTo>
                  <a:pt x="5892800" y="1037760"/>
                </a:lnTo>
                <a:lnTo>
                  <a:pt x="5842000" y="1039958"/>
                </a:lnTo>
                <a:lnTo>
                  <a:pt x="5791200" y="1042149"/>
                </a:lnTo>
                <a:lnTo>
                  <a:pt x="5740400" y="1044331"/>
                </a:lnTo>
                <a:lnTo>
                  <a:pt x="5689600" y="1046503"/>
                </a:lnTo>
                <a:lnTo>
                  <a:pt x="5638800" y="1048662"/>
                </a:lnTo>
                <a:lnTo>
                  <a:pt x="5588000" y="1050808"/>
                </a:lnTo>
                <a:lnTo>
                  <a:pt x="5537200" y="1052939"/>
                </a:lnTo>
                <a:lnTo>
                  <a:pt x="5486400" y="1055053"/>
                </a:lnTo>
                <a:lnTo>
                  <a:pt x="5435600" y="1057149"/>
                </a:lnTo>
                <a:lnTo>
                  <a:pt x="5384800" y="1059226"/>
                </a:lnTo>
                <a:lnTo>
                  <a:pt x="5334000" y="1061283"/>
                </a:lnTo>
                <a:lnTo>
                  <a:pt x="5283200" y="1063317"/>
                </a:lnTo>
                <a:lnTo>
                  <a:pt x="5232400" y="1065328"/>
                </a:lnTo>
                <a:lnTo>
                  <a:pt x="5181600" y="1067313"/>
                </a:lnTo>
                <a:lnTo>
                  <a:pt x="5130800" y="1069272"/>
                </a:lnTo>
                <a:lnTo>
                  <a:pt x="5080000" y="1071204"/>
                </a:lnTo>
                <a:lnTo>
                  <a:pt x="5029200" y="1073107"/>
                </a:lnTo>
                <a:lnTo>
                  <a:pt x="4978400" y="1074979"/>
                </a:lnTo>
                <a:lnTo>
                  <a:pt x="4927599" y="1076820"/>
                </a:lnTo>
                <a:lnTo>
                  <a:pt x="4876800" y="1078628"/>
                </a:lnTo>
                <a:lnTo>
                  <a:pt x="4826000" y="1080402"/>
                </a:lnTo>
                <a:lnTo>
                  <a:pt x="4775199" y="1082141"/>
                </a:lnTo>
                <a:lnTo>
                  <a:pt x="4724400" y="1083843"/>
                </a:lnTo>
                <a:lnTo>
                  <a:pt x="4673600" y="1085507"/>
                </a:lnTo>
                <a:lnTo>
                  <a:pt x="4622799" y="1087133"/>
                </a:lnTo>
                <a:lnTo>
                  <a:pt x="4572000" y="1088719"/>
                </a:lnTo>
                <a:lnTo>
                  <a:pt x="4521200" y="1090264"/>
                </a:lnTo>
                <a:lnTo>
                  <a:pt x="4470399" y="1091767"/>
                </a:lnTo>
                <a:lnTo>
                  <a:pt x="4419600" y="1093226"/>
                </a:lnTo>
                <a:lnTo>
                  <a:pt x="4368800" y="1094642"/>
                </a:lnTo>
                <a:lnTo>
                  <a:pt x="4317999" y="1096013"/>
                </a:lnTo>
                <a:lnTo>
                  <a:pt x="4267200" y="1097337"/>
                </a:lnTo>
                <a:lnTo>
                  <a:pt x="4216400" y="1098615"/>
                </a:lnTo>
                <a:lnTo>
                  <a:pt x="4165599" y="1099845"/>
                </a:lnTo>
                <a:lnTo>
                  <a:pt x="4114800" y="1101026"/>
                </a:lnTo>
                <a:lnTo>
                  <a:pt x="4064000" y="1102158"/>
                </a:lnTo>
                <a:lnTo>
                  <a:pt x="4013199" y="1103240"/>
                </a:lnTo>
                <a:lnTo>
                  <a:pt x="3962400" y="1104271"/>
                </a:lnTo>
                <a:lnTo>
                  <a:pt x="3911600" y="1105250"/>
                </a:lnTo>
                <a:lnTo>
                  <a:pt x="3860799" y="1106177"/>
                </a:lnTo>
                <a:lnTo>
                  <a:pt x="3810000" y="1107051"/>
                </a:lnTo>
                <a:lnTo>
                  <a:pt x="3759200" y="1107871"/>
                </a:lnTo>
                <a:lnTo>
                  <a:pt x="3708399" y="1108638"/>
                </a:lnTo>
                <a:lnTo>
                  <a:pt x="3657600" y="1109349"/>
                </a:lnTo>
                <a:lnTo>
                  <a:pt x="3606800" y="1110006"/>
                </a:lnTo>
                <a:lnTo>
                  <a:pt x="3555999" y="1110607"/>
                </a:lnTo>
                <a:lnTo>
                  <a:pt x="3505200" y="1111152"/>
                </a:lnTo>
                <a:lnTo>
                  <a:pt x="3454400" y="1111640"/>
                </a:lnTo>
                <a:lnTo>
                  <a:pt x="3403599" y="1112072"/>
                </a:lnTo>
                <a:lnTo>
                  <a:pt x="3352800" y="1112447"/>
                </a:lnTo>
                <a:lnTo>
                  <a:pt x="3302000" y="1112765"/>
                </a:lnTo>
                <a:lnTo>
                  <a:pt x="3251199" y="1113025"/>
                </a:lnTo>
                <a:lnTo>
                  <a:pt x="3200400" y="1113228"/>
                </a:lnTo>
                <a:lnTo>
                  <a:pt x="3149600" y="1113373"/>
                </a:lnTo>
                <a:lnTo>
                  <a:pt x="3098799" y="1113460"/>
                </a:lnTo>
                <a:lnTo>
                  <a:pt x="3048000" y="1113489"/>
                </a:lnTo>
                <a:lnTo>
                  <a:pt x="2997200" y="1113460"/>
                </a:lnTo>
                <a:lnTo>
                  <a:pt x="2946399" y="1113373"/>
                </a:lnTo>
                <a:lnTo>
                  <a:pt x="2895600" y="1113228"/>
                </a:lnTo>
                <a:lnTo>
                  <a:pt x="2844800" y="1113025"/>
                </a:lnTo>
                <a:lnTo>
                  <a:pt x="2793999" y="1112765"/>
                </a:lnTo>
                <a:lnTo>
                  <a:pt x="2743200" y="1112447"/>
                </a:lnTo>
                <a:lnTo>
                  <a:pt x="2692400" y="1112072"/>
                </a:lnTo>
                <a:lnTo>
                  <a:pt x="2641599" y="1111640"/>
                </a:lnTo>
                <a:lnTo>
                  <a:pt x="2590800" y="1111152"/>
                </a:lnTo>
                <a:lnTo>
                  <a:pt x="2540000" y="1110607"/>
                </a:lnTo>
                <a:lnTo>
                  <a:pt x="2489199" y="1110006"/>
                </a:lnTo>
                <a:lnTo>
                  <a:pt x="2438400" y="1109349"/>
                </a:lnTo>
                <a:lnTo>
                  <a:pt x="2387600" y="1108638"/>
                </a:lnTo>
                <a:lnTo>
                  <a:pt x="2336799" y="1107871"/>
                </a:lnTo>
                <a:lnTo>
                  <a:pt x="2286000" y="1107051"/>
                </a:lnTo>
                <a:lnTo>
                  <a:pt x="2235200" y="1106177"/>
                </a:lnTo>
                <a:lnTo>
                  <a:pt x="2184399" y="1105250"/>
                </a:lnTo>
                <a:lnTo>
                  <a:pt x="2133600" y="1104271"/>
                </a:lnTo>
                <a:lnTo>
                  <a:pt x="2082800" y="1103240"/>
                </a:lnTo>
                <a:lnTo>
                  <a:pt x="2031999" y="1102158"/>
                </a:lnTo>
                <a:lnTo>
                  <a:pt x="1981200" y="1101026"/>
                </a:lnTo>
                <a:lnTo>
                  <a:pt x="1930400" y="1099845"/>
                </a:lnTo>
                <a:lnTo>
                  <a:pt x="1879599" y="1098615"/>
                </a:lnTo>
                <a:lnTo>
                  <a:pt x="1828800" y="1097337"/>
                </a:lnTo>
                <a:lnTo>
                  <a:pt x="1778000" y="1096013"/>
                </a:lnTo>
                <a:lnTo>
                  <a:pt x="1727199" y="1094642"/>
                </a:lnTo>
                <a:lnTo>
                  <a:pt x="1676400" y="1093226"/>
                </a:lnTo>
                <a:lnTo>
                  <a:pt x="1625600" y="1091767"/>
                </a:lnTo>
                <a:lnTo>
                  <a:pt x="1574799" y="1090264"/>
                </a:lnTo>
                <a:lnTo>
                  <a:pt x="1524000" y="1088719"/>
                </a:lnTo>
                <a:lnTo>
                  <a:pt x="1473200" y="1087133"/>
                </a:lnTo>
                <a:lnTo>
                  <a:pt x="1422399" y="1085507"/>
                </a:lnTo>
                <a:lnTo>
                  <a:pt x="1371600" y="1083843"/>
                </a:lnTo>
                <a:lnTo>
                  <a:pt x="1320800" y="1082141"/>
                </a:lnTo>
                <a:lnTo>
                  <a:pt x="1269999" y="1080402"/>
                </a:lnTo>
                <a:lnTo>
                  <a:pt x="1219200" y="1078628"/>
                </a:lnTo>
                <a:lnTo>
                  <a:pt x="1168400" y="1076820"/>
                </a:lnTo>
                <a:lnTo>
                  <a:pt x="1117599" y="1074979"/>
                </a:lnTo>
                <a:lnTo>
                  <a:pt x="1066800" y="1073107"/>
                </a:lnTo>
                <a:lnTo>
                  <a:pt x="1016000" y="1071204"/>
                </a:lnTo>
                <a:lnTo>
                  <a:pt x="965199" y="1069272"/>
                </a:lnTo>
                <a:lnTo>
                  <a:pt x="914400" y="1067313"/>
                </a:lnTo>
                <a:lnTo>
                  <a:pt x="863600" y="1065328"/>
                </a:lnTo>
                <a:lnTo>
                  <a:pt x="812799" y="1063317"/>
                </a:lnTo>
                <a:lnTo>
                  <a:pt x="762000" y="1061283"/>
                </a:lnTo>
                <a:lnTo>
                  <a:pt x="711200" y="1059226"/>
                </a:lnTo>
                <a:lnTo>
                  <a:pt x="660399" y="1057149"/>
                </a:lnTo>
                <a:lnTo>
                  <a:pt x="609600" y="1055053"/>
                </a:lnTo>
                <a:lnTo>
                  <a:pt x="558800" y="1052939"/>
                </a:lnTo>
                <a:lnTo>
                  <a:pt x="507999" y="1050808"/>
                </a:lnTo>
                <a:lnTo>
                  <a:pt x="457200" y="1048662"/>
                </a:lnTo>
                <a:lnTo>
                  <a:pt x="406400" y="1046503"/>
                </a:lnTo>
                <a:lnTo>
                  <a:pt x="355599" y="1044331"/>
                </a:lnTo>
                <a:lnTo>
                  <a:pt x="304800" y="1042149"/>
                </a:lnTo>
                <a:lnTo>
                  <a:pt x="254000" y="1039958"/>
                </a:lnTo>
                <a:lnTo>
                  <a:pt x="203199" y="1037760"/>
                </a:lnTo>
                <a:lnTo>
                  <a:pt x="152400" y="1035555"/>
                </a:lnTo>
                <a:lnTo>
                  <a:pt x="101600" y="1033346"/>
                </a:lnTo>
                <a:lnTo>
                  <a:pt x="50799" y="1031133"/>
                </a:lnTo>
                <a:lnTo>
                  <a:pt x="0" y="1028920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ヘッダー山1"/>
          <p:cNvSpPr/>
          <p:nvPr/>
        </p:nvSpPr>
        <p:spPr>
          <a:xfrm>
            <a:off x="8315930" y="352369"/>
            <a:ext cx="2078983" cy="591982"/>
          </a:xfrm>
          <a:custGeom>
            <a:avLst/>
            <a:gdLst/>
            <a:ahLst/>
            <a:cxnLst/>
            <a:rect l="l" t="t" r="r" b="b"/>
            <a:pathLst>
              <a:path w="2078983" h="591982">
                <a:moveTo>
                  <a:pt x="0" y="591982"/>
                </a:moveTo>
                <a:lnTo>
                  <a:pt x="1141679" y="0"/>
                </a:lnTo>
                <a:lnTo>
                  <a:pt x="2078983" y="591982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ヘッダー山2"/>
          <p:cNvSpPr/>
          <p:nvPr/>
        </p:nvSpPr>
        <p:spPr>
          <a:xfrm>
            <a:off x="9866358" y="591981"/>
            <a:ext cx="2043746" cy="352370"/>
          </a:xfrm>
          <a:custGeom>
            <a:avLst/>
            <a:gdLst/>
            <a:ahLst/>
            <a:cxnLst/>
            <a:rect l="l" t="t" r="r" b="b"/>
            <a:pathLst>
              <a:path w="2043746" h="352370">
                <a:moveTo>
                  <a:pt x="0" y="352370"/>
                </a:moveTo>
                <a:lnTo>
                  <a:pt x="1021873" y="0"/>
                </a:lnTo>
                <a:lnTo>
                  <a:pt x="2043746" y="35237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451033" y="211421"/>
            <a:ext cx="4933179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4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施策①　共育実習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451033" y="422843"/>
            <a:ext cx="8456878" cy="4933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共育実習の共創モデル</a:t>
            </a:r>
          </a:p>
        </p:txBody>
      </p:sp>
      <p:sp>
        <p:nvSpPr>
          <p:cNvPr id="6" name="中央円"/>
          <p:cNvSpPr/>
          <p:nvPr/>
        </p:nvSpPr>
        <p:spPr>
          <a:xfrm>
            <a:off x="4841563" y="2424305"/>
            <a:ext cx="2508873" cy="2508873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940226" y="2522968"/>
            <a:ext cx="2311546" cy="2311546"/>
          </a:xfrm>
          <a:prstGeom prst="ellipse">
            <a:avLst/>
          </a:prstGeom>
          <a:noFill/>
          <a:ln w="15240">
            <a:solidFill>
              <a:srgbClr val="CFEEE3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中央ミニ見出し"/>
          <p:cNvSpPr txBox="1"/>
          <p:nvPr/>
        </p:nvSpPr>
        <p:spPr>
          <a:xfrm>
            <a:off x="5038890" y="3129045"/>
            <a:ext cx="2114219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76" b="1" spc="200">
                <a:solidFill>
                  <a:srgbClr val="2E9E8A"/>
                </a:solidFill>
                <a:latin typeface="游ゴシック"/>
                <a:ea typeface="游ゴシック"/>
                <a:cs typeface="游ゴシック"/>
              </a:rPr>
              <a:t>エフビー介護の</a:t>
            </a:r>
          </a:p>
        </p:txBody>
      </p:sp>
      <p:sp>
        <p:nvSpPr>
          <p:cNvPr id="9" name="中央タイトル"/>
          <p:cNvSpPr txBox="1"/>
          <p:nvPr/>
        </p:nvSpPr>
        <p:spPr>
          <a:xfrm>
            <a:off x="4933179" y="3312277"/>
            <a:ext cx="2325641" cy="704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77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共育実習</a:t>
            </a:r>
          </a:p>
        </p:txBody>
      </p:sp>
      <p:sp>
        <p:nvSpPr>
          <p:cNvPr id="10" name="共に育つ帯"/>
          <p:cNvSpPr/>
          <p:nvPr/>
        </p:nvSpPr>
        <p:spPr>
          <a:xfrm>
            <a:off x="5546302" y="4045206"/>
            <a:ext cx="1099394" cy="267801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共に育つ"/>
          <p:cNvSpPr txBox="1"/>
          <p:nvPr/>
        </p:nvSpPr>
        <p:spPr>
          <a:xfrm>
            <a:off x="5546302" y="4045206"/>
            <a:ext cx="1099394" cy="2678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65" b="1" spc="3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共に育つ</a:t>
            </a:r>
          </a:p>
        </p:txBody>
      </p:sp>
      <p:sp>
        <p:nvSpPr>
          <p:cNvPr id="12" name="環_エフビー介護サービス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16356000"/>
              <a:gd name="adj2" fmla="val 19644000"/>
              <a:gd name="adj3" fmla="val 14539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環ラベル_エフビー介護サービス"/>
          <p:cNvSpPr txBox="1"/>
          <p:nvPr/>
        </p:nvSpPr>
        <p:spPr>
          <a:xfrm rot="1800000">
            <a:off x="6416656" y="2081011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エフビー</a:t>
            </a:r>
          </a:p>
        </p:txBody>
      </p:sp>
      <p:sp>
        <p:nvSpPr>
          <p:cNvPr id="14" name="環_社員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19956000"/>
              <a:gd name="adj2" fmla="val 1644000"/>
              <a:gd name="adj3" fmla="val 14539"/>
            </a:avLst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環ラベル_社員"/>
          <p:cNvSpPr txBox="1"/>
          <p:nvPr/>
        </p:nvSpPr>
        <p:spPr>
          <a:xfrm rot="5400000">
            <a:off x="7265868" y="3551889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8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社員</a:t>
            </a:r>
          </a:p>
        </p:txBody>
      </p:sp>
      <p:sp>
        <p:nvSpPr>
          <p:cNvPr id="16" name="環_地域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1955999"/>
              <a:gd name="adj2" fmla="val 5244000"/>
              <a:gd name="adj3" fmla="val 14539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環ラベル_地域"/>
          <p:cNvSpPr txBox="1"/>
          <p:nvPr/>
        </p:nvSpPr>
        <p:spPr>
          <a:xfrm rot="19800000">
            <a:off x="6416656" y="5022766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8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地域</a:t>
            </a:r>
          </a:p>
        </p:txBody>
      </p:sp>
      <p:sp>
        <p:nvSpPr>
          <p:cNvPr id="18" name="環_大学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5556000"/>
              <a:gd name="adj2" fmla="val 8844000"/>
              <a:gd name="adj3" fmla="val 14539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環ラベル_大学"/>
          <p:cNvSpPr txBox="1"/>
          <p:nvPr/>
        </p:nvSpPr>
        <p:spPr>
          <a:xfrm rot="1800000">
            <a:off x="4718233" y="5022766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8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大学</a:t>
            </a:r>
          </a:p>
        </p:txBody>
      </p:sp>
      <p:sp>
        <p:nvSpPr>
          <p:cNvPr id="20" name="環_専門学校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9156000"/>
              <a:gd name="adj2" fmla="val 12443999"/>
              <a:gd name="adj3" fmla="val 14539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環ラベル_専門学校"/>
          <p:cNvSpPr txBox="1"/>
          <p:nvPr/>
        </p:nvSpPr>
        <p:spPr>
          <a:xfrm rot="16200000">
            <a:off x="3869021" y="3551889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専門学校</a:t>
            </a:r>
          </a:p>
        </p:txBody>
      </p:sp>
      <p:sp>
        <p:nvSpPr>
          <p:cNvPr id="22" name="環_高校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12756000"/>
              <a:gd name="adj2" fmla="val 16043999"/>
              <a:gd name="adj3" fmla="val 14539"/>
            </a:avLst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環ラベル_高校"/>
          <p:cNvSpPr txBox="1"/>
          <p:nvPr/>
        </p:nvSpPr>
        <p:spPr>
          <a:xfrm rot="19800000">
            <a:off x="4718233" y="2081011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8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高校</a:t>
            </a:r>
          </a:p>
        </p:txBody>
      </p:sp>
      <p:sp>
        <p:nvSpPr>
          <p:cNvPr id="24" name="循環マーク白"/>
          <p:cNvSpPr/>
          <p:nvPr/>
        </p:nvSpPr>
        <p:spPr>
          <a:xfrm>
            <a:off x="6004383" y="1888702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循環マーク矢印"/>
          <p:cNvSpPr/>
          <p:nvPr/>
        </p:nvSpPr>
        <p:spPr>
          <a:xfrm>
            <a:off x="6067810" y="1952129"/>
            <a:ext cx="84569" cy="56379"/>
          </a:xfrm>
          <a:custGeom>
            <a:avLst/>
            <a:gdLst/>
            <a:ahLst/>
            <a:cxnLst/>
            <a:rect l="l" t="t" r="r" b="b"/>
            <a:pathLst>
              <a:path w="84569" h="56379">
                <a:moveTo>
                  <a:pt x="84569" y="28190"/>
                </a:moveTo>
                <a:lnTo>
                  <a:pt x="0" y="56379"/>
                </a:lnTo>
                <a:lnTo>
                  <a:pt x="0" y="0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循環マーク白"/>
          <p:cNvSpPr/>
          <p:nvPr/>
        </p:nvSpPr>
        <p:spPr>
          <a:xfrm>
            <a:off x="7475261" y="2737914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循環マーク矢印"/>
          <p:cNvSpPr/>
          <p:nvPr/>
        </p:nvSpPr>
        <p:spPr>
          <a:xfrm>
            <a:off x="7528369" y="2791022"/>
            <a:ext cx="66698" cy="87334"/>
          </a:xfrm>
          <a:custGeom>
            <a:avLst/>
            <a:gdLst/>
            <a:ahLst/>
            <a:cxnLst/>
            <a:rect l="l" t="t" r="r" b="b"/>
            <a:pathLst>
              <a:path w="66698" h="87334">
                <a:moveTo>
                  <a:pt x="66698" y="87334"/>
                </a:moveTo>
                <a:lnTo>
                  <a:pt x="0" y="28190"/>
                </a:lnTo>
                <a:lnTo>
                  <a:pt x="48826" y="0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循環マーク白"/>
          <p:cNvSpPr/>
          <p:nvPr/>
        </p:nvSpPr>
        <p:spPr>
          <a:xfrm>
            <a:off x="7475261" y="4436337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循環マーク矢印"/>
          <p:cNvSpPr/>
          <p:nvPr/>
        </p:nvSpPr>
        <p:spPr>
          <a:xfrm>
            <a:off x="7538687" y="4489446"/>
            <a:ext cx="66698" cy="87333"/>
          </a:xfrm>
          <a:custGeom>
            <a:avLst/>
            <a:gdLst/>
            <a:ahLst/>
            <a:cxnLst/>
            <a:rect l="l" t="t" r="r" b="b"/>
            <a:pathLst>
              <a:path w="66698" h="87333">
                <a:moveTo>
                  <a:pt x="0" y="87333"/>
                </a:moveTo>
                <a:lnTo>
                  <a:pt x="17872" y="0"/>
                </a:lnTo>
                <a:lnTo>
                  <a:pt x="66698" y="28189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循環マーク白"/>
          <p:cNvSpPr/>
          <p:nvPr/>
        </p:nvSpPr>
        <p:spPr>
          <a:xfrm>
            <a:off x="6004383" y="5285549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循環マーク矢印"/>
          <p:cNvSpPr/>
          <p:nvPr/>
        </p:nvSpPr>
        <p:spPr>
          <a:xfrm>
            <a:off x="6039620" y="5348975"/>
            <a:ext cx="84569" cy="56379"/>
          </a:xfrm>
          <a:custGeom>
            <a:avLst/>
            <a:gdLst/>
            <a:ahLst/>
            <a:cxnLst/>
            <a:rect l="l" t="t" r="r" b="b"/>
            <a:pathLst>
              <a:path w="84569" h="56379">
                <a:moveTo>
                  <a:pt x="0" y="28190"/>
                </a:moveTo>
                <a:lnTo>
                  <a:pt x="84569" y="0"/>
                </a:lnTo>
                <a:lnTo>
                  <a:pt x="84569" y="56379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循環マーク白"/>
          <p:cNvSpPr/>
          <p:nvPr/>
        </p:nvSpPr>
        <p:spPr>
          <a:xfrm>
            <a:off x="4533506" y="4436337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循環マーク矢印"/>
          <p:cNvSpPr/>
          <p:nvPr/>
        </p:nvSpPr>
        <p:spPr>
          <a:xfrm>
            <a:off x="4596932" y="4479127"/>
            <a:ext cx="66698" cy="87334"/>
          </a:xfrm>
          <a:custGeom>
            <a:avLst/>
            <a:gdLst/>
            <a:ahLst/>
            <a:cxnLst/>
            <a:rect l="l" t="t" r="r" b="b"/>
            <a:pathLst>
              <a:path w="66698" h="87334">
                <a:moveTo>
                  <a:pt x="0" y="0"/>
                </a:moveTo>
                <a:lnTo>
                  <a:pt x="66698" y="59144"/>
                </a:lnTo>
                <a:lnTo>
                  <a:pt x="17872" y="87334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循環マーク白"/>
          <p:cNvSpPr/>
          <p:nvPr/>
        </p:nvSpPr>
        <p:spPr>
          <a:xfrm>
            <a:off x="4533506" y="2737914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循環マーク矢印"/>
          <p:cNvSpPr/>
          <p:nvPr/>
        </p:nvSpPr>
        <p:spPr>
          <a:xfrm>
            <a:off x="4586614" y="2780704"/>
            <a:ext cx="66698" cy="87334"/>
          </a:xfrm>
          <a:custGeom>
            <a:avLst/>
            <a:gdLst/>
            <a:ahLst/>
            <a:cxnLst/>
            <a:rect l="l" t="t" r="r" b="b"/>
            <a:pathLst>
              <a:path w="66698" h="87334">
                <a:moveTo>
                  <a:pt x="66698" y="0"/>
                </a:moveTo>
                <a:lnTo>
                  <a:pt x="48826" y="87334"/>
                </a:lnTo>
                <a:lnTo>
                  <a:pt x="0" y="59144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接続線_エフビー介護サービス"/>
          <p:cNvCxnSpPr/>
          <p:nvPr/>
        </p:nvCxnSpPr>
        <p:spPr>
          <a:xfrm flipH="1">
            <a:off x="7355100" y="2015556"/>
            <a:ext cx="1003115" cy="0"/>
          </a:xfrm>
          <a:prstGeom prst="line">
            <a:avLst/>
          </a:prstGeom>
          <a:ln w="22860">
            <a:solidFill>
              <a:srgbClr val="F28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7312815" y="1973271"/>
            <a:ext cx="84568" cy="84568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カード_エフビー介護サービス"/>
          <p:cNvSpPr/>
          <p:nvPr/>
        </p:nvSpPr>
        <p:spPr>
          <a:xfrm>
            <a:off x="8358215" y="1416527"/>
            <a:ext cx="3382751" cy="1198057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名称_エフビー介護サービス"/>
          <p:cNvSpPr txBox="1"/>
          <p:nvPr/>
        </p:nvSpPr>
        <p:spPr>
          <a:xfrm>
            <a:off x="8611921" y="1585664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エフビー介護サービス</a:t>
            </a:r>
          </a:p>
        </p:txBody>
      </p:sp>
      <p:sp>
        <p:nvSpPr>
          <p:cNvPr id="41" name="要点_エフビー介護サービス"/>
          <p:cNvSpPr txBox="1"/>
          <p:nvPr/>
        </p:nvSpPr>
        <p:spPr>
          <a:xfrm>
            <a:off x="8611921" y="1782991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営業の差になる</a:t>
            </a:r>
          </a:p>
        </p:txBody>
      </p:sp>
      <p:sp>
        <p:nvSpPr>
          <p:cNvPr id="42" name="説明_エフビー介護サービス"/>
          <p:cNvSpPr txBox="1"/>
          <p:nvPr/>
        </p:nvSpPr>
        <p:spPr>
          <a:xfrm>
            <a:off x="8611921" y="2121267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志と実利で学校から選ばれ、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将来の担い手と出会えます。</a:t>
            </a:r>
          </a:p>
        </p:txBody>
      </p:sp>
      <p:cxnSp>
        <p:nvCxnSpPr>
          <p:cNvPr id="43" name="接続線_社員"/>
          <p:cNvCxnSpPr/>
          <p:nvPr/>
        </p:nvCxnSpPr>
        <p:spPr>
          <a:xfrm flipH="1">
            <a:off x="8182030" y="3678742"/>
            <a:ext cx="176185" cy="0"/>
          </a:xfrm>
          <a:prstGeom prst="line">
            <a:avLst/>
          </a:prstGeom>
          <a:ln w="22860">
            <a:solidFill>
              <a:srgbClr val="F7AB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8139745" y="3636457"/>
            <a:ext cx="84568" cy="84568"/>
          </a:xfrm>
          <a:prstGeom prst="ellipse">
            <a:avLst/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カード_社員"/>
          <p:cNvSpPr/>
          <p:nvPr/>
        </p:nvSpPr>
        <p:spPr>
          <a:xfrm>
            <a:off x="8358215" y="3079713"/>
            <a:ext cx="3382751" cy="1198057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名称_社員"/>
          <p:cNvSpPr txBox="1"/>
          <p:nvPr/>
        </p:nvSpPr>
        <p:spPr>
          <a:xfrm>
            <a:off x="8611921" y="3248850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社員</a:t>
            </a:r>
          </a:p>
        </p:txBody>
      </p:sp>
      <p:sp>
        <p:nvSpPr>
          <p:cNvPr id="48" name="要点_社員"/>
          <p:cNvSpPr txBox="1"/>
          <p:nvPr/>
        </p:nvSpPr>
        <p:spPr>
          <a:xfrm>
            <a:off x="8611921" y="3446178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学びと生きがいが育つ</a:t>
            </a:r>
          </a:p>
        </p:txBody>
      </p:sp>
      <p:sp>
        <p:nvSpPr>
          <p:cNvPr id="49" name="説明_社員"/>
          <p:cNvSpPr txBox="1"/>
          <p:nvPr/>
        </p:nvSpPr>
        <p:spPr>
          <a:xfrm>
            <a:off x="8611921" y="3784453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学生から学び、仕事の意味を再発見。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利用者の生きがいも育ちます。</a:t>
            </a:r>
          </a:p>
        </p:txBody>
      </p:sp>
      <p:cxnSp>
        <p:nvCxnSpPr>
          <p:cNvPr id="50" name="接続線_地域"/>
          <p:cNvCxnSpPr/>
          <p:nvPr/>
        </p:nvCxnSpPr>
        <p:spPr>
          <a:xfrm flipH="1">
            <a:off x="7355100" y="5341928"/>
            <a:ext cx="1003115" cy="0"/>
          </a:xfrm>
          <a:prstGeom prst="line">
            <a:avLst/>
          </a:prstGeom>
          <a:ln w="22860">
            <a:solidFill>
              <a:srgbClr val="2E9E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7312815" y="5299643"/>
            <a:ext cx="84568" cy="84568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カード_地域"/>
          <p:cNvSpPr/>
          <p:nvPr/>
        </p:nvSpPr>
        <p:spPr>
          <a:xfrm>
            <a:off x="8358215" y="4742899"/>
            <a:ext cx="3382751" cy="1198057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名称_地域"/>
          <p:cNvSpPr txBox="1"/>
          <p:nvPr/>
        </p:nvSpPr>
        <p:spPr>
          <a:xfrm>
            <a:off x="8611921" y="4912036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地域</a:t>
            </a:r>
          </a:p>
        </p:txBody>
      </p:sp>
      <p:sp>
        <p:nvSpPr>
          <p:cNvPr id="55" name="要点_地域"/>
          <p:cNvSpPr txBox="1"/>
          <p:nvPr/>
        </p:nvSpPr>
        <p:spPr>
          <a:xfrm>
            <a:off x="8611921" y="5109364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担い手とまちの未来</a:t>
            </a:r>
          </a:p>
        </p:txBody>
      </p:sp>
      <p:sp>
        <p:nvSpPr>
          <p:cNvPr id="56" name="説明_地域"/>
          <p:cNvSpPr txBox="1"/>
          <p:nvPr/>
        </p:nvSpPr>
        <p:spPr>
          <a:xfrm>
            <a:off x="8611921" y="5447639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地域を担う人が育ち、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介護の現場が身近になります。</a:t>
            </a:r>
          </a:p>
        </p:txBody>
      </p:sp>
      <p:cxnSp>
        <p:nvCxnSpPr>
          <p:cNvPr id="57" name="接続線_大学"/>
          <p:cNvCxnSpPr/>
          <p:nvPr/>
        </p:nvCxnSpPr>
        <p:spPr>
          <a:xfrm>
            <a:off x="3833784" y="5341928"/>
            <a:ext cx="1003115" cy="0"/>
          </a:xfrm>
          <a:prstGeom prst="line">
            <a:avLst/>
          </a:prstGeom>
          <a:ln w="22860">
            <a:solidFill>
              <a:srgbClr val="54C5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4794615" y="5299643"/>
            <a:ext cx="84568" cy="84568"/>
          </a:xfrm>
          <a:prstGeom prst="ellipse">
            <a:avLst/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カード_大学"/>
          <p:cNvSpPr/>
          <p:nvPr/>
        </p:nvSpPr>
        <p:spPr>
          <a:xfrm>
            <a:off x="451033" y="4742899"/>
            <a:ext cx="3382751" cy="1198057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名称_大学"/>
          <p:cNvSpPr txBox="1"/>
          <p:nvPr/>
        </p:nvSpPr>
        <p:spPr>
          <a:xfrm>
            <a:off x="704739" y="4912036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大学</a:t>
            </a:r>
          </a:p>
        </p:txBody>
      </p:sp>
      <p:sp>
        <p:nvSpPr>
          <p:cNvPr id="62" name="要点_大学"/>
          <p:cNvSpPr txBox="1"/>
          <p:nvPr/>
        </p:nvSpPr>
        <p:spPr>
          <a:xfrm>
            <a:off x="704739" y="5109364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学部・学科の魅力向上</a:t>
            </a:r>
          </a:p>
        </p:txBody>
      </p:sp>
      <p:sp>
        <p:nvSpPr>
          <p:cNvPr id="63" name="説明_大学"/>
          <p:cNvSpPr txBox="1"/>
          <p:nvPr/>
        </p:nvSpPr>
        <p:spPr>
          <a:xfrm>
            <a:off x="704739" y="5447639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魅力的な実習を提供。社会テーマ型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プログラム「STA」で連携します。</a:t>
            </a:r>
          </a:p>
        </p:txBody>
      </p:sp>
      <p:cxnSp>
        <p:nvCxnSpPr>
          <p:cNvPr id="64" name="接続線_専門学校"/>
          <p:cNvCxnSpPr/>
          <p:nvPr/>
        </p:nvCxnSpPr>
        <p:spPr>
          <a:xfrm>
            <a:off x="3833784" y="3678742"/>
            <a:ext cx="176185" cy="0"/>
          </a:xfrm>
          <a:prstGeom prst="line">
            <a:avLst/>
          </a:prstGeom>
          <a:ln w="22860">
            <a:solidFill>
              <a:srgbClr val="3FB3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3967685" y="3636457"/>
            <a:ext cx="84568" cy="84568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カード_専門学校"/>
          <p:cNvSpPr/>
          <p:nvPr/>
        </p:nvSpPr>
        <p:spPr>
          <a:xfrm>
            <a:off x="451033" y="3079713"/>
            <a:ext cx="3382751" cy="1198057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名称_専門学校"/>
          <p:cNvSpPr txBox="1"/>
          <p:nvPr/>
        </p:nvSpPr>
        <p:spPr>
          <a:xfrm>
            <a:off x="704739" y="3248850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専門学校</a:t>
            </a:r>
          </a:p>
        </p:txBody>
      </p:sp>
      <p:sp>
        <p:nvSpPr>
          <p:cNvPr id="69" name="要点_専門学校"/>
          <p:cNvSpPr txBox="1"/>
          <p:nvPr/>
        </p:nvSpPr>
        <p:spPr>
          <a:xfrm>
            <a:off x="704739" y="3446178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実習先の選択肢が広がる</a:t>
            </a:r>
          </a:p>
        </p:txBody>
      </p:sp>
      <p:sp>
        <p:nvSpPr>
          <p:cNvPr id="70" name="説明_専門学校"/>
          <p:cNvSpPr txBox="1"/>
          <p:nvPr/>
        </p:nvSpPr>
        <p:spPr>
          <a:xfrm>
            <a:off x="704739" y="3784453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単位つきの実習先が増え、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介護の学びの入口が広がります。</a:t>
            </a:r>
          </a:p>
        </p:txBody>
      </p:sp>
      <p:cxnSp>
        <p:nvCxnSpPr>
          <p:cNvPr id="71" name="接続線_高校"/>
          <p:cNvCxnSpPr/>
          <p:nvPr/>
        </p:nvCxnSpPr>
        <p:spPr>
          <a:xfrm>
            <a:off x="3833784" y="2015556"/>
            <a:ext cx="1003115" cy="0"/>
          </a:xfrm>
          <a:prstGeom prst="line">
            <a:avLst/>
          </a:prstGeom>
          <a:ln w="22860">
            <a:solidFill>
              <a:srgbClr val="86D6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4794615" y="1973271"/>
            <a:ext cx="84568" cy="84568"/>
          </a:xfrm>
          <a:prstGeom prst="ellipse">
            <a:avLst/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カード_高校"/>
          <p:cNvSpPr/>
          <p:nvPr/>
        </p:nvSpPr>
        <p:spPr>
          <a:xfrm>
            <a:off x="451033" y="1416527"/>
            <a:ext cx="3382751" cy="1198057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名称_高校"/>
          <p:cNvSpPr txBox="1"/>
          <p:nvPr/>
        </p:nvSpPr>
        <p:spPr>
          <a:xfrm>
            <a:off x="704739" y="1585664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高校</a:t>
            </a:r>
          </a:p>
        </p:txBody>
      </p:sp>
      <p:sp>
        <p:nvSpPr>
          <p:cNvPr id="76" name="要点_高校"/>
          <p:cNvSpPr txBox="1"/>
          <p:nvPr/>
        </p:nvSpPr>
        <p:spPr>
          <a:xfrm>
            <a:off x="704739" y="1782991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探究と進路に生きる実績</a:t>
            </a:r>
          </a:p>
        </p:txBody>
      </p:sp>
      <p:sp>
        <p:nvSpPr>
          <p:cNvPr id="77" name="説明_高校"/>
          <p:cNvSpPr txBox="1"/>
          <p:nvPr/>
        </p:nvSpPr>
        <p:spPr>
          <a:xfrm>
            <a:off x="704739" y="2121267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単位つきで受け入れやすく、探究テーマ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探しと面接で語れる実績になります。</a:t>
            </a:r>
          </a:p>
        </p:txBody>
      </p:sp>
      <p:sp>
        <p:nvSpPr>
          <p:cNvPr id="78" name="キャッチコピー"/>
          <p:cNvSpPr txBox="1"/>
          <p:nvPr/>
        </p:nvSpPr>
        <p:spPr>
          <a:xfrm>
            <a:off x="1162820" y="5976194"/>
            <a:ext cx="9866358" cy="3946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学ぶ人も、迎える人も、地域も。みんなが共に育つ</a:t>
            </a:r>
          </a:p>
        </p:txBody>
      </p:sp>
      <p:sp>
        <p:nvSpPr>
          <p:cNvPr id="79" name="下線"/>
          <p:cNvSpPr/>
          <p:nvPr/>
        </p:nvSpPr>
        <p:spPr>
          <a:xfrm>
            <a:off x="3100855" y="6399038"/>
            <a:ext cx="5990289" cy="28189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ページ番号"/>
          <p:cNvSpPr txBox="1"/>
          <p:nvPr/>
        </p:nvSpPr>
        <p:spPr>
          <a:xfrm>
            <a:off x="10895278" y="6300374"/>
            <a:ext cx="845687" cy="1832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32">
                <a:solidFill>
                  <a:srgbClr val="8A9A96"/>
                </a:solidFill>
                <a:latin typeface="游ゴシック"/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5963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113489"/>
          </a:xfrm>
          <a:custGeom>
            <a:avLst/>
            <a:gdLst/>
            <a:ahLst/>
            <a:cxnLst/>
            <a:rect l="l" t="t" r="r" b="b"/>
            <a:pathLst>
              <a:path w="12192000" h="1113489">
                <a:moveTo>
                  <a:pt x="0" y="0"/>
                </a:moveTo>
                <a:lnTo>
                  <a:pt x="12192000" y="0"/>
                </a:lnTo>
                <a:lnTo>
                  <a:pt x="12192000" y="1028920"/>
                </a:lnTo>
                <a:lnTo>
                  <a:pt x="12141200" y="1026706"/>
                </a:lnTo>
                <a:lnTo>
                  <a:pt x="12090400" y="1024494"/>
                </a:lnTo>
                <a:lnTo>
                  <a:pt x="12039600" y="1022285"/>
                </a:lnTo>
                <a:lnTo>
                  <a:pt x="11988800" y="1020080"/>
                </a:lnTo>
                <a:lnTo>
                  <a:pt x="11938000" y="1017881"/>
                </a:lnTo>
                <a:lnTo>
                  <a:pt x="11887200" y="1015690"/>
                </a:lnTo>
                <a:lnTo>
                  <a:pt x="11836400" y="1013508"/>
                </a:lnTo>
                <a:lnTo>
                  <a:pt x="11785600" y="1011337"/>
                </a:lnTo>
                <a:lnTo>
                  <a:pt x="11734800" y="1009178"/>
                </a:lnTo>
                <a:lnTo>
                  <a:pt x="11684000" y="1007032"/>
                </a:lnTo>
                <a:lnTo>
                  <a:pt x="11633200" y="1004901"/>
                </a:lnTo>
                <a:lnTo>
                  <a:pt x="11582400" y="1002787"/>
                </a:lnTo>
                <a:lnTo>
                  <a:pt x="11531600" y="1000690"/>
                </a:lnTo>
                <a:lnTo>
                  <a:pt x="11480800" y="998613"/>
                </a:lnTo>
                <a:lnTo>
                  <a:pt x="11430000" y="996557"/>
                </a:lnTo>
                <a:lnTo>
                  <a:pt x="11379200" y="994523"/>
                </a:lnTo>
                <a:lnTo>
                  <a:pt x="11328400" y="992512"/>
                </a:lnTo>
                <a:lnTo>
                  <a:pt x="11277600" y="990526"/>
                </a:lnTo>
                <a:lnTo>
                  <a:pt x="11226800" y="988567"/>
                </a:lnTo>
                <a:lnTo>
                  <a:pt x="11176000" y="986635"/>
                </a:lnTo>
                <a:lnTo>
                  <a:pt x="11125200" y="984733"/>
                </a:lnTo>
                <a:lnTo>
                  <a:pt x="11074400" y="982860"/>
                </a:lnTo>
                <a:lnTo>
                  <a:pt x="11023600" y="981019"/>
                </a:lnTo>
                <a:lnTo>
                  <a:pt x="10972800" y="979211"/>
                </a:lnTo>
                <a:lnTo>
                  <a:pt x="10922000" y="977438"/>
                </a:lnTo>
                <a:lnTo>
                  <a:pt x="10871200" y="975699"/>
                </a:lnTo>
                <a:lnTo>
                  <a:pt x="10820400" y="973997"/>
                </a:lnTo>
                <a:lnTo>
                  <a:pt x="10769600" y="972332"/>
                </a:lnTo>
                <a:lnTo>
                  <a:pt x="10718800" y="970706"/>
                </a:lnTo>
                <a:lnTo>
                  <a:pt x="10668000" y="969121"/>
                </a:lnTo>
                <a:lnTo>
                  <a:pt x="10617200" y="967576"/>
                </a:lnTo>
                <a:lnTo>
                  <a:pt x="10566400" y="966073"/>
                </a:lnTo>
                <a:lnTo>
                  <a:pt x="10515600" y="964613"/>
                </a:lnTo>
                <a:lnTo>
                  <a:pt x="10464800" y="963197"/>
                </a:lnTo>
                <a:lnTo>
                  <a:pt x="10414000" y="961827"/>
                </a:lnTo>
                <a:lnTo>
                  <a:pt x="10363200" y="960502"/>
                </a:lnTo>
                <a:lnTo>
                  <a:pt x="10312400" y="959224"/>
                </a:lnTo>
                <a:lnTo>
                  <a:pt x="10261600" y="957994"/>
                </a:lnTo>
                <a:lnTo>
                  <a:pt x="10210800" y="956813"/>
                </a:lnTo>
                <a:lnTo>
                  <a:pt x="10160000" y="955681"/>
                </a:lnTo>
                <a:lnTo>
                  <a:pt x="10109200" y="954599"/>
                </a:lnTo>
                <a:lnTo>
                  <a:pt x="10058400" y="953568"/>
                </a:lnTo>
                <a:lnTo>
                  <a:pt x="10007600" y="952589"/>
                </a:lnTo>
                <a:lnTo>
                  <a:pt x="9956800" y="951662"/>
                </a:lnTo>
                <a:lnTo>
                  <a:pt x="9906000" y="950788"/>
                </a:lnTo>
                <a:lnTo>
                  <a:pt x="9855200" y="949968"/>
                </a:lnTo>
                <a:lnTo>
                  <a:pt x="9804400" y="949202"/>
                </a:lnTo>
                <a:lnTo>
                  <a:pt x="9753600" y="948490"/>
                </a:lnTo>
                <a:lnTo>
                  <a:pt x="9702800" y="947834"/>
                </a:lnTo>
                <a:lnTo>
                  <a:pt x="9652000" y="947233"/>
                </a:lnTo>
                <a:lnTo>
                  <a:pt x="9601200" y="946688"/>
                </a:lnTo>
                <a:lnTo>
                  <a:pt x="9550400" y="946199"/>
                </a:lnTo>
                <a:lnTo>
                  <a:pt x="9499600" y="945767"/>
                </a:lnTo>
                <a:lnTo>
                  <a:pt x="9448800" y="945392"/>
                </a:lnTo>
                <a:lnTo>
                  <a:pt x="9398000" y="945074"/>
                </a:lnTo>
                <a:lnTo>
                  <a:pt x="9347200" y="944814"/>
                </a:lnTo>
                <a:lnTo>
                  <a:pt x="9296400" y="944612"/>
                </a:lnTo>
                <a:lnTo>
                  <a:pt x="9245600" y="944467"/>
                </a:lnTo>
                <a:lnTo>
                  <a:pt x="9194800" y="944380"/>
                </a:lnTo>
                <a:lnTo>
                  <a:pt x="9144000" y="944351"/>
                </a:lnTo>
                <a:lnTo>
                  <a:pt x="9093200" y="944380"/>
                </a:lnTo>
                <a:lnTo>
                  <a:pt x="9042400" y="944467"/>
                </a:lnTo>
                <a:lnTo>
                  <a:pt x="8991600" y="944612"/>
                </a:lnTo>
                <a:lnTo>
                  <a:pt x="8940800" y="944814"/>
                </a:lnTo>
                <a:lnTo>
                  <a:pt x="8890000" y="945074"/>
                </a:lnTo>
                <a:lnTo>
                  <a:pt x="8839200" y="945392"/>
                </a:lnTo>
                <a:lnTo>
                  <a:pt x="8788400" y="945767"/>
                </a:lnTo>
                <a:lnTo>
                  <a:pt x="8737600" y="946199"/>
                </a:lnTo>
                <a:lnTo>
                  <a:pt x="8686800" y="946688"/>
                </a:lnTo>
                <a:lnTo>
                  <a:pt x="8636000" y="947233"/>
                </a:lnTo>
                <a:lnTo>
                  <a:pt x="8585200" y="947834"/>
                </a:lnTo>
                <a:lnTo>
                  <a:pt x="8534400" y="948490"/>
                </a:lnTo>
                <a:lnTo>
                  <a:pt x="8483599" y="949202"/>
                </a:lnTo>
                <a:lnTo>
                  <a:pt x="8432800" y="949968"/>
                </a:lnTo>
                <a:lnTo>
                  <a:pt x="8382000" y="950788"/>
                </a:lnTo>
                <a:lnTo>
                  <a:pt x="8331199" y="951662"/>
                </a:lnTo>
                <a:lnTo>
                  <a:pt x="8280400" y="952589"/>
                </a:lnTo>
                <a:lnTo>
                  <a:pt x="8229600" y="953568"/>
                </a:lnTo>
                <a:lnTo>
                  <a:pt x="8178799" y="954599"/>
                </a:lnTo>
                <a:lnTo>
                  <a:pt x="8128000" y="955681"/>
                </a:lnTo>
                <a:lnTo>
                  <a:pt x="8077200" y="956813"/>
                </a:lnTo>
                <a:lnTo>
                  <a:pt x="8026399" y="957994"/>
                </a:lnTo>
                <a:lnTo>
                  <a:pt x="7975600" y="959224"/>
                </a:lnTo>
                <a:lnTo>
                  <a:pt x="7924800" y="960502"/>
                </a:lnTo>
                <a:lnTo>
                  <a:pt x="7873999" y="961827"/>
                </a:lnTo>
                <a:lnTo>
                  <a:pt x="7823200" y="963197"/>
                </a:lnTo>
                <a:lnTo>
                  <a:pt x="7772400" y="964613"/>
                </a:lnTo>
                <a:lnTo>
                  <a:pt x="7721599" y="966073"/>
                </a:lnTo>
                <a:lnTo>
                  <a:pt x="7670800" y="967576"/>
                </a:lnTo>
                <a:lnTo>
                  <a:pt x="7620000" y="969121"/>
                </a:lnTo>
                <a:lnTo>
                  <a:pt x="7569199" y="970706"/>
                </a:lnTo>
                <a:lnTo>
                  <a:pt x="7518400" y="972332"/>
                </a:lnTo>
                <a:lnTo>
                  <a:pt x="7467600" y="973997"/>
                </a:lnTo>
                <a:lnTo>
                  <a:pt x="7416799" y="975699"/>
                </a:lnTo>
                <a:lnTo>
                  <a:pt x="7366000" y="977438"/>
                </a:lnTo>
                <a:lnTo>
                  <a:pt x="7315200" y="979211"/>
                </a:lnTo>
                <a:lnTo>
                  <a:pt x="7264399" y="981019"/>
                </a:lnTo>
                <a:lnTo>
                  <a:pt x="7213600" y="982860"/>
                </a:lnTo>
                <a:lnTo>
                  <a:pt x="7162800" y="984733"/>
                </a:lnTo>
                <a:lnTo>
                  <a:pt x="7112000" y="986635"/>
                </a:lnTo>
                <a:lnTo>
                  <a:pt x="7061200" y="988567"/>
                </a:lnTo>
                <a:lnTo>
                  <a:pt x="7010400" y="990526"/>
                </a:lnTo>
                <a:lnTo>
                  <a:pt x="6959600" y="992512"/>
                </a:lnTo>
                <a:lnTo>
                  <a:pt x="6908800" y="994523"/>
                </a:lnTo>
                <a:lnTo>
                  <a:pt x="6858000" y="996557"/>
                </a:lnTo>
                <a:lnTo>
                  <a:pt x="6807200" y="998613"/>
                </a:lnTo>
                <a:lnTo>
                  <a:pt x="6756400" y="1000690"/>
                </a:lnTo>
                <a:lnTo>
                  <a:pt x="6705600" y="1002787"/>
                </a:lnTo>
                <a:lnTo>
                  <a:pt x="6654800" y="1004901"/>
                </a:lnTo>
                <a:lnTo>
                  <a:pt x="6604000" y="1007032"/>
                </a:lnTo>
                <a:lnTo>
                  <a:pt x="6553200" y="1009178"/>
                </a:lnTo>
                <a:lnTo>
                  <a:pt x="6502400" y="1011337"/>
                </a:lnTo>
                <a:lnTo>
                  <a:pt x="6451600" y="1013508"/>
                </a:lnTo>
                <a:lnTo>
                  <a:pt x="6400800" y="1015690"/>
                </a:lnTo>
                <a:lnTo>
                  <a:pt x="6350000" y="1017881"/>
                </a:lnTo>
                <a:lnTo>
                  <a:pt x="6299200" y="1020080"/>
                </a:lnTo>
                <a:lnTo>
                  <a:pt x="6248400" y="1022285"/>
                </a:lnTo>
                <a:lnTo>
                  <a:pt x="6197600" y="1024494"/>
                </a:lnTo>
                <a:lnTo>
                  <a:pt x="6146800" y="1026706"/>
                </a:lnTo>
                <a:lnTo>
                  <a:pt x="6096000" y="1028920"/>
                </a:lnTo>
                <a:lnTo>
                  <a:pt x="6045200" y="1031133"/>
                </a:lnTo>
                <a:lnTo>
                  <a:pt x="5994400" y="1033346"/>
                </a:lnTo>
                <a:lnTo>
                  <a:pt x="5943600" y="1035555"/>
                </a:lnTo>
                <a:lnTo>
                  <a:pt x="5892800" y="1037760"/>
                </a:lnTo>
                <a:lnTo>
                  <a:pt x="5842000" y="1039958"/>
                </a:lnTo>
                <a:lnTo>
                  <a:pt x="5791200" y="1042149"/>
                </a:lnTo>
                <a:lnTo>
                  <a:pt x="5740400" y="1044331"/>
                </a:lnTo>
                <a:lnTo>
                  <a:pt x="5689600" y="1046503"/>
                </a:lnTo>
                <a:lnTo>
                  <a:pt x="5638800" y="1048662"/>
                </a:lnTo>
                <a:lnTo>
                  <a:pt x="5588000" y="1050808"/>
                </a:lnTo>
                <a:lnTo>
                  <a:pt x="5537200" y="1052939"/>
                </a:lnTo>
                <a:lnTo>
                  <a:pt x="5486400" y="1055053"/>
                </a:lnTo>
                <a:lnTo>
                  <a:pt x="5435600" y="1057149"/>
                </a:lnTo>
                <a:lnTo>
                  <a:pt x="5384800" y="1059226"/>
                </a:lnTo>
                <a:lnTo>
                  <a:pt x="5334000" y="1061283"/>
                </a:lnTo>
                <a:lnTo>
                  <a:pt x="5283200" y="1063317"/>
                </a:lnTo>
                <a:lnTo>
                  <a:pt x="5232400" y="1065328"/>
                </a:lnTo>
                <a:lnTo>
                  <a:pt x="5181600" y="1067313"/>
                </a:lnTo>
                <a:lnTo>
                  <a:pt x="5130800" y="1069272"/>
                </a:lnTo>
                <a:lnTo>
                  <a:pt x="5080000" y="1071204"/>
                </a:lnTo>
                <a:lnTo>
                  <a:pt x="5029200" y="1073107"/>
                </a:lnTo>
                <a:lnTo>
                  <a:pt x="4978400" y="1074979"/>
                </a:lnTo>
                <a:lnTo>
                  <a:pt x="4927599" y="1076820"/>
                </a:lnTo>
                <a:lnTo>
                  <a:pt x="4876800" y="1078628"/>
                </a:lnTo>
                <a:lnTo>
                  <a:pt x="4826000" y="1080402"/>
                </a:lnTo>
                <a:lnTo>
                  <a:pt x="4775199" y="1082141"/>
                </a:lnTo>
                <a:lnTo>
                  <a:pt x="4724400" y="1083843"/>
                </a:lnTo>
                <a:lnTo>
                  <a:pt x="4673600" y="1085507"/>
                </a:lnTo>
                <a:lnTo>
                  <a:pt x="4622799" y="1087133"/>
                </a:lnTo>
                <a:lnTo>
                  <a:pt x="4572000" y="1088719"/>
                </a:lnTo>
                <a:lnTo>
                  <a:pt x="4521200" y="1090264"/>
                </a:lnTo>
                <a:lnTo>
                  <a:pt x="4470399" y="1091767"/>
                </a:lnTo>
                <a:lnTo>
                  <a:pt x="4419600" y="1093226"/>
                </a:lnTo>
                <a:lnTo>
                  <a:pt x="4368800" y="1094642"/>
                </a:lnTo>
                <a:lnTo>
                  <a:pt x="4317999" y="1096013"/>
                </a:lnTo>
                <a:lnTo>
                  <a:pt x="4267200" y="1097337"/>
                </a:lnTo>
                <a:lnTo>
                  <a:pt x="4216400" y="1098615"/>
                </a:lnTo>
                <a:lnTo>
                  <a:pt x="4165599" y="1099845"/>
                </a:lnTo>
                <a:lnTo>
                  <a:pt x="4114800" y="1101026"/>
                </a:lnTo>
                <a:lnTo>
                  <a:pt x="4064000" y="1102158"/>
                </a:lnTo>
                <a:lnTo>
                  <a:pt x="4013199" y="1103240"/>
                </a:lnTo>
                <a:lnTo>
                  <a:pt x="3962400" y="1104271"/>
                </a:lnTo>
                <a:lnTo>
                  <a:pt x="3911600" y="1105250"/>
                </a:lnTo>
                <a:lnTo>
                  <a:pt x="3860799" y="1106177"/>
                </a:lnTo>
                <a:lnTo>
                  <a:pt x="3810000" y="1107051"/>
                </a:lnTo>
                <a:lnTo>
                  <a:pt x="3759200" y="1107871"/>
                </a:lnTo>
                <a:lnTo>
                  <a:pt x="3708399" y="1108638"/>
                </a:lnTo>
                <a:lnTo>
                  <a:pt x="3657600" y="1109349"/>
                </a:lnTo>
                <a:lnTo>
                  <a:pt x="3606800" y="1110006"/>
                </a:lnTo>
                <a:lnTo>
                  <a:pt x="3555999" y="1110607"/>
                </a:lnTo>
                <a:lnTo>
                  <a:pt x="3505200" y="1111152"/>
                </a:lnTo>
                <a:lnTo>
                  <a:pt x="3454400" y="1111640"/>
                </a:lnTo>
                <a:lnTo>
                  <a:pt x="3403599" y="1112072"/>
                </a:lnTo>
                <a:lnTo>
                  <a:pt x="3352800" y="1112447"/>
                </a:lnTo>
                <a:lnTo>
                  <a:pt x="3302000" y="1112765"/>
                </a:lnTo>
                <a:lnTo>
                  <a:pt x="3251199" y="1113025"/>
                </a:lnTo>
                <a:lnTo>
                  <a:pt x="3200400" y="1113228"/>
                </a:lnTo>
                <a:lnTo>
                  <a:pt x="3149600" y="1113373"/>
                </a:lnTo>
                <a:lnTo>
                  <a:pt x="3098799" y="1113460"/>
                </a:lnTo>
                <a:lnTo>
                  <a:pt x="3048000" y="1113489"/>
                </a:lnTo>
                <a:lnTo>
                  <a:pt x="2997200" y="1113460"/>
                </a:lnTo>
                <a:lnTo>
                  <a:pt x="2946399" y="1113373"/>
                </a:lnTo>
                <a:lnTo>
                  <a:pt x="2895600" y="1113228"/>
                </a:lnTo>
                <a:lnTo>
                  <a:pt x="2844800" y="1113025"/>
                </a:lnTo>
                <a:lnTo>
                  <a:pt x="2793999" y="1112765"/>
                </a:lnTo>
                <a:lnTo>
                  <a:pt x="2743200" y="1112447"/>
                </a:lnTo>
                <a:lnTo>
                  <a:pt x="2692400" y="1112072"/>
                </a:lnTo>
                <a:lnTo>
                  <a:pt x="2641599" y="1111640"/>
                </a:lnTo>
                <a:lnTo>
                  <a:pt x="2590800" y="1111152"/>
                </a:lnTo>
                <a:lnTo>
                  <a:pt x="2540000" y="1110607"/>
                </a:lnTo>
                <a:lnTo>
                  <a:pt x="2489199" y="1110006"/>
                </a:lnTo>
                <a:lnTo>
                  <a:pt x="2438400" y="1109349"/>
                </a:lnTo>
                <a:lnTo>
                  <a:pt x="2387600" y="1108638"/>
                </a:lnTo>
                <a:lnTo>
                  <a:pt x="2336799" y="1107871"/>
                </a:lnTo>
                <a:lnTo>
                  <a:pt x="2286000" y="1107051"/>
                </a:lnTo>
                <a:lnTo>
                  <a:pt x="2235200" y="1106177"/>
                </a:lnTo>
                <a:lnTo>
                  <a:pt x="2184399" y="1105250"/>
                </a:lnTo>
                <a:lnTo>
                  <a:pt x="2133600" y="1104271"/>
                </a:lnTo>
                <a:lnTo>
                  <a:pt x="2082800" y="1103240"/>
                </a:lnTo>
                <a:lnTo>
                  <a:pt x="2031999" y="1102158"/>
                </a:lnTo>
                <a:lnTo>
                  <a:pt x="1981200" y="1101026"/>
                </a:lnTo>
                <a:lnTo>
                  <a:pt x="1930400" y="1099845"/>
                </a:lnTo>
                <a:lnTo>
                  <a:pt x="1879599" y="1098615"/>
                </a:lnTo>
                <a:lnTo>
                  <a:pt x="1828800" y="1097337"/>
                </a:lnTo>
                <a:lnTo>
                  <a:pt x="1778000" y="1096013"/>
                </a:lnTo>
                <a:lnTo>
                  <a:pt x="1727199" y="1094642"/>
                </a:lnTo>
                <a:lnTo>
                  <a:pt x="1676400" y="1093226"/>
                </a:lnTo>
                <a:lnTo>
                  <a:pt x="1625600" y="1091767"/>
                </a:lnTo>
                <a:lnTo>
                  <a:pt x="1574799" y="1090264"/>
                </a:lnTo>
                <a:lnTo>
                  <a:pt x="1524000" y="1088719"/>
                </a:lnTo>
                <a:lnTo>
                  <a:pt x="1473200" y="1087133"/>
                </a:lnTo>
                <a:lnTo>
                  <a:pt x="1422399" y="1085507"/>
                </a:lnTo>
                <a:lnTo>
                  <a:pt x="1371600" y="1083843"/>
                </a:lnTo>
                <a:lnTo>
                  <a:pt x="1320800" y="1082141"/>
                </a:lnTo>
                <a:lnTo>
                  <a:pt x="1269999" y="1080402"/>
                </a:lnTo>
                <a:lnTo>
                  <a:pt x="1219200" y="1078628"/>
                </a:lnTo>
                <a:lnTo>
                  <a:pt x="1168400" y="1076820"/>
                </a:lnTo>
                <a:lnTo>
                  <a:pt x="1117599" y="1074979"/>
                </a:lnTo>
                <a:lnTo>
                  <a:pt x="1066800" y="1073107"/>
                </a:lnTo>
                <a:lnTo>
                  <a:pt x="1016000" y="1071204"/>
                </a:lnTo>
                <a:lnTo>
                  <a:pt x="965199" y="1069272"/>
                </a:lnTo>
                <a:lnTo>
                  <a:pt x="914400" y="1067313"/>
                </a:lnTo>
                <a:lnTo>
                  <a:pt x="863600" y="1065328"/>
                </a:lnTo>
                <a:lnTo>
                  <a:pt x="812799" y="1063317"/>
                </a:lnTo>
                <a:lnTo>
                  <a:pt x="762000" y="1061283"/>
                </a:lnTo>
                <a:lnTo>
                  <a:pt x="711200" y="1059226"/>
                </a:lnTo>
                <a:lnTo>
                  <a:pt x="660399" y="1057149"/>
                </a:lnTo>
                <a:lnTo>
                  <a:pt x="609600" y="1055053"/>
                </a:lnTo>
                <a:lnTo>
                  <a:pt x="558800" y="1052939"/>
                </a:lnTo>
                <a:lnTo>
                  <a:pt x="507999" y="1050808"/>
                </a:lnTo>
                <a:lnTo>
                  <a:pt x="457200" y="1048662"/>
                </a:lnTo>
                <a:lnTo>
                  <a:pt x="406400" y="1046503"/>
                </a:lnTo>
                <a:lnTo>
                  <a:pt x="355599" y="1044331"/>
                </a:lnTo>
                <a:lnTo>
                  <a:pt x="304800" y="1042149"/>
                </a:lnTo>
                <a:lnTo>
                  <a:pt x="254000" y="1039958"/>
                </a:lnTo>
                <a:lnTo>
                  <a:pt x="203199" y="1037760"/>
                </a:lnTo>
                <a:lnTo>
                  <a:pt x="152400" y="1035555"/>
                </a:lnTo>
                <a:lnTo>
                  <a:pt x="101600" y="1033346"/>
                </a:lnTo>
                <a:lnTo>
                  <a:pt x="50799" y="1031133"/>
                </a:lnTo>
                <a:lnTo>
                  <a:pt x="0" y="1028920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ヘッダー山1"/>
          <p:cNvSpPr/>
          <p:nvPr/>
        </p:nvSpPr>
        <p:spPr>
          <a:xfrm>
            <a:off x="8315930" y="352369"/>
            <a:ext cx="2078983" cy="591982"/>
          </a:xfrm>
          <a:custGeom>
            <a:avLst/>
            <a:gdLst/>
            <a:ahLst/>
            <a:cxnLst/>
            <a:rect l="l" t="t" r="r" b="b"/>
            <a:pathLst>
              <a:path w="2078983" h="591982">
                <a:moveTo>
                  <a:pt x="0" y="591982"/>
                </a:moveTo>
                <a:lnTo>
                  <a:pt x="1141679" y="0"/>
                </a:lnTo>
                <a:lnTo>
                  <a:pt x="2078983" y="591982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ヘッダー山2"/>
          <p:cNvSpPr/>
          <p:nvPr/>
        </p:nvSpPr>
        <p:spPr>
          <a:xfrm>
            <a:off x="9866358" y="591981"/>
            <a:ext cx="2043746" cy="352370"/>
          </a:xfrm>
          <a:custGeom>
            <a:avLst/>
            <a:gdLst/>
            <a:ahLst/>
            <a:cxnLst/>
            <a:rect l="l" t="t" r="r" b="b"/>
            <a:pathLst>
              <a:path w="2043746" h="352370">
                <a:moveTo>
                  <a:pt x="0" y="352370"/>
                </a:moveTo>
                <a:lnTo>
                  <a:pt x="1021873" y="0"/>
                </a:lnTo>
                <a:lnTo>
                  <a:pt x="2043746" y="35237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451033" y="211421"/>
            <a:ext cx="4933179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4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施策　実習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451033" y="422843"/>
            <a:ext cx="8456878" cy="4933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どうブランドを育てていくか</a:t>
            </a:r>
          </a:p>
        </p:txBody>
      </p:sp>
      <p:sp>
        <p:nvSpPr>
          <p:cNvPr id="6" name="矢印_1から2"/>
          <p:cNvSpPr/>
          <p:nvPr/>
        </p:nvSpPr>
        <p:spPr>
          <a:xfrm>
            <a:off x="4228439" y="1677280"/>
            <a:ext cx="3735121" cy="451033"/>
          </a:xfrm>
          <a:prstGeom prst="rightArrow">
            <a:avLst>
              <a:gd name="adj1" fmla="val 50000"/>
              <a:gd name="adj2" fmla="val 55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矢印_2から3"/>
          <p:cNvSpPr/>
          <p:nvPr/>
        </p:nvSpPr>
        <p:spPr>
          <a:xfrm>
            <a:off x="9711315" y="2579347"/>
            <a:ext cx="394654" cy="944351"/>
          </a:xfrm>
          <a:prstGeom prst="downArrow">
            <a:avLst>
              <a:gd name="adj1" fmla="val 50000"/>
              <a:gd name="adj2" fmla="val 55000"/>
            </a:avLst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矢印_3から4"/>
          <p:cNvSpPr/>
          <p:nvPr/>
        </p:nvSpPr>
        <p:spPr>
          <a:xfrm>
            <a:off x="4228439" y="4045206"/>
            <a:ext cx="3735121" cy="451033"/>
          </a:xfrm>
          <a:prstGeom prst="leftArrow">
            <a:avLst>
              <a:gd name="adj1" fmla="val 50000"/>
              <a:gd name="adj2" fmla="val 55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矢印_4から1"/>
          <p:cNvSpPr/>
          <p:nvPr/>
        </p:nvSpPr>
        <p:spPr>
          <a:xfrm>
            <a:off x="2086030" y="2579347"/>
            <a:ext cx="394654" cy="944351"/>
          </a:xfrm>
          <a:prstGeom prst="upArrow">
            <a:avLst>
              <a:gd name="adj1" fmla="val 50000"/>
              <a:gd name="adj2" fmla="val 55000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循環ラベル"/>
          <p:cNvSpPr txBox="1"/>
          <p:nvPr/>
        </p:nvSpPr>
        <p:spPr>
          <a:xfrm>
            <a:off x="2621632" y="2917623"/>
            <a:ext cx="3241803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次の共育実習につながる</a:t>
            </a:r>
          </a:p>
        </p:txBody>
      </p:sp>
      <p:sp>
        <p:nvSpPr>
          <p:cNvPr id="11" name="広がる輪"/>
          <p:cNvSpPr/>
          <p:nvPr/>
        </p:nvSpPr>
        <p:spPr>
          <a:xfrm>
            <a:off x="5306691" y="2156504"/>
            <a:ext cx="1578617" cy="1578617"/>
          </a:xfrm>
          <a:prstGeom prst="ellipse">
            <a:avLst/>
          </a:prstGeom>
          <a:solidFill>
            <a:srgbClr val="D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広がる輪"/>
          <p:cNvSpPr/>
          <p:nvPr/>
        </p:nvSpPr>
        <p:spPr>
          <a:xfrm>
            <a:off x="5489923" y="2339736"/>
            <a:ext cx="1212152" cy="1212152"/>
          </a:xfrm>
          <a:prstGeom prst="ellipse">
            <a:avLst/>
          </a:prstGeom>
          <a:solidFill>
            <a:srgbClr val="A9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広がる輪"/>
          <p:cNvSpPr/>
          <p:nvPr/>
        </p:nvSpPr>
        <p:spPr>
          <a:xfrm>
            <a:off x="5673156" y="2522968"/>
            <a:ext cx="845687" cy="845687"/>
          </a:xfrm>
          <a:prstGeom prst="ellipse">
            <a:avLst/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中央1"/>
          <p:cNvSpPr txBox="1"/>
          <p:nvPr/>
        </p:nvSpPr>
        <p:spPr>
          <a:xfrm>
            <a:off x="5616776" y="2706201"/>
            <a:ext cx="958446" cy="2396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実習</a:t>
            </a:r>
          </a:p>
        </p:txBody>
      </p:sp>
      <p:sp>
        <p:nvSpPr>
          <p:cNvPr id="15" name="中央2"/>
          <p:cNvSpPr txBox="1"/>
          <p:nvPr/>
        </p:nvSpPr>
        <p:spPr>
          <a:xfrm>
            <a:off x="5616776" y="2917623"/>
            <a:ext cx="958446" cy="2396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ブランド</a:t>
            </a:r>
          </a:p>
        </p:txBody>
      </p:sp>
      <p:sp>
        <p:nvSpPr>
          <p:cNvPr id="16" name="帯"/>
          <p:cNvSpPr/>
          <p:nvPr/>
        </p:nvSpPr>
        <p:spPr>
          <a:xfrm>
            <a:off x="5461734" y="3763310"/>
            <a:ext cx="1268531" cy="239611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帯文字"/>
          <p:cNvSpPr txBox="1"/>
          <p:nvPr/>
        </p:nvSpPr>
        <p:spPr>
          <a:xfrm>
            <a:off x="5461734" y="3763310"/>
            <a:ext cx="1268531" cy="2396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回るほど育つ</a:t>
            </a:r>
          </a:p>
        </p:txBody>
      </p:sp>
      <p:sp>
        <p:nvSpPr>
          <p:cNvPr id="18" name="カード_共育実習を行う"/>
          <p:cNvSpPr/>
          <p:nvPr/>
        </p:nvSpPr>
        <p:spPr>
          <a:xfrm>
            <a:off x="451033" y="1268531"/>
            <a:ext cx="3664647" cy="1198057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"/>
          <p:cNvSpPr/>
          <p:nvPr/>
        </p:nvSpPr>
        <p:spPr>
          <a:xfrm>
            <a:off x="676550" y="1451764"/>
            <a:ext cx="366464" cy="3664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番号文字1"/>
          <p:cNvSpPr txBox="1"/>
          <p:nvPr/>
        </p:nvSpPr>
        <p:spPr>
          <a:xfrm>
            <a:off x="676550" y="1451764"/>
            <a:ext cx="366464" cy="366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22" name="要点_共育実習を行う"/>
          <p:cNvSpPr txBox="1"/>
          <p:nvPr/>
        </p:nvSpPr>
        <p:spPr>
          <a:xfrm>
            <a:off x="1169868" y="1479953"/>
            <a:ext cx="2818959" cy="3100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共育実習を行う</a:t>
            </a:r>
          </a:p>
        </p:txBody>
      </p:sp>
      <p:sp>
        <p:nvSpPr>
          <p:cNvPr id="23" name="説明_共育実習を行う"/>
          <p:cNvSpPr txBox="1"/>
          <p:nvPr/>
        </p:nvSpPr>
        <p:spPr>
          <a:xfrm>
            <a:off x="704739" y="1945082"/>
            <a:ext cx="3312277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高校・専門学校・大学で</a:t>
            </a:r>
          </a:p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共育実習を実施します。</a:t>
            </a:r>
          </a:p>
        </p:txBody>
      </p:sp>
      <p:sp>
        <p:nvSpPr>
          <p:cNvPr id="24" name="カード_声が集まる"/>
          <p:cNvSpPr/>
          <p:nvPr/>
        </p:nvSpPr>
        <p:spPr>
          <a:xfrm>
            <a:off x="8076319" y="1268531"/>
            <a:ext cx="3664647" cy="1198057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番号"/>
          <p:cNvSpPr/>
          <p:nvPr/>
        </p:nvSpPr>
        <p:spPr>
          <a:xfrm>
            <a:off x="8301835" y="1451764"/>
            <a:ext cx="366464" cy="366464"/>
          </a:xfrm>
          <a:prstGeom prst="ellipse">
            <a:avLst/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番号文字2"/>
          <p:cNvSpPr txBox="1"/>
          <p:nvPr/>
        </p:nvSpPr>
        <p:spPr>
          <a:xfrm>
            <a:off x="8301835" y="1451764"/>
            <a:ext cx="366464" cy="366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28" name="要点_声が集まる"/>
          <p:cNvSpPr txBox="1"/>
          <p:nvPr/>
        </p:nvSpPr>
        <p:spPr>
          <a:xfrm>
            <a:off x="8795153" y="1479953"/>
            <a:ext cx="2818959" cy="3100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声が集まる</a:t>
            </a:r>
          </a:p>
        </p:txBody>
      </p:sp>
      <p:sp>
        <p:nvSpPr>
          <p:cNvPr id="29" name="説明_声が集まる"/>
          <p:cNvSpPr txBox="1"/>
          <p:nvPr/>
        </p:nvSpPr>
        <p:spPr>
          <a:xfrm>
            <a:off x="8330025" y="1945082"/>
            <a:ext cx="3312277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学生・先生・社員・</a:t>
            </a:r>
          </a:p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利用者さんの声が集まります。</a:t>
            </a:r>
          </a:p>
        </p:txBody>
      </p:sp>
      <p:sp>
        <p:nvSpPr>
          <p:cNvPr id="30" name="カード_実習サイトに載せる"/>
          <p:cNvSpPr/>
          <p:nvPr/>
        </p:nvSpPr>
        <p:spPr>
          <a:xfrm>
            <a:off x="8076319" y="3636457"/>
            <a:ext cx="3664647" cy="1198057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番号"/>
          <p:cNvSpPr/>
          <p:nvPr/>
        </p:nvSpPr>
        <p:spPr>
          <a:xfrm>
            <a:off x="8301835" y="3819690"/>
            <a:ext cx="366464" cy="36646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番号文字3"/>
          <p:cNvSpPr txBox="1"/>
          <p:nvPr/>
        </p:nvSpPr>
        <p:spPr>
          <a:xfrm>
            <a:off x="8301835" y="3819690"/>
            <a:ext cx="366464" cy="366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34" name="要点_実習サイトに載せる"/>
          <p:cNvSpPr txBox="1"/>
          <p:nvPr/>
        </p:nvSpPr>
        <p:spPr>
          <a:xfrm>
            <a:off x="8795153" y="3847879"/>
            <a:ext cx="2818959" cy="3100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7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実習サイトに載せる</a:t>
            </a:r>
          </a:p>
        </p:txBody>
      </p:sp>
      <p:sp>
        <p:nvSpPr>
          <p:cNvPr id="35" name="説明_実習サイトに載せる"/>
          <p:cNvSpPr txBox="1"/>
          <p:nvPr/>
        </p:nvSpPr>
        <p:spPr>
          <a:xfrm>
            <a:off x="8330025" y="4313008"/>
            <a:ext cx="3312277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プログラム内容と</a:t>
            </a:r>
          </a:p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口コミを掲載します。</a:t>
            </a:r>
          </a:p>
        </p:txBody>
      </p:sp>
      <p:sp>
        <p:nvSpPr>
          <p:cNvPr id="36" name="カード_見て、動く"/>
          <p:cNvSpPr/>
          <p:nvPr/>
        </p:nvSpPr>
        <p:spPr>
          <a:xfrm>
            <a:off x="451033" y="3636457"/>
            <a:ext cx="3664647" cy="1198057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番号"/>
          <p:cNvSpPr/>
          <p:nvPr/>
        </p:nvSpPr>
        <p:spPr>
          <a:xfrm>
            <a:off x="676550" y="3819690"/>
            <a:ext cx="366464" cy="366464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番号文字4"/>
          <p:cNvSpPr txBox="1"/>
          <p:nvPr/>
        </p:nvSpPr>
        <p:spPr>
          <a:xfrm>
            <a:off x="676550" y="3819690"/>
            <a:ext cx="366464" cy="366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40" name="要点_見て、動く"/>
          <p:cNvSpPr txBox="1"/>
          <p:nvPr/>
        </p:nvSpPr>
        <p:spPr>
          <a:xfrm>
            <a:off x="1169868" y="3847879"/>
            <a:ext cx="2818959" cy="3100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見て、動く</a:t>
            </a:r>
          </a:p>
        </p:txBody>
      </p:sp>
      <p:sp>
        <p:nvSpPr>
          <p:cNvPr id="41" name="説明_見て、動く"/>
          <p:cNvSpPr txBox="1"/>
          <p:nvPr/>
        </p:nvSpPr>
        <p:spPr>
          <a:xfrm>
            <a:off x="704739" y="4313008"/>
            <a:ext cx="3312277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学校は受け入れを判断し、</a:t>
            </a:r>
          </a:p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次の学生は参加を決めます。</a:t>
            </a:r>
          </a:p>
        </p:txBody>
      </p:sp>
      <p:sp>
        <p:nvSpPr>
          <p:cNvPr id="42" name="ボックス_サイトに載せるもの"/>
          <p:cNvSpPr/>
          <p:nvPr/>
        </p:nvSpPr>
        <p:spPr>
          <a:xfrm>
            <a:off x="451033" y="5179838"/>
            <a:ext cx="5778867" cy="1057109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51033" y="5363070"/>
            <a:ext cx="56379" cy="690645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サイトに載せるもの_見出し"/>
          <p:cNvSpPr txBox="1"/>
          <p:nvPr/>
        </p:nvSpPr>
        <p:spPr>
          <a:xfrm>
            <a:off x="690645" y="5313738"/>
            <a:ext cx="5356023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サイトに載せるもの</a:t>
            </a:r>
          </a:p>
        </p:txBody>
      </p:sp>
      <p:sp>
        <p:nvSpPr>
          <p:cNvPr id="45" name="サイトに載せるもの_本文"/>
          <p:cNvSpPr txBox="1"/>
          <p:nvPr/>
        </p:nvSpPr>
        <p:spPr>
          <a:xfrm>
            <a:off x="690645" y="5609729"/>
            <a:ext cx="5356023" cy="5637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プログラム内容と口コミ。学校の先生が受け入れを判断でき、</a:t>
            </a:r>
          </a:p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学生が参加を決められる状態にする。</a:t>
            </a:r>
          </a:p>
        </p:txBody>
      </p:sp>
      <p:sp>
        <p:nvSpPr>
          <p:cNvPr id="46" name="ボックス_ほかの施策"/>
          <p:cNvSpPr/>
          <p:nvPr/>
        </p:nvSpPr>
        <p:spPr>
          <a:xfrm>
            <a:off x="6413132" y="5179838"/>
            <a:ext cx="5327833" cy="1057109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413132" y="5363070"/>
            <a:ext cx="56379" cy="690645"/>
          </a:xfrm>
          <a:prstGeom prst="roundRect">
            <a:avLst>
              <a:gd name="adj" fmla="val 50000"/>
            </a:avLst>
          </a:prstGeom>
          <a:solidFill>
            <a:srgbClr val="B8C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ほかの施策_見出し"/>
          <p:cNvSpPr txBox="1"/>
          <p:nvPr/>
        </p:nvSpPr>
        <p:spPr>
          <a:xfrm>
            <a:off x="6652744" y="5313738"/>
            <a:ext cx="4904989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2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ほかの施策</a:t>
            </a:r>
          </a:p>
        </p:txBody>
      </p:sp>
      <p:sp>
        <p:nvSpPr>
          <p:cNvPr id="49" name="ほかの施策_本文"/>
          <p:cNvSpPr txBox="1"/>
          <p:nvPr/>
        </p:nvSpPr>
        <p:spPr>
          <a:xfrm>
            <a:off x="6652744" y="5609729"/>
            <a:ext cx="4904989" cy="5637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・関連大学・専門学校を増やす</a:t>
            </a:r>
          </a:p>
          <a:p>
            <a:pPr algn="l">
              <a:lnSpc>
                <a:spcPct val="120000"/>
              </a:lnSpc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・対応地域</a:t>
            </a:r>
          </a:p>
          <a:p>
            <a:pPr algn="l">
              <a:lnSpc>
                <a:spcPct val="120000"/>
              </a:lnSpc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・産官学で連携（次世代の育成を地域のみなさんで実施）</a:t>
            </a:r>
          </a:p>
        </p:txBody>
      </p:sp>
      <p:sp>
        <p:nvSpPr>
          <p:cNvPr id="50" name="ページ番号"/>
          <p:cNvSpPr txBox="1"/>
          <p:nvPr/>
        </p:nvSpPr>
        <p:spPr>
          <a:xfrm>
            <a:off x="10895278" y="6300374"/>
            <a:ext cx="845687" cy="1832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32">
                <a:solidFill>
                  <a:srgbClr val="8A9A96"/>
                </a:solidFill>
                <a:latin typeface="游ゴシック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5963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113489"/>
          </a:xfrm>
          <a:custGeom>
            <a:avLst/>
            <a:gdLst/>
            <a:ahLst/>
            <a:cxnLst/>
            <a:rect l="l" t="t" r="r" b="b"/>
            <a:pathLst>
              <a:path w="12192000" h="1113489">
                <a:moveTo>
                  <a:pt x="0" y="0"/>
                </a:moveTo>
                <a:lnTo>
                  <a:pt x="12192000" y="0"/>
                </a:lnTo>
                <a:lnTo>
                  <a:pt x="12192000" y="1028920"/>
                </a:lnTo>
                <a:lnTo>
                  <a:pt x="12141200" y="1026706"/>
                </a:lnTo>
                <a:lnTo>
                  <a:pt x="12090400" y="1024494"/>
                </a:lnTo>
                <a:lnTo>
                  <a:pt x="12039600" y="1022285"/>
                </a:lnTo>
                <a:lnTo>
                  <a:pt x="11988800" y="1020080"/>
                </a:lnTo>
                <a:lnTo>
                  <a:pt x="11938000" y="1017881"/>
                </a:lnTo>
                <a:lnTo>
                  <a:pt x="11887200" y="1015690"/>
                </a:lnTo>
                <a:lnTo>
                  <a:pt x="11836400" y="1013508"/>
                </a:lnTo>
                <a:lnTo>
                  <a:pt x="11785600" y="1011337"/>
                </a:lnTo>
                <a:lnTo>
                  <a:pt x="11734800" y="1009178"/>
                </a:lnTo>
                <a:lnTo>
                  <a:pt x="11684000" y="1007032"/>
                </a:lnTo>
                <a:lnTo>
                  <a:pt x="11633200" y="1004901"/>
                </a:lnTo>
                <a:lnTo>
                  <a:pt x="11582400" y="1002787"/>
                </a:lnTo>
                <a:lnTo>
                  <a:pt x="11531600" y="1000690"/>
                </a:lnTo>
                <a:lnTo>
                  <a:pt x="11480800" y="998613"/>
                </a:lnTo>
                <a:lnTo>
                  <a:pt x="11430000" y="996557"/>
                </a:lnTo>
                <a:lnTo>
                  <a:pt x="11379200" y="994523"/>
                </a:lnTo>
                <a:lnTo>
                  <a:pt x="11328400" y="992512"/>
                </a:lnTo>
                <a:lnTo>
                  <a:pt x="11277600" y="990526"/>
                </a:lnTo>
                <a:lnTo>
                  <a:pt x="11226800" y="988567"/>
                </a:lnTo>
                <a:lnTo>
                  <a:pt x="11176000" y="986635"/>
                </a:lnTo>
                <a:lnTo>
                  <a:pt x="11125200" y="984733"/>
                </a:lnTo>
                <a:lnTo>
                  <a:pt x="11074400" y="982860"/>
                </a:lnTo>
                <a:lnTo>
                  <a:pt x="11023600" y="981019"/>
                </a:lnTo>
                <a:lnTo>
                  <a:pt x="10972800" y="979211"/>
                </a:lnTo>
                <a:lnTo>
                  <a:pt x="10922000" y="977438"/>
                </a:lnTo>
                <a:lnTo>
                  <a:pt x="10871200" y="975699"/>
                </a:lnTo>
                <a:lnTo>
                  <a:pt x="10820400" y="973997"/>
                </a:lnTo>
                <a:lnTo>
                  <a:pt x="10769600" y="972332"/>
                </a:lnTo>
                <a:lnTo>
                  <a:pt x="10718800" y="970706"/>
                </a:lnTo>
                <a:lnTo>
                  <a:pt x="10668000" y="969121"/>
                </a:lnTo>
                <a:lnTo>
                  <a:pt x="10617200" y="967576"/>
                </a:lnTo>
                <a:lnTo>
                  <a:pt x="10566400" y="966073"/>
                </a:lnTo>
                <a:lnTo>
                  <a:pt x="10515600" y="964613"/>
                </a:lnTo>
                <a:lnTo>
                  <a:pt x="10464800" y="963197"/>
                </a:lnTo>
                <a:lnTo>
                  <a:pt x="10414000" y="961827"/>
                </a:lnTo>
                <a:lnTo>
                  <a:pt x="10363200" y="960502"/>
                </a:lnTo>
                <a:lnTo>
                  <a:pt x="10312400" y="959224"/>
                </a:lnTo>
                <a:lnTo>
                  <a:pt x="10261600" y="957994"/>
                </a:lnTo>
                <a:lnTo>
                  <a:pt x="10210800" y="956813"/>
                </a:lnTo>
                <a:lnTo>
                  <a:pt x="10160000" y="955681"/>
                </a:lnTo>
                <a:lnTo>
                  <a:pt x="10109200" y="954599"/>
                </a:lnTo>
                <a:lnTo>
                  <a:pt x="10058400" y="953568"/>
                </a:lnTo>
                <a:lnTo>
                  <a:pt x="10007600" y="952589"/>
                </a:lnTo>
                <a:lnTo>
                  <a:pt x="9956800" y="951662"/>
                </a:lnTo>
                <a:lnTo>
                  <a:pt x="9906000" y="950788"/>
                </a:lnTo>
                <a:lnTo>
                  <a:pt x="9855200" y="949968"/>
                </a:lnTo>
                <a:lnTo>
                  <a:pt x="9804400" y="949202"/>
                </a:lnTo>
                <a:lnTo>
                  <a:pt x="9753600" y="948490"/>
                </a:lnTo>
                <a:lnTo>
                  <a:pt x="9702800" y="947834"/>
                </a:lnTo>
                <a:lnTo>
                  <a:pt x="9652000" y="947233"/>
                </a:lnTo>
                <a:lnTo>
                  <a:pt x="9601200" y="946688"/>
                </a:lnTo>
                <a:lnTo>
                  <a:pt x="9550400" y="946199"/>
                </a:lnTo>
                <a:lnTo>
                  <a:pt x="9499600" y="945767"/>
                </a:lnTo>
                <a:lnTo>
                  <a:pt x="9448800" y="945392"/>
                </a:lnTo>
                <a:lnTo>
                  <a:pt x="9398000" y="945074"/>
                </a:lnTo>
                <a:lnTo>
                  <a:pt x="9347200" y="944814"/>
                </a:lnTo>
                <a:lnTo>
                  <a:pt x="9296400" y="944612"/>
                </a:lnTo>
                <a:lnTo>
                  <a:pt x="9245600" y="944467"/>
                </a:lnTo>
                <a:lnTo>
                  <a:pt x="9194800" y="944380"/>
                </a:lnTo>
                <a:lnTo>
                  <a:pt x="9144000" y="944351"/>
                </a:lnTo>
                <a:lnTo>
                  <a:pt x="9093200" y="944380"/>
                </a:lnTo>
                <a:lnTo>
                  <a:pt x="9042400" y="944467"/>
                </a:lnTo>
                <a:lnTo>
                  <a:pt x="8991600" y="944612"/>
                </a:lnTo>
                <a:lnTo>
                  <a:pt x="8940800" y="944814"/>
                </a:lnTo>
                <a:lnTo>
                  <a:pt x="8890000" y="945074"/>
                </a:lnTo>
                <a:lnTo>
                  <a:pt x="8839200" y="945392"/>
                </a:lnTo>
                <a:lnTo>
                  <a:pt x="8788400" y="945767"/>
                </a:lnTo>
                <a:lnTo>
                  <a:pt x="8737600" y="946199"/>
                </a:lnTo>
                <a:lnTo>
                  <a:pt x="8686800" y="946688"/>
                </a:lnTo>
                <a:lnTo>
                  <a:pt x="8636000" y="947233"/>
                </a:lnTo>
                <a:lnTo>
                  <a:pt x="8585200" y="947834"/>
                </a:lnTo>
                <a:lnTo>
                  <a:pt x="8534400" y="948490"/>
                </a:lnTo>
                <a:lnTo>
                  <a:pt x="8483599" y="949202"/>
                </a:lnTo>
                <a:lnTo>
                  <a:pt x="8432800" y="949968"/>
                </a:lnTo>
                <a:lnTo>
                  <a:pt x="8382000" y="950788"/>
                </a:lnTo>
                <a:lnTo>
                  <a:pt x="8331199" y="951662"/>
                </a:lnTo>
                <a:lnTo>
                  <a:pt x="8280400" y="952589"/>
                </a:lnTo>
                <a:lnTo>
                  <a:pt x="8229600" y="953568"/>
                </a:lnTo>
                <a:lnTo>
                  <a:pt x="8178799" y="954599"/>
                </a:lnTo>
                <a:lnTo>
                  <a:pt x="8128000" y="955681"/>
                </a:lnTo>
                <a:lnTo>
                  <a:pt x="8077200" y="956813"/>
                </a:lnTo>
                <a:lnTo>
                  <a:pt x="8026399" y="957994"/>
                </a:lnTo>
                <a:lnTo>
                  <a:pt x="7975600" y="959224"/>
                </a:lnTo>
                <a:lnTo>
                  <a:pt x="7924800" y="960502"/>
                </a:lnTo>
                <a:lnTo>
                  <a:pt x="7873999" y="961827"/>
                </a:lnTo>
                <a:lnTo>
                  <a:pt x="7823200" y="963197"/>
                </a:lnTo>
                <a:lnTo>
                  <a:pt x="7772400" y="964613"/>
                </a:lnTo>
                <a:lnTo>
                  <a:pt x="7721599" y="966073"/>
                </a:lnTo>
                <a:lnTo>
                  <a:pt x="7670800" y="967576"/>
                </a:lnTo>
                <a:lnTo>
                  <a:pt x="7620000" y="969121"/>
                </a:lnTo>
                <a:lnTo>
                  <a:pt x="7569199" y="970706"/>
                </a:lnTo>
                <a:lnTo>
                  <a:pt x="7518400" y="972332"/>
                </a:lnTo>
                <a:lnTo>
                  <a:pt x="7467600" y="973997"/>
                </a:lnTo>
                <a:lnTo>
                  <a:pt x="7416799" y="975699"/>
                </a:lnTo>
                <a:lnTo>
                  <a:pt x="7366000" y="977438"/>
                </a:lnTo>
                <a:lnTo>
                  <a:pt x="7315200" y="979211"/>
                </a:lnTo>
                <a:lnTo>
                  <a:pt x="7264399" y="981019"/>
                </a:lnTo>
                <a:lnTo>
                  <a:pt x="7213600" y="982860"/>
                </a:lnTo>
                <a:lnTo>
                  <a:pt x="7162800" y="984733"/>
                </a:lnTo>
                <a:lnTo>
                  <a:pt x="7112000" y="986635"/>
                </a:lnTo>
                <a:lnTo>
                  <a:pt x="7061200" y="988567"/>
                </a:lnTo>
                <a:lnTo>
                  <a:pt x="7010400" y="990526"/>
                </a:lnTo>
                <a:lnTo>
                  <a:pt x="6959600" y="992512"/>
                </a:lnTo>
                <a:lnTo>
                  <a:pt x="6908800" y="994523"/>
                </a:lnTo>
                <a:lnTo>
                  <a:pt x="6858000" y="996557"/>
                </a:lnTo>
                <a:lnTo>
                  <a:pt x="6807200" y="998613"/>
                </a:lnTo>
                <a:lnTo>
                  <a:pt x="6756400" y="1000690"/>
                </a:lnTo>
                <a:lnTo>
                  <a:pt x="6705600" y="1002787"/>
                </a:lnTo>
                <a:lnTo>
                  <a:pt x="6654800" y="1004901"/>
                </a:lnTo>
                <a:lnTo>
                  <a:pt x="6604000" y="1007032"/>
                </a:lnTo>
                <a:lnTo>
                  <a:pt x="6553200" y="1009178"/>
                </a:lnTo>
                <a:lnTo>
                  <a:pt x="6502400" y="1011337"/>
                </a:lnTo>
                <a:lnTo>
                  <a:pt x="6451600" y="1013508"/>
                </a:lnTo>
                <a:lnTo>
                  <a:pt x="6400800" y="1015690"/>
                </a:lnTo>
                <a:lnTo>
                  <a:pt x="6350000" y="1017881"/>
                </a:lnTo>
                <a:lnTo>
                  <a:pt x="6299200" y="1020080"/>
                </a:lnTo>
                <a:lnTo>
                  <a:pt x="6248400" y="1022285"/>
                </a:lnTo>
                <a:lnTo>
                  <a:pt x="6197600" y="1024494"/>
                </a:lnTo>
                <a:lnTo>
                  <a:pt x="6146800" y="1026706"/>
                </a:lnTo>
                <a:lnTo>
                  <a:pt x="6096000" y="1028920"/>
                </a:lnTo>
                <a:lnTo>
                  <a:pt x="6045200" y="1031133"/>
                </a:lnTo>
                <a:lnTo>
                  <a:pt x="5994400" y="1033346"/>
                </a:lnTo>
                <a:lnTo>
                  <a:pt x="5943600" y="1035555"/>
                </a:lnTo>
                <a:lnTo>
                  <a:pt x="5892800" y="1037760"/>
                </a:lnTo>
                <a:lnTo>
                  <a:pt x="5842000" y="1039958"/>
                </a:lnTo>
                <a:lnTo>
                  <a:pt x="5791200" y="1042149"/>
                </a:lnTo>
                <a:lnTo>
                  <a:pt x="5740400" y="1044331"/>
                </a:lnTo>
                <a:lnTo>
                  <a:pt x="5689600" y="1046503"/>
                </a:lnTo>
                <a:lnTo>
                  <a:pt x="5638800" y="1048662"/>
                </a:lnTo>
                <a:lnTo>
                  <a:pt x="5588000" y="1050808"/>
                </a:lnTo>
                <a:lnTo>
                  <a:pt x="5537200" y="1052939"/>
                </a:lnTo>
                <a:lnTo>
                  <a:pt x="5486400" y="1055053"/>
                </a:lnTo>
                <a:lnTo>
                  <a:pt x="5435600" y="1057149"/>
                </a:lnTo>
                <a:lnTo>
                  <a:pt x="5384800" y="1059226"/>
                </a:lnTo>
                <a:lnTo>
                  <a:pt x="5334000" y="1061283"/>
                </a:lnTo>
                <a:lnTo>
                  <a:pt x="5283200" y="1063317"/>
                </a:lnTo>
                <a:lnTo>
                  <a:pt x="5232400" y="1065328"/>
                </a:lnTo>
                <a:lnTo>
                  <a:pt x="5181600" y="1067313"/>
                </a:lnTo>
                <a:lnTo>
                  <a:pt x="5130800" y="1069272"/>
                </a:lnTo>
                <a:lnTo>
                  <a:pt x="5080000" y="1071204"/>
                </a:lnTo>
                <a:lnTo>
                  <a:pt x="5029200" y="1073107"/>
                </a:lnTo>
                <a:lnTo>
                  <a:pt x="4978400" y="1074979"/>
                </a:lnTo>
                <a:lnTo>
                  <a:pt x="4927599" y="1076820"/>
                </a:lnTo>
                <a:lnTo>
                  <a:pt x="4876800" y="1078628"/>
                </a:lnTo>
                <a:lnTo>
                  <a:pt x="4826000" y="1080402"/>
                </a:lnTo>
                <a:lnTo>
                  <a:pt x="4775199" y="1082141"/>
                </a:lnTo>
                <a:lnTo>
                  <a:pt x="4724400" y="1083843"/>
                </a:lnTo>
                <a:lnTo>
                  <a:pt x="4673600" y="1085507"/>
                </a:lnTo>
                <a:lnTo>
                  <a:pt x="4622799" y="1087133"/>
                </a:lnTo>
                <a:lnTo>
                  <a:pt x="4572000" y="1088719"/>
                </a:lnTo>
                <a:lnTo>
                  <a:pt x="4521200" y="1090264"/>
                </a:lnTo>
                <a:lnTo>
                  <a:pt x="4470399" y="1091767"/>
                </a:lnTo>
                <a:lnTo>
                  <a:pt x="4419600" y="1093226"/>
                </a:lnTo>
                <a:lnTo>
                  <a:pt x="4368800" y="1094642"/>
                </a:lnTo>
                <a:lnTo>
                  <a:pt x="4317999" y="1096013"/>
                </a:lnTo>
                <a:lnTo>
                  <a:pt x="4267200" y="1097337"/>
                </a:lnTo>
                <a:lnTo>
                  <a:pt x="4216400" y="1098615"/>
                </a:lnTo>
                <a:lnTo>
                  <a:pt x="4165599" y="1099845"/>
                </a:lnTo>
                <a:lnTo>
                  <a:pt x="4114800" y="1101026"/>
                </a:lnTo>
                <a:lnTo>
                  <a:pt x="4064000" y="1102158"/>
                </a:lnTo>
                <a:lnTo>
                  <a:pt x="4013199" y="1103240"/>
                </a:lnTo>
                <a:lnTo>
                  <a:pt x="3962400" y="1104271"/>
                </a:lnTo>
                <a:lnTo>
                  <a:pt x="3911600" y="1105250"/>
                </a:lnTo>
                <a:lnTo>
                  <a:pt x="3860799" y="1106177"/>
                </a:lnTo>
                <a:lnTo>
                  <a:pt x="3810000" y="1107051"/>
                </a:lnTo>
                <a:lnTo>
                  <a:pt x="3759200" y="1107871"/>
                </a:lnTo>
                <a:lnTo>
                  <a:pt x="3708399" y="1108638"/>
                </a:lnTo>
                <a:lnTo>
                  <a:pt x="3657600" y="1109349"/>
                </a:lnTo>
                <a:lnTo>
                  <a:pt x="3606800" y="1110006"/>
                </a:lnTo>
                <a:lnTo>
                  <a:pt x="3555999" y="1110607"/>
                </a:lnTo>
                <a:lnTo>
                  <a:pt x="3505200" y="1111152"/>
                </a:lnTo>
                <a:lnTo>
                  <a:pt x="3454400" y="1111640"/>
                </a:lnTo>
                <a:lnTo>
                  <a:pt x="3403599" y="1112072"/>
                </a:lnTo>
                <a:lnTo>
                  <a:pt x="3352800" y="1112447"/>
                </a:lnTo>
                <a:lnTo>
                  <a:pt x="3302000" y="1112765"/>
                </a:lnTo>
                <a:lnTo>
                  <a:pt x="3251199" y="1113025"/>
                </a:lnTo>
                <a:lnTo>
                  <a:pt x="3200400" y="1113228"/>
                </a:lnTo>
                <a:lnTo>
                  <a:pt x="3149600" y="1113373"/>
                </a:lnTo>
                <a:lnTo>
                  <a:pt x="3098799" y="1113460"/>
                </a:lnTo>
                <a:lnTo>
                  <a:pt x="3048000" y="1113489"/>
                </a:lnTo>
                <a:lnTo>
                  <a:pt x="2997200" y="1113460"/>
                </a:lnTo>
                <a:lnTo>
                  <a:pt x="2946399" y="1113373"/>
                </a:lnTo>
                <a:lnTo>
                  <a:pt x="2895600" y="1113228"/>
                </a:lnTo>
                <a:lnTo>
                  <a:pt x="2844800" y="1113025"/>
                </a:lnTo>
                <a:lnTo>
                  <a:pt x="2793999" y="1112765"/>
                </a:lnTo>
                <a:lnTo>
                  <a:pt x="2743200" y="1112447"/>
                </a:lnTo>
                <a:lnTo>
                  <a:pt x="2692400" y="1112072"/>
                </a:lnTo>
                <a:lnTo>
                  <a:pt x="2641599" y="1111640"/>
                </a:lnTo>
                <a:lnTo>
                  <a:pt x="2590800" y="1111152"/>
                </a:lnTo>
                <a:lnTo>
                  <a:pt x="2540000" y="1110607"/>
                </a:lnTo>
                <a:lnTo>
                  <a:pt x="2489199" y="1110006"/>
                </a:lnTo>
                <a:lnTo>
                  <a:pt x="2438400" y="1109349"/>
                </a:lnTo>
                <a:lnTo>
                  <a:pt x="2387600" y="1108638"/>
                </a:lnTo>
                <a:lnTo>
                  <a:pt x="2336799" y="1107871"/>
                </a:lnTo>
                <a:lnTo>
                  <a:pt x="2286000" y="1107051"/>
                </a:lnTo>
                <a:lnTo>
                  <a:pt x="2235200" y="1106177"/>
                </a:lnTo>
                <a:lnTo>
                  <a:pt x="2184399" y="1105250"/>
                </a:lnTo>
                <a:lnTo>
                  <a:pt x="2133600" y="1104271"/>
                </a:lnTo>
                <a:lnTo>
                  <a:pt x="2082800" y="1103240"/>
                </a:lnTo>
                <a:lnTo>
                  <a:pt x="2031999" y="1102158"/>
                </a:lnTo>
                <a:lnTo>
                  <a:pt x="1981200" y="1101026"/>
                </a:lnTo>
                <a:lnTo>
                  <a:pt x="1930400" y="1099845"/>
                </a:lnTo>
                <a:lnTo>
                  <a:pt x="1879599" y="1098615"/>
                </a:lnTo>
                <a:lnTo>
                  <a:pt x="1828800" y="1097337"/>
                </a:lnTo>
                <a:lnTo>
                  <a:pt x="1778000" y="1096013"/>
                </a:lnTo>
                <a:lnTo>
                  <a:pt x="1727199" y="1094642"/>
                </a:lnTo>
                <a:lnTo>
                  <a:pt x="1676400" y="1093226"/>
                </a:lnTo>
                <a:lnTo>
                  <a:pt x="1625600" y="1091767"/>
                </a:lnTo>
                <a:lnTo>
                  <a:pt x="1574799" y="1090264"/>
                </a:lnTo>
                <a:lnTo>
                  <a:pt x="1524000" y="1088719"/>
                </a:lnTo>
                <a:lnTo>
                  <a:pt x="1473200" y="1087133"/>
                </a:lnTo>
                <a:lnTo>
                  <a:pt x="1422399" y="1085507"/>
                </a:lnTo>
                <a:lnTo>
                  <a:pt x="1371600" y="1083843"/>
                </a:lnTo>
                <a:lnTo>
                  <a:pt x="1320800" y="1082141"/>
                </a:lnTo>
                <a:lnTo>
                  <a:pt x="1269999" y="1080402"/>
                </a:lnTo>
                <a:lnTo>
                  <a:pt x="1219200" y="1078628"/>
                </a:lnTo>
                <a:lnTo>
                  <a:pt x="1168400" y="1076820"/>
                </a:lnTo>
                <a:lnTo>
                  <a:pt x="1117599" y="1074979"/>
                </a:lnTo>
                <a:lnTo>
                  <a:pt x="1066800" y="1073107"/>
                </a:lnTo>
                <a:lnTo>
                  <a:pt x="1016000" y="1071204"/>
                </a:lnTo>
                <a:lnTo>
                  <a:pt x="965199" y="1069272"/>
                </a:lnTo>
                <a:lnTo>
                  <a:pt x="914400" y="1067313"/>
                </a:lnTo>
                <a:lnTo>
                  <a:pt x="863600" y="1065328"/>
                </a:lnTo>
                <a:lnTo>
                  <a:pt x="812799" y="1063317"/>
                </a:lnTo>
                <a:lnTo>
                  <a:pt x="762000" y="1061283"/>
                </a:lnTo>
                <a:lnTo>
                  <a:pt x="711200" y="1059226"/>
                </a:lnTo>
                <a:lnTo>
                  <a:pt x="660399" y="1057149"/>
                </a:lnTo>
                <a:lnTo>
                  <a:pt x="609600" y="1055053"/>
                </a:lnTo>
                <a:lnTo>
                  <a:pt x="558800" y="1052939"/>
                </a:lnTo>
                <a:lnTo>
                  <a:pt x="507999" y="1050808"/>
                </a:lnTo>
                <a:lnTo>
                  <a:pt x="457200" y="1048662"/>
                </a:lnTo>
                <a:lnTo>
                  <a:pt x="406400" y="1046503"/>
                </a:lnTo>
                <a:lnTo>
                  <a:pt x="355599" y="1044331"/>
                </a:lnTo>
                <a:lnTo>
                  <a:pt x="304800" y="1042149"/>
                </a:lnTo>
                <a:lnTo>
                  <a:pt x="254000" y="1039958"/>
                </a:lnTo>
                <a:lnTo>
                  <a:pt x="203199" y="1037760"/>
                </a:lnTo>
                <a:lnTo>
                  <a:pt x="152400" y="1035555"/>
                </a:lnTo>
                <a:lnTo>
                  <a:pt x="101600" y="1033346"/>
                </a:lnTo>
                <a:lnTo>
                  <a:pt x="50799" y="1031133"/>
                </a:lnTo>
                <a:lnTo>
                  <a:pt x="0" y="1028920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ヘッダー山1"/>
          <p:cNvSpPr/>
          <p:nvPr/>
        </p:nvSpPr>
        <p:spPr>
          <a:xfrm>
            <a:off x="8315930" y="352369"/>
            <a:ext cx="2078983" cy="591982"/>
          </a:xfrm>
          <a:custGeom>
            <a:avLst/>
            <a:gdLst/>
            <a:ahLst/>
            <a:cxnLst/>
            <a:rect l="l" t="t" r="r" b="b"/>
            <a:pathLst>
              <a:path w="2078983" h="591982">
                <a:moveTo>
                  <a:pt x="0" y="591982"/>
                </a:moveTo>
                <a:lnTo>
                  <a:pt x="1141679" y="0"/>
                </a:lnTo>
                <a:lnTo>
                  <a:pt x="2078983" y="591982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ヘッダー山2"/>
          <p:cNvSpPr/>
          <p:nvPr/>
        </p:nvSpPr>
        <p:spPr>
          <a:xfrm>
            <a:off x="9866358" y="591981"/>
            <a:ext cx="2043746" cy="352370"/>
          </a:xfrm>
          <a:custGeom>
            <a:avLst/>
            <a:gdLst/>
            <a:ahLst/>
            <a:cxnLst/>
            <a:rect l="l" t="t" r="r" b="b"/>
            <a:pathLst>
              <a:path w="2043746" h="352370">
                <a:moveTo>
                  <a:pt x="0" y="352370"/>
                </a:moveTo>
                <a:lnTo>
                  <a:pt x="1021873" y="0"/>
                </a:lnTo>
                <a:lnTo>
                  <a:pt x="2043746" y="35237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451033" y="211421"/>
            <a:ext cx="6342658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4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実習応募サイト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451033" y="422843"/>
            <a:ext cx="10571098" cy="4933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実習応募サイトの全体像</a:t>
            </a:r>
          </a:p>
        </p:txBody>
      </p:sp>
      <p:sp>
        <p:nvSpPr>
          <p:cNvPr id="6" name="コンセプト"/>
          <p:cNvSpPr/>
          <p:nvPr/>
        </p:nvSpPr>
        <p:spPr>
          <a:xfrm>
            <a:off x="451033" y="1268531"/>
            <a:ext cx="4933179" cy="3100855"/>
          </a:xfrm>
          <a:prstGeom prst="roundRect">
            <a:avLst>
              <a:gd name="adj" fmla="val 7000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英字"/>
          <p:cNvSpPr txBox="1"/>
          <p:nvPr/>
        </p:nvSpPr>
        <p:spPr>
          <a:xfrm>
            <a:off x="732929" y="1451764"/>
            <a:ext cx="4369387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600">
                <a:solidFill>
                  <a:srgbClr val="D9F6EE"/>
                </a:solidFill>
                <a:latin typeface="游ゴシック"/>
                <a:ea typeface="游ゴシック"/>
                <a:cs typeface="游ゴシック"/>
              </a:rPr>
              <a:t>CARE PRACTICE</a:t>
            </a:r>
          </a:p>
        </p:txBody>
      </p:sp>
      <p:sp>
        <p:nvSpPr>
          <p:cNvPr id="8" name="コピー1"/>
          <p:cNvSpPr txBox="1"/>
          <p:nvPr/>
        </p:nvSpPr>
        <p:spPr>
          <a:xfrm>
            <a:off x="732929" y="1691375"/>
            <a:ext cx="4369387" cy="634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32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FUN LIFE!</a:t>
            </a:r>
          </a:p>
        </p:txBody>
      </p:sp>
      <p:sp>
        <p:nvSpPr>
          <p:cNvPr id="9" name="コピー2"/>
          <p:cNvSpPr txBox="1"/>
          <p:nvPr/>
        </p:nvSpPr>
        <p:spPr>
          <a:xfrm>
            <a:off x="732929" y="2297452"/>
            <a:ext cx="4369387" cy="634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328" b="1">
                <a:solidFill>
                  <a:srgbClr val="FFE08A"/>
                </a:solidFill>
                <a:latin typeface="游ゴシック"/>
                <a:ea typeface="游ゴシック"/>
                <a:cs typeface="游ゴシック"/>
              </a:rPr>
              <a:t>FUN LOCAL!</a:t>
            </a:r>
          </a:p>
        </p:txBody>
      </p:sp>
      <p:sp>
        <p:nvSpPr>
          <p:cNvPr id="10" name="サブコピー"/>
          <p:cNvSpPr txBox="1"/>
          <p:nvPr/>
        </p:nvSpPr>
        <p:spPr>
          <a:xfrm>
            <a:off x="732929" y="3044476"/>
            <a:ext cx="4369387" cy="281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生きがい、持ち寄る。地域の未来。</a:t>
            </a:r>
          </a:p>
        </p:txBody>
      </p:sp>
      <p:sp>
        <p:nvSpPr>
          <p:cNvPr id="11" name="メッセージ"/>
          <p:cNvSpPr txBox="1"/>
          <p:nvPr/>
        </p:nvSpPr>
        <p:spPr>
          <a:xfrm>
            <a:off x="732929" y="3481415"/>
            <a:ext cx="4369387" cy="775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65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介護や老後の話は、なんだか暗い。</a:t>
            </a:r>
          </a:p>
          <a:p>
            <a:pPr algn="l">
              <a:lnSpc>
                <a:spcPct val="125000"/>
              </a:lnSpc>
            </a:pPr>
            <a:r>
              <a:rPr sz="1165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そんなイメージを、一緒にひっくり返したい。</a:t>
            </a:r>
          </a:p>
          <a:p>
            <a:pPr algn="l">
              <a:lnSpc>
                <a:spcPct val="125000"/>
              </a:lnSpc>
            </a:pPr>
            <a:r>
              <a:rPr sz="1165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日本一長寿の県・長野から、最高に楽しい仕事を。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37919" y="1268531"/>
            <a:ext cx="2889433" cy="1423574"/>
          </a:xfrm>
          <a:prstGeom prst="roundRect">
            <a:avLst>
              <a:gd name="adj" fmla="val 990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ラベル_目的"/>
          <p:cNvSpPr txBox="1"/>
          <p:nvPr/>
        </p:nvSpPr>
        <p:spPr>
          <a:xfrm>
            <a:off x="5891625" y="1451764"/>
            <a:ext cx="2396115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2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目的</a:t>
            </a:r>
          </a:p>
        </p:txBody>
      </p:sp>
      <p:sp>
        <p:nvSpPr>
          <p:cNvPr id="15" name="値_目的"/>
          <p:cNvSpPr txBox="1"/>
          <p:nvPr/>
        </p:nvSpPr>
        <p:spPr>
          <a:xfrm>
            <a:off x="5891625" y="1733660"/>
            <a:ext cx="2466589" cy="775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介護の現場を実際に体験し、</a:t>
            </a:r>
          </a:p>
          <a:p>
            <a:pPr algn="l">
              <a:lnSpc>
                <a:spcPct val="12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仕事のイメージをつかむ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96490" y="1268531"/>
            <a:ext cx="2889433" cy="1423574"/>
          </a:xfrm>
          <a:prstGeom prst="roundRect">
            <a:avLst>
              <a:gd name="adj" fmla="val 990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ラベル_対象"/>
          <p:cNvSpPr txBox="1"/>
          <p:nvPr/>
        </p:nvSpPr>
        <p:spPr>
          <a:xfrm>
            <a:off x="8950196" y="1451764"/>
            <a:ext cx="2396115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2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対象</a:t>
            </a:r>
          </a:p>
        </p:txBody>
      </p:sp>
      <p:sp>
        <p:nvSpPr>
          <p:cNvPr id="19" name="値_対象"/>
          <p:cNvSpPr txBox="1"/>
          <p:nvPr/>
        </p:nvSpPr>
        <p:spPr>
          <a:xfrm>
            <a:off x="8950196" y="1733660"/>
            <a:ext cx="2466589" cy="775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学生のみなさん</a:t>
            </a:r>
          </a:p>
          <a:p>
            <a:pPr algn="l">
              <a:lnSpc>
                <a:spcPct val="125000"/>
              </a:lnSpc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保護者・先生もご覧ください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37919" y="2861243"/>
            <a:ext cx="2889433" cy="1423574"/>
          </a:xfrm>
          <a:prstGeom prst="roundRect">
            <a:avLst>
              <a:gd name="adj" fmla="val 990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ラベル_費用"/>
          <p:cNvSpPr txBox="1"/>
          <p:nvPr/>
        </p:nvSpPr>
        <p:spPr>
          <a:xfrm>
            <a:off x="5891625" y="3044476"/>
            <a:ext cx="2396115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2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費用</a:t>
            </a:r>
          </a:p>
        </p:txBody>
      </p:sp>
      <p:sp>
        <p:nvSpPr>
          <p:cNvPr id="23" name="値_費用"/>
          <p:cNvSpPr txBox="1"/>
          <p:nvPr/>
        </p:nvSpPr>
        <p:spPr>
          <a:xfrm>
            <a:off x="5891625" y="3298182"/>
            <a:ext cx="2396115" cy="5637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551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無償</a:t>
            </a:r>
          </a:p>
        </p:txBody>
      </p:sp>
      <p:sp>
        <p:nvSpPr>
          <p:cNvPr id="24" name="値_費用補足"/>
          <p:cNvSpPr txBox="1"/>
          <p:nvPr/>
        </p:nvSpPr>
        <p:spPr>
          <a:xfrm>
            <a:off x="5891625" y="3890164"/>
            <a:ext cx="2396115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実習は無料で参加できます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96490" y="2861243"/>
            <a:ext cx="2889433" cy="1423574"/>
          </a:xfrm>
          <a:prstGeom prst="roundRect">
            <a:avLst>
              <a:gd name="adj" fmla="val 990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ラベル_期間・時間"/>
          <p:cNvSpPr txBox="1"/>
          <p:nvPr/>
        </p:nvSpPr>
        <p:spPr>
          <a:xfrm>
            <a:off x="8950196" y="3044476"/>
            <a:ext cx="2396115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2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期間・時間</a:t>
            </a:r>
          </a:p>
        </p:txBody>
      </p:sp>
      <p:sp>
        <p:nvSpPr>
          <p:cNvPr id="28" name="値_期間・時間"/>
          <p:cNvSpPr txBox="1"/>
          <p:nvPr/>
        </p:nvSpPr>
        <p:spPr>
          <a:xfrm>
            <a:off x="8950196" y="3326372"/>
            <a:ext cx="2466589" cy="775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1DAY　9:30〜15:00ごろ</a:t>
            </a:r>
          </a:p>
          <a:p>
            <a:pPr algn="l">
              <a:lnSpc>
                <a:spcPct val="125000"/>
              </a:lnSpc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5DAYS　5日間じっくり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1033" y="4623093"/>
            <a:ext cx="2678011" cy="146585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数字_拠点"/>
          <p:cNvSpPr txBox="1"/>
          <p:nvPr/>
        </p:nvSpPr>
        <p:spPr>
          <a:xfrm>
            <a:off x="662455" y="4764041"/>
            <a:ext cx="1409479" cy="704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17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109</a:t>
            </a:r>
          </a:p>
        </p:txBody>
      </p:sp>
      <p:sp>
        <p:nvSpPr>
          <p:cNvPr id="31" name="単位_拠点"/>
          <p:cNvSpPr txBox="1"/>
          <p:nvPr/>
        </p:nvSpPr>
        <p:spPr>
          <a:xfrm>
            <a:off x="1691375" y="5074127"/>
            <a:ext cx="1409479" cy="281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拠点</a:t>
            </a:r>
          </a:p>
        </p:txBody>
      </p:sp>
      <p:sp>
        <p:nvSpPr>
          <p:cNvPr id="32" name="補足_拠点"/>
          <p:cNvSpPr txBox="1"/>
          <p:nvPr/>
        </p:nvSpPr>
        <p:spPr>
          <a:xfrm>
            <a:off x="662455" y="5609729"/>
            <a:ext cx="2396115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信越・北関東に展開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319324" y="4623093"/>
            <a:ext cx="2678011" cy="146585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数字_種のサービス"/>
          <p:cNvSpPr txBox="1"/>
          <p:nvPr/>
        </p:nvSpPr>
        <p:spPr>
          <a:xfrm>
            <a:off x="3530746" y="4764041"/>
            <a:ext cx="1409479" cy="704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17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7</a:t>
            </a:r>
          </a:p>
        </p:txBody>
      </p:sp>
      <p:sp>
        <p:nvSpPr>
          <p:cNvPr id="35" name="単位_種のサービス"/>
          <p:cNvSpPr txBox="1"/>
          <p:nvPr/>
        </p:nvSpPr>
        <p:spPr>
          <a:xfrm>
            <a:off x="3911306" y="5074127"/>
            <a:ext cx="1409479" cy="281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種のサービス</a:t>
            </a:r>
          </a:p>
        </p:txBody>
      </p:sp>
      <p:sp>
        <p:nvSpPr>
          <p:cNvPr id="36" name="補足_種のサービス"/>
          <p:cNvSpPr txBox="1"/>
          <p:nvPr/>
        </p:nvSpPr>
        <p:spPr>
          <a:xfrm>
            <a:off x="3530746" y="5609729"/>
            <a:ext cx="2396115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ホーム・デイ・訪問など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87616" y="4623093"/>
            <a:ext cx="2678011" cy="146585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数字_つのプログラム"/>
          <p:cNvSpPr txBox="1"/>
          <p:nvPr/>
        </p:nvSpPr>
        <p:spPr>
          <a:xfrm>
            <a:off x="6399038" y="4764041"/>
            <a:ext cx="1409479" cy="704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17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39" name="単位_つのプログラム"/>
          <p:cNvSpPr txBox="1"/>
          <p:nvPr/>
        </p:nvSpPr>
        <p:spPr>
          <a:xfrm>
            <a:off x="6779597" y="5074127"/>
            <a:ext cx="1409479" cy="281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つのプログラム</a:t>
            </a:r>
          </a:p>
        </p:txBody>
      </p:sp>
      <p:sp>
        <p:nvSpPr>
          <p:cNvPr id="40" name="補足_つのプログラム"/>
          <p:cNvSpPr txBox="1"/>
          <p:nvPr/>
        </p:nvSpPr>
        <p:spPr>
          <a:xfrm>
            <a:off x="6399038" y="5609729"/>
            <a:ext cx="2396115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1DAY と 5DAYS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55907" y="4623093"/>
            <a:ext cx="2678011" cy="146585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数字_事業所"/>
          <p:cNvSpPr txBox="1"/>
          <p:nvPr/>
        </p:nvSpPr>
        <p:spPr>
          <a:xfrm>
            <a:off x="9267329" y="4764041"/>
            <a:ext cx="1409479" cy="704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17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9</a:t>
            </a:r>
          </a:p>
        </p:txBody>
      </p:sp>
      <p:sp>
        <p:nvSpPr>
          <p:cNvPr id="43" name="単位_事業所"/>
          <p:cNvSpPr txBox="1"/>
          <p:nvPr/>
        </p:nvSpPr>
        <p:spPr>
          <a:xfrm>
            <a:off x="9647889" y="5074127"/>
            <a:ext cx="1409479" cy="281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事業所</a:t>
            </a:r>
          </a:p>
        </p:txBody>
      </p:sp>
      <p:sp>
        <p:nvSpPr>
          <p:cNvPr id="44" name="補足_事業所"/>
          <p:cNvSpPr txBox="1"/>
          <p:nvPr/>
        </p:nvSpPr>
        <p:spPr>
          <a:xfrm>
            <a:off x="9267329" y="5609729"/>
            <a:ext cx="2396115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360°ツアーで見学できる</a:t>
            </a:r>
          </a:p>
        </p:txBody>
      </p:sp>
      <p:sp>
        <p:nvSpPr>
          <p:cNvPr id="45" name="注記"/>
          <p:cNvSpPr txBox="1"/>
          <p:nvPr/>
        </p:nvSpPr>
        <p:spPr>
          <a:xfrm>
            <a:off x="451033" y="6300374"/>
            <a:ext cx="11275838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7" b="0">
                <a:solidFill>
                  <a:srgbClr val="7A8A87"/>
                </a:solidFill>
                <a:latin typeface="游ゴシック"/>
                <a:ea typeface="游ゴシック"/>
                <a:cs typeface="游ゴシック"/>
              </a:rPr>
              <a:t>※ 対象・期間・時間などはサイト上でも仮・調整中の内容です。</a:t>
            </a:r>
          </a:p>
        </p:txBody>
      </p:sp>
      <p:sp>
        <p:nvSpPr>
          <p:cNvPr id="46" name="ページ番号"/>
          <p:cNvSpPr txBox="1"/>
          <p:nvPr/>
        </p:nvSpPr>
        <p:spPr>
          <a:xfrm>
            <a:off x="10895278" y="6300374"/>
            <a:ext cx="845687" cy="1832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32">
                <a:solidFill>
                  <a:srgbClr val="8A9A96"/>
                </a:solidFill>
                <a:latin typeface="游ゴシック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5963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113489"/>
          </a:xfrm>
          <a:custGeom>
            <a:avLst/>
            <a:gdLst/>
            <a:ahLst/>
            <a:cxnLst/>
            <a:rect l="l" t="t" r="r" b="b"/>
            <a:pathLst>
              <a:path w="12192000" h="1113489">
                <a:moveTo>
                  <a:pt x="0" y="0"/>
                </a:moveTo>
                <a:lnTo>
                  <a:pt x="12192000" y="0"/>
                </a:lnTo>
                <a:lnTo>
                  <a:pt x="12192000" y="1028920"/>
                </a:lnTo>
                <a:lnTo>
                  <a:pt x="12141200" y="1026706"/>
                </a:lnTo>
                <a:lnTo>
                  <a:pt x="12090400" y="1024494"/>
                </a:lnTo>
                <a:lnTo>
                  <a:pt x="12039600" y="1022285"/>
                </a:lnTo>
                <a:lnTo>
                  <a:pt x="11988800" y="1020080"/>
                </a:lnTo>
                <a:lnTo>
                  <a:pt x="11938000" y="1017881"/>
                </a:lnTo>
                <a:lnTo>
                  <a:pt x="11887200" y="1015690"/>
                </a:lnTo>
                <a:lnTo>
                  <a:pt x="11836400" y="1013508"/>
                </a:lnTo>
                <a:lnTo>
                  <a:pt x="11785600" y="1011337"/>
                </a:lnTo>
                <a:lnTo>
                  <a:pt x="11734800" y="1009178"/>
                </a:lnTo>
                <a:lnTo>
                  <a:pt x="11684000" y="1007032"/>
                </a:lnTo>
                <a:lnTo>
                  <a:pt x="11633200" y="1004901"/>
                </a:lnTo>
                <a:lnTo>
                  <a:pt x="11582400" y="1002787"/>
                </a:lnTo>
                <a:lnTo>
                  <a:pt x="11531600" y="1000690"/>
                </a:lnTo>
                <a:lnTo>
                  <a:pt x="11480800" y="998613"/>
                </a:lnTo>
                <a:lnTo>
                  <a:pt x="11430000" y="996557"/>
                </a:lnTo>
                <a:lnTo>
                  <a:pt x="11379200" y="994523"/>
                </a:lnTo>
                <a:lnTo>
                  <a:pt x="11328400" y="992512"/>
                </a:lnTo>
                <a:lnTo>
                  <a:pt x="11277600" y="990526"/>
                </a:lnTo>
                <a:lnTo>
                  <a:pt x="11226800" y="988567"/>
                </a:lnTo>
                <a:lnTo>
                  <a:pt x="11176000" y="986635"/>
                </a:lnTo>
                <a:lnTo>
                  <a:pt x="11125200" y="984733"/>
                </a:lnTo>
                <a:lnTo>
                  <a:pt x="11074400" y="982860"/>
                </a:lnTo>
                <a:lnTo>
                  <a:pt x="11023600" y="981019"/>
                </a:lnTo>
                <a:lnTo>
                  <a:pt x="10972800" y="979211"/>
                </a:lnTo>
                <a:lnTo>
                  <a:pt x="10922000" y="977438"/>
                </a:lnTo>
                <a:lnTo>
                  <a:pt x="10871200" y="975699"/>
                </a:lnTo>
                <a:lnTo>
                  <a:pt x="10820400" y="973997"/>
                </a:lnTo>
                <a:lnTo>
                  <a:pt x="10769600" y="972332"/>
                </a:lnTo>
                <a:lnTo>
                  <a:pt x="10718800" y="970706"/>
                </a:lnTo>
                <a:lnTo>
                  <a:pt x="10668000" y="969121"/>
                </a:lnTo>
                <a:lnTo>
                  <a:pt x="10617200" y="967576"/>
                </a:lnTo>
                <a:lnTo>
                  <a:pt x="10566400" y="966073"/>
                </a:lnTo>
                <a:lnTo>
                  <a:pt x="10515600" y="964613"/>
                </a:lnTo>
                <a:lnTo>
                  <a:pt x="10464800" y="963197"/>
                </a:lnTo>
                <a:lnTo>
                  <a:pt x="10414000" y="961827"/>
                </a:lnTo>
                <a:lnTo>
                  <a:pt x="10363200" y="960502"/>
                </a:lnTo>
                <a:lnTo>
                  <a:pt x="10312400" y="959224"/>
                </a:lnTo>
                <a:lnTo>
                  <a:pt x="10261600" y="957994"/>
                </a:lnTo>
                <a:lnTo>
                  <a:pt x="10210800" y="956813"/>
                </a:lnTo>
                <a:lnTo>
                  <a:pt x="10160000" y="955681"/>
                </a:lnTo>
                <a:lnTo>
                  <a:pt x="10109200" y="954599"/>
                </a:lnTo>
                <a:lnTo>
                  <a:pt x="10058400" y="953568"/>
                </a:lnTo>
                <a:lnTo>
                  <a:pt x="10007600" y="952589"/>
                </a:lnTo>
                <a:lnTo>
                  <a:pt x="9956800" y="951662"/>
                </a:lnTo>
                <a:lnTo>
                  <a:pt x="9906000" y="950788"/>
                </a:lnTo>
                <a:lnTo>
                  <a:pt x="9855200" y="949968"/>
                </a:lnTo>
                <a:lnTo>
                  <a:pt x="9804400" y="949202"/>
                </a:lnTo>
                <a:lnTo>
                  <a:pt x="9753600" y="948490"/>
                </a:lnTo>
                <a:lnTo>
                  <a:pt x="9702800" y="947834"/>
                </a:lnTo>
                <a:lnTo>
                  <a:pt x="9652000" y="947233"/>
                </a:lnTo>
                <a:lnTo>
                  <a:pt x="9601200" y="946688"/>
                </a:lnTo>
                <a:lnTo>
                  <a:pt x="9550400" y="946199"/>
                </a:lnTo>
                <a:lnTo>
                  <a:pt x="9499600" y="945767"/>
                </a:lnTo>
                <a:lnTo>
                  <a:pt x="9448800" y="945392"/>
                </a:lnTo>
                <a:lnTo>
                  <a:pt x="9398000" y="945074"/>
                </a:lnTo>
                <a:lnTo>
                  <a:pt x="9347200" y="944814"/>
                </a:lnTo>
                <a:lnTo>
                  <a:pt x="9296400" y="944612"/>
                </a:lnTo>
                <a:lnTo>
                  <a:pt x="9245600" y="944467"/>
                </a:lnTo>
                <a:lnTo>
                  <a:pt x="9194800" y="944380"/>
                </a:lnTo>
                <a:lnTo>
                  <a:pt x="9144000" y="944351"/>
                </a:lnTo>
                <a:lnTo>
                  <a:pt x="9093200" y="944380"/>
                </a:lnTo>
                <a:lnTo>
                  <a:pt x="9042400" y="944467"/>
                </a:lnTo>
                <a:lnTo>
                  <a:pt x="8991600" y="944612"/>
                </a:lnTo>
                <a:lnTo>
                  <a:pt x="8940800" y="944814"/>
                </a:lnTo>
                <a:lnTo>
                  <a:pt x="8890000" y="945074"/>
                </a:lnTo>
                <a:lnTo>
                  <a:pt x="8839200" y="945392"/>
                </a:lnTo>
                <a:lnTo>
                  <a:pt x="8788400" y="945767"/>
                </a:lnTo>
                <a:lnTo>
                  <a:pt x="8737600" y="946199"/>
                </a:lnTo>
                <a:lnTo>
                  <a:pt x="8686800" y="946688"/>
                </a:lnTo>
                <a:lnTo>
                  <a:pt x="8636000" y="947233"/>
                </a:lnTo>
                <a:lnTo>
                  <a:pt x="8585200" y="947834"/>
                </a:lnTo>
                <a:lnTo>
                  <a:pt x="8534400" y="948490"/>
                </a:lnTo>
                <a:lnTo>
                  <a:pt x="8483599" y="949202"/>
                </a:lnTo>
                <a:lnTo>
                  <a:pt x="8432800" y="949968"/>
                </a:lnTo>
                <a:lnTo>
                  <a:pt x="8382000" y="950788"/>
                </a:lnTo>
                <a:lnTo>
                  <a:pt x="8331199" y="951662"/>
                </a:lnTo>
                <a:lnTo>
                  <a:pt x="8280400" y="952589"/>
                </a:lnTo>
                <a:lnTo>
                  <a:pt x="8229600" y="953568"/>
                </a:lnTo>
                <a:lnTo>
                  <a:pt x="8178799" y="954599"/>
                </a:lnTo>
                <a:lnTo>
                  <a:pt x="8128000" y="955681"/>
                </a:lnTo>
                <a:lnTo>
                  <a:pt x="8077200" y="956813"/>
                </a:lnTo>
                <a:lnTo>
                  <a:pt x="8026399" y="957994"/>
                </a:lnTo>
                <a:lnTo>
                  <a:pt x="7975600" y="959224"/>
                </a:lnTo>
                <a:lnTo>
                  <a:pt x="7924800" y="960502"/>
                </a:lnTo>
                <a:lnTo>
                  <a:pt x="7873999" y="961827"/>
                </a:lnTo>
                <a:lnTo>
                  <a:pt x="7823200" y="963197"/>
                </a:lnTo>
                <a:lnTo>
                  <a:pt x="7772400" y="964613"/>
                </a:lnTo>
                <a:lnTo>
                  <a:pt x="7721599" y="966073"/>
                </a:lnTo>
                <a:lnTo>
                  <a:pt x="7670800" y="967576"/>
                </a:lnTo>
                <a:lnTo>
                  <a:pt x="7620000" y="969121"/>
                </a:lnTo>
                <a:lnTo>
                  <a:pt x="7569199" y="970706"/>
                </a:lnTo>
                <a:lnTo>
                  <a:pt x="7518400" y="972332"/>
                </a:lnTo>
                <a:lnTo>
                  <a:pt x="7467600" y="973997"/>
                </a:lnTo>
                <a:lnTo>
                  <a:pt x="7416799" y="975699"/>
                </a:lnTo>
                <a:lnTo>
                  <a:pt x="7366000" y="977438"/>
                </a:lnTo>
                <a:lnTo>
                  <a:pt x="7315200" y="979211"/>
                </a:lnTo>
                <a:lnTo>
                  <a:pt x="7264399" y="981019"/>
                </a:lnTo>
                <a:lnTo>
                  <a:pt x="7213600" y="982860"/>
                </a:lnTo>
                <a:lnTo>
                  <a:pt x="7162800" y="984733"/>
                </a:lnTo>
                <a:lnTo>
                  <a:pt x="7112000" y="986635"/>
                </a:lnTo>
                <a:lnTo>
                  <a:pt x="7061200" y="988567"/>
                </a:lnTo>
                <a:lnTo>
                  <a:pt x="7010400" y="990526"/>
                </a:lnTo>
                <a:lnTo>
                  <a:pt x="6959600" y="992512"/>
                </a:lnTo>
                <a:lnTo>
                  <a:pt x="6908800" y="994523"/>
                </a:lnTo>
                <a:lnTo>
                  <a:pt x="6858000" y="996557"/>
                </a:lnTo>
                <a:lnTo>
                  <a:pt x="6807200" y="998613"/>
                </a:lnTo>
                <a:lnTo>
                  <a:pt x="6756400" y="1000690"/>
                </a:lnTo>
                <a:lnTo>
                  <a:pt x="6705600" y="1002787"/>
                </a:lnTo>
                <a:lnTo>
                  <a:pt x="6654800" y="1004901"/>
                </a:lnTo>
                <a:lnTo>
                  <a:pt x="6604000" y="1007032"/>
                </a:lnTo>
                <a:lnTo>
                  <a:pt x="6553200" y="1009178"/>
                </a:lnTo>
                <a:lnTo>
                  <a:pt x="6502400" y="1011337"/>
                </a:lnTo>
                <a:lnTo>
                  <a:pt x="6451600" y="1013508"/>
                </a:lnTo>
                <a:lnTo>
                  <a:pt x="6400800" y="1015690"/>
                </a:lnTo>
                <a:lnTo>
                  <a:pt x="6350000" y="1017881"/>
                </a:lnTo>
                <a:lnTo>
                  <a:pt x="6299200" y="1020080"/>
                </a:lnTo>
                <a:lnTo>
                  <a:pt x="6248400" y="1022285"/>
                </a:lnTo>
                <a:lnTo>
                  <a:pt x="6197600" y="1024494"/>
                </a:lnTo>
                <a:lnTo>
                  <a:pt x="6146800" y="1026706"/>
                </a:lnTo>
                <a:lnTo>
                  <a:pt x="6096000" y="1028920"/>
                </a:lnTo>
                <a:lnTo>
                  <a:pt x="6045200" y="1031133"/>
                </a:lnTo>
                <a:lnTo>
                  <a:pt x="5994400" y="1033346"/>
                </a:lnTo>
                <a:lnTo>
                  <a:pt x="5943600" y="1035555"/>
                </a:lnTo>
                <a:lnTo>
                  <a:pt x="5892800" y="1037760"/>
                </a:lnTo>
                <a:lnTo>
                  <a:pt x="5842000" y="1039958"/>
                </a:lnTo>
                <a:lnTo>
                  <a:pt x="5791200" y="1042149"/>
                </a:lnTo>
                <a:lnTo>
                  <a:pt x="5740400" y="1044331"/>
                </a:lnTo>
                <a:lnTo>
                  <a:pt x="5689600" y="1046503"/>
                </a:lnTo>
                <a:lnTo>
                  <a:pt x="5638800" y="1048662"/>
                </a:lnTo>
                <a:lnTo>
                  <a:pt x="5588000" y="1050808"/>
                </a:lnTo>
                <a:lnTo>
                  <a:pt x="5537200" y="1052939"/>
                </a:lnTo>
                <a:lnTo>
                  <a:pt x="5486400" y="1055053"/>
                </a:lnTo>
                <a:lnTo>
                  <a:pt x="5435600" y="1057149"/>
                </a:lnTo>
                <a:lnTo>
                  <a:pt x="5384800" y="1059226"/>
                </a:lnTo>
                <a:lnTo>
                  <a:pt x="5334000" y="1061283"/>
                </a:lnTo>
                <a:lnTo>
                  <a:pt x="5283200" y="1063317"/>
                </a:lnTo>
                <a:lnTo>
                  <a:pt x="5232400" y="1065328"/>
                </a:lnTo>
                <a:lnTo>
                  <a:pt x="5181600" y="1067313"/>
                </a:lnTo>
                <a:lnTo>
                  <a:pt x="5130800" y="1069272"/>
                </a:lnTo>
                <a:lnTo>
                  <a:pt x="5080000" y="1071204"/>
                </a:lnTo>
                <a:lnTo>
                  <a:pt x="5029200" y="1073107"/>
                </a:lnTo>
                <a:lnTo>
                  <a:pt x="4978400" y="1074979"/>
                </a:lnTo>
                <a:lnTo>
                  <a:pt x="4927599" y="1076820"/>
                </a:lnTo>
                <a:lnTo>
                  <a:pt x="4876800" y="1078628"/>
                </a:lnTo>
                <a:lnTo>
                  <a:pt x="4826000" y="1080402"/>
                </a:lnTo>
                <a:lnTo>
                  <a:pt x="4775199" y="1082141"/>
                </a:lnTo>
                <a:lnTo>
                  <a:pt x="4724400" y="1083843"/>
                </a:lnTo>
                <a:lnTo>
                  <a:pt x="4673600" y="1085507"/>
                </a:lnTo>
                <a:lnTo>
                  <a:pt x="4622799" y="1087133"/>
                </a:lnTo>
                <a:lnTo>
                  <a:pt x="4572000" y="1088719"/>
                </a:lnTo>
                <a:lnTo>
                  <a:pt x="4521200" y="1090264"/>
                </a:lnTo>
                <a:lnTo>
                  <a:pt x="4470399" y="1091767"/>
                </a:lnTo>
                <a:lnTo>
                  <a:pt x="4419600" y="1093226"/>
                </a:lnTo>
                <a:lnTo>
                  <a:pt x="4368800" y="1094642"/>
                </a:lnTo>
                <a:lnTo>
                  <a:pt x="4317999" y="1096013"/>
                </a:lnTo>
                <a:lnTo>
                  <a:pt x="4267200" y="1097337"/>
                </a:lnTo>
                <a:lnTo>
                  <a:pt x="4216400" y="1098615"/>
                </a:lnTo>
                <a:lnTo>
                  <a:pt x="4165599" y="1099845"/>
                </a:lnTo>
                <a:lnTo>
                  <a:pt x="4114800" y="1101026"/>
                </a:lnTo>
                <a:lnTo>
                  <a:pt x="4064000" y="1102158"/>
                </a:lnTo>
                <a:lnTo>
                  <a:pt x="4013199" y="1103240"/>
                </a:lnTo>
                <a:lnTo>
                  <a:pt x="3962400" y="1104271"/>
                </a:lnTo>
                <a:lnTo>
                  <a:pt x="3911600" y="1105250"/>
                </a:lnTo>
                <a:lnTo>
                  <a:pt x="3860799" y="1106177"/>
                </a:lnTo>
                <a:lnTo>
                  <a:pt x="3810000" y="1107051"/>
                </a:lnTo>
                <a:lnTo>
                  <a:pt x="3759200" y="1107871"/>
                </a:lnTo>
                <a:lnTo>
                  <a:pt x="3708399" y="1108638"/>
                </a:lnTo>
                <a:lnTo>
                  <a:pt x="3657600" y="1109349"/>
                </a:lnTo>
                <a:lnTo>
                  <a:pt x="3606800" y="1110006"/>
                </a:lnTo>
                <a:lnTo>
                  <a:pt x="3555999" y="1110607"/>
                </a:lnTo>
                <a:lnTo>
                  <a:pt x="3505200" y="1111152"/>
                </a:lnTo>
                <a:lnTo>
                  <a:pt x="3454400" y="1111640"/>
                </a:lnTo>
                <a:lnTo>
                  <a:pt x="3403599" y="1112072"/>
                </a:lnTo>
                <a:lnTo>
                  <a:pt x="3352800" y="1112447"/>
                </a:lnTo>
                <a:lnTo>
                  <a:pt x="3302000" y="1112765"/>
                </a:lnTo>
                <a:lnTo>
                  <a:pt x="3251199" y="1113025"/>
                </a:lnTo>
                <a:lnTo>
                  <a:pt x="3200400" y="1113228"/>
                </a:lnTo>
                <a:lnTo>
                  <a:pt x="3149600" y="1113373"/>
                </a:lnTo>
                <a:lnTo>
                  <a:pt x="3098799" y="1113460"/>
                </a:lnTo>
                <a:lnTo>
                  <a:pt x="3048000" y="1113489"/>
                </a:lnTo>
                <a:lnTo>
                  <a:pt x="2997200" y="1113460"/>
                </a:lnTo>
                <a:lnTo>
                  <a:pt x="2946399" y="1113373"/>
                </a:lnTo>
                <a:lnTo>
                  <a:pt x="2895600" y="1113228"/>
                </a:lnTo>
                <a:lnTo>
                  <a:pt x="2844800" y="1113025"/>
                </a:lnTo>
                <a:lnTo>
                  <a:pt x="2793999" y="1112765"/>
                </a:lnTo>
                <a:lnTo>
                  <a:pt x="2743200" y="1112447"/>
                </a:lnTo>
                <a:lnTo>
                  <a:pt x="2692400" y="1112072"/>
                </a:lnTo>
                <a:lnTo>
                  <a:pt x="2641599" y="1111640"/>
                </a:lnTo>
                <a:lnTo>
                  <a:pt x="2590800" y="1111152"/>
                </a:lnTo>
                <a:lnTo>
                  <a:pt x="2540000" y="1110607"/>
                </a:lnTo>
                <a:lnTo>
                  <a:pt x="2489199" y="1110006"/>
                </a:lnTo>
                <a:lnTo>
                  <a:pt x="2438400" y="1109349"/>
                </a:lnTo>
                <a:lnTo>
                  <a:pt x="2387600" y="1108638"/>
                </a:lnTo>
                <a:lnTo>
                  <a:pt x="2336799" y="1107871"/>
                </a:lnTo>
                <a:lnTo>
                  <a:pt x="2286000" y="1107051"/>
                </a:lnTo>
                <a:lnTo>
                  <a:pt x="2235200" y="1106177"/>
                </a:lnTo>
                <a:lnTo>
                  <a:pt x="2184399" y="1105250"/>
                </a:lnTo>
                <a:lnTo>
                  <a:pt x="2133600" y="1104271"/>
                </a:lnTo>
                <a:lnTo>
                  <a:pt x="2082800" y="1103240"/>
                </a:lnTo>
                <a:lnTo>
                  <a:pt x="2031999" y="1102158"/>
                </a:lnTo>
                <a:lnTo>
                  <a:pt x="1981200" y="1101026"/>
                </a:lnTo>
                <a:lnTo>
                  <a:pt x="1930400" y="1099845"/>
                </a:lnTo>
                <a:lnTo>
                  <a:pt x="1879599" y="1098615"/>
                </a:lnTo>
                <a:lnTo>
                  <a:pt x="1828800" y="1097337"/>
                </a:lnTo>
                <a:lnTo>
                  <a:pt x="1778000" y="1096013"/>
                </a:lnTo>
                <a:lnTo>
                  <a:pt x="1727199" y="1094642"/>
                </a:lnTo>
                <a:lnTo>
                  <a:pt x="1676400" y="1093226"/>
                </a:lnTo>
                <a:lnTo>
                  <a:pt x="1625600" y="1091767"/>
                </a:lnTo>
                <a:lnTo>
                  <a:pt x="1574799" y="1090264"/>
                </a:lnTo>
                <a:lnTo>
                  <a:pt x="1524000" y="1088719"/>
                </a:lnTo>
                <a:lnTo>
                  <a:pt x="1473200" y="1087133"/>
                </a:lnTo>
                <a:lnTo>
                  <a:pt x="1422399" y="1085507"/>
                </a:lnTo>
                <a:lnTo>
                  <a:pt x="1371600" y="1083843"/>
                </a:lnTo>
                <a:lnTo>
                  <a:pt x="1320800" y="1082141"/>
                </a:lnTo>
                <a:lnTo>
                  <a:pt x="1269999" y="1080402"/>
                </a:lnTo>
                <a:lnTo>
                  <a:pt x="1219200" y="1078628"/>
                </a:lnTo>
                <a:lnTo>
                  <a:pt x="1168400" y="1076820"/>
                </a:lnTo>
                <a:lnTo>
                  <a:pt x="1117599" y="1074979"/>
                </a:lnTo>
                <a:lnTo>
                  <a:pt x="1066800" y="1073107"/>
                </a:lnTo>
                <a:lnTo>
                  <a:pt x="1016000" y="1071204"/>
                </a:lnTo>
                <a:lnTo>
                  <a:pt x="965199" y="1069272"/>
                </a:lnTo>
                <a:lnTo>
                  <a:pt x="914400" y="1067313"/>
                </a:lnTo>
                <a:lnTo>
                  <a:pt x="863600" y="1065328"/>
                </a:lnTo>
                <a:lnTo>
                  <a:pt x="812799" y="1063317"/>
                </a:lnTo>
                <a:lnTo>
                  <a:pt x="762000" y="1061283"/>
                </a:lnTo>
                <a:lnTo>
                  <a:pt x="711200" y="1059226"/>
                </a:lnTo>
                <a:lnTo>
                  <a:pt x="660399" y="1057149"/>
                </a:lnTo>
                <a:lnTo>
                  <a:pt x="609600" y="1055053"/>
                </a:lnTo>
                <a:lnTo>
                  <a:pt x="558800" y="1052939"/>
                </a:lnTo>
                <a:lnTo>
                  <a:pt x="507999" y="1050808"/>
                </a:lnTo>
                <a:lnTo>
                  <a:pt x="457200" y="1048662"/>
                </a:lnTo>
                <a:lnTo>
                  <a:pt x="406400" y="1046503"/>
                </a:lnTo>
                <a:lnTo>
                  <a:pt x="355599" y="1044331"/>
                </a:lnTo>
                <a:lnTo>
                  <a:pt x="304800" y="1042149"/>
                </a:lnTo>
                <a:lnTo>
                  <a:pt x="254000" y="1039958"/>
                </a:lnTo>
                <a:lnTo>
                  <a:pt x="203199" y="1037760"/>
                </a:lnTo>
                <a:lnTo>
                  <a:pt x="152400" y="1035555"/>
                </a:lnTo>
                <a:lnTo>
                  <a:pt x="101600" y="1033346"/>
                </a:lnTo>
                <a:lnTo>
                  <a:pt x="50799" y="1031133"/>
                </a:lnTo>
                <a:lnTo>
                  <a:pt x="0" y="1028920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ヘッダー山1"/>
          <p:cNvSpPr/>
          <p:nvPr/>
        </p:nvSpPr>
        <p:spPr>
          <a:xfrm>
            <a:off x="8315930" y="352369"/>
            <a:ext cx="2078983" cy="591982"/>
          </a:xfrm>
          <a:custGeom>
            <a:avLst/>
            <a:gdLst/>
            <a:ahLst/>
            <a:cxnLst/>
            <a:rect l="l" t="t" r="r" b="b"/>
            <a:pathLst>
              <a:path w="2078983" h="591982">
                <a:moveTo>
                  <a:pt x="0" y="591982"/>
                </a:moveTo>
                <a:lnTo>
                  <a:pt x="1141679" y="0"/>
                </a:lnTo>
                <a:lnTo>
                  <a:pt x="2078983" y="591982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ヘッダー山2"/>
          <p:cNvSpPr/>
          <p:nvPr/>
        </p:nvSpPr>
        <p:spPr>
          <a:xfrm>
            <a:off x="9866358" y="591981"/>
            <a:ext cx="2043746" cy="352370"/>
          </a:xfrm>
          <a:custGeom>
            <a:avLst/>
            <a:gdLst/>
            <a:ahLst/>
            <a:cxnLst/>
            <a:rect l="l" t="t" r="r" b="b"/>
            <a:pathLst>
              <a:path w="2043746" h="352370">
                <a:moveTo>
                  <a:pt x="0" y="352370"/>
                </a:moveTo>
                <a:lnTo>
                  <a:pt x="1021873" y="0"/>
                </a:lnTo>
                <a:lnTo>
                  <a:pt x="2043746" y="35237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451033" y="211421"/>
            <a:ext cx="6342658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4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エフビー流の学び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451033" y="422843"/>
            <a:ext cx="10571098" cy="4933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介護の現場を体験して学ぶ、4つのステップ</a:t>
            </a:r>
          </a:p>
        </p:txBody>
      </p:sp>
      <p:sp>
        <p:nvSpPr>
          <p:cNvPr id="6" name="帯"/>
          <p:cNvSpPr/>
          <p:nvPr/>
        </p:nvSpPr>
        <p:spPr>
          <a:xfrm>
            <a:off x="3981780" y="1240342"/>
            <a:ext cx="4228439" cy="451033"/>
          </a:xfrm>
          <a:prstGeom prst="roundRect">
            <a:avLst>
              <a:gd name="adj" fmla="val 50000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帯文字"/>
          <p:cNvSpPr txBox="1"/>
          <p:nvPr/>
        </p:nvSpPr>
        <p:spPr>
          <a:xfrm>
            <a:off x="3981780" y="1240342"/>
            <a:ext cx="4228439" cy="45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介護の現場を体験して学ぶ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1033" y="1916892"/>
            <a:ext cx="2621632" cy="3030381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番号"/>
          <p:cNvSpPr/>
          <p:nvPr/>
        </p:nvSpPr>
        <p:spPr>
          <a:xfrm>
            <a:off x="648360" y="2156504"/>
            <a:ext cx="422843" cy="422843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文字1"/>
          <p:cNvSpPr txBox="1"/>
          <p:nvPr/>
        </p:nvSpPr>
        <p:spPr>
          <a:xfrm>
            <a:off x="648360" y="2156504"/>
            <a:ext cx="422843" cy="4228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2" name="見出し_話して知る"/>
          <p:cNvSpPr txBox="1"/>
          <p:nvPr/>
        </p:nvSpPr>
        <p:spPr>
          <a:xfrm>
            <a:off x="1198057" y="2184693"/>
            <a:ext cx="1761849" cy="366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8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話して知る</a:t>
            </a:r>
          </a:p>
        </p:txBody>
      </p:sp>
      <p:sp>
        <p:nvSpPr>
          <p:cNvPr id="13" name="小見出し_話して知る"/>
          <p:cNvSpPr txBox="1"/>
          <p:nvPr/>
        </p:nvSpPr>
        <p:spPr>
          <a:xfrm>
            <a:off x="662455" y="2762580"/>
            <a:ext cx="2255167" cy="3946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65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利用者さんの人生にふれる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62455" y="3255898"/>
            <a:ext cx="2198788" cy="0"/>
          </a:xfrm>
          <a:prstGeom prst="line">
            <a:avLst/>
          </a:prstGeom>
          <a:ln w="19050">
            <a:solidFill>
              <a:srgbClr val="D7E6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内容_話して知る"/>
          <p:cNvSpPr txBox="1"/>
          <p:nvPr/>
        </p:nvSpPr>
        <p:spPr>
          <a:xfrm>
            <a:off x="662455" y="3425035"/>
            <a:ext cx="2255167" cy="21142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・昔の暮らしや仕事の話を聴く</a:t>
            </a:r>
          </a:p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・笑顔が生まれる瞬間を見る</a:t>
            </a:r>
          </a:p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・「ありがとう」をもらう手応え</a:t>
            </a:r>
          </a:p>
        </p:txBody>
      </p:sp>
      <p:sp>
        <p:nvSpPr>
          <p:cNvPr id="16" name="矢印"/>
          <p:cNvSpPr/>
          <p:nvPr/>
        </p:nvSpPr>
        <p:spPr>
          <a:xfrm>
            <a:off x="3100855" y="3241803"/>
            <a:ext cx="211421" cy="310085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40467" y="1916892"/>
            <a:ext cx="2621632" cy="3030381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番号"/>
          <p:cNvSpPr/>
          <p:nvPr/>
        </p:nvSpPr>
        <p:spPr>
          <a:xfrm>
            <a:off x="3537794" y="2156504"/>
            <a:ext cx="422843" cy="422843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文字2"/>
          <p:cNvSpPr txBox="1"/>
          <p:nvPr/>
        </p:nvSpPr>
        <p:spPr>
          <a:xfrm>
            <a:off x="3537794" y="2156504"/>
            <a:ext cx="422843" cy="4228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21" name="見出し_見て学ぶ"/>
          <p:cNvSpPr txBox="1"/>
          <p:nvPr/>
        </p:nvSpPr>
        <p:spPr>
          <a:xfrm>
            <a:off x="4087491" y="2184693"/>
            <a:ext cx="1761849" cy="366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8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見て学ぶ</a:t>
            </a:r>
          </a:p>
        </p:txBody>
      </p:sp>
      <p:sp>
        <p:nvSpPr>
          <p:cNvPr id="22" name="小見出し_見て学ぶ"/>
          <p:cNvSpPr txBox="1"/>
          <p:nvPr/>
        </p:nvSpPr>
        <p:spPr>
          <a:xfrm>
            <a:off x="3551889" y="2762580"/>
            <a:ext cx="2255167" cy="3946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65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職員の仕事を観察する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551889" y="3255898"/>
            <a:ext cx="2198788" cy="0"/>
          </a:xfrm>
          <a:prstGeom prst="line">
            <a:avLst/>
          </a:prstGeom>
          <a:ln w="19050">
            <a:solidFill>
              <a:srgbClr val="D7E6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内容_見て学ぶ"/>
          <p:cNvSpPr txBox="1"/>
          <p:nvPr/>
        </p:nvSpPr>
        <p:spPr>
          <a:xfrm>
            <a:off x="3551889" y="3425035"/>
            <a:ext cx="2255167" cy="21142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・声かけ・見守りの基本</a:t>
            </a:r>
          </a:p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・介護職の一日の流れと仕事の幅</a:t>
            </a:r>
          </a:p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・看護師など他職種との連携</a:t>
            </a:r>
          </a:p>
        </p:txBody>
      </p:sp>
      <p:sp>
        <p:nvSpPr>
          <p:cNvPr id="25" name="矢印"/>
          <p:cNvSpPr/>
          <p:nvPr/>
        </p:nvSpPr>
        <p:spPr>
          <a:xfrm>
            <a:off x="5990289" y="3241803"/>
            <a:ext cx="211421" cy="310085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29900" y="1916892"/>
            <a:ext cx="2621632" cy="3030381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番号"/>
          <p:cNvSpPr/>
          <p:nvPr/>
        </p:nvSpPr>
        <p:spPr>
          <a:xfrm>
            <a:off x="6427227" y="2156504"/>
            <a:ext cx="422843" cy="422843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番号文字3"/>
          <p:cNvSpPr txBox="1"/>
          <p:nvPr/>
        </p:nvSpPr>
        <p:spPr>
          <a:xfrm>
            <a:off x="6427227" y="2156504"/>
            <a:ext cx="422843" cy="4228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30" name="見出し_やってみる"/>
          <p:cNvSpPr txBox="1"/>
          <p:nvPr/>
        </p:nvSpPr>
        <p:spPr>
          <a:xfrm>
            <a:off x="6976924" y="2184693"/>
            <a:ext cx="1761849" cy="366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86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やってみる</a:t>
            </a:r>
          </a:p>
        </p:txBody>
      </p:sp>
      <p:sp>
        <p:nvSpPr>
          <p:cNvPr id="31" name="小見出し_やってみる"/>
          <p:cNvSpPr txBox="1"/>
          <p:nvPr/>
        </p:nvSpPr>
        <p:spPr>
          <a:xfrm>
            <a:off x="6441322" y="2762580"/>
            <a:ext cx="2255167" cy="3946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65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できることから体験する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441322" y="3255898"/>
            <a:ext cx="2198788" cy="0"/>
          </a:xfrm>
          <a:prstGeom prst="line">
            <a:avLst/>
          </a:prstGeom>
          <a:ln w="19050">
            <a:solidFill>
              <a:srgbClr val="D7E6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内容_やってみる"/>
          <p:cNvSpPr txBox="1"/>
          <p:nvPr/>
        </p:nvSpPr>
        <p:spPr>
          <a:xfrm>
            <a:off x="6441322" y="3425035"/>
            <a:ext cx="2255167" cy="21142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・食事・レクのお手伝い</a:t>
            </a:r>
          </a:p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・畑や行事など、地域にふれる</a:t>
            </a:r>
          </a:p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・職員がそばでサポート</a:t>
            </a:r>
          </a:p>
        </p:txBody>
      </p:sp>
      <p:sp>
        <p:nvSpPr>
          <p:cNvPr id="34" name="矢印"/>
          <p:cNvSpPr/>
          <p:nvPr/>
        </p:nvSpPr>
        <p:spPr>
          <a:xfrm>
            <a:off x="8879722" y="3241803"/>
            <a:ext cx="211421" cy="310085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119334" y="1916892"/>
            <a:ext cx="2621632" cy="3030381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番号"/>
          <p:cNvSpPr/>
          <p:nvPr/>
        </p:nvSpPr>
        <p:spPr>
          <a:xfrm>
            <a:off x="9316661" y="2156504"/>
            <a:ext cx="422843" cy="422843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番号文字4"/>
          <p:cNvSpPr txBox="1"/>
          <p:nvPr/>
        </p:nvSpPr>
        <p:spPr>
          <a:xfrm>
            <a:off x="9316661" y="2156504"/>
            <a:ext cx="422843" cy="4228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39" name="見出し_振り返る"/>
          <p:cNvSpPr txBox="1"/>
          <p:nvPr/>
        </p:nvSpPr>
        <p:spPr>
          <a:xfrm>
            <a:off x="9866358" y="2184693"/>
            <a:ext cx="1761849" cy="366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86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振り返る</a:t>
            </a:r>
          </a:p>
        </p:txBody>
      </p:sp>
      <p:sp>
        <p:nvSpPr>
          <p:cNvPr id="40" name="小見出し_振り返る"/>
          <p:cNvSpPr txBox="1"/>
          <p:nvPr/>
        </p:nvSpPr>
        <p:spPr>
          <a:xfrm>
            <a:off x="9330756" y="2762580"/>
            <a:ext cx="2255167" cy="3946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65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気づきから、キャリアを考える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330756" y="3255898"/>
            <a:ext cx="2198788" cy="0"/>
          </a:xfrm>
          <a:prstGeom prst="line">
            <a:avLst/>
          </a:prstGeom>
          <a:ln w="19050">
            <a:solidFill>
              <a:srgbClr val="D7E6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内容_振り返る"/>
          <p:cNvSpPr txBox="1"/>
          <p:nvPr/>
        </p:nvSpPr>
        <p:spPr>
          <a:xfrm>
            <a:off x="9330756" y="3425035"/>
            <a:ext cx="2255167" cy="21142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・感じたことを職員と話し合う</a:t>
            </a:r>
          </a:p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・資格や仕事の道すじを知る</a:t>
            </a:r>
          </a:p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・これからのキャリアを考える</a:t>
            </a:r>
          </a:p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・自分に向いているかの見極め</a:t>
            </a:r>
          </a:p>
        </p:txBody>
      </p:sp>
      <p:sp>
        <p:nvSpPr>
          <p:cNvPr id="43" name="戻り矢印"/>
          <p:cNvSpPr/>
          <p:nvPr/>
        </p:nvSpPr>
        <p:spPr>
          <a:xfrm>
            <a:off x="451033" y="5285549"/>
            <a:ext cx="11289932" cy="451033"/>
          </a:xfrm>
          <a:prstGeom prst="leftArrow">
            <a:avLst>
              <a:gd name="adj1" fmla="val 50000"/>
              <a:gd name="adj2" fmla="val 90000"/>
            </a:avLst>
          </a:prstGeom>
          <a:solidFill>
            <a:srgbClr val="BF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戻り矢印文字"/>
          <p:cNvSpPr txBox="1"/>
          <p:nvPr/>
        </p:nvSpPr>
        <p:spPr>
          <a:xfrm>
            <a:off x="1550427" y="5285549"/>
            <a:ext cx="9373040" cy="45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20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④ 振り返りから、次の ① へ　体験をくり返しながら、学びを深めていく</a:t>
            </a:r>
          </a:p>
        </p:txBody>
      </p:sp>
      <p:sp>
        <p:nvSpPr>
          <p:cNvPr id="45" name="注記"/>
          <p:cNvSpPr txBox="1"/>
          <p:nvPr/>
        </p:nvSpPr>
        <p:spPr>
          <a:xfrm>
            <a:off x="451033" y="6300374"/>
            <a:ext cx="11275838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7" b="0">
                <a:solidFill>
                  <a:srgbClr val="7A8A87"/>
                </a:solidFill>
                <a:latin typeface="游ゴシック"/>
                <a:ea typeface="游ゴシック"/>
                <a:cs typeface="游ゴシック"/>
              </a:rPr>
              <a:t>※ 文章はサイト上でも仮の内容です（決まり次第、差し替え）。</a:t>
            </a:r>
          </a:p>
        </p:txBody>
      </p:sp>
      <p:sp>
        <p:nvSpPr>
          <p:cNvPr id="46" name="ページ番号"/>
          <p:cNvSpPr txBox="1"/>
          <p:nvPr/>
        </p:nvSpPr>
        <p:spPr>
          <a:xfrm>
            <a:off x="10895278" y="6300374"/>
            <a:ext cx="845687" cy="1832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32">
                <a:solidFill>
                  <a:srgbClr val="8A9A96"/>
                </a:solidFill>
                <a:latin typeface="游ゴシック"/>
              </a:rPr>
              <a:t>8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5963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113489"/>
          </a:xfrm>
          <a:custGeom>
            <a:avLst/>
            <a:gdLst/>
            <a:ahLst/>
            <a:cxnLst/>
            <a:rect l="l" t="t" r="r" b="b"/>
            <a:pathLst>
              <a:path w="12192000" h="1113489">
                <a:moveTo>
                  <a:pt x="0" y="0"/>
                </a:moveTo>
                <a:lnTo>
                  <a:pt x="12192000" y="0"/>
                </a:lnTo>
                <a:lnTo>
                  <a:pt x="12192000" y="1028920"/>
                </a:lnTo>
                <a:lnTo>
                  <a:pt x="12141200" y="1026706"/>
                </a:lnTo>
                <a:lnTo>
                  <a:pt x="12090400" y="1024494"/>
                </a:lnTo>
                <a:lnTo>
                  <a:pt x="12039600" y="1022285"/>
                </a:lnTo>
                <a:lnTo>
                  <a:pt x="11988800" y="1020080"/>
                </a:lnTo>
                <a:lnTo>
                  <a:pt x="11938000" y="1017881"/>
                </a:lnTo>
                <a:lnTo>
                  <a:pt x="11887200" y="1015690"/>
                </a:lnTo>
                <a:lnTo>
                  <a:pt x="11836400" y="1013508"/>
                </a:lnTo>
                <a:lnTo>
                  <a:pt x="11785600" y="1011337"/>
                </a:lnTo>
                <a:lnTo>
                  <a:pt x="11734800" y="1009178"/>
                </a:lnTo>
                <a:lnTo>
                  <a:pt x="11684000" y="1007032"/>
                </a:lnTo>
                <a:lnTo>
                  <a:pt x="11633200" y="1004901"/>
                </a:lnTo>
                <a:lnTo>
                  <a:pt x="11582400" y="1002787"/>
                </a:lnTo>
                <a:lnTo>
                  <a:pt x="11531600" y="1000690"/>
                </a:lnTo>
                <a:lnTo>
                  <a:pt x="11480800" y="998613"/>
                </a:lnTo>
                <a:lnTo>
                  <a:pt x="11430000" y="996557"/>
                </a:lnTo>
                <a:lnTo>
                  <a:pt x="11379200" y="994523"/>
                </a:lnTo>
                <a:lnTo>
                  <a:pt x="11328400" y="992512"/>
                </a:lnTo>
                <a:lnTo>
                  <a:pt x="11277600" y="990526"/>
                </a:lnTo>
                <a:lnTo>
                  <a:pt x="11226800" y="988567"/>
                </a:lnTo>
                <a:lnTo>
                  <a:pt x="11176000" y="986635"/>
                </a:lnTo>
                <a:lnTo>
                  <a:pt x="11125200" y="984733"/>
                </a:lnTo>
                <a:lnTo>
                  <a:pt x="11074400" y="982860"/>
                </a:lnTo>
                <a:lnTo>
                  <a:pt x="11023600" y="981019"/>
                </a:lnTo>
                <a:lnTo>
                  <a:pt x="10972800" y="979211"/>
                </a:lnTo>
                <a:lnTo>
                  <a:pt x="10922000" y="977438"/>
                </a:lnTo>
                <a:lnTo>
                  <a:pt x="10871200" y="975699"/>
                </a:lnTo>
                <a:lnTo>
                  <a:pt x="10820400" y="973997"/>
                </a:lnTo>
                <a:lnTo>
                  <a:pt x="10769600" y="972332"/>
                </a:lnTo>
                <a:lnTo>
                  <a:pt x="10718800" y="970706"/>
                </a:lnTo>
                <a:lnTo>
                  <a:pt x="10668000" y="969121"/>
                </a:lnTo>
                <a:lnTo>
                  <a:pt x="10617200" y="967576"/>
                </a:lnTo>
                <a:lnTo>
                  <a:pt x="10566400" y="966073"/>
                </a:lnTo>
                <a:lnTo>
                  <a:pt x="10515600" y="964613"/>
                </a:lnTo>
                <a:lnTo>
                  <a:pt x="10464800" y="963197"/>
                </a:lnTo>
                <a:lnTo>
                  <a:pt x="10414000" y="961827"/>
                </a:lnTo>
                <a:lnTo>
                  <a:pt x="10363200" y="960502"/>
                </a:lnTo>
                <a:lnTo>
                  <a:pt x="10312400" y="959224"/>
                </a:lnTo>
                <a:lnTo>
                  <a:pt x="10261600" y="957994"/>
                </a:lnTo>
                <a:lnTo>
                  <a:pt x="10210800" y="956813"/>
                </a:lnTo>
                <a:lnTo>
                  <a:pt x="10160000" y="955681"/>
                </a:lnTo>
                <a:lnTo>
                  <a:pt x="10109200" y="954599"/>
                </a:lnTo>
                <a:lnTo>
                  <a:pt x="10058400" y="953568"/>
                </a:lnTo>
                <a:lnTo>
                  <a:pt x="10007600" y="952589"/>
                </a:lnTo>
                <a:lnTo>
                  <a:pt x="9956800" y="951662"/>
                </a:lnTo>
                <a:lnTo>
                  <a:pt x="9906000" y="950788"/>
                </a:lnTo>
                <a:lnTo>
                  <a:pt x="9855200" y="949968"/>
                </a:lnTo>
                <a:lnTo>
                  <a:pt x="9804400" y="949202"/>
                </a:lnTo>
                <a:lnTo>
                  <a:pt x="9753600" y="948490"/>
                </a:lnTo>
                <a:lnTo>
                  <a:pt x="9702800" y="947834"/>
                </a:lnTo>
                <a:lnTo>
                  <a:pt x="9652000" y="947233"/>
                </a:lnTo>
                <a:lnTo>
                  <a:pt x="9601200" y="946688"/>
                </a:lnTo>
                <a:lnTo>
                  <a:pt x="9550400" y="946199"/>
                </a:lnTo>
                <a:lnTo>
                  <a:pt x="9499600" y="945767"/>
                </a:lnTo>
                <a:lnTo>
                  <a:pt x="9448800" y="945392"/>
                </a:lnTo>
                <a:lnTo>
                  <a:pt x="9398000" y="945074"/>
                </a:lnTo>
                <a:lnTo>
                  <a:pt x="9347200" y="944814"/>
                </a:lnTo>
                <a:lnTo>
                  <a:pt x="9296400" y="944612"/>
                </a:lnTo>
                <a:lnTo>
                  <a:pt x="9245600" y="944467"/>
                </a:lnTo>
                <a:lnTo>
                  <a:pt x="9194800" y="944380"/>
                </a:lnTo>
                <a:lnTo>
                  <a:pt x="9144000" y="944351"/>
                </a:lnTo>
                <a:lnTo>
                  <a:pt x="9093200" y="944380"/>
                </a:lnTo>
                <a:lnTo>
                  <a:pt x="9042400" y="944467"/>
                </a:lnTo>
                <a:lnTo>
                  <a:pt x="8991600" y="944612"/>
                </a:lnTo>
                <a:lnTo>
                  <a:pt x="8940800" y="944814"/>
                </a:lnTo>
                <a:lnTo>
                  <a:pt x="8890000" y="945074"/>
                </a:lnTo>
                <a:lnTo>
                  <a:pt x="8839200" y="945392"/>
                </a:lnTo>
                <a:lnTo>
                  <a:pt x="8788400" y="945767"/>
                </a:lnTo>
                <a:lnTo>
                  <a:pt x="8737600" y="946199"/>
                </a:lnTo>
                <a:lnTo>
                  <a:pt x="8686800" y="946688"/>
                </a:lnTo>
                <a:lnTo>
                  <a:pt x="8636000" y="947233"/>
                </a:lnTo>
                <a:lnTo>
                  <a:pt x="8585200" y="947834"/>
                </a:lnTo>
                <a:lnTo>
                  <a:pt x="8534400" y="948490"/>
                </a:lnTo>
                <a:lnTo>
                  <a:pt x="8483599" y="949202"/>
                </a:lnTo>
                <a:lnTo>
                  <a:pt x="8432800" y="949968"/>
                </a:lnTo>
                <a:lnTo>
                  <a:pt x="8382000" y="950788"/>
                </a:lnTo>
                <a:lnTo>
                  <a:pt x="8331199" y="951662"/>
                </a:lnTo>
                <a:lnTo>
                  <a:pt x="8280400" y="952589"/>
                </a:lnTo>
                <a:lnTo>
                  <a:pt x="8229600" y="953568"/>
                </a:lnTo>
                <a:lnTo>
                  <a:pt x="8178799" y="954599"/>
                </a:lnTo>
                <a:lnTo>
                  <a:pt x="8128000" y="955681"/>
                </a:lnTo>
                <a:lnTo>
                  <a:pt x="8077200" y="956813"/>
                </a:lnTo>
                <a:lnTo>
                  <a:pt x="8026399" y="957994"/>
                </a:lnTo>
                <a:lnTo>
                  <a:pt x="7975600" y="959224"/>
                </a:lnTo>
                <a:lnTo>
                  <a:pt x="7924800" y="960502"/>
                </a:lnTo>
                <a:lnTo>
                  <a:pt x="7873999" y="961827"/>
                </a:lnTo>
                <a:lnTo>
                  <a:pt x="7823200" y="963197"/>
                </a:lnTo>
                <a:lnTo>
                  <a:pt x="7772400" y="964613"/>
                </a:lnTo>
                <a:lnTo>
                  <a:pt x="7721599" y="966073"/>
                </a:lnTo>
                <a:lnTo>
                  <a:pt x="7670800" y="967576"/>
                </a:lnTo>
                <a:lnTo>
                  <a:pt x="7620000" y="969121"/>
                </a:lnTo>
                <a:lnTo>
                  <a:pt x="7569199" y="970706"/>
                </a:lnTo>
                <a:lnTo>
                  <a:pt x="7518400" y="972332"/>
                </a:lnTo>
                <a:lnTo>
                  <a:pt x="7467600" y="973997"/>
                </a:lnTo>
                <a:lnTo>
                  <a:pt x="7416799" y="975699"/>
                </a:lnTo>
                <a:lnTo>
                  <a:pt x="7366000" y="977438"/>
                </a:lnTo>
                <a:lnTo>
                  <a:pt x="7315200" y="979211"/>
                </a:lnTo>
                <a:lnTo>
                  <a:pt x="7264399" y="981019"/>
                </a:lnTo>
                <a:lnTo>
                  <a:pt x="7213600" y="982860"/>
                </a:lnTo>
                <a:lnTo>
                  <a:pt x="7162800" y="984733"/>
                </a:lnTo>
                <a:lnTo>
                  <a:pt x="7112000" y="986635"/>
                </a:lnTo>
                <a:lnTo>
                  <a:pt x="7061200" y="988567"/>
                </a:lnTo>
                <a:lnTo>
                  <a:pt x="7010400" y="990526"/>
                </a:lnTo>
                <a:lnTo>
                  <a:pt x="6959600" y="992512"/>
                </a:lnTo>
                <a:lnTo>
                  <a:pt x="6908800" y="994523"/>
                </a:lnTo>
                <a:lnTo>
                  <a:pt x="6858000" y="996557"/>
                </a:lnTo>
                <a:lnTo>
                  <a:pt x="6807200" y="998613"/>
                </a:lnTo>
                <a:lnTo>
                  <a:pt x="6756400" y="1000690"/>
                </a:lnTo>
                <a:lnTo>
                  <a:pt x="6705600" y="1002787"/>
                </a:lnTo>
                <a:lnTo>
                  <a:pt x="6654800" y="1004901"/>
                </a:lnTo>
                <a:lnTo>
                  <a:pt x="6604000" y="1007032"/>
                </a:lnTo>
                <a:lnTo>
                  <a:pt x="6553200" y="1009178"/>
                </a:lnTo>
                <a:lnTo>
                  <a:pt x="6502400" y="1011337"/>
                </a:lnTo>
                <a:lnTo>
                  <a:pt x="6451600" y="1013508"/>
                </a:lnTo>
                <a:lnTo>
                  <a:pt x="6400800" y="1015690"/>
                </a:lnTo>
                <a:lnTo>
                  <a:pt x="6350000" y="1017881"/>
                </a:lnTo>
                <a:lnTo>
                  <a:pt x="6299200" y="1020080"/>
                </a:lnTo>
                <a:lnTo>
                  <a:pt x="6248400" y="1022285"/>
                </a:lnTo>
                <a:lnTo>
                  <a:pt x="6197600" y="1024494"/>
                </a:lnTo>
                <a:lnTo>
                  <a:pt x="6146800" y="1026706"/>
                </a:lnTo>
                <a:lnTo>
                  <a:pt x="6096000" y="1028920"/>
                </a:lnTo>
                <a:lnTo>
                  <a:pt x="6045200" y="1031133"/>
                </a:lnTo>
                <a:lnTo>
                  <a:pt x="5994400" y="1033346"/>
                </a:lnTo>
                <a:lnTo>
                  <a:pt x="5943600" y="1035555"/>
                </a:lnTo>
                <a:lnTo>
                  <a:pt x="5892800" y="1037760"/>
                </a:lnTo>
                <a:lnTo>
                  <a:pt x="5842000" y="1039958"/>
                </a:lnTo>
                <a:lnTo>
                  <a:pt x="5791200" y="1042149"/>
                </a:lnTo>
                <a:lnTo>
                  <a:pt x="5740400" y="1044331"/>
                </a:lnTo>
                <a:lnTo>
                  <a:pt x="5689600" y="1046503"/>
                </a:lnTo>
                <a:lnTo>
                  <a:pt x="5638800" y="1048662"/>
                </a:lnTo>
                <a:lnTo>
                  <a:pt x="5588000" y="1050808"/>
                </a:lnTo>
                <a:lnTo>
                  <a:pt x="5537200" y="1052939"/>
                </a:lnTo>
                <a:lnTo>
                  <a:pt x="5486400" y="1055053"/>
                </a:lnTo>
                <a:lnTo>
                  <a:pt x="5435600" y="1057149"/>
                </a:lnTo>
                <a:lnTo>
                  <a:pt x="5384800" y="1059226"/>
                </a:lnTo>
                <a:lnTo>
                  <a:pt x="5334000" y="1061283"/>
                </a:lnTo>
                <a:lnTo>
                  <a:pt x="5283200" y="1063317"/>
                </a:lnTo>
                <a:lnTo>
                  <a:pt x="5232400" y="1065328"/>
                </a:lnTo>
                <a:lnTo>
                  <a:pt x="5181600" y="1067313"/>
                </a:lnTo>
                <a:lnTo>
                  <a:pt x="5130800" y="1069272"/>
                </a:lnTo>
                <a:lnTo>
                  <a:pt x="5080000" y="1071204"/>
                </a:lnTo>
                <a:lnTo>
                  <a:pt x="5029200" y="1073107"/>
                </a:lnTo>
                <a:lnTo>
                  <a:pt x="4978400" y="1074979"/>
                </a:lnTo>
                <a:lnTo>
                  <a:pt x="4927599" y="1076820"/>
                </a:lnTo>
                <a:lnTo>
                  <a:pt x="4876800" y="1078628"/>
                </a:lnTo>
                <a:lnTo>
                  <a:pt x="4826000" y="1080402"/>
                </a:lnTo>
                <a:lnTo>
                  <a:pt x="4775199" y="1082141"/>
                </a:lnTo>
                <a:lnTo>
                  <a:pt x="4724400" y="1083843"/>
                </a:lnTo>
                <a:lnTo>
                  <a:pt x="4673600" y="1085507"/>
                </a:lnTo>
                <a:lnTo>
                  <a:pt x="4622799" y="1087133"/>
                </a:lnTo>
                <a:lnTo>
                  <a:pt x="4572000" y="1088719"/>
                </a:lnTo>
                <a:lnTo>
                  <a:pt x="4521200" y="1090264"/>
                </a:lnTo>
                <a:lnTo>
                  <a:pt x="4470399" y="1091767"/>
                </a:lnTo>
                <a:lnTo>
                  <a:pt x="4419600" y="1093226"/>
                </a:lnTo>
                <a:lnTo>
                  <a:pt x="4368800" y="1094642"/>
                </a:lnTo>
                <a:lnTo>
                  <a:pt x="4317999" y="1096013"/>
                </a:lnTo>
                <a:lnTo>
                  <a:pt x="4267200" y="1097337"/>
                </a:lnTo>
                <a:lnTo>
                  <a:pt x="4216400" y="1098615"/>
                </a:lnTo>
                <a:lnTo>
                  <a:pt x="4165599" y="1099845"/>
                </a:lnTo>
                <a:lnTo>
                  <a:pt x="4114800" y="1101026"/>
                </a:lnTo>
                <a:lnTo>
                  <a:pt x="4064000" y="1102158"/>
                </a:lnTo>
                <a:lnTo>
                  <a:pt x="4013199" y="1103240"/>
                </a:lnTo>
                <a:lnTo>
                  <a:pt x="3962400" y="1104271"/>
                </a:lnTo>
                <a:lnTo>
                  <a:pt x="3911600" y="1105250"/>
                </a:lnTo>
                <a:lnTo>
                  <a:pt x="3860799" y="1106177"/>
                </a:lnTo>
                <a:lnTo>
                  <a:pt x="3810000" y="1107051"/>
                </a:lnTo>
                <a:lnTo>
                  <a:pt x="3759200" y="1107871"/>
                </a:lnTo>
                <a:lnTo>
                  <a:pt x="3708399" y="1108638"/>
                </a:lnTo>
                <a:lnTo>
                  <a:pt x="3657600" y="1109349"/>
                </a:lnTo>
                <a:lnTo>
                  <a:pt x="3606800" y="1110006"/>
                </a:lnTo>
                <a:lnTo>
                  <a:pt x="3555999" y="1110607"/>
                </a:lnTo>
                <a:lnTo>
                  <a:pt x="3505200" y="1111152"/>
                </a:lnTo>
                <a:lnTo>
                  <a:pt x="3454400" y="1111640"/>
                </a:lnTo>
                <a:lnTo>
                  <a:pt x="3403599" y="1112072"/>
                </a:lnTo>
                <a:lnTo>
                  <a:pt x="3352800" y="1112447"/>
                </a:lnTo>
                <a:lnTo>
                  <a:pt x="3302000" y="1112765"/>
                </a:lnTo>
                <a:lnTo>
                  <a:pt x="3251199" y="1113025"/>
                </a:lnTo>
                <a:lnTo>
                  <a:pt x="3200400" y="1113228"/>
                </a:lnTo>
                <a:lnTo>
                  <a:pt x="3149600" y="1113373"/>
                </a:lnTo>
                <a:lnTo>
                  <a:pt x="3098799" y="1113460"/>
                </a:lnTo>
                <a:lnTo>
                  <a:pt x="3048000" y="1113489"/>
                </a:lnTo>
                <a:lnTo>
                  <a:pt x="2997200" y="1113460"/>
                </a:lnTo>
                <a:lnTo>
                  <a:pt x="2946399" y="1113373"/>
                </a:lnTo>
                <a:lnTo>
                  <a:pt x="2895600" y="1113228"/>
                </a:lnTo>
                <a:lnTo>
                  <a:pt x="2844800" y="1113025"/>
                </a:lnTo>
                <a:lnTo>
                  <a:pt x="2793999" y="1112765"/>
                </a:lnTo>
                <a:lnTo>
                  <a:pt x="2743200" y="1112447"/>
                </a:lnTo>
                <a:lnTo>
                  <a:pt x="2692400" y="1112072"/>
                </a:lnTo>
                <a:lnTo>
                  <a:pt x="2641599" y="1111640"/>
                </a:lnTo>
                <a:lnTo>
                  <a:pt x="2590800" y="1111152"/>
                </a:lnTo>
                <a:lnTo>
                  <a:pt x="2540000" y="1110607"/>
                </a:lnTo>
                <a:lnTo>
                  <a:pt x="2489199" y="1110006"/>
                </a:lnTo>
                <a:lnTo>
                  <a:pt x="2438400" y="1109349"/>
                </a:lnTo>
                <a:lnTo>
                  <a:pt x="2387600" y="1108638"/>
                </a:lnTo>
                <a:lnTo>
                  <a:pt x="2336799" y="1107871"/>
                </a:lnTo>
                <a:lnTo>
                  <a:pt x="2286000" y="1107051"/>
                </a:lnTo>
                <a:lnTo>
                  <a:pt x="2235200" y="1106177"/>
                </a:lnTo>
                <a:lnTo>
                  <a:pt x="2184399" y="1105250"/>
                </a:lnTo>
                <a:lnTo>
                  <a:pt x="2133600" y="1104271"/>
                </a:lnTo>
                <a:lnTo>
                  <a:pt x="2082800" y="1103240"/>
                </a:lnTo>
                <a:lnTo>
                  <a:pt x="2031999" y="1102158"/>
                </a:lnTo>
                <a:lnTo>
                  <a:pt x="1981200" y="1101026"/>
                </a:lnTo>
                <a:lnTo>
                  <a:pt x="1930400" y="1099845"/>
                </a:lnTo>
                <a:lnTo>
                  <a:pt x="1879599" y="1098615"/>
                </a:lnTo>
                <a:lnTo>
                  <a:pt x="1828800" y="1097337"/>
                </a:lnTo>
                <a:lnTo>
                  <a:pt x="1778000" y="1096013"/>
                </a:lnTo>
                <a:lnTo>
                  <a:pt x="1727199" y="1094642"/>
                </a:lnTo>
                <a:lnTo>
                  <a:pt x="1676400" y="1093226"/>
                </a:lnTo>
                <a:lnTo>
                  <a:pt x="1625600" y="1091767"/>
                </a:lnTo>
                <a:lnTo>
                  <a:pt x="1574799" y="1090264"/>
                </a:lnTo>
                <a:lnTo>
                  <a:pt x="1524000" y="1088719"/>
                </a:lnTo>
                <a:lnTo>
                  <a:pt x="1473200" y="1087133"/>
                </a:lnTo>
                <a:lnTo>
                  <a:pt x="1422399" y="1085507"/>
                </a:lnTo>
                <a:lnTo>
                  <a:pt x="1371600" y="1083843"/>
                </a:lnTo>
                <a:lnTo>
                  <a:pt x="1320800" y="1082141"/>
                </a:lnTo>
                <a:lnTo>
                  <a:pt x="1269999" y="1080402"/>
                </a:lnTo>
                <a:lnTo>
                  <a:pt x="1219200" y="1078628"/>
                </a:lnTo>
                <a:lnTo>
                  <a:pt x="1168400" y="1076820"/>
                </a:lnTo>
                <a:lnTo>
                  <a:pt x="1117599" y="1074979"/>
                </a:lnTo>
                <a:lnTo>
                  <a:pt x="1066800" y="1073107"/>
                </a:lnTo>
                <a:lnTo>
                  <a:pt x="1016000" y="1071204"/>
                </a:lnTo>
                <a:lnTo>
                  <a:pt x="965199" y="1069272"/>
                </a:lnTo>
                <a:lnTo>
                  <a:pt x="914400" y="1067313"/>
                </a:lnTo>
                <a:lnTo>
                  <a:pt x="863600" y="1065328"/>
                </a:lnTo>
                <a:lnTo>
                  <a:pt x="812799" y="1063317"/>
                </a:lnTo>
                <a:lnTo>
                  <a:pt x="762000" y="1061283"/>
                </a:lnTo>
                <a:lnTo>
                  <a:pt x="711200" y="1059226"/>
                </a:lnTo>
                <a:lnTo>
                  <a:pt x="660399" y="1057149"/>
                </a:lnTo>
                <a:lnTo>
                  <a:pt x="609600" y="1055053"/>
                </a:lnTo>
                <a:lnTo>
                  <a:pt x="558800" y="1052939"/>
                </a:lnTo>
                <a:lnTo>
                  <a:pt x="507999" y="1050808"/>
                </a:lnTo>
                <a:lnTo>
                  <a:pt x="457200" y="1048662"/>
                </a:lnTo>
                <a:lnTo>
                  <a:pt x="406400" y="1046503"/>
                </a:lnTo>
                <a:lnTo>
                  <a:pt x="355599" y="1044331"/>
                </a:lnTo>
                <a:lnTo>
                  <a:pt x="304800" y="1042149"/>
                </a:lnTo>
                <a:lnTo>
                  <a:pt x="254000" y="1039958"/>
                </a:lnTo>
                <a:lnTo>
                  <a:pt x="203199" y="1037760"/>
                </a:lnTo>
                <a:lnTo>
                  <a:pt x="152400" y="1035555"/>
                </a:lnTo>
                <a:lnTo>
                  <a:pt x="101600" y="1033346"/>
                </a:lnTo>
                <a:lnTo>
                  <a:pt x="50799" y="1031133"/>
                </a:lnTo>
                <a:lnTo>
                  <a:pt x="0" y="1028920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ヘッダー山1"/>
          <p:cNvSpPr/>
          <p:nvPr/>
        </p:nvSpPr>
        <p:spPr>
          <a:xfrm>
            <a:off x="8315930" y="352369"/>
            <a:ext cx="2078983" cy="591982"/>
          </a:xfrm>
          <a:custGeom>
            <a:avLst/>
            <a:gdLst/>
            <a:ahLst/>
            <a:cxnLst/>
            <a:rect l="l" t="t" r="r" b="b"/>
            <a:pathLst>
              <a:path w="2078983" h="591982">
                <a:moveTo>
                  <a:pt x="0" y="591982"/>
                </a:moveTo>
                <a:lnTo>
                  <a:pt x="1141679" y="0"/>
                </a:lnTo>
                <a:lnTo>
                  <a:pt x="2078983" y="591982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ヘッダー山2"/>
          <p:cNvSpPr/>
          <p:nvPr/>
        </p:nvSpPr>
        <p:spPr>
          <a:xfrm>
            <a:off x="9866358" y="591981"/>
            <a:ext cx="2043746" cy="352370"/>
          </a:xfrm>
          <a:custGeom>
            <a:avLst/>
            <a:gdLst/>
            <a:ahLst/>
            <a:cxnLst/>
            <a:rect l="l" t="t" r="r" b="b"/>
            <a:pathLst>
              <a:path w="2043746" h="352370">
                <a:moveTo>
                  <a:pt x="0" y="352370"/>
                </a:moveTo>
                <a:lnTo>
                  <a:pt x="1021873" y="0"/>
                </a:lnTo>
                <a:lnTo>
                  <a:pt x="2043746" y="35237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451033" y="211421"/>
            <a:ext cx="6342658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4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実習プログラム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451033" y="422843"/>
            <a:ext cx="10571098" cy="4933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1日で、5日間で。目的に合わせて選べる2つのプログラム</a:t>
            </a:r>
          </a:p>
        </p:txBody>
      </p:sp>
      <p:sp>
        <p:nvSpPr>
          <p:cNvPr id="6" name="帯_1DAY"/>
          <p:cNvSpPr/>
          <p:nvPr/>
        </p:nvSpPr>
        <p:spPr>
          <a:xfrm>
            <a:off x="451033" y="1212152"/>
            <a:ext cx="5708393" cy="535602"/>
          </a:xfrm>
          <a:prstGeom prst="roundRect">
            <a:avLst>
              <a:gd name="adj" fmla="val 3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1DAY"/>
          <p:cNvSpPr txBox="1"/>
          <p:nvPr/>
        </p:nvSpPr>
        <p:spPr>
          <a:xfrm>
            <a:off x="648360" y="1212152"/>
            <a:ext cx="1409479" cy="5356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1DAY</a:t>
            </a:r>
          </a:p>
        </p:txBody>
      </p:sp>
      <p:sp>
        <p:nvSpPr>
          <p:cNvPr id="8" name="1DAY_見出し"/>
          <p:cNvSpPr txBox="1"/>
          <p:nvPr/>
        </p:nvSpPr>
        <p:spPr>
          <a:xfrm>
            <a:off x="1930987" y="1282626"/>
            <a:ext cx="4087491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1日で、現場をのぞいてみる</a:t>
            </a:r>
          </a:p>
        </p:txBody>
      </p:sp>
      <p:sp>
        <p:nvSpPr>
          <p:cNvPr id="9" name="1DAY_補足"/>
          <p:cNvSpPr txBox="1"/>
          <p:nvPr/>
        </p:nvSpPr>
        <p:spPr>
          <a:xfrm>
            <a:off x="1930987" y="1522238"/>
            <a:ext cx="4087491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4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9:30〜15:00ごろ　はじめての方に</a:t>
            </a:r>
          </a:p>
        </p:txBody>
      </p:sp>
      <p:sp>
        <p:nvSpPr>
          <p:cNvPr id="10" name="帯_5DAYS"/>
          <p:cNvSpPr/>
          <p:nvPr/>
        </p:nvSpPr>
        <p:spPr>
          <a:xfrm>
            <a:off x="6370848" y="1212152"/>
            <a:ext cx="5370117" cy="535602"/>
          </a:xfrm>
          <a:prstGeom prst="roundRect">
            <a:avLst>
              <a:gd name="adj" fmla="val 3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5DAYS"/>
          <p:cNvSpPr txBox="1"/>
          <p:nvPr/>
        </p:nvSpPr>
        <p:spPr>
          <a:xfrm>
            <a:off x="6568175" y="1212152"/>
            <a:ext cx="1409479" cy="5356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5DAYS</a:t>
            </a:r>
          </a:p>
        </p:txBody>
      </p:sp>
      <p:sp>
        <p:nvSpPr>
          <p:cNvPr id="12" name="5DAYS_見出し"/>
          <p:cNvSpPr txBox="1"/>
          <p:nvPr/>
        </p:nvSpPr>
        <p:spPr>
          <a:xfrm>
            <a:off x="7850802" y="1282626"/>
            <a:ext cx="3749216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5日間で、じっくり向き合う</a:t>
            </a:r>
          </a:p>
        </p:txBody>
      </p:sp>
      <p:sp>
        <p:nvSpPr>
          <p:cNvPr id="13" name="5DAYS_補足"/>
          <p:cNvSpPr txBox="1"/>
          <p:nvPr/>
        </p:nvSpPr>
        <p:spPr>
          <a:xfrm>
            <a:off x="7850802" y="1522238"/>
            <a:ext cx="3749216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4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DAY1〜DAY5　じっくり学びたい方に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1033" y="1874608"/>
            <a:ext cx="5708393" cy="761119"/>
          </a:xfrm>
          <a:prstGeom prst="roundRect">
            <a:avLst>
              <a:gd name="adj" fmla="val 1851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時刻"/>
          <p:cNvSpPr/>
          <p:nvPr/>
        </p:nvSpPr>
        <p:spPr>
          <a:xfrm>
            <a:off x="648360" y="2086030"/>
            <a:ext cx="845687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時刻_9:30"/>
          <p:cNvSpPr txBox="1"/>
          <p:nvPr/>
        </p:nvSpPr>
        <p:spPr>
          <a:xfrm>
            <a:off x="648360" y="2086030"/>
            <a:ext cx="84568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9:30</a:t>
            </a:r>
          </a:p>
        </p:txBody>
      </p:sp>
      <p:sp>
        <p:nvSpPr>
          <p:cNvPr id="18" name="要点_受付とオープニング"/>
          <p:cNvSpPr txBox="1"/>
          <p:nvPr/>
        </p:nvSpPr>
        <p:spPr>
          <a:xfrm>
            <a:off x="1663186" y="1959176"/>
            <a:ext cx="4369387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87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受付とオープニング</a:t>
            </a:r>
          </a:p>
        </p:txBody>
      </p:sp>
      <p:sp>
        <p:nvSpPr>
          <p:cNvPr id="19" name="説明_受付とオープニング"/>
          <p:cNvSpPr txBox="1"/>
          <p:nvPr/>
        </p:nvSpPr>
        <p:spPr>
          <a:xfrm>
            <a:off x="1663186" y="2226978"/>
            <a:ext cx="4369387" cy="36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メンターが温かく出迎え。会社紹介のショート動画で雰囲気を共有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1033" y="2720295"/>
            <a:ext cx="5708393" cy="761119"/>
          </a:xfrm>
          <a:prstGeom prst="roundRect">
            <a:avLst>
              <a:gd name="adj" fmla="val 1851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時刻"/>
          <p:cNvSpPr/>
          <p:nvPr/>
        </p:nvSpPr>
        <p:spPr>
          <a:xfrm>
            <a:off x="648360" y="2931717"/>
            <a:ext cx="845687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時刻_10:00"/>
          <p:cNvSpPr txBox="1"/>
          <p:nvPr/>
        </p:nvSpPr>
        <p:spPr>
          <a:xfrm>
            <a:off x="648360" y="2931717"/>
            <a:ext cx="84568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10:00</a:t>
            </a:r>
          </a:p>
        </p:txBody>
      </p:sp>
      <p:sp>
        <p:nvSpPr>
          <p:cNvPr id="24" name="要点_現場シャドーイング＆その人らしさへの傾聴体験"/>
          <p:cNvSpPr txBox="1"/>
          <p:nvPr/>
        </p:nvSpPr>
        <p:spPr>
          <a:xfrm>
            <a:off x="1663186" y="2804864"/>
            <a:ext cx="4369387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87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現場シャドーイング＆その人らしさへの傾聴体験</a:t>
            </a:r>
          </a:p>
        </p:txBody>
      </p:sp>
      <p:sp>
        <p:nvSpPr>
          <p:cNvPr id="25" name="説明_現場シャドーイング＆その人らしさへの傾聴体験"/>
          <p:cNvSpPr txBox="1"/>
          <p:nvPr/>
        </p:nvSpPr>
        <p:spPr>
          <a:xfrm>
            <a:off x="1663186" y="3072665"/>
            <a:ext cx="4369387" cy="36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現場業務のサポートと利用者様へのインタビュー。対話・傾聴が中心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1033" y="3565983"/>
            <a:ext cx="5708393" cy="761119"/>
          </a:xfrm>
          <a:prstGeom prst="roundRect">
            <a:avLst>
              <a:gd name="adj" fmla="val 1851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時刻"/>
          <p:cNvSpPr/>
          <p:nvPr/>
        </p:nvSpPr>
        <p:spPr>
          <a:xfrm>
            <a:off x="648360" y="3777405"/>
            <a:ext cx="845687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時刻_12:00"/>
          <p:cNvSpPr txBox="1"/>
          <p:nvPr/>
        </p:nvSpPr>
        <p:spPr>
          <a:xfrm>
            <a:off x="648360" y="3777405"/>
            <a:ext cx="84568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12:00</a:t>
            </a:r>
          </a:p>
        </p:txBody>
      </p:sp>
      <p:sp>
        <p:nvSpPr>
          <p:cNvPr id="30" name="要点_ランチセッション"/>
          <p:cNvSpPr txBox="1"/>
          <p:nvPr/>
        </p:nvSpPr>
        <p:spPr>
          <a:xfrm>
            <a:off x="1663186" y="3650552"/>
            <a:ext cx="4369387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87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ランチセッション</a:t>
            </a:r>
          </a:p>
        </p:txBody>
      </p:sp>
      <p:sp>
        <p:nvSpPr>
          <p:cNvPr id="31" name="説明_ランチセッション"/>
          <p:cNvSpPr txBox="1"/>
          <p:nvPr/>
        </p:nvSpPr>
        <p:spPr>
          <a:xfrm>
            <a:off x="1663186" y="3918353"/>
            <a:ext cx="4369387" cy="36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美味しいご飯と、先輩社員の地方暮らし・働き方のホンネトーク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1033" y="4411671"/>
            <a:ext cx="5708393" cy="761119"/>
          </a:xfrm>
          <a:prstGeom prst="roundRect">
            <a:avLst>
              <a:gd name="adj" fmla="val 1851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時刻"/>
          <p:cNvSpPr/>
          <p:nvPr/>
        </p:nvSpPr>
        <p:spPr>
          <a:xfrm>
            <a:off x="648360" y="4623093"/>
            <a:ext cx="845687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時刻_13:00"/>
          <p:cNvSpPr txBox="1"/>
          <p:nvPr/>
        </p:nvSpPr>
        <p:spPr>
          <a:xfrm>
            <a:off x="648360" y="4623093"/>
            <a:ext cx="84568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13:00</a:t>
            </a:r>
          </a:p>
        </p:txBody>
      </p:sp>
      <p:sp>
        <p:nvSpPr>
          <p:cNvPr id="36" name="要点_対話ワーク『100歳までの履歴書』"/>
          <p:cNvSpPr txBox="1"/>
          <p:nvPr/>
        </p:nvSpPr>
        <p:spPr>
          <a:xfrm>
            <a:off x="1663186" y="4496240"/>
            <a:ext cx="4369387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87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対話ワーク『100歳までの履歴書』</a:t>
            </a:r>
          </a:p>
        </p:txBody>
      </p:sp>
      <p:sp>
        <p:nvSpPr>
          <p:cNvPr id="37" name="説明_対話ワーク『100歳までの履歴書』"/>
          <p:cNvSpPr txBox="1"/>
          <p:nvPr/>
        </p:nvSpPr>
        <p:spPr>
          <a:xfrm>
            <a:off x="1663186" y="4764041"/>
            <a:ext cx="4369387" cy="36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「どんな大人になっていたいか」から逆算し、大切にしたい「CARE」を言語化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1033" y="5257359"/>
            <a:ext cx="5708393" cy="761119"/>
          </a:xfrm>
          <a:prstGeom prst="roundRect">
            <a:avLst>
              <a:gd name="adj" fmla="val 1851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時刻"/>
          <p:cNvSpPr/>
          <p:nvPr/>
        </p:nvSpPr>
        <p:spPr>
          <a:xfrm>
            <a:off x="648360" y="5468781"/>
            <a:ext cx="845687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時刻_14:30"/>
          <p:cNvSpPr txBox="1"/>
          <p:nvPr/>
        </p:nvSpPr>
        <p:spPr>
          <a:xfrm>
            <a:off x="648360" y="5468781"/>
            <a:ext cx="84568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14:30</a:t>
            </a:r>
          </a:p>
        </p:txBody>
      </p:sp>
      <p:sp>
        <p:nvSpPr>
          <p:cNvPr id="42" name="要点_リフレクション＆フィードバック"/>
          <p:cNvSpPr txBox="1"/>
          <p:nvPr/>
        </p:nvSpPr>
        <p:spPr>
          <a:xfrm>
            <a:off x="1663186" y="5341928"/>
            <a:ext cx="4369387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87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リフレクション＆フィードバック</a:t>
            </a:r>
          </a:p>
        </p:txBody>
      </p:sp>
      <p:sp>
        <p:nvSpPr>
          <p:cNvPr id="43" name="説明_リフレクション＆フィードバック"/>
          <p:cNvSpPr txBox="1"/>
          <p:nvPr/>
        </p:nvSpPr>
        <p:spPr>
          <a:xfrm>
            <a:off x="1663186" y="5609729"/>
            <a:ext cx="4369387" cy="36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メンターからの応援メッセージとフィードバックシートをお渡し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70848" y="1874608"/>
            <a:ext cx="5370117" cy="761119"/>
          </a:xfrm>
          <a:prstGeom prst="roundRect">
            <a:avLst>
              <a:gd name="adj" fmla="val 1851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日"/>
          <p:cNvSpPr/>
          <p:nvPr/>
        </p:nvSpPr>
        <p:spPr>
          <a:xfrm>
            <a:off x="6568175" y="2086030"/>
            <a:ext cx="90206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日_DAY1"/>
          <p:cNvSpPr txBox="1"/>
          <p:nvPr/>
        </p:nvSpPr>
        <p:spPr>
          <a:xfrm>
            <a:off x="6568175" y="2086030"/>
            <a:ext cx="90206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DAY1</a:t>
            </a:r>
          </a:p>
        </p:txBody>
      </p:sp>
      <p:sp>
        <p:nvSpPr>
          <p:cNvPr id="48" name="要点_インストール"/>
          <p:cNvSpPr txBox="1"/>
          <p:nvPr/>
        </p:nvSpPr>
        <p:spPr>
          <a:xfrm>
            <a:off x="7611190" y="1959176"/>
            <a:ext cx="3946543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インストール</a:t>
            </a:r>
          </a:p>
        </p:txBody>
      </p:sp>
      <p:sp>
        <p:nvSpPr>
          <p:cNvPr id="49" name="説明_インストール"/>
          <p:cNvSpPr txBox="1"/>
          <p:nvPr/>
        </p:nvSpPr>
        <p:spPr>
          <a:xfrm>
            <a:off x="7611190" y="2226978"/>
            <a:ext cx="3946543" cy="36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オリエンテーション・動画鑑賞・メンターと「実習中の目標」設定。利用者様の人生のお話に耳を傾ける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70848" y="2720295"/>
            <a:ext cx="5370117" cy="761119"/>
          </a:xfrm>
          <a:prstGeom prst="roundRect">
            <a:avLst>
              <a:gd name="adj" fmla="val 1851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日"/>
          <p:cNvSpPr/>
          <p:nvPr/>
        </p:nvSpPr>
        <p:spPr>
          <a:xfrm>
            <a:off x="6568175" y="2931717"/>
            <a:ext cx="90206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日_DAY2-3"/>
          <p:cNvSpPr txBox="1"/>
          <p:nvPr/>
        </p:nvSpPr>
        <p:spPr>
          <a:xfrm>
            <a:off x="6568175" y="2931717"/>
            <a:ext cx="90206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DAY2-3</a:t>
            </a:r>
          </a:p>
        </p:txBody>
      </p:sp>
      <p:sp>
        <p:nvSpPr>
          <p:cNvPr id="54" name="要点_現場ケアと人間関係の構築"/>
          <p:cNvSpPr txBox="1"/>
          <p:nvPr/>
        </p:nvSpPr>
        <p:spPr>
          <a:xfrm>
            <a:off x="7611190" y="2804864"/>
            <a:ext cx="3946543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現場ケアと人間関係の構築</a:t>
            </a:r>
          </a:p>
        </p:txBody>
      </p:sp>
      <p:sp>
        <p:nvSpPr>
          <p:cNvPr id="55" name="説明_現場ケアと人間関係の構築"/>
          <p:cNvSpPr txBox="1"/>
          <p:nvPr/>
        </p:nvSpPr>
        <p:spPr>
          <a:xfrm>
            <a:off x="7611190" y="3072665"/>
            <a:ext cx="3946543" cy="36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現場業務のサポートと利用者様へのインタビュー。メンターと毎日の振り返り（※実習サイトへ）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370848" y="3565983"/>
            <a:ext cx="5370117" cy="761119"/>
          </a:xfrm>
          <a:prstGeom prst="roundRect">
            <a:avLst>
              <a:gd name="adj" fmla="val 1851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日"/>
          <p:cNvSpPr/>
          <p:nvPr/>
        </p:nvSpPr>
        <p:spPr>
          <a:xfrm>
            <a:off x="6568175" y="3777405"/>
            <a:ext cx="90206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日_DAY4"/>
          <p:cNvSpPr txBox="1"/>
          <p:nvPr/>
        </p:nvSpPr>
        <p:spPr>
          <a:xfrm>
            <a:off x="6568175" y="3777405"/>
            <a:ext cx="90206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DAY4</a:t>
            </a:r>
          </a:p>
        </p:txBody>
      </p:sp>
      <p:sp>
        <p:nvSpPr>
          <p:cNvPr id="60" name="要点_笑顔を届けるプチ企画"/>
          <p:cNvSpPr txBox="1"/>
          <p:nvPr/>
        </p:nvSpPr>
        <p:spPr>
          <a:xfrm>
            <a:off x="7611190" y="3650552"/>
            <a:ext cx="3946543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笑顔を届けるプチ企画</a:t>
            </a:r>
          </a:p>
        </p:txBody>
      </p:sp>
      <p:sp>
        <p:nvSpPr>
          <p:cNvPr id="61" name="説明_笑顔を届けるプチ企画"/>
          <p:cNvSpPr txBox="1"/>
          <p:nvPr/>
        </p:nvSpPr>
        <p:spPr>
          <a:xfrm>
            <a:off x="7611190" y="3918353"/>
            <a:ext cx="3946543" cy="36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学生が考えた「利用者様を喜ばせる小さな企画」（お茶会・手書きメッセージ等）を実践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370848" y="4411671"/>
            <a:ext cx="5370117" cy="761119"/>
          </a:xfrm>
          <a:prstGeom prst="roundRect">
            <a:avLst>
              <a:gd name="adj" fmla="val 1851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日"/>
          <p:cNvSpPr/>
          <p:nvPr/>
        </p:nvSpPr>
        <p:spPr>
          <a:xfrm>
            <a:off x="6568175" y="4623093"/>
            <a:ext cx="90206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日_DAY5"/>
          <p:cNvSpPr txBox="1"/>
          <p:nvPr/>
        </p:nvSpPr>
        <p:spPr>
          <a:xfrm>
            <a:off x="6568175" y="4623093"/>
            <a:ext cx="90206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DAY5</a:t>
            </a:r>
          </a:p>
        </p:txBody>
      </p:sp>
      <p:sp>
        <p:nvSpPr>
          <p:cNvPr id="66" name="要点_履歴書の発表会＆結びのランチ"/>
          <p:cNvSpPr txBox="1"/>
          <p:nvPr/>
        </p:nvSpPr>
        <p:spPr>
          <a:xfrm>
            <a:off x="7611190" y="4496240"/>
            <a:ext cx="3946543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履歴書の発表会＆結びのランチ</a:t>
            </a:r>
          </a:p>
        </p:txBody>
      </p:sp>
      <p:sp>
        <p:nvSpPr>
          <p:cNvPr id="67" name="説明_履歴書の発表会＆結びのランチ"/>
          <p:cNvSpPr txBox="1"/>
          <p:nvPr/>
        </p:nvSpPr>
        <p:spPr>
          <a:xfrm>
            <a:off x="7611190" y="4764041"/>
            <a:ext cx="3946543" cy="36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「100歳までの履歴書」の発表、メンター全員からのメッセージ、修了式</a:t>
            </a:r>
          </a:p>
        </p:txBody>
      </p:sp>
      <p:sp>
        <p:nvSpPr>
          <p:cNvPr id="68" name="掲載ボックス"/>
          <p:cNvSpPr/>
          <p:nvPr/>
        </p:nvSpPr>
        <p:spPr>
          <a:xfrm>
            <a:off x="6370848" y="5257359"/>
            <a:ext cx="5370117" cy="831593"/>
          </a:xfrm>
          <a:prstGeom prst="roundRect">
            <a:avLst>
              <a:gd name="adj" fmla="val 14000"/>
            </a:avLst>
          </a:prstGeom>
          <a:solidFill>
            <a:srgbClr val="FF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掲載_見出し"/>
          <p:cNvSpPr txBox="1"/>
          <p:nvPr/>
        </p:nvSpPr>
        <p:spPr>
          <a:xfrm>
            <a:off x="6596365" y="5370117"/>
            <a:ext cx="4933179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31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体験はサイトへ、運営は標準化</a:t>
            </a:r>
          </a:p>
        </p:txBody>
      </p:sp>
      <p:sp>
        <p:nvSpPr>
          <p:cNvPr id="70" name="掲載_本文"/>
          <p:cNvSpPr txBox="1"/>
          <p:nvPr/>
        </p:nvSpPr>
        <p:spPr>
          <a:xfrm>
            <a:off x="6596365" y="5652013"/>
            <a:ext cx="4933179" cy="3946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実習の体験・感想を、後日実習サイトに掲載。</a:t>
            </a:r>
          </a:p>
          <a:p>
            <a:pPr algn="l">
              <a:lnSpc>
                <a:spcPct val="12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学習シートを用意し、プログラムを標準化します。</a:t>
            </a:r>
          </a:p>
        </p:txBody>
      </p:sp>
      <p:sp>
        <p:nvSpPr>
          <p:cNvPr id="71" name="注記"/>
          <p:cNvSpPr txBox="1"/>
          <p:nvPr/>
        </p:nvSpPr>
        <p:spPr>
          <a:xfrm>
            <a:off x="451033" y="6300374"/>
            <a:ext cx="11275838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7" b="0">
                <a:solidFill>
                  <a:srgbClr val="7A8A87"/>
                </a:solidFill>
                <a:latin typeface="游ゴシック"/>
                <a:ea typeface="游ゴシック"/>
                <a:cs typeface="游ゴシック"/>
              </a:rPr>
              <a:t>※ プログラムの内容・日程はサイト上でも「調整中」です。</a:t>
            </a:r>
          </a:p>
        </p:txBody>
      </p:sp>
      <p:sp>
        <p:nvSpPr>
          <p:cNvPr id="72" name="ページ番号"/>
          <p:cNvSpPr txBox="1"/>
          <p:nvPr/>
        </p:nvSpPr>
        <p:spPr>
          <a:xfrm>
            <a:off x="10895278" y="6300374"/>
            <a:ext cx="845687" cy="1832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32">
                <a:solidFill>
                  <a:srgbClr val="8A9A96"/>
                </a:solidFill>
                <a:latin typeface="游ゴシック"/>
              </a:rPr>
              <a:t>9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5963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113489"/>
          </a:xfrm>
          <a:custGeom>
            <a:avLst/>
            <a:gdLst/>
            <a:ahLst/>
            <a:cxnLst/>
            <a:rect l="l" t="t" r="r" b="b"/>
            <a:pathLst>
              <a:path w="12192000" h="1113489">
                <a:moveTo>
                  <a:pt x="0" y="0"/>
                </a:moveTo>
                <a:lnTo>
                  <a:pt x="12192000" y="0"/>
                </a:lnTo>
                <a:lnTo>
                  <a:pt x="12192000" y="1028920"/>
                </a:lnTo>
                <a:lnTo>
                  <a:pt x="12141200" y="1026706"/>
                </a:lnTo>
                <a:lnTo>
                  <a:pt x="12090400" y="1024494"/>
                </a:lnTo>
                <a:lnTo>
                  <a:pt x="12039600" y="1022285"/>
                </a:lnTo>
                <a:lnTo>
                  <a:pt x="11988800" y="1020080"/>
                </a:lnTo>
                <a:lnTo>
                  <a:pt x="11938000" y="1017881"/>
                </a:lnTo>
                <a:lnTo>
                  <a:pt x="11887200" y="1015690"/>
                </a:lnTo>
                <a:lnTo>
                  <a:pt x="11836400" y="1013508"/>
                </a:lnTo>
                <a:lnTo>
                  <a:pt x="11785600" y="1011337"/>
                </a:lnTo>
                <a:lnTo>
                  <a:pt x="11734800" y="1009178"/>
                </a:lnTo>
                <a:lnTo>
                  <a:pt x="11684000" y="1007032"/>
                </a:lnTo>
                <a:lnTo>
                  <a:pt x="11633200" y="1004901"/>
                </a:lnTo>
                <a:lnTo>
                  <a:pt x="11582400" y="1002787"/>
                </a:lnTo>
                <a:lnTo>
                  <a:pt x="11531600" y="1000690"/>
                </a:lnTo>
                <a:lnTo>
                  <a:pt x="11480800" y="998613"/>
                </a:lnTo>
                <a:lnTo>
                  <a:pt x="11430000" y="996557"/>
                </a:lnTo>
                <a:lnTo>
                  <a:pt x="11379200" y="994523"/>
                </a:lnTo>
                <a:lnTo>
                  <a:pt x="11328400" y="992512"/>
                </a:lnTo>
                <a:lnTo>
                  <a:pt x="11277600" y="990526"/>
                </a:lnTo>
                <a:lnTo>
                  <a:pt x="11226800" y="988567"/>
                </a:lnTo>
                <a:lnTo>
                  <a:pt x="11176000" y="986635"/>
                </a:lnTo>
                <a:lnTo>
                  <a:pt x="11125200" y="984733"/>
                </a:lnTo>
                <a:lnTo>
                  <a:pt x="11074400" y="982860"/>
                </a:lnTo>
                <a:lnTo>
                  <a:pt x="11023600" y="981019"/>
                </a:lnTo>
                <a:lnTo>
                  <a:pt x="10972800" y="979211"/>
                </a:lnTo>
                <a:lnTo>
                  <a:pt x="10922000" y="977438"/>
                </a:lnTo>
                <a:lnTo>
                  <a:pt x="10871200" y="975699"/>
                </a:lnTo>
                <a:lnTo>
                  <a:pt x="10820400" y="973997"/>
                </a:lnTo>
                <a:lnTo>
                  <a:pt x="10769600" y="972332"/>
                </a:lnTo>
                <a:lnTo>
                  <a:pt x="10718800" y="970706"/>
                </a:lnTo>
                <a:lnTo>
                  <a:pt x="10668000" y="969121"/>
                </a:lnTo>
                <a:lnTo>
                  <a:pt x="10617200" y="967576"/>
                </a:lnTo>
                <a:lnTo>
                  <a:pt x="10566400" y="966073"/>
                </a:lnTo>
                <a:lnTo>
                  <a:pt x="10515600" y="964613"/>
                </a:lnTo>
                <a:lnTo>
                  <a:pt x="10464800" y="963197"/>
                </a:lnTo>
                <a:lnTo>
                  <a:pt x="10414000" y="961827"/>
                </a:lnTo>
                <a:lnTo>
                  <a:pt x="10363200" y="960502"/>
                </a:lnTo>
                <a:lnTo>
                  <a:pt x="10312400" y="959224"/>
                </a:lnTo>
                <a:lnTo>
                  <a:pt x="10261600" y="957994"/>
                </a:lnTo>
                <a:lnTo>
                  <a:pt x="10210800" y="956813"/>
                </a:lnTo>
                <a:lnTo>
                  <a:pt x="10160000" y="955681"/>
                </a:lnTo>
                <a:lnTo>
                  <a:pt x="10109200" y="954599"/>
                </a:lnTo>
                <a:lnTo>
                  <a:pt x="10058400" y="953568"/>
                </a:lnTo>
                <a:lnTo>
                  <a:pt x="10007600" y="952589"/>
                </a:lnTo>
                <a:lnTo>
                  <a:pt x="9956800" y="951662"/>
                </a:lnTo>
                <a:lnTo>
                  <a:pt x="9906000" y="950788"/>
                </a:lnTo>
                <a:lnTo>
                  <a:pt x="9855200" y="949968"/>
                </a:lnTo>
                <a:lnTo>
                  <a:pt x="9804400" y="949202"/>
                </a:lnTo>
                <a:lnTo>
                  <a:pt x="9753600" y="948490"/>
                </a:lnTo>
                <a:lnTo>
                  <a:pt x="9702800" y="947834"/>
                </a:lnTo>
                <a:lnTo>
                  <a:pt x="9652000" y="947233"/>
                </a:lnTo>
                <a:lnTo>
                  <a:pt x="9601200" y="946688"/>
                </a:lnTo>
                <a:lnTo>
                  <a:pt x="9550400" y="946199"/>
                </a:lnTo>
                <a:lnTo>
                  <a:pt x="9499600" y="945767"/>
                </a:lnTo>
                <a:lnTo>
                  <a:pt x="9448800" y="945392"/>
                </a:lnTo>
                <a:lnTo>
                  <a:pt x="9398000" y="945074"/>
                </a:lnTo>
                <a:lnTo>
                  <a:pt x="9347200" y="944814"/>
                </a:lnTo>
                <a:lnTo>
                  <a:pt x="9296400" y="944612"/>
                </a:lnTo>
                <a:lnTo>
                  <a:pt x="9245600" y="944467"/>
                </a:lnTo>
                <a:lnTo>
                  <a:pt x="9194800" y="944380"/>
                </a:lnTo>
                <a:lnTo>
                  <a:pt x="9144000" y="944351"/>
                </a:lnTo>
                <a:lnTo>
                  <a:pt x="9093200" y="944380"/>
                </a:lnTo>
                <a:lnTo>
                  <a:pt x="9042400" y="944467"/>
                </a:lnTo>
                <a:lnTo>
                  <a:pt x="8991600" y="944612"/>
                </a:lnTo>
                <a:lnTo>
                  <a:pt x="8940800" y="944814"/>
                </a:lnTo>
                <a:lnTo>
                  <a:pt x="8890000" y="945074"/>
                </a:lnTo>
                <a:lnTo>
                  <a:pt x="8839200" y="945392"/>
                </a:lnTo>
                <a:lnTo>
                  <a:pt x="8788400" y="945767"/>
                </a:lnTo>
                <a:lnTo>
                  <a:pt x="8737600" y="946199"/>
                </a:lnTo>
                <a:lnTo>
                  <a:pt x="8686800" y="946688"/>
                </a:lnTo>
                <a:lnTo>
                  <a:pt x="8636000" y="947233"/>
                </a:lnTo>
                <a:lnTo>
                  <a:pt x="8585200" y="947834"/>
                </a:lnTo>
                <a:lnTo>
                  <a:pt x="8534400" y="948490"/>
                </a:lnTo>
                <a:lnTo>
                  <a:pt x="8483599" y="949202"/>
                </a:lnTo>
                <a:lnTo>
                  <a:pt x="8432800" y="949968"/>
                </a:lnTo>
                <a:lnTo>
                  <a:pt x="8382000" y="950788"/>
                </a:lnTo>
                <a:lnTo>
                  <a:pt x="8331199" y="951662"/>
                </a:lnTo>
                <a:lnTo>
                  <a:pt x="8280400" y="952589"/>
                </a:lnTo>
                <a:lnTo>
                  <a:pt x="8229600" y="953568"/>
                </a:lnTo>
                <a:lnTo>
                  <a:pt x="8178799" y="954599"/>
                </a:lnTo>
                <a:lnTo>
                  <a:pt x="8128000" y="955681"/>
                </a:lnTo>
                <a:lnTo>
                  <a:pt x="8077200" y="956813"/>
                </a:lnTo>
                <a:lnTo>
                  <a:pt x="8026399" y="957994"/>
                </a:lnTo>
                <a:lnTo>
                  <a:pt x="7975600" y="959224"/>
                </a:lnTo>
                <a:lnTo>
                  <a:pt x="7924800" y="960502"/>
                </a:lnTo>
                <a:lnTo>
                  <a:pt x="7873999" y="961827"/>
                </a:lnTo>
                <a:lnTo>
                  <a:pt x="7823200" y="963197"/>
                </a:lnTo>
                <a:lnTo>
                  <a:pt x="7772400" y="964613"/>
                </a:lnTo>
                <a:lnTo>
                  <a:pt x="7721599" y="966073"/>
                </a:lnTo>
                <a:lnTo>
                  <a:pt x="7670800" y="967576"/>
                </a:lnTo>
                <a:lnTo>
                  <a:pt x="7620000" y="969121"/>
                </a:lnTo>
                <a:lnTo>
                  <a:pt x="7569199" y="970706"/>
                </a:lnTo>
                <a:lnTo>
                  <a:pt x="7518400" y="972332"/>
                </a:lnTo>
                <a:lnTo>
                  <a:pt x="7467600" y="973997"/>
                </a:lnTo>
                <a:lnTo>
                  <a:pt x="7416799" y="975699"/>
                </a:lnTo>
                <a:lnTo>
                  <a:pt x="7366000" y="977438"/>
                </a:lnTo>
                <a:lnTo>
                  <a:pt x="7315200" y="979211"/>
                </a:lnTo>
                <a:lnTo>
                  <a:pt x="7264399" y="981019"/>
                </a:lnTo>
                <a:lnTo>
                  <a:pt x="7213600" y="982860"/>
                </a:lnTo>
                <a:lnTo>
                  <a:pt x="7162800" y="984733"/>
                </a:lnTo>
                <a:lnTo>
                  <a:pt x="7112000" y="986635"/>
                </a:lnTo>
                <a:lnTo>
                  <a:pt x="7061200" y="988567"/>
                </a:lnTo>
                <a:lnTo>
                  <a:pt x="7010400" y="990526"/>
                </a:lnTo>
                <a:lnTo>
                  <a:pt x="6959600" y="992512"/>
                </a:lnTo>
                <a:lnTo>
                  <a:pt x="6908800" y="994523"/>
                </a:lnTo>
                <a:lnTo>
                  <a:pt x="6858000" y="996557"/>
                </a:lnTo>
                <a:lnTo>
                  <a:pt x="6807200" y="998613"/>
                </a:lnTo>
                <a:lnTo>
                  <a:pt x="6756400" y="1000690"/>
                </a:lnTo>
                <a:lnTo>
                  <a:pt x="6705600" y="1002787"/>
                </a:lnTo>
                <a:lnTo>
                  <a:pt x="6654800" y="1004901"/>
                </a:lnTo>
                <a:lnTo>
                  <a:pt x="6604000" y="1007032"/>
                </a:lnTo>
                <a:lnTo>
                  <a:pt x="6553200" y="1009178"/>
                </a:lnTo>
                <a:lnTo>
                  <a:pt x="6502400" y="1011337"/>
                </a:lnTo>
                <a:lnTo>
                  <a:pt x="6451600" y="1013508"/>
                </a:lnTo>
                <a:lnTo>
                  <a:pt x="6400800" y="1015690"/>
                </a:lnTo>
                <a:lnTo>
                  <a:pt x="6350000" y="1017881"/>
                </a:lnTo>
                <a:lnTo>
                  <a:pt x="6299200" y="1020080"/>
                </a:lnTo>
                <a:lnTo>
                  <a:pt x="6248400" y="1022285"/>
                </a:lnTo>
                <a:lnTo>
                  <a:pt x="6197600" y="1024494"/>
                </a:lnTo>
                <a:lnTo>
                  <a:pt x="6146800" y="1026706"/>
                </a:lnTo>
                <a:lnTo>
                  <a:pt x="6096000" y="1028920"/>
                </a:lnTo>
                <a:lnTo>
                  <a:pt x="6045200" y="1031133"/>
                </a:lnTo>
                <a:lnTo>
                  <a:pt x="5994400" y="1033346"/>
                </a:lnTo>
                <a:lnTo>
                  <a:pt x="5943600" y="1035555"/>
                </a:lnTo>
                <a:lnTo>
                  <a:pt x="5892800" y="1037760"/>
                </a:lnTo>
                <a:lnTo>
                  <a:pt x="5842000" y="1039958"/>
                </a:lnTo>
                <a:lnTo>
                  <a:pt x="5791200" y="1042149"/>
                </a:lnTo>
                <a:lnTo>
                  <a:pt x="5740400" y="1044331"/>
                </a:lnTo>
                <a:lnTo>
                  <a:pt x="5689600" y="1046503"/>
                </a:lnTo>
                <a:lnTo>
                  <a:pt x="5638800" y="1048662"/>
                </a:lnTo>
                <a:lnTo>
                  <a:pt x="5588000" y="1050808"/>
                </a:lnTo>
                <a:lnTo>
                  <a:pt x="5537200" y="1052939"/>
                </a:lnTo>
                <a:lnTo>
                  <a:pt x="5486400" y="1055053"/>
                </a:lnTo>
                <a:lnTo>
                  <a:pt x="5435600" y="1057149"/>
                </a:lnTo>
                <a:lnTo>
                  <a:pt x="5384800" y="1059226"/>
                </a:lnTo>
                <a:lnTo>
                  <a:pt x="5334000" y="1061283"/>
                </a:lnTo>
                <a:lnTo>
                  <a:pt x="5283200" y="1063317"/>
                </a:lnTo>
                <a:lnTo>
                  <a:pt x="5232400" y="1065328"/>
                </a:lnTo>
                <a:lnTo>
                  <a:pt x="5181600" y="1067313"/>
                </a:lnTo>
                <a:lnTo>
                  <a:pt x="5130800" y="1069272"/>
                </a:lnTo>
                <a:lnTo>
                  <a:pt x="5080000" y="1071204"/>
                </a:lnTo>
                <a:lnTo>
                  <a:pt x="5029200" y="1073107"/>
                </a:lnTo>
                <a:lnTo>
                  <a:pt x="4978400" y="1074979"/>
                </a:lnTo>
                <a:lnTo>
                  <a:pt x="4927599" y="1076820"/>
                </a:lnTo>
                <a:lnTo>
                  <a:pt x="4876800" y="1078628"/>
                </a:lnTo>
                <a:lnTo>
                  <a:pt x="4826000" y="1080402"/>
                </a:lnTo>
                <a:lnTo>
                  <a:pt x="4775199" y="1082141"/>
                </a:lnTo>
                <a:lnTo>
                  <a:pt x="4724400" y="1083843"/>
                </a:lnTo>
                <a:lnTo>
                  <a:pt x="4673600" y="1085507"/>
                </a:lnTo>
                <a:lnTo>
                  <a:pt x="4622799" y="1087133"/>
                </a:lnTo>
                <a:lnTo>
                  <a:pt x="4572000" y="1088719"/>
                </a:lnTo>
                <a:lnTo>
                  <a:pt x="4521200" y="1090264"/>
                </a:lnTo>
                <a:lnTo>
                  <a:pt x="4470399" y="1091767"/>
                </a:lnTo>
                <a:lnTo>
                  <a:pt x="4419600" y="1093226"/>
                </a:lnTo>
                <a:lnTo>
                  <a:pt x="4368800" y="1094642"/>
                </a:lnTo>
                <a:lnTo>
                  <a:pt x="4317999" y="1096013"/>
                </a:lnTo>
                <a:lnTo>
                  <a:pt x="4267200" y="1097337"/>
                </a:lnTo>
                <a:lnTo>
                  <a:pt x="4216400" y="1098615"/>
                </a:lnTo>
                <a:lnTo>
                  <a:pt x="4165599" y="1099845"/>
                </a:lnTo>
                <a:lnTo>
                  <a:pt x="4114800" y="1101026"/>
                </a:lnTo>
                <a:lnTo>
                  <a:pt x="4064000" y="1102158"/>
                </a:lnTo>
                <a:lnTo>
                  <a:pt x="4013199" y="1103240"/>
                </a:lnTo>
                <a:lnTo>
                  <a:pt x="3962400" y="1104271"/>
                </a:lnTo>
                <a:lnTo>
                  <a:pt x="3911600" y="1105250"/>
                </a:lnTo>
                <a:lnTo>
                  <a:pt x="3860799" y="1106177"/>
                </a:lnTo>
                <a:lnTo>
                  <a:pt x="3810000" y="1107051"/>
                </a:lnTo>
                <a:lnTo>
                  <a:pt x="3759200" y="1107871"/>
                </a:lnTo>
                <a:lnTo>
                  <a:pt x="3708399" y="1108638"/>
                </a:lnTo>
                <a:lnTo>
                  <a:pt x="3657600" y="1109349"/>
                </a:lnTo>
                <a:lnTo>
                  <a:pt x="3606800" y="1110006"/>
                </a:lnTo>
                <a:lnTo>
                  <a:pt x="3555999" y="1110607"/>
                </a:lnTo>
                <a:lnTo>
                  <a:pt x="3505200" y="1111152"/>
                </a:lnTo>
                <a:lnTo>
                  <a:pt x="3454400" y="1111640"/>
                </a:lnTo>
                <a:lnTo>
                  <a:pt x="3403599" y="1112072"/>
                </a:lnTo>
                <a:lnTo>
                  <a:pt x="3352800" y="1112447"/>
                </a:lnTo>
                <a:lnTo>
                  <a:pt x="3302000" y="1112765"/>
                </a:lnTo>
                <a:lnTo>
                  <a:pt x="3251199" y="1113025"/>
                </a:lnTo>
                <a:lnTo>
                  <a:pt x="3200400" y="1113228"/>
                </a:lnTo>
                <a:lnTo>
                  <a:pt x="3149600" y="1113373"/>
                </a:lnTo>
                <a:lnTo>
                  <a:pt x="3098799" y="1113460"/>
                </a:lnTo>
                <a:lnTo>
                  <a:pt x="3048000" y="1113489"/>
                </a:lnTo>
                <a:lnTo>
                  <a:pt x="2997200" y="1113460"/>
                </a:lnTo>
                <a:lnTo>
                  <a:pt x="2946399" y="1113373"/>
                </a:lnTo>
                <a:lnTo>
                  <a:pt x="2895600" y="1113228"/>
                </a:lnTo>
                <a:lnTo>
                  <a:pt x="2844800" y="1113025"/>
                </a:lnTo>
                <a:lnTo>
                  <a:pt x="2793999" y="1112765"/>
                </a:lnTo>
                <a:lnTo>
                  <a:pt x="2743200" y="1112447"/>
                </a:lnTo>
                <a:lnTo>
                  <a:pt x="2692400" y="1112072"/>
                </a:lnTo>
                <a:lnTo>
                  <a:pt x="2641599" y="1111640"/>
                </a:lnTo>
                <a:lnTo>
                  <a:pt x="2590800" y="1111152"/>
                </a:lnTo>
                <a:lnTo>
                  <a:pt x="2540000" y="1110607"/>
                </a:lnTo>
                <a:lnTo>
                  <a:pt x="2489199" y="1110006"/>
                </a:lnTo>
                <a:lnTo>
                  <a:pt x="2438400" y="1109349"/>
                </a:lnTo>
                <a:lnTo>
                  <a:pt x="2387600" y="1108638"/>
                </a:lnTo>
                <a:lnTo>
                  <a:pt x="2336799" y="1107871"/>
                </a:lnTo>
                <a:lnTo>
                  <a:pt x="2286000" y="1107051"/>
                </a:lnTo>
                <a:lnTo>
                  <a:pt x="2235200" y="1106177"/>
                </a:lnTo>
                <a:lnTo>
                  <a:pt x="2184399" y="1105250"/>
                </a:lnTo>
                <a:lnTo>
                  <a:pt x="2133600" y="1104271"/>
                </a:lnTo>
                <a:lnTo>
                  <a:pt x="2082800" y="1103240"/>
                </a:lnTo>
                <a:lnTo>
                  <a:pt x="2031999" y="1102158"/>
                </a:lnTo>
                <a:lnTo>
                  <a:pt x="1981200" y="1101026"/>
                </a:lnTo>
                <a:lnTo>
                  <a:pt x="1930400" y="1099845"/>
                </a:lnTo>
                <a:lnTo>
                  <a:pt x="1879599" y="1098615"/>
                </a:lnTo>
                <a:lnTo>
                  <a:pt x="1828800" y="1097337"/>
                </a:lnTo>
                <a:lnTo>
                  <a:pt x="1778000" y="1096013"/>
                </a:lnTo>
                <a:lnTo>
                  <a:pt x="1727199" y="1094642"/>
                </a:lnTo>
                <a:lnTo>
                  <a:pt x="1676400" y="1093226"/>
                </a:lnTo>
                <a:lnTo>
                  <a:pt x="1625600" y="1091767"/>
                </a:lnTo>
                <a:lnTo>
                  <a:pt x="1574799" y="1090264"/>
                </a:lnTo>
                <a:lnTo>
                  <a:pt x="1524000" y="1088719"/>
                </a:lnTo>
                <a:lnTo>
                  <a:pt x="1473200" y="1087133"/>
                </a:lnTo>
                <a:lnTo>
                  <a:pt x="1422399" y="1085507"/>
                </a:lnTo>
                <a:lnTo>
                  <a:pt x="1371600" y="1083843"/>
                </a:lnTo>
                <a:lnTo>
                  <a:pt x="1320800" y="1082141"/>
                </a:lnTo>
                <a:lnTo>
                  <a:pt x="1269999" y="1080402"/>
                </a:lnTo>
                <a:lnTo>
                  <a:pt x="1219200" y="1078628"/>
                </a:lnTo>
                <a:lnTo>
                  <a:pt x="1168400" y="1076820"/>
                </a:lnTo>
                <a:lnTo>
                  <a:pt x="1117599" y="1074979"/>
                </a:lnTo>
                <a:lnTo>
                  <a:pt x="1066800" y="1073107"/>
                </a:lnTo>
                <a:lnTo>
                  <a:pt x="1016000" y="1071204"/>
                </a:lnTo>
                <a:lnTo>
                  <a:pt x="965199" y="1069272"/>
                </a:lnTo>
                <a:lnTo>
                  <a:pt x="914400" y="1067313"/>
                </a:lnTo>
                <a:lnTo>
                  <a:pt x="863600" y="1065328"/>
                </a:lnTo>
                <a:lnTo>
                  <a:pt x="812799" y="1063317"/>
                </a:lnTo>
                <a:lnTo>
                  <a:pt x="762000" y="1061283"/>
                </a:lnTo>
                <a:lnTo>
                  <a:pt x="711200" y="1059226"/>
                </a:lnTo>
                <a:lnTo>
                  <a:pt x="660399" y="1057149"/>
                </a:lnTo>
                <a:lnTo>
                  <a:pt x="609600" y="1055053"/>
                </a:lnTo>
                <a:lnTo>
                  <a:pt x="558800" y="1052939"/>
                </a:lnTo>
                <a:lnTo>
                  <a:pt x="507999" y="1050808"/>
                </a:lnTo>
                <a:lnTo>
                  <a:pt x="457200" y="1048662"/>
                </a:lnTo>
                <a:lnTo>
                  <a:pt x="406400" y="1046503"/>
                </a:lnTo>
                <a:lnTo>
                  <a:pt x="355599" y="1044331"/>
                </a:lnTo>
                <a:lnTo>
                  <a:pt x="304800" y="1042149"/>
                </a:lnTo>
                <a:lnTo>
                  <a:pt x="254000" y="1039958"/>
                </a:lnTo>
                <a:lnTo>
                  <a:pt x="203199" y="1037760"/>
                </a:lnTo>
                <a:lnTo>
                  <a:pt x="152400" y="1035555"/>
                </a:lnTo>
                <a:lnTo>
                  <a:pt x="101600" y="1033346"/>
                </a:lnTo>
                <a:lnTo>
                  <a:pt x="50799" y="1031133"/>
                </a:lnTo>
                <a:lnTo>
                  <a:pt x="0" y="1028920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ヘッダー山1"/>
          <p:cNvSpPr/>
          <p:nvPr/>
        </p:nvSpPr>
        <p:spPr>
          <a:xfrm>
            <a:off x="8315930" y="352369"/>
            <a:ext cx="2078983" cy="591982"/>
          </a:xfrm>
          <a:custGeom>
            <a:avLst/>
            <a:gdLst/>
            <a:ahLst/>
            <a:cxnLst/>
            <a:rect l="l" t="t" r="r" b="b"/>
            <a:pathLst>
              <a:path w="2078983" h="591982">
                <a:moveTo>
                  <a:pt x="0" y="591982"/>
                </a:moveTo>
                <a:lnTo>
                  <a:pt x="1141679" y="0"/>
                </a:lnTo>
                <a:lnTo>
                  <a:pt x="2078983" y="591982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ヘッダー山2"/>
          <p:cNvSpPr/>
          <p:nvPr/>
        </p:nvSpPr>
        <p:spPr>
          <a:xfrm>
            <a:off x="9866358" y="591981"/>
            <a:ext cx="2043746" cy="352370"/>
          </a:xfrm>
          <a:custGeom>
            <a:avLst/>
            <a:gdLst/>
            <a:ahLst/>
            <a:cxnLst/>
            <a:rect l="l" t="t" r="r" b="b"/>
            <a:pathLst>
              <a:path w="2043746" h="352370">
                <a:moveTo>
                  <a:pt x="0" y="352370"/>
                </a:moveTo>
                <a:lnTo>
                  <a:pt x="1021873" y="0"/>
                </a:lnTo>
                <a:lnTo>
                  <a:pt x="2043746" y="35237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451033" y="211421"/>
            <a:ext cx="6342658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4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実習の流れ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451033" y="422843"/>
            <a:ext cx="10571098" cy="4933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はじめてでも安心。4つのステップと、サイトで届ける内容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1033" y="1212152"/>
            <a:ext cx="2621632" cy="1691375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1033" y="1212152"/>
            <a:ext cx="2621632" cy="549697"/>
          </a:xfrm>
          <a:prstGeom prst="roundRect">
            <a:avLst>
              <a:gd name="adj" fmla="val 25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1033" y="1479953"/>
            <a:ext cx="2621632" cy="281895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TEP1"/>
          <p:cNvSpPr txBox="1"/>
          <p:nvPr/>
        </p:nvSpPr>
        <p:spPr>
          <a:xfrm>
            <a:off x="634265" y="1254436"/>
            <a:ext cx="916161" cy="465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20" b="1" spc="1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01</a:t>
            </a:r>
          </a:p>
        </p:txBody>
      </p:sp>
      <p:sp>
        <p:nvSpPr>
          <p:cNvPr id="10" name="見出し_申し込む"/>
          <p:cNvSpPr txBox="1"/>
          <p:nvPr/>
        </p:nvSpPr>
        <p:spPr>
          <a:xfrm>
            <a:off x="1508143" y="1254436"/>
            <a:ext cx="1479953" cy="465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申し込む</a:t>
            </a:r>
          </a:p>
        </p:txBody>
      </p:sp>
      <p:sp>
        <p:nvSpPr>
          <p:cNvPr id="11" name="説明_申し込む"/>
          <p:cNvSpPr txBox="1"/>
          <p:nvPr/>
        </p:nvSpPr>
        <p:spPr>
          <a:xfrm>
            <a:off x="648360" y="1930987"/>
            <a:ext cx="2226978" cy="9161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フォームから、行きたい日と事業所を選んで申込。質問だけでも大丈夫です。</a:t>
            </a:r>
          </a:p>
        </p:txBody>
      </p:sp>
      <p:sp>
        <p:nvSpPr>
          <p:cNvPr id="12" name="矢印"/>
          <p:cNvSpPr/>
          <p:nvPr/>
        </p:nvSpPr>
        <p:spPr>
          <a:xfrm>
            <a:off x="3100855" y="1888702"/>
            <a:ext cx="211421" cy="310085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340467" y="1212152"/>
            <a:ext cx="2621632" cy="1691375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40467" y="1212152"/>
            <a:ext cx="2621632" cy="549697"/>
          </a:xfrm>
          <a:prstGeom prst="roundRect">
            <a:avLst>
              <a:gd name="adj" fmla="val 25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40467" y="1479953"/>
            <a:ext cx="2621632" cy="281895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STEP2"/>
          <p:cNvSpPr txBox="1"/>
          <p:nvPr/>
        </p:nvSpPr>
        <p:spPr>
          <a:xfrm>
            <a:off x="3523699" y="1254436"/>
            <a:ext cx="916161" cy="465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20" b="1" spc="1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02</a:t>
            </a:r>
          </a:p>
        </p:txBody>
      </p:sp>
      <p:sp>
        <p:nvSpPr>
          <p:cNvPr id="17" name="見出し_事前の連絡"/>
          <p:cNvSpPr txBox="1"/>
          <p:nvPr/>
        </p:nvSpPr>
        <p:spPr>
          <a:xfrm>
            <a:off x="4397576" y="1254436"/>
            <a:ext cx="1479953" cy="465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事前の連絡</a:t>
            </a:r>
          </a:p>
        </p:txBody>
      </p:sp>
      <p:sp>
        <p:nvSpPr>
          <p:cNvPr id="18" name="説明_事前の連絡"/>
          <p:cNvSpPr txBox="1"/>
          <p:nvPr/>
        </p:nvSpPr>
        <p:spPr>
          <a:xfrm>
            <a:off x="3537794" y="1930987"/>
            <a:ext cx="2226978" cy="9161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持ち物や服装、当日の集合場所をお知らせします。</a:t>
            </a:r>
          </a:p>
        </p:txBody>
      </p:sp>
      <p:sp>
        <p:nvSpPr>
          <p:cNvPr id="19" name="矢印"/>
          <p:cNvSpPr/>
          <p:nvPr/>
        </p:nvSpPr>
        <p:spPr>
          <a:xfrm>
            <a:off x="5990289" y="1888702"/>
            <a:ext cx="211421" cy="310085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29900" y="1212152"/>
            <a:ext cx="2621632" cy="1691375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29900" y="1212152"/>
            <a:ext cx="2621632" cy="549697"/>
          </a:xfrm>
          <a:prstGeom prst="roundRect">
            <a:avLst>
              <a:gd name="adj" fmla="val 25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29900" y="1479953"/>
            <a:ext cx="2621632" cy="281895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STEP3"/>
          <p:cNvSpPr txBox="1"/>
          <p:nvPr/>
        </p:nvSpPr>
        <p:spPr>
          <a:xfrm>
            <a:off x="6413132" y="1254436"/>
            <a:ext cx="916161" cy="465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20" b="1" spc="1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03</a:t>
            </a:r>
          </a:p>
        </p:txBody>
      </p:sp>
      <p:sp>
        <p:nvSpPr>
          <p:cNvPr id="24" name="見出し_実習の当日"/>
          <p:cNvSpPr txBox="1"/>
          <p:nvPr/>
        </p:nvSpPr>
        <p:spPr>
          <a:xfrm>
            <a:off x="7287010" y="1254436"/>
            <a:ext cx="1479953" cy="465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実習の当日</a:t>
            </a:r>
          </a:p>
        </p:txBody>
      </p:sp>
      <p:sp>
        <p:nvSpPr>
          <p:cNvPr id="25" name="説明_実習の当日"/>
          <p:cNvSpPr txBox="1"/>
          <p:nvPr/>
        </p:nvSpPr>
        <p:spPr>
          <a:xfrm>
            <a:off x="6427227" y="1930987"/>
            <a:ext cx="2226978" cy="9161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職員がそばでサポート。利用者さんとおしゃべりしながら、現場を体験。</a:t>
            </a:r>
          </a:p>
        </p:txBody>
      </p:sp>
      <p:sp>
        <p:nvSpPr>
          <p:cNvPr id="26" name="矢印"/>
          <p:cNvSpPr/>
          <p:nvPr/>
        </p:nvSpPr>
        <p:spPr>
          <a:xfrm>
            <a:off x="8879722" y="1888702"/>
            <a:ext cx="211421" cy="310085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19334" y="1212152"/>
            <a:ext cx="2621632" cy="1691375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119334" y="1212152"/>
            <a:ext cx="2621632" cy="549697"/>
          </a:xfrm>
          <a:prstGeom prst="roundRect">
            <a:avLst>
              <a:gd name="adj" fmla="val 25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119334" y="1479953"/>
            <a:ext cx="2621632" cy="281895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STEP4"/>
          <p:cNvSpPr txBox="1"/>
          <p:nvPr/>
        </p:nvSpPr>
        <p:spPr>
          <a:xfrm>
            <a:off x="9302566" y="1254436"/>
            <a:ext cx="916161" cy="465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20" b="1" spc="1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04</a:t>
            </a:r>
          </a:p>
        </p:txBody>
      </p:sp>
      <p:sp>
        <p:nvSpPr>
          <p:cNvPr id="31" name="見出し_振り返り"/>
          <p:cNvSpPr txBox="1"/>
          <p:nvPr/>
        </p:nvSpPr>
        <p:spPr>
          <a:xfrm>
            <a:off x="10176443" y="1254436"/>
            <a:ext cx="1479953" cy="465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振り返り</a:t>
            </a:r>
          </a:p>
        </p:txBody>
      </p:sp>
      <p:sp>
        <p:nvSpPr>
          <p:cNvPr id="32" name="説明_振り返り"/>
          <p:cNvSpPr txBox="1"/>
          <p:nvPr/>
        </p:nvSpPr>
        <p:spPr>
          <a:xfrm>
            <a:off x="9316661" y="1930987"/>
            <a:ext cx="2226978" cy="9161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感じたことや気づいたことを、職員と話し合います。</a:t>
            </a:r>
          </a:p>
        </p:txBody>
      </p:sp>
      <p:sp>
        <p:nvSpPr>
          <p:cNvPr id="33" name="見出し_サイト"/>
          <p:cNvSpPr txBox="1"/>
          <p:nvPr/>
        </p:nvSpPr>
        <p:spPr>
          <a:xfrm>
            <a:off x="451033" y="3086760"/>
            <a:ext cx="6342658" cy="281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64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実習サイトで届ける内容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1033" y="3453225"/>
            <a:ext cx="1761849" cy="1634996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タイル_実習レポート"/>
          <p:cNvSpPr txBox="1"/>
          <p:nvPr/>
        </p:nvSpPr>
        <p:spPr>
          <a:xfrm>
            <a:off x="634265" y="3608268"/>
            <a:ext cx="1451764" cy="521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実習レポート</a:t>
            </a:r>
          </a:p>
        </p:txBody>
      </p:sp>
      <p:sp>
        <p:nvSpPr>
          <p:cNvPr id="37" name="タイル説明_実習レポート"/>
          <p:cNvSpPr txBox="1"/>
          <p:nvPr/>
        </p:nvSpPr>
        <p:spPr>
          <a:xfrm>
            <a:off x="634265" y="4214344"/>
            <a:ext cx="1451764" cy="789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実習の1日の流れをたどる記事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353831" y="3453225"/>
            <a:ext cx="1761849" cy="1634996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タイル_職員の声"/>
          <p:cNvSpPr txBox="1"/>
          <p:nvPr/>
        </p:nvSpPr>
        <p:spPr>
          <a:xfrm>
            <a:off x="2537063" y="3608268"/>
            <a:ext cx="1451764" cy="521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職員の声</a:t>
            </a:r>
          </a:p>
        </p:txBody>
      </p:sp>
      <p:sp>
        <p:nvSpPr>
          <p:cNvPr id="41" name="タイル説明_職員の声"/>
          <p:cNvSpPr txBox="1"/>
          <p:nvPr/>
        </p:nvSpPr>
        <p:spPr>
          <a:xfrm>
            <a:off x="2537063" y="4214344"/>
            <a:ext cx="1451764" cy="789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仕事のやりがいと、実習生へのメッセージ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256628" y="3453225"/>
            <a:ext cx="1761849" cy="1634996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タイル_人生の先輩の"/>
          <p:cNvSpPr txBox="1"/>
          <p:nvPr/>
        </p:nvSpPr>
        <p:spPr>
          <a:xfrm>
            <a:off x="4439861" y="3608268"/>
            <a:ext cx="1451764" cy="521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人生の先輩の</a:t>
            </a:r>
          </a:p>
          <a:p>
            <a:pPr algn="l">
              <a:lnSpc>
                <a:spcPct val="11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メッセージ</a:t>
            </a:r>
          </a:p>
        </p:txBody>
      </p:sp>
      <p:sp>
        <p:nvSpPr>
          <p:cNvPr id="45" name="タイル説明_人生の先輩の"/>
          <p:cNvSpPr txBox="1"/>
          <p:nvPr/>
        </p:nvSpPr>
        <p:spPr>
          <a:xfrm>
            <a:off x="4439861" y="4214344"/>
            <a:ext cx="1451764" cy="789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ご利用者さんから、実習に来るみなさんへのひとこと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59426" y="3453225"/>
            <a:ext cx="1761849" cy="1634996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タイル_お知らせ"/>
          <p:cNvSpPr txBox="1"/>
          <p:nvPr/>
        </p:nvSpPr>
        <p:spPr>
          <a:xfrm>
            <a:off x="6342658" y="3608268"/>
            <a:ext cx="1451764" cy="521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お知らせ</a:t>
            </a:r>
          </a:p>
        </p:txBody>
      </p:sp>
      <p:sp>
        <p:nvSpPr>
          <p:cNvPr id="49" name="タイル説明_お知らせ"/>
          <p:cNvSpPr txBox="1"/>
          <p:nvPr/>
        </p:nvSpPr>
        <p:spPr>
          <a:xfrm>
            <a:off x="6342658" y="4214344"/>
            <a:ext cx="1451764" cy="789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実習受け入れ拠点の追加など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62224" y="3453225"/>
            <a:ext cx="1761849" cy="1634996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タイル_事業所の"/>
          <p:cNvSpPr txBox="1"/>
          <p:nvPr/>
        </p:nvSpPr>
        <p:spPr>
          <a:xfrm>
            <a:off x="8245456" y="3608268"/>
            <a:ext cx="1451764" cy="521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事業所の</a:t>
            </a:r>
          </a:p>
          <a:p>
            <a:pPr algn="l">
              <a:lnSpc>
                <a:spcPct val="11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360°ツアー</a:t>
            </a:r>
          </a:p>
        </p:txBody>
      </p:sp>
      <p:sp>
        <p:nvSpPr>
          <p:cNvPr id="53" name="タイル説明_事業所の"/>
          <p:cNvSpPr txBox="1"/>
          <p:nvPr/>
        </p:nvSpPr>
        <p:spPr>
          <a:xfrm>
            <a:off x="8245456" y="4214344"/>
            <a:ext cx="1451764" cy="789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事業所の中の様子をのぞける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65021" y="3453225"/>
            <a:ext cx="1761849" cy="1634996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タイル_経営者"/>
          <p:cNvSpPr txBox="1"/>
          <p:nvPr/>
        </p:nvSpPr>
        <p:spPr>
          <a:xfrm>
            <a:off x="10148254" y="3608268"/>
            <a:ext cx="1451764" cy="521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経営者</a:t>
            </a:r>
          </a:p>
          <a:p>
            <a:pPr algn="l">
              <a:lnSpc>
                <a:spcPct val="11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インタビュー</a:t>
            </a:r>
          </a:p>
        </p:txBody>
      </p:sp>
      <p:sp>
        <p:nvSpPr>
          <p:cNvPr id="57" name="タイル説明_経営者"/>
          <p:cNvSpPr txBox="1"/>
          <p:nvPr/>
        </p:nvSpPr>
        <p:spPr>
          <a:xfrm>
            <a:off x="10148254" y="4214344"/>
            <a:ext cx="1451764" cy="789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社長に聞いた、これからのまちのカタチ（visions）</a:t>
            </a:r>
          </a:p>
        </p:txBody>
      </p:sp>
      <p:sp>
        <p:nvSpPr>
          <p:cNvPr id="58" name="そのほか"/>
          <p:cNvSpPr/>
          <p:nvPr/>
        </p:nvSpPr>
        <p:spPr>
          <a:xfrm>
            <a:off x="451033" y="5299643"/>
            <a:ext cx="11289932" cy="789308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51033" y="5468781"/>
            <a:ext cx="56379" cy="451033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そのほか_見出し"/>
          <p:cNvSpPr txBox="1"/>
          <p:nvPr/>
        </p:nvSpPr>
        <p:spPr>
          <a:xfrm>
            <a:off x="704739" y="5412402"/>
            <a:ext cx="1409479" cy="281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そのほか</a:t>
            </a:r>
          </a:p>
        </p:txBody>
      </p:sp>
      <p:sp>
        <p:nvSpPr>
          <p:cNvPr id="61" name="そのほか_本文"/>
          <p:cNvSpPr txBox="1"/>
          <p:nvPr/>
        </p:nvSpPr>
        <p:spPr>
          <a:xfrm>
            <a:off x="704739" y="5680203"/>
            <a:ext cx="10852994" cy="352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よくある質問　／　個人情報の取扱い（プライバシーポリシー）　／　気になるキーワードから記事を探す　／　実習の申込フォーム</a:t>
            </a:r>
          </a:p>
        </p:txBody>
      </p:sp>
      <p:sp>
        <p:nvSpPr>
          <p:cNvPr id="62" name="注記"/>
          <p:cNvSpPr txBox="1"/>
          <p:nvPr/>
        </p:nvSpPr>
        <p:spPr>
          <a:xfrm>
            <a:off x="451033" y="6300374"/>
            <a:ext cx="11275838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7" b="0">
                <a:solidFill>
                  <a:srgbClr val="7A8A87"/>
                </a:solidFill>
                <a:latin typeface="游ゴシック"/>
                <a:ea typeface="游ゴシック"/>
                <a:cs typeface="游ゴシック"/>
              </a:rPr>
              <a:t>※ 申込フォーム・SNS・問い合わせ先は準備中です。記事の内容はサンプルです。</a:t>
            </a:r>
          </a:p>
        </p:txBody>
      </p:sp>
      <p:sp>
        <p:nvSpPr>
          <p:cNvPr id="63" name="ページ番号"/>
          <p:cNvSpPr txBox="1"/>
          <p:nvPr/>
        </p:nvSpPr>
        <p:spPr>
          <a:xfrm>
            <a:off x="10895278" y="6300374"/>
            <a:ext cx="845687" cy="1832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32">
                <a:solidFill>
                  <a:srgbClr val="8A9A96"/>
                </a:solidFill>
                <a:latin typeface="游ゴシック"/>
              </a:rPr>
              <a:t>11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5963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113489"/>
          </a:xfrm>
          <a:custGeom>
            <a:avLst/>
            <a:gdLst/>
            <a:ahLst/>
            <a:cxnLst/>
            <a:rect l="l" t="t" r="r" b="b"/>
            <a:pathLst>
              <a:path w="12192000" h="1113489">
                <a:moveTo>
                  <a:pt x="0" y="0"/>
                </a:moveTo>
                <a:lnTo>
                  <a:pt x="12192000" y="0"/>
                </a:lnTo>
                <a:lnTo>
                  <a:pt x="12192000" y="1028920"/>
                </a:lnTo>
                <a:lnTo>
                  <a:pt x="12141200" y="1026706"/>
                </a:lnTo>
                <a:lnTo>
                  <a:pt x="12090400" y="1024494"/>
                </a:lnTo>
                <a:lnTo>
                  <a:pt x="12039600" y="1022285"/>
                </a:lnTo>
                <a:lnTo>
                  <a:pt x="11988800" y="1020080"/>
                </a:lnTo>
                <a:lnTo>
                  <a:pt x="11938000" y="1017881"/>
                </a:lnTo>
                <a:lnTo>
                  <a:pt x="11887200" y="1015690"/>
                </a:lnTo>
                <a:lnTo>
                  <a:pt x="11836400" y="1013508"/>
                </a:lnTo>
                <a:lnTo>
                  <a:pt x="11785600" y="1011337"/>
                </a:lnTo>
                <a:lnTo>
                  <a:pt x="11734800" y="1009178"/>
                </a:lnTo>
                <a:lnTo>
                  <a:pt x="11684000" y="1007032"/>
                </a:lnTo>
                <a:lnTo>
                  <a:pt x="11633200" y="1004901"/>
                </a:lnTo>
                <a:lnTo>
                  <a:pt x="11582400" y="1002787"/>
                </a:lnTo>
                <a:lnTo>
                  <a:pt x="11531600" y="1000690"/>
                </a:lnTo>
                <a:lnTo>
                  <a:pt x="11480800" y="998613"/>
                </a:lnTo>
                <a:lnTo>
                  <a:pt x="11430000" y="996557"/>
                </a:lnTo>
                <a:lnTo>
                  <a:pt x="11379200" y="994523"/>
                </a:lnTo>
                <a:lnTo>
                  <a:pt x="11328400" y="992512"/>
                </a:lnTo>
                <a:lnTo>
                  <a:pt x="11277600" y="990526"/>
                </a:lnTo>
                <a:lnTo>
                  <a:pt x="11226800" y="988567"/>
                </a:lnTo>
                <a:lnTo>
                  <a:pt x="11176000" y="986635"/>
                </a:lnTo>
                <a:lnTo>
                  <a:pt x="11125200" y="984733"/>
                </a:lnTo>
                <a:lnTo>
                  <a:pt x="11074400" y="982860"/>
                </a:lnTo>
                <a:lnTo>
                  <a:pt x="11023600" y="981019"/>
                </a:lnTo>
                <a:lnTo>
                  <a:pt x="10972800" y="979211"/>
                </a:lnTo>
                <a:lnTo>
                  <a:pt x="10922000" y="977438"/>
                </a:lnTo>
                <a:lnTo>
                  <a:pt x="10871200" y="975699"/>
                </a:lnTo>
                <a:lnTo>
                  <a:pt x="10820400" y="973997"/>
                </a:lnTo>
                <a:lnTo>
                  <a:pt x="10769600" y="972332"/>
                </a:lnTo>
                <a:lnTo>
                  <a:pt x="10718800" y="970706"/>
                </a:lnTo>
                <a:lnTo>
                  <a:pt x="10668000" y="969121"/>
                </a:lnTo>
                <a:lnTo>
                  <a:pt x="10617200" y="967576"/>
                </a:lnTo>
                <a:lnTo>
                  <a:pt x="10566400" y="966073"/>
                </a:lnTo>
                <a:lnTo>
                  <a:pt x="10515600" y="964613"/>
                </a:lnTo>
                <a:lnTo>
                  <a:pt x="10464800" y="963197"/>
                </a:lnTo>
                <a:lnTo>
                  <a:pt x="10414000" y="961827"/>
                </a:lnTo>
                <a:lnTo>
                  <a:pt x="10363200" y="960502"/>
                </a:lnTo>
                <a:lnTo>
                  <a:pt x="10312400" y="959224"/>
                </a:lnTo>
                <a:lnTo>
                  <a:pt x="10261600" y="957994"/>
                </a:lnTo>
                <a:lnTo>
                  <a:pt x="10210800" y="956813"/>
                </a:lnTo>
                <a:lnTo>
                  <a:pt x="10160000" y="955681"/>
                </a:lnTo>
                <a:lnTo>
                  <a:pt x="10109200" y="954599"/>
                </a:lnTo>
                <a:lnTo>
                  <a:pt x="10058400" y="953568"/>
                </a:lnTo>
                <a:lnTo>
                  <a:pt x="10007600" y="952589"/>
                </a:lnTo>
                <a:lnTo>
                  <a:pt x="9956800" y="951662"/>
                </a:lnTo>
                <a:lnTo>
                  <a:pt x="9906000" y="950788"/>
                </a:lnTo>
                <a:lnTo>
                  <a:pt x="9855200" y="949968"/>
                </a:lnTo>
                <a:lnTo>
                  <a:pt x="9804400" y="949202"/>
                </a:lnTo>
                <a:lnTo>
                  <a:pt x="9753600" y="948490"/>
                </a:lnTo>
                <a:lnTo>
                  <a:pt x="9702800" y="947834"/>
                </a:lnTo>
                <a:lnTo>
                  <a:pt x="9652000" y="947233"/>
                </a:lnTo>
                <a:lnTo>
                  <a:pt x="9601200" y="946688"/>
                </a:lnTo>
                <a:lnTo>
                  <a:pt x="9550400" y="946199"/>
                </a:lnTo>
                <a:lnTo>
                  <a:pt x="9499600" y="945767"/>
                </a:lnTo>
                <a:lnTo>
                  <a:pt x="9448800" y="945392"/>
                </a:lnTo>
                <a:lnTo>
                  <a:pt x="9398000" y="945074"/>
                </a:lnTo>
                <a:lnTo>
                  <a:pt x="9347200" y="944814"/>
                </a:lnTo>
                <a:lnTo>
                  <a:pt x="9296400" y="944612"/>
                </a:lnTo>
                <a:lnTo>
                  <a:pt x="9245600" y="944467"/>
                </a:lnTo>
                <a:lnTo>
                  <a:pt x="9194800" y="944380"/>
                </a:lnTo>
                <a:lnTo>
                  <a:pt x="9144000" y="944351"/>
                </a:lnTo>
                <a:lnTo>
                  <a:pt x="9093200" y="944380"/>
                </a:lnTo>
                <a:lnTo>
                  <a:pt x="9042400" y="944467"/>
                </a:lnTo>
                <a:lnTo>
                  <a:pt x="8991600" y="944612"/>
                </a:lnTo>
                <a:lnTo>
                  <a:pt x="8940800" y="944814"/>
                </a:lnTo>
                <a:lnTo>
                  <a:pt x="8890000" y="945074"/>
                </a:lnTo>
                <a:lnTo>
                  <a:pt x="8839200" y="945392"/>
                </a:lnTo>
                <a:lnTo>
                  <a:pt x="8788400" y="945767"/>
                </a:lnTo>
                <a:lnTo>
                  <a:pt x="8737600" y="946199"/>
                </a:lnTo>
                <a:lnTo>
                  <a:pt x="8686800" y="946688"/>
                </a:lnTo>
                <a:lnTo>
                  <a:pt x="8636000" y="947233"/>
                </a:lnTo>
                <a:lnTo>
                  <a:pt x="8585200" y="947834"/>
                </a:lnTo>
                <a:lnTo>
                  <a:pt x="8534400" y="948490"/>
                </a:lnTo>
                <a:lnTo>
                  <a:pt x="8483599" y="949202"/>
                </a:lnTo>
                <a:lnTo>
                  <a:pt x="8432800" y="949968"/>
                </a:lnTo>
                <a:lnTo>
                  <a:pt x="8382000" y="950788"/>
                </a:lnTo>
                <a:lnTo>
                  <a:pt x="8331199" y="951662"/>
                </a:lnTo>
                <a:lnTo>
                  <a:pt x="8280400" y="952589"/>
                </a:lnTo>
                <a:lnTo>
                  <a:pt x="8229600" y="953568"/>
                </a:lnTo>
                <a:lnTo>
                  <a:pt x="8178799" y="954599"/>
                </a:lnTo>
                <a:lnTo>
                  <a:pt x="8128000" y="955681"/>
                </a:lnTo>
                <a:lnTo>
                  <a:pt x="8077200" y="956813"/>
                </a:lnTo>
                <a:lnTo>
                  <a:pt x="8026399" y="957994"/>
                </a:lnTo>
                <a:lnTo>
                  <a:pt x="7975600" y="959224"/>
                </a:lnTo>
                <a:lnTo>
                  <a:pt x="7924800" y="960502"/>
                </a:lnTo>
                <a:lnTo>
                  <a:pt x="7873999" y="961827"/>
                </a:lnTo>
                <a:lnTo>
                  <a:pt x="7823200" y="963197"/>
                </a:lnTo>
                <a:lnTo>
                  <a:pt x="7772400" y="964613"/>
                </a:lnTo>
                <a:lnTo>
                  <a:pt x="7721599" y="966073"/>
                </a:lnTo>
                <a:lnTo>
                  <a:pt x="7670800" y="967576"/>
                </a:lnTo>
                <a:lnTo>
                  <a:pt x="7620000" y="969121"/>
                </a:lnTo>
                <a:lnTo>
                  <a:pt x="7569199" y="970706"/>
                </a:lnTo>
                <a:lnTo>
                  <a:pt x="7518400" y="972332"/>
                </a:lnTo>
                <a:lnTo>
                  <a:pt x="7467600" y="973997"/>
                </a:lnTo>
                <a:lnTo>
                  <a:pt x="7416799" y="975699"/>
                </a:lnTo>
                <a:lnTo>
                  <a:pt x="7366000" y="977438"/>
                </a:lnTo>
                <a:lnTo>
                  <a:pt x="7315200" y="979211"/>
                </a:lnTo>
                <a:lnTo>
                  <a:pt x="7264399" y="981019"/>
                </a:lnTo>
                <a:lnTo>
                  <a:pt x="7213600" y="982860"/>
                </a:lnTo>
                <a:lnTo>
                  <a:pt x="7162800" y="984733"/>
                </a:lnTo>
                <a:lnTo>
                  <a:pt x="7112000" y="986635"/>
                </a:lnTo>
                <a:lnTo>
                  <a:pt x="7061200" y="988567"/>
                </a:lnTo>
                <a:lnTo>
                  <a:pt x="7010400" y="990526"/>
                </a:lnTo>
                <a:lnTo>
                  <a:pt x="6959600" y="992512"/>
                </a:lnTo>
                <a:lnTo>
                  <a:pt x="6908800" y="994523"/>
                </a:lnTo>
                <a:lnTo>
                  <a:pt x="6858000" y="996557"/>
                </a:lnTo>
                <a:lnTo>
                  <a:pt x="6807200" y="998613"/>
                </a:lnTo>
                <a:lnTo>
                  <a:pt x="6756400" y="1000690"/>
                </a:lnTo>
                <a:lnTo>
                  <a:pt x="6705600" y="1002787"/>
                </a:lnTo>
                <a:lnTo>
                  <a:pt x="6654800" y="1004901"/>
                </a:lnTo>
                <a:lnTo>
                  <a:pt x="6604000" y="1007032"/>
                </a:lnTo>
                <a:lnTo>
                  <a:pt x="6553200" y="1009178"/>
                </a:lnTo>
                <a:lnTo>
                  <a:pt x="6502400" y="1011337"/>
                </a:lnTo>
                <a:lnTo>
                  <a:pt x="6451600" y="1013508"/>
                </a:lnTo>
                <a:lnTo>
                  <a:pt x="6400800" y="1015690"/>
                </a:lnTo>
                <a:lnTo>
                  <a:pt x="6350000" y="1017881"/>
                </a:lnTo>
                <a:lnTo>
                  <a:pt x="6299200" y="1020080"/>
                </a:lnTo>
                <a:lnTo>
                  <a:pt x="6248400" y="1022285"/>
                </a:lnTo>
                <a:lnTo>
                  <a:pt x="6197600" y="1024494"/>
                </a:lnTo>
                <a:lnTo>
                  <a:pt x="6146800" y="1026706"/>
                </a:lnTo>
                <a:lnTo>
                  <a:pt x="6096000" y="1028920"/>
                </a:lnTo>
                <a:lnTo>
                  <a:pt x="6045200" y="1031133"/>
                </a:lnTo>
                <a:lnTo>
                  <a:pt x="5994400" y="1033346"/>
                </a:lnTo>
                <a:lnTo>
                  <a:pt x="5943600" y="1035555"/>
                </a:lnTo>
                <a:lnTo>
                  <a:pt x="5892800" y="1037760"/>
                </a:lnTo>
                <a:lnTo>
                  <a:pt x="5842000" y="1039958"/>
                </a:lnTo>
                <a:lnTo>
                  <a:pt x="5791200" y="1042149"/>
                </a:lnTo>
                <a:lnTo>
                  <a:pt x="5740400" y="1044331"/>
                </a:lnTo>
                <a:lnTo>
                  <a:pt x="5689600" y="1046503"/>
                </a:lnTo>
                <a:lnTo>
                  <a:pt x="5638800" y="1048662"/>
                </a:lnTo>
                <a:lnTo>
                  <a:pt x="5588000" y="1050808"/>
                </a:lnTo>
                <a:lnTo>
                  <a:pt x="5537200" y="1052939"/>
                </a:lnTo>
                <a:lnTo>
                  <a:pt x="5486400" y="1055053"/>
                </a:lnTo>
                <a:lnTo>
                  <a:pt x="5435600" y="1057149"/>
                </a:lnTo>
                <a:lnTo>
                  <a:pt x="5384800" y="1059226"/>
                </a:lnTo>
                <a:lnTo>
                  <a:pt x="5334000" y="1061283"/>
                </a:lnTo>
                <a:lnTo>
                  <a:pt x="5283200" y="1063317"/>
                </a:lnTo>
                <a:lnTo>
                  <a:pt x="5232400" y="1065328"/>
                </a:lnTo>
                <a:lnTo>
                  <a:pt x="5181600" y="1067313"/>
                </a:lnTo>
                <a:lnTo>
                  <a:pt x="5130800" y="1069272"/>
                </a:lnTo>
                <a:lnTo>
                  <a:pt x="5080000" y="1071204"/>
                </a:lnTo>
                <a:lnTo>
                  <a:pt x="5029200" y="1073107"/>
                </a:lnTo>
                <a:lnTo>
                  <a:pt x="4978400" y="1074979"/>
                </a:lnTo>
                <a:lnTo>
                  <a:pt x="4927599" y="1076820"/>
                </a:lnTo>
                <a:lnTo>
                  <a:pt x="4876800" y="1078628"/>
                </a:lnTo>
                <a:lnTo>
                  <a:pt x="4826000" y="1080402"/>
                </a:lnTo>
                <a:lnTo>
                  <a:pt x="4775199" y="1082141"/>
                </a:lnTo>
                <a:lnTo>
                  <a:pt x="4724400" y="1083843"/>
                </a:lnTo>
                <a:lnTo>
                  <a:pt x="4673600" y="1085507"/>
                </a:lnTo>
                <a:lnTo>
                  <a:pt x="4622799" y="1087133"/>
                </a:lnTo>
                <a:lnTo>
                  <a:pt x="4572000" y="1088719"/>
                </a:lnTo>
                <a:lnTo>
                  <a:pt x="4521200" y="1090264"/>
                </a:lnTo>
                <a:lnTo>
                  <a:pt x="4470399" y="1091767"/>
                </a:lnTo>
                <a:lnTo>
                  <a:pt x="4419600" y="1093226"/>
                </a:lnTo>
                <a:lnTo>
                  <a:pt x="4368800" y="1094642"/>
                </a:lnTo>
                <a:lnTo>
                  <a:pt x="4317999" y="1096013"/>
                </a:lnTo>
                <a:lnTo>
                  <a:pt x="4267200" y="1097337"/>
                </a:lnTo>
                <a:lnTo>
                  <a:pt x="4216400" y="1098615"/>
                </a:lnTo>
                <a:lnTo>
                  <a:pt x="4165599" y="1099845"/>
                </a:lnTo>
                <a:lnTo>
                  <a:pt x="4114800" y="1101026"/>
                </a:lnTo>
                <a:lnTo>
                  <a:pt x="4064000" y="1102158"/>
                </a:lnTo>
                <a:lnTo>
                  <a:pt x="4013199" y="1103240"/>
                </a:lnTo>
                <a:lnTo>
                  <a:pt x="3962400" y="1104271"/>
                </a:lnTo>
                <a:lnTo>
                  <a:pt x="3911600" y="1105250"/>
                </a:lnTo>
                <a:lnTo>
                  <a:pt x="3860799" y="1106177"/>
                </a:lnTo>
                <a:lnTo>
                  <a:pt x="3810000" y="1107051"/>
                </a:lnTo>
                <a:lnTo>
                  <a:pt x="3759200" y="1107871"/>
                </a:lnTo>
                <a:lnTo>
                  <a:pt x="3708399" y="1108638"/>
                </a:lnTo>
                <a:lnTo>
                  <a:pt x="3657600" y="1109349"/>
                </a:lnTo>
                <a:lnTo>
                  <a:pt x="3606800" y="1110006"/>
                </a:lnTo>
                <a:lnTo>
                  <a:pt x="3555999" y="1110607"/>
                </a:lnTo>
                <a:lnTo>
                  <a:pt x="3505200" y="1111152"/>
                </a:lnTo>
                <a:lnTo>
                  <a:pt x="3454400" y="1111640"/>
                </a:lnTo>
                <a:lnTo>
                  <a:pt x="3403599" y="1112072"/>
                </a:lnTo>
                <a:lnTo>
                  <a:pt x="3352800" y="1112447"/>
                </a:lnTo>
                <a:lnTo>
                  <a:pt x="3302000" y="1112765"/>
                </a:lnTo>
                <a:lnTo>
                  <a:pt x="3251199" y="1113025"/>
                </a:lnTo>
                <a:lnTo>
                  <a:pt x="3200400" y="1113228"/>
                </a:lnTo>
                <a:lnTo>
                  <a:pt x="3149600" y="1113373"/>
                </a:lnTo>
                <a:lnTo>
                  <a:pt x="3098799" y="1113460"/>
                </a:lnTo>
                <a:lnTo>
                  <a:pt x="3048000" y="1113489"/>
                </a:lnTo>
                <a:lnTo>
                  <a:pt x="2997200" y="1113460"/>
                </a:lnTo>
                <a:lnTo>
                  <a:pt x="2946399" y="1113373"/>
                </a:lnTo>
                <a:lnTo>
                  <a:pt x="2895600" y="1113228"/>
                </a:lnTo>
                <a:lnTo>
                  <a:pt x="2844800" y="1113025"/>
                </a:lnTo>
                <a:lnTo>
                  <a:pt x="2793999" y="1112765"/>
                </a:lnTo>
                <a:lnTo>
                  <a:pt x="2743200" y="1112447"/>
                </a:lnTo>
                <a:lnTo>
                  <a:pt x="2692400" y="1112072"/>
                </a:lnTo>
                <a:lnTo>
                  <a:pt x="2641599" y="1111640"/>
                </a:lnTo>
                <a:lnTo>
                  <a:pt x="2590800" y="1111152"/>
                </a:lnTo>
                <a:lnTo>
                  <a:pt x="2540000" y="1110607"/>
                </a:lnTo>
                <a:lnTo>
                  <a:pt x="2489199" y="1110006"/>
                </a:lnTo>
                <a:lnTo>
                  <a:pt x="2438400" y="1109349"/>
                </a:lnTo>
                <a:lnTo>
                  <a:pt x="2387600" y="1108638"/>
                </a:lnTo>
                <a:lnTo>
                  <a:pt x="2336799" y="1107871"/>
                </a:lnTo>
                <a:lnTo>
                  <a:pt x="2286000" y="1107051"/>
                </a:lnTo>
                <a:lnTo>
                  <a:pt x="2235200" y="1106177"/>
                </a:lnTo>
                <a:lnTo>
                  <a:pt x="2184399" y="1105250"/>
                </a:lnTo>
                <a:lnTo>
                  <a:pt x="2133600" y="1104271"/>
                </a:lnTo>
                <a:lnTo>
                  <a:pt x="2082800" y="1103240"/>
                </a:lnTo>
                <a:lnTo>
                  <a:pt x="2031999" y="1102158"/>
                </a:lnTo>
                <a:lnTo>
                  <a:pt x="1981200" y="1101026"/>
                </a:lnTo>
                <a:lnTo>
                  <a:pt x="1930400" y="1099845"/>
                </a:lnTo>
                <a:lnTo>
                  <a:pt x="1879599" y="1098615"/>
                </a:lnTo>
                <a:lnTo>
                  <a:pt x="1828800" y="1097337"/>
                </a:lnTo>
                <a:lnTo>
                  <a:pt x="1778000" y="1096013"/>
                </a:lnTo>
                <a:lnTo>
                  <a:pt x="1727199" y="1094642"/>
                </a:lnTo>
                <a:lnTo>
                  <a:pt x="1676400" y="1093226"/>
                </a:lnTo>
                <a:lnTo>
                  <a:pt x="1625600" y="1091767"/>
                </a:lnTo>
                <a:lnTo>
                  <a:pt x="1574799" y="1090264"/>
                </a:lnTo>
                <a:lnTo>
                  <a:pt x="1524000" y="1088719"/>
                </a:lnTo>
                <a:lnTo>
                  <a:pt x="1473200" y="1087133"/>
                </a:lnTo>
                <a:lnTo>
                  <a:pt x="1422399" y="1085507"/>
                </a:lnTo>
                <a:lnTo>
                  <a:pt x="1371600" y="1083843"/>
                </a:lnTo>
                <a:lnTo>
                  <a:pt x="1320800" y="1082141"/>
                </a:lnTo>
                <a:lnTo>
                  <a:pt x="1269999" y="1080402"/>
                </a:lnTo>
                <a:lnTo>
                  <a:pt x="1219200" y="1078628"/>
                </a:lnTo>
                <a:lnTo>
                  <a:pt x="1168400" y="1076820"/>
                </a:lnTo>
                <a:lnTo>
                  <a:pt x="1117599" y="1074979"/>
                </a:lnTo>
                <a:lnTo>
                  <a:pt x="1066800" y="1073107"/>
                </a:lnTo>
                <a:lnTo>
                  <a:pt x="1016000" y="1071204"/>
                </a:lnTo>
                <a:lnTo>
                  <a:pt x="965199" y="1069272"/>
                </a:lnTo>
                <a:lnTo>
                  <a:pt x="914400" y="1067313"/>
                </a:lnTo>
                <a:lnTo>
                  <a:pt x="863600" y="1065328"/>
                </a:lnTo>
                <a:lnTo>
                  <a:pt x="812799" y="1063317"/>
                </a:lnTo>
                <a:lnTo>
                  <a:pt x="762000" y="1061283"/>
                </a:lnTo>
                <a:lnTo>
                  <a:pt x="711200" y="1059226"/>
                </a:lnTo>
                <a:lnTo>
                  <a:pt x="660399" y="1057149"/>
                </a:lnTo>
                <a:lnTo>
                  <a:pt x="609600" y="1055053"/>
                </a:lnTo>
                <a:lnTo>
                  <a:pt x="558800" y="1052939"/>
                </a:lnTo>
                <a:lnTo>
                  <a:pt x="507999" y="1050808"/>
                </a:lnTo>
                <a:lnTo>
                  <a:pt x="457200" y="1048662"/>
                </a:lnTo>
                <a:lnTo>
                  <a:pt x="406400" y="1046503"/>
                </a:lnTo>
                <a:lnTo>
                  <a:pt x="355599" y="1044331"/>
                </a:lnTo>
                <a:lnTo>
                  <a:pt x="304800" y="1042149"/>
                </a:lnTo>
                <a:lnTo>
                  <a:pt x="254000" y="1039958"/>
                </a:lnTo>
                <a:lnTo>
                  <a:pt x="203199" y="1037760"/>
                </a:lnTo>
                <a:lnTo>
                  <a:pt x="152400" y="1035555"/>
                </a:lnTo>
                <a:lnTo>
                  <a:pt x="101600" y="1033346"/>
                </a:lnTo>
                <a:lnTo>
                  <a:pt x="50799" y="1031133"/>
                </a:lnTo>
                <a:lnTo>
                  <a:pt x="0" y="1028920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ヘッダー山1"/>
          <p:cNvSpPr/>
          <p:nvPr/>
        </p:nvSpPr>
        <p:spPr>
          <a:xfrm>
            <a:off x="8315930" y="352369"/>
            <a:ext cx="2078983" cy="591982"/>
          </a:xfrm>
          <a:custGeom>
            <a:avLst/>
            <a:gdLst/>
            <a:ahLst/>
            <a:cxnLst/>
            <a:rect l="l" t="t" r="r" b="b"/>
            <a:pathLst>
              <a:path w="2078983" h="591982">
                <a:moveTo>
                  <a:pt x="0" y="591982"/>
                </a:moveTo>
                <a:lnTo>
                  <a:pt x="1141679" y="0"/>
                </a:lnTo>
                <a:lnTo>
                  <a:pt x="2078983" y="591982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ヘッダー山2"/>
          <p:cNvSpPr/>
          <p:nvPr/>
        </p:nvSpPr>
        <p:spPr>
          <a:xfrm>
            <a:off x="9866358" y="591981"/>
            <a:ext cx="2043746" cy="352370"/>
          </a:xfrm>
          <a:custGeom>
            <a:avLst/>
            <a:gdLst/>
            <a:ahLst/>
            <a:cxnLst/>
            <a:rect l="l" t="t" r="r" b="b"/>
            <a:pathLst>
              <a:path w="2043746" h="352370">
                <a:moveTo>
                  <a:pt x="0" y="352370"/>
                </a:moveTo>
                <a:lnTo>
                  <a:pt x="1021873" y="0"/>
                </a:lnTo>
                <a:lnTo>
                  <a:pt x="2043746" y="35237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451033" y="211421"/>
            <a:ext cx="6342658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4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拠点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451033" y="422843"/>
            <a:ext cx="10571098" cy="4933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長野を中心に、信越・北関東に109の拠点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1033" y="1240342"/>
            <a:ext cx="6201710" cy="4862705"/>
          </a:xfrm>
          <a:prstGeom prst="roundRect">
            <a:avLst>
              <a:gd name="adj" fmla="val 289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グラフ見出し"/>
          <p:cNvSpPr txBox="1"/>
          <p:nvPr/>
        </p:nvSpPr>
        <p:spPr>
          <a:xfrm>
            <a:off x="704739" y="1381290"/>
            <a:ext cx="4933179" cy="281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都県別の拠点数（計109拠点）</a:t>
            </a:r>
          </a:p>
        </p:txBody>
      </p:sp>
      <p:graphicFrame>
        <p:nvGraphicFramePr>
          <p:cNvPr id="8" name="拠点数グラフ"/>
          <p:cNvGraphicFramePr>
            <a:graphicFrameLocks noGrp="1"/>
          </p:cNvGraphicFramePr>
          <p:nvPr/>
        </p:nvGraphicFramePr>
        <p:xfrm>
          <a:off x="620171" y="1733660"/>
          <a:ext cx="5863435" cy="422843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906450" y="1240342"/>
            <a:ext cx="4834515" cy="1846418"/>
          </a:xfrm>
          <a:prstGeom prst="roundRect">
            <a:avLst>
              <a:gd name="adj" fmla="val 763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サービス見出し"/>
          <p:cNvSpPr txBox="1"/>
          <p:nvPr/>
        </p:nvSpPr>
        <p:spPr>
          <a:xfrm>
            <a:off x="7160157" y="1381290"/>
            <a:ext cx="4369387" cy="2537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提供しているサービス　7種</a:t>
            </a:r>
          </a:p>
        </p:txBody>
      </p:sp>
      <p:sp>
        <p:nvSpPr>
          <p:cNvPr id="11" name="サービス_有料老人ホーム"/>
          <p:cNvSpPr/>
          <p:nvPr/>
        </p:nvSpPr>
        <p:spPr>
          <a:xfrm>
            <a:off x="7160157" y="1775944"/>
            <a:ext cx="1409479" cy="352369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サービス文字_有料老人ホーム"/>
          <p:cNvSpPr txBox="1"/>
          <p:nvPr/>
        </p:nvSpPr>
        <p:spPr>
          <a:xfrm>
            <a:off x="7160157" y="1775944"/>
            <a:ext cx="1409479" cy="3523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有料老人ホーム</a:t>
            </a:r>
          </a:p>
        </p:txBody>
      </p:sp>
      <p:sp>
        <p:nvSpPr>
          <p:cNvPr id="13" name="サービス_グループホーム"/>
          <p:cNvSpPr/>
          <p:nvPr/>
        </p:nvSpPr>
        <p:spPr>
          <a:xfrm>
            <a:off x="8654205" y="1775944"/>
            <a:ext cx="1409479" cy="352369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サービス文字_グループホーム"/>
          <p:cNvSpPr txBox="1"/>
          <p:nvPr/>
        </p:nvSpPr>
        <p:spPr>
          <a:xfrm>
            <a:off x="8654205" y="1775944"/>
            <a:ext cx="1409479" cy="3523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グループホーム</a:t>
            </a:r>
          </a:p>
        </p:txBody>
      </p:sp>
      <p:sp>
        <p:nvSpPr>
          <p:cNvPr id="15" name="サービス_デイサービス"/>
          <p:cNvSpPr/>
          <p:nvPr/>
        </p:nvSpPr>
        <p:spPr>
          <a:xfrm>
            <a:off x="10148254" y="1775944"/>
            <a:ext cx="1409479" cy="352369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サービス文字_デイサービス"/>
          <p:cNvSpPr txBox="1"/>
          <p:nvPr/>
        </p:nvSpPr>
        <p:spPr>
          <a:xfrm>
            <a:off x="10148254" y="1775944"/>
            <a:ext cx="1409479" cy="3523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デイサービス</a:t>
            </a:r>
          </a:p>
        </p:txBody>
      </p:sp>
      <p:sp>
        <p:nvSpPr>
          <p:cNvPr id="17" name="サービス_小規模多機能"/>
          <p:cNvSpPr/>
          <p:nvPr/>
        </p:nvSpPr>
        <p:spPr>
          <a:xfrm>
            <a:off x="7160157" y="2212883"/>
            <a:ext cx="1409479" cy="352369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サービス文字_小規模多機能"/>
          <p:cNvSpPr txBox="1"/>
          <p:nvPr/>
        </p:nvSpPr>
        <p:spPr>
          <a:xfrm>
            <a:off x="7160157" y="2212883"/>
            <a:ext cx="1409479" cy="3523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小規模多機能</a:t>
            </a:r>
          </a:p>
        </p:txBody>
      </p:sp>
      <p:sp>
        <p:nvSpPr>
          <p:cNvPr id="19" name="サービス_看護小規模多機能型"/>
          <p:cNvSpPr/>
          <p:nvPr/>
        </p:nvSpPr>
        <p:spPr>
          <a:xfrm>
            <a:off x="8654205" y="2212883"/>
            <a:ext cx="1409479" cy="352369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サービス文字_看護小規模多機能型"/>
          <p:cNvSpPr txBox="1"/>
          <p:nvPr/>
        </p:nvSpPr>
        <p:spPr>
          <a:xfrm>
            <a:off x="8654205" y="2212883"/>
            <a:ext cx="1409479" cy="3523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看護小規模多機能型</a:t>
            </a:r>
          </a:p>
        </p:txBody>
      </p:sp>
      <p:sp>
        <p:nvSpPr>
          <p:cNvPr id="21" name="サービス_訪問介護"/>
          <p:cNvSpPr/>
          <p:nvPr/>
        </p:nvSpPr>
        <p:spPr>
          <a:xfrm>
            <a:off x="10148254" y="2212883"/>
            <a:ext cx="1409479" cy="352369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サービス文字_訪問介護"/>
          <p:cNvSpPr txBox="1"/>
          <p:nvPr/>
        </p:nvSpPr>
        <p:spPr>
          <a:xfrm>
            <a:off x="10148254" y="2212883"/>
            <a:ext cx="1409479" cy="3523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訪問介護</a:t>
            </a:r>
          </a:p>
        </p:txBody>
      </p:sp>
      <p:sp>
        <p:nvSpPr>
          <p:cNvPr id="23" name="サービス_訪問看護"/>
          <p:cNvSpPr/>
          <p:nvPr/>
        </p:nvSpPr>
        <p:spPr>
          <a:xfrm>
            <a:off x="7160157" y="2649821"/>
            <a:ext cx="1409479" cy="352369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サービス文字_訪問看護"/>
          <p:cNvSpPr txBox="1"/>
          <p:nvPr/>
        </p:nvSpPr>
        <p:spPr>
          <a:xfrm>
            <a:off x="7160157" y="2649821"/>
            <a:ext cx="1409479" cy="3523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訪問看護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06450" y="3255898"/>
            <a:ext cx="4834515" cy="2847149"/>
          </a:xfrm>
          <a:prstGeom prst="roundRect">
            <a:avLst>
              <a:gd name="adj" fmla="val 495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ツアー見出し"/>
          <p:cNvSpPr txBox="1"/>
          <p:nvPr/>
        </p:nvSpPr>
        <p:spPr>
          <a:xfrm>
            <a:off x="7160157" y="3425035"/>
            <a:ext cx="4369387" cy="2537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360°ツアーで見学できる事業所　9拠点</a:t>
            </a:r>
          </a:p>
        </p:txBody>
      </p:sp>
      <p:sp>
        <p:nvSpPr>
          <p:cNvPr id="28" name="県"/>
          <p:cNvSpPr/>
          <p:nvPr/>
        </p:nvSpPr>
        <p:spPr>
          <a:xfrm>
            <a:off x="7160157" y="3890164"/>
            <a:ext cx="84568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県_長野県"/>
          <p:cNvSpPr txBox="1"/>
          <p:nvPr/>
        </p:nvSpPr>
        <p:spPr>
          <a:xfrm>
            <a:off x="7160157" y="3890164"/>
            <a:ext cx="84568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長野県</a:t>
            </a:r>
          </a:p>
        </p:txBody>
      </p:sp>
      <p:sp>
        <p:nvSpPr>
          <p:cNvPr id="30" name="拠点数_長野県"/>
          <p:cNvSpPr txBox="1"/>
          <p:nvPr/>
        </p:nvSpPr>
        <p:spPr>
          <a:xfrm>
            <a:off x="8104508" y="3890164"/>
            <a:ext cx="634265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5拠点</a:t>
            </a:r>
          </a:p>
        </p:txBody>
      </p:sp>
      <p:sp>
        <p:nvSpPr>
          <p:cNvPr id="31" name="所在地_長野県"/>
          <p:cNvSpPr txBox="1"/>
          <p:nvPr/>
        </p:nvSpPr>
        <p:spPr>
          <a:xfrm>
            <a:off x="8809248" y="3890164"/>
            <a:ext cx="2748485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安曇野・松本・佐久・諏訪・上田</a:t>
            </a:r>
          </a:p>
        </p:txBody>
      </p:sp>
      <p:sp>
        <p:nvSpPr>
          <p:cNvPr id="32" name="県"/>
          <p:cNvSpPr/>
          <p:nvPr/>
        </p:nvSpPr>
        <p:spPr>
          <a:xfrm>
            <a:off x="7160157" y="4439861"/>
            <a:ext cx="84568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県_新潟県"/>
          <p:cNvSpPr txBox="1"/>
          <p:nvPr/>
        </p:nvSpPr>
        <p:spPr>
          <a:xfrm>
            <a:off x="7160157" y="4439861"/>
            <a:ext cx="84568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新潟県</a:t>
            </a:r>
          </a:p>
        </p:txBody>
      </p:sp>
      <p:sp>
        <p:nvSpPr>
          <p:cNvPr id="34" name="拠点数_新潟県"/>
          <p:cNvSpPr txBox="1"/>
          <p:nvPr/>
        </p:nvSpPr>
        <p:spPr>
          <a:xfrm>
            <a:off x="8104508" y="4439861"/>
            <a:ext cx="634265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1拠点</a:t>
            </a:r>
          </a:p>
        </p:txBody>
      </p:sp>
      <p:sp>
        <p:nvSpPr>
          <p:cNvPr id="35" name="所在地_新潟県"/>
          <p:cNvSpPr txBox="1"/>
          <p:nvPr/>
        </p:nvSpPr>
        <p:spPr>
          <a:xfrm>
            <a:off x="8809248" y="4439861"/>
            <a:ext cx="2748485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糸魚川</a:t>
            </a:r>
          </a:p>
        </p:txBody>
      </p:sp>
      <p:sp>
        <p:nvSpPr>
          <p:cNvPr id="36" name="県"/>
          <p:cNvSpPr/>
          <p:nvPr/>
        </p:nvSpPr>
        <p:spPr>
          <a:xfrm>
            <a:off x="7160157" y="4989558"/>
            <a:ext cx="84568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県_栃木県"/>
          <p:cNvSpPr txBox="1"/>
          <p:nvPr/>
        </p:nvSpPr>
        <p:spPr>
          <a:xfrm>
            <a:off x="7160157" y="4989558"/>
            <a:ext cx="84568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栃木県</a:t>
            </a:r>
          </a:p>
        </p:txBody>
      </p:sp>
      <p:sp>
        <p:nvSpPr>
          <p:cNvPr id="38" name="拠点数_栃木県"/>
          <p:cNvSpPr txBox="1"/>
          <p:nvPr/>
        </p:nvSpPr>
        <p:spPr>
          <a:xfrm>
            <a:off x="8104508" y="4989558"/>
            <a:ext cx="634265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2拠点</a:t>
            </a:r>
          </a:p>
        </p:txBody>
      </p:sp>
      <p:sp>
        <p:nvSpPr>
          <p:cNvPr id="39" name="所在地_栃木県"/>
          <p:cNvSpPr txBox="1"/>
          <p:nvPr/>
        </p:nvSpPr>
        <p:spPr>
          <a:xfrm>
            <a:off x="8809248" y="4989558"/>
            <a:ext cx="2748485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宇都宮・小山</a:t>
            </a:r>
          </a:p>
        </p:txBody>
      </p:sp>
      <p:sp>
        <p:nvSpPr>
          <p:cNvPr id="40" name="県"/>
          <p:cNvSpPr/>
          <p:nvPr/>
        </p:nvSpPr>
        <p:spPr>
          <a:xfrm>
            <a:off x="7160157" y="5539255"/>
            <a:ext cx="84568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県_埼玉県"/>
          <p:cNvSpPr txBox="1"/>
          <p:nvPr/>
        </p:nvSpPr>
        <p:spPr>
          <a:xfrm>
            <a:off x="7160157" y="5539255"/>
            <a:ext cx="84568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埼玉県</a:t>
            </a:r>
          </a:p>
        </p:txBody>
      </p:sp>
      <p:sp>
        <p:nvSpPr>
          <p:cNvPr id="42" name="拠点数_埼玉県"/>
          <p:cNvSpPr txBox="1"/>
          <p:nvPr/>
        </p:nvSpPr>
        <p:spPr>
          <a:xfrm>
            <a:off x="8104508" y="5539255"/>
            <a:ext cx="634265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1拠点</a:t>
            </a:r>
          </a:p>
        </p:txBody>
      </p:sp>
      <p:sp>
        <p:nvSpPr>
          <p:cNvPr id="43" name="所在地_埼玉県"/>
          <p:cNvSpPr txBox="1"/>
          <p:nvPr/>
        </p:nvSpPr>
        <p:spPr>
          <a:xfrm>
            <a:off x="8809248" y="5539255"/>
            <a:ext cx="2748485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羽生</a:t>
            </a:r>
          </a:p>
        </p:txBody>
      </p:sp>
      <p:sp>
        <p:nvSpPr>
          <p:cNvPr id="44" name="注記"/>
          <p:cNvSpPr txBox="1"/>
          <p:nvPr/>
        </p:nvSpPr>
        <p:spPr>
          <a:xfrm>
            <a:off x="451033" y="6300374"/>
            <a:ext cx="11275838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7" b="0">
                <a:solidFill>
                  <a:srgbClr val="7A8A87"/>
                </a:solidFill>
                <a:latin typeface="游ゴシック"/>
                <a:ea typeface="游ゴシック"/>
                <a:cs typeface="游ゴシック"/>
              </a:rPr>
              <a:t>※ 出典：エフビー介護サービス コーポレートサイト（360°ツアー）ほか、実習サイトの掲載内容。</a:t>
            </a:r>
          </a:p>
        </p:txBody>
      </p:sp>
      <p:sp>
        <p:nvSpPr>
          <p:cNvPr id="46" name="ページ番号"/>
          <p:cNvSpPr txBox="1"/>
          <p:nvPr/>
        </p:nvSpPr>
        <p:spPr>
          <a:xfrm>
            <a:off x="10895278" y="6300374"/>
            <a:ext cx="845687" cy="1832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32">
                <a:solidFill>
                  <a:srgbClr val="8A9A96"/>
                </a:solidFill>
                <a:latin typeface="游ゴシック"/>
              </a:rPr>
              <a:t>12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5963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113489"/>
          </a:xfrm>
          <a:custGeom>
            <a:avLst/>
            <a:gdLst/>
            <a:ahLst/>
            <a:cxnLst/>
            <a:rect l="l" t="t" r="r" b="b"/>
            <a:pathLst>
              <a:path w="12192000" h="1113489">
                <a:moveTo>
                  <a:pt x="0" y="0"/>
                </a:moveTo>
                <a:lnTo>
                  <a:pt x="12192000" y="0"/>
                </a:lnTo>
                <a:lnTo>
                  <a:pt x="12192000" y="1028920"/>
                </a:lnTo>
                <a:lnTo>
                  <a:pt x="12141200" y="1026706"/>
                </a:lnTo>
                <a:lnTo>
                  <a:pt x="12090400" y="1024494"/>
                </a:lnTo>
                <a:lnTo>
                  <a:pt x="12039600" y="1022285"/>
                </a:lnTo>
                <a:lnTo>
                  <a:pt x="11988800" y="1020080"/>
                </a:lnTo>
                <a:lnTo>
                  <a:pt x="11938000" y="1017881"/>
                </a:lnTo>
                <a:lnTo>
                  <a:pt x="11887200" y="1015690"/>
                </a:lnTo>
                <a:lnTo>
                  <a:pt x="11836400" y="1013508"/>
                </a:lnTo>
                <a:lnTo>
                  <a:pt x="11785600" y="1011337"/>
                </a:lnTo>
                <a:lnTo>
                  <a:pt x="11734800" y="1009178"/>
                </a:lnTo>
                <a:lnTo>
                  <a:pt x="11684000" y="1007032"/>
                </a:lnTo>
                <a:lnTo>
                  <a:pt x="11633200" y="1004901"/>
                </a:lnTo>
                <a:lnTo>
                  <a:pt x="11582400" y="1002787"/>
                </a:lnTo>
                <a:lnTo>
                  <a:pt x="11531600" y="1000690"/>
                </a:lnTo>
                <a:lnTo>
                  <a:pt x="11480800" y="998613"/>
                </a:lnTo>
                <a:lnTo>
                  <a:pt x="11430000" y="996557"/>
                </a:lnTo>
                <a:lnTo>
                  <a:pt x="11379200" y="994523"/>
                </a:lnTo>
                <a:lnTo>
                  <a:pt x="11328400" y="992512"/>
                </a:lnTo>
                <a:lnTo>
                  <a:pt x="11277600" y="990526"/>
                </a:lnTo>
                <a:lnTo>
                  <a:pt x="11226800" y="988567"/>
                </a:lnTo>
                <a:lnTo>
                  <a:pt x="11176000" y="986635"/>
                </a:lnTo>
                <a:lnTo>
                  <a:pt x="11125200" y="984733"/>
                </a:lnTo>
                <a:lnTo>
                  <a:pt x="11074400" y="982860"/>
                </a:lnTo>
                <a:lnTo>
                  <a:pt x="11023600" y="981019"/>
                </a:lnTo>
                <a:lnTo>
                  <a:pt x="10972800" y="979211"/>
                </a:lnTo>
                <a:lnTo>
                  <a:pt x="10922000" y="977438"/>
                </a:lnTo>
                <a:lnTo>
                  <a:pt x="10871200" y="975699"/>
                </a:lnTo>
                <a:lnTo>
                  <a:pt x="10820400" y="973997"/>
                </a:lnTo>
                <a:lnTo>
                  <a:pt x="10769600" y="972332"/>
                </a:lnTo>
                <a:lnTo>
                  <a:pt x="10718800" y="970706"/>
                </a:lnTo>
                <a:lnTo>
                  <a:pt x="10668000" y="969121"/>
                </a:lnTo>
                <a:lnTo>
                  <a:pt x="10617200" y="967576"/>
                </a:lnTo>
                <a:lnTo>
                  <a:pt x="10566400" y="966073"/>
                </a:lnTo>
                <a:lnTo>
                  <a:pt x="10515600" y="964613"/>
                </a:lnTo>
                <a:lnTo>
                  <a:pt x="10464800" y="963197"/>
                </a:lnTo>
                <a:lnTo>
                  <a:pt x="10414000" y="961827"/>
                </a:lnTo>
                <a:lnTo>
                  <a:pt x="10363200" y="960502"/>
                </a:lnTo>
                <a:lnTo>
                  <a:pt x="10312400" y="959224"/>
                </a:lnTo>
                <a:lnTo>
                  <a:pt x="10261600" y="957994"/>
                </a:lnTo>
                <a:lnTo>
                  <a:pt x="10210800" y="956813"/>
                </a:lnTo>
                <a:lnTo>
                  <a:pt x="10160000" y="955681"/>
                </a:lnTo>
                <a:lnTo>
                  <a:pt x="10109200" y="954599"/>
                </a:lnTo>
                <a:lnTo>
                  <a:pt x="10058400" y="953568"/>
                </a:lnTo>
                <a:lnTo>
                  <a:pt x="10007600" y="952589"/>
                </a:lnTo>
                <a:lnTo>
                  <a:pt x="9956800" y="951662"/>
                </a:lnTo>
                <a:lnTo>
                  <a:pt x="9906000" y="950788"/>
                </a:lnTo>
                <a:lnTo>
                  <a:pt x="9855200" y="949968"/>
                </a:lnTo>
                <a:lnTo>
                  <a:pt x="9804400" y="949202"/>
                </a:lnTo>
                <a:lnTo>
                  <a:pt x="9753600" y="948490"/>
                </a:lnTo>
                <a:lnTo>
                  <a:pt x="9702800" y="947834"/>
                </a:lnTo>
                <a:lnTo>
                  <a:pt x="9652000" y="947233"/>
                </a:lnTo>
                <a:lnTo>
                  <a:pt x="9601200" y="946688"/>
                </a:lnTo>
                <a:lnTo>
                  <a:pt x="9550400" y="946199"/>
                </a:lnTo>
                <a:lnTo>
                  <a:pt x="9499600" y="945767"/>
                </a:lnTo>
                <a:lnTo>
                  <a:pt x="9448800" y="945392"/>
                </a:lnTo>
                <a:lnTo>
                  <a:pt x="9398000" y="945074"/>
                </a:lnTo>
                <a:lnTo>
                  <a:pt x="9347200" y="944814"/>
                </a:lnTo>
                <a:lnTo>
                  <a:pt x="9296400" y="944612"/>
                </a:lnTo>
                <a:lnTo>
                  <a:pt x="9245600" y="944467"/>
                </a:lnTo>
                <a:lnTo>
                  <a:pt x="9194800" y="944380"/>
                </a:lnTo>
                <a:lnTo>
                  <a:pt x="9144000" y="944351"/>
                </a:lnTo>
                <a:lnTo>
                  <a:pt x="9093200" y="944380"/>
                </a:lnTo>
                <a:lnTo>
                  <a:pt x="9042400" y="944467"/>
                </a:lnTo>
                <a:lnTo>
                  <a:pt x="8991600" y="944612"/>
                </a:lnTo>
                <a:lnTo>
                  <a:pt x="8940800" y="944814"/>
                </a:lnTo>
                <a:lnTo>
                  <a:pt x="8890000" y="945074"/>
                </a:lnTo>
                <a:lnTo>
                  <a:pt x="8839200" y="945392"/>
                </a:lnTo>
                <a:lnTo>
                  <a:pt x="8788400" y="945767"/>
                </a:lnTo>
                <a:lnTo>
                  <a:pt x="8737600" y="946199"/>
                </a:lnTo>
                <a:lnTo>
                  <a:pt x="8686800" y="946688"/>
                </a:lnTo>
                <a:lnTo>
                  <a:pt x="8636000" y="947233"/>
                </a:lnTo>
                <a:lnTo>
                  <a:pt x="8585200" y="947834"/>
                </a:lnTo>
                <a:lnTo>
                  <a:pt x="8534400" y="948490"/>
                </a:lnTo>
                <a:lnTo>
                  <a:pt x="8483599" y="949202"/>
                </a:lnTo>
                <a:lnTo>
                  <a:pt x="8432800" y="949968"/>
                </a:lnTo>
                <a:lnTo>
                  <a:pt x="8382000" y="950788"/>
                </a:lnTo>
                <a:lnTo>
                  <a:pt x="8331199" y="951662"/>
                </a:lnTo>
                <a:lnTo>
                  <a:pt x="8280400" y="952589"/>
                </a:lnTo>
                <a:lnTo>
                  <a:pt x="8229600" y="953568"/>
                </a:lnTo>
                <a:lnTo>
                  <a:pt x="8178799" y="954599"/>
                </a:lnTo>
                <a:lnTo>
                  <a:pt x="8128000" y="955681"/>
                </a:lnTo>
                <a:lnTo>
                  <a:pt x="8077200" y="956813"/>
                </a:lnTo>
                <a:lnTo>
                  <a:pt x="8026399" y="957994"/>
                </a:lnTo>
                <a:lnTo>
                  <a:pt x="7975600" y="959224"/>
                </a:lnTo>
                <a:lnTo>
                  <a:pt x="7924800" y="960502"/>
                </a:lnTo>
                <a:lnTo>
                  <a:pt x="7873999" y="961827"/>
                </a:lnTo>
                <a:lnTo>
                  <a:pt x="7823200" y="963197"/>
                </a:lnTo>
                <a:lnTo>
                  <a:pt x="7772400" y="964613"/>
                </a:lnTo>
                <a:lnTo>
                  <a:pt x="7721599" y="966073"/>
                </a:lnTo>
                <a:lnTo>
                  <a:pt x="7670800" y="967576"/>
                </a:lnTo>
                <a:lnTo>
                  <a:pt x="7620000" y="969121"/>
                </a:lnTo>
                <a:lnTo>
                  <a:pt x="7569199" y="970706"/>
                </a:lnTo>
                <a:lnTo>
                  <a:pt x="7518400" y="972332"/>
                </a:lnTo>
                <a:lnTo>
                  <a:pt x="7467600" y="973997"/>
                </a:lnTo>
                <a:lnTo>
                  <a:pt x="7416799" y="975699"/>
                </a:lnTo>
                <a:lnTo>
                  <a:pt x="7366000" y="977438"/>
                </a:lnTo>
                <a:lnTo>
                  <a:pt x="7315200" y="979211"/>
                </a:lnTo>
                <a:lnTo>
                  <a:pt x="7264399" y="981019"/>
                </a:lnTo>
                <a:lnTo>
                  <a:pt x="7213600" y="982860"/>
                </a:lnTo>
                <a:lnTo>
                  <a:pt x="7162800" y="984733"/>
                </a:lnTo>
                <a:lnTo>
                  <a:pt x="7112000" y="986635"/>
                </a:lnTo>
                <a:lnTo>
                  <a:pt x="7061200" y="988567"/>
                </a:lnTo>
                <a:lnTo>
                  <a:pt x="7010400" y="990526"/>
                </a:lnTo>
                <a:lnTo>
                  <a:pt x="6959600" y="992512"/>
                </a:lnTo>
                <a:lnTo>
                  <a:pt x="6908800" y="994523"/>
                </a:lnTo>
                <a:lnTo>
                  <a:pt x="6858000" y="996557"/>
                </a:lnTo>
                <a:lnTo>
                  <a:pt x="6807200" y="998613"/>
                </a:lnTo>
                <a:lnTo>
                  <a:pt x="6756400" y="1000690"/>
                </a:lnTo>
                <a:lnTo>
                  <a:pt x="6705600" y="1002787"/>
                </a:lnTo>
                <a:lnTo>
                  <a:pt x="6654800" y="1004901"/>
                </a:lnTo>
                <a:lnTo>
                  <a:pt x="6604000" y="1007032"/>
                </a:lnTo>
                <a:lnTo>
                  <a:pt x="6553200" y="1009178"/>
                </a:lnTo>
                <a:lnTo>
                  <a:pt x="6502400" y="1011337"/>
                </a:lnTo>
                <a:lnTo>
                  <a:pt x="6451600" y="1013508"/>
                </a:lnTo>
                <a:lnTo>
                  <a:pt x="6400800" y="1015690"/>
                </a:lnTo>
                <a:lnTo>
                  <a:pt x="6350000" y="1017881"/>
                </a:lnTo>
                <a:lnTo>
                  <a:pt x="6299200" y="1020080"/>
                </a:lnTo>
                <a:lnTo>
                  <a:pt x="6248400" y="1022285"/>
                </a:lnTo>
                <a:lnTo>
                  <a:pt x="6197600" y="1024494"/>
                </a:lnTo>
                <a:lnTo>
                  <a:pt x="6146800" y="1026706"/>
                </a:lnTo>
                <a:lnTo>
                  <a:pt x="6096000" y="1028920"/>
                </a:lnTo>
                <a:lnTo>
                  <a:pt x="6045200" y="1031133"/>
                </a:lnTo>
                <a:lnTo>
                  <a:pt x="5994400" y="1033346"/>
                </a:lnTo>
                <a:lnTo>
                  <a:pt x="5943600" y="1035555"/>
                </a:lnTo>
                <a:lnTo>
                  <a:pt x="5892800" y="1037760"/>
                </a:lnTo>
                <a:lnTo>
                  <a:pt x="5842000" y="1039958"/>
                </a:lnTo>
                <a:lnTo>
                  <a:pt x="5791200" y="1042149"/>
                </a:lnTo>
                <a:lnTo>
                  <a:pt x="5740400" y="1044331"/>
                </a:lnTo>
                <a:lnTo>
                  <a:pt x="5689600" y="1046503"/>
                </a:lnTo>
                <a:lnTo>
                  <a:pt x="5638800" y="1048662"/>
                </a:lnTo>
                <a:lnTo>
                  <a:pt x="5588000" y="1050808"/>
                </a:lnTo>
                <a:lnTo>
                  <a:pt x="5537200" y="1052939"/>
                </a:lnTo>
                <a:lnTo>
                  <a:pt x="5486400" y="1055053"/>
                </a:lnTo>
                <a:lnTo>
                  <a:pt x="5435600" y="1057149"/>
                </a:lnTo>
                <a:lnTo>
                  <a:pt x="5384800" y="1059226"/>
                </a:lnTo>
                <a:lnTo>
                  <a:pt x="5334000" y="1061283"/>
                </a:lnTo>
                <a:lnTo>
                  <a:pt x="5283200" y="1063317"/>
                </a:lnTo>
                <a:lnTo>
                  <a:pt x="5232400" y="1065328"/>
                </a:lnTo>
                <a:lnTo>
                  <a:pt x="5181600" y="1067313"/>
                </a:lnTo>
                <a:lnTo>
                  <a:pt x="5130800" y="1069272"/>
                </a:lnTo>
                <a:lnTo>
                  <a:pt x="5080000" y="1071204"/>
                </a:lnTo>
                <a:lnTo>
                  <a:pt x="5029200" y="1073107"/>
                </a:lnTo>
                <a:lnTo>
                  <a:pt x="4978400" y="1074979"/>
                </a:lnTo>
                <a:lnTo>
                  <a:pt x="4927599" y="1076820"/>
                </a:lnTo>
                <a:lnTo>
                  <a:pt x="4876800" y="1078628"/>
                </a:lnTo>
                <a:lnTo>
                  <a:pt x="4826000" y="1080402"/>
                </a:lnTo>
                <a:lnTo>
                  <a:pt x="4775199" y="1082141"/>
                </a:lnTo>
                <a:lnTo>
                  <a:pt x="4724400" y="1083843"/>
                </a:lnTo>
                <a:lnTo>
                  <a:pt x="4673600" y="1085507"/>
                </a:lnTo>
                <a:lnTo>
                  <a:pt x="4622799" y="1087133"/>
                </a:lnTo>
                <a:lnTo>
                  <a:pt x="4572000" y="1088719"/>
                </a:lnTo>
                <a:lnTo>
                  <a:pt x="4521200" y="1090264"/>
                </a:lnTo>
                <a:lnTo>
                  <a:pt x="4470399" y="1091767"/>
                </a:lnTo>
                <a:lnTo>
                  <a:pt x="4419600" y="1093226"/>
                </a:lnTo>
                <a:lnTo>
                  <a:pt x="4368800" y="1094642"/>
                </a:lnTo>
                <a:lnTo>
                  <a:pt x="4317999" y="1096013"/>
                </a:lnTo>
                <a:lnTo>
                  <a:pt x="4267200" y="1097337"/>
                </a:lnTo>
                <a:lnTo>
                  <a:pt x="4216400" y="1098615"/>
                </a:lnTo>
                <a:lnTo>
                  <a:pt x="4165599" y="1099845"/>
                </a:lnTo>
                <a:lnTo>
                  <a:pt x="4114800" y="1101026"/>
                </a:lnTo>
                <a:lnTo>
                  <a:pt x="4064000" y="1102158"/>
                </a:lnTo>
                <a:lnTo>
                  <a:pt x="4013199" y="1103240"/>
                </a:lnTo>
                <a:lnTo>
                  <a:pt x="3962400" y="1104271"/>
                </a:lnTo>
                <a:lnTo>
                  <a:pt x="3911600" y="1105250"/>
                </a:lnTo>
                <a:lnTo>
                  <a:pt x="3860799" y="1106177"/>
                </a:lnTo>
                <a:lnTo>
                  <a:pt x="3810000" y="1107051"/>
                </a:lnTo>
                <a:lnTo>
                  <a:pt x="3759200" y="1107871"/>
                </a:lnTo>
                <a:lnTo>
                  <a:pt x="3708399" y="1108638"/>
                </a:lnTo>
                <a:lnTo>
                  <a:pt x="3657600" y="1109349"/>
                </a:lnTo>
                <a:lnTo>
                  <a:pt x="3606800" y="1110006"/>
                </a:lnTo>
                <a:lnTo>
                  <a:pt x="3555999" y="1110607"/>
                </a:lnTo>
                <a:lnTo>
                  <a:pt x="3505200" y="1111152"/>
                </a:lnTo>
                <a:lnTo>
                  <a:pt x="3454400" y="1111640"/>
                </a:lnTo>
                <a:lnTo>
                  <a:pt x="3403599" y="1112072"/>
                </a:lnTo>
                <a:lnTo>
                  <a:pt x="3352800" y="1112447"/>
                </a:lnTo>
                <a:lnTo>
                  <a:pt x="3302000" y="1112765"/>
                </a:lnTo>
                <a:lnTo>
                  <a:pt x="3251199" y="1113025"/>
                </a:lnTo>
                <a:lnTo>
                  <a:pt x="3200400" y="1113228"/>
                </a:lnTo>
                <a:lnTo>
                  <a:pt x="3149600" y="1113373"/>
                </a:lnTo>
                <a:lnTo>
                  <a:pt x="3098799" y="1113460"/>
                </a:lnTo>
                <a:lnTo>
                  <a:pt x="3048000" y="1113489"/>
                </a:lnTo>
                <a:lnTo>
                  <a:pt x="2997200" y="1113460"/>
                </a:lnTo>
                <a:lnTo>
                  <a:pt x="2946399" y="1113373"/>
                </a:lnTo>
                <a:lnTo>
                  <a:pt x="2895600" y="1113228"/>
                </a:lnTo>
                <a:lnTo>
                  <a:pt x="2844800" y="1113025"/>
                </a:lnTo>
                <a:lnTo>
                  <a:pt x="2793999" y="1112765"/>
                </a:lnTo>
                <a:lnTo>
                  <a:pt x="2743200" y="1112447"/>
                </a:lnTo>
                <a:lnTo>
                  <a:pt x="2692400" y="1112072"/>
                </a:lnTo>
                <a:lnTo>
                  <a:pt x="2641599" y="1111640"/>
                </a:lnTo>
                <a:lnTo>
                  <a:pt x="2590800" y="1111152"/>
                </a:lnTo>
                <a:lnTo>
                  <a:pt x="2540000" y="1110607"/>
                </a:lnTo>
                <a:lnTo>
                  <a:pt x="2489199" y="1110006"/>
                </a:lnTo>
                <a:lnTo>
                  <a:pt x="2438400" y="1109349"/>
                </a:lnTo>
                <a:lnTo>
                  <a:pt x="2387600" y="1108638"/>
                </a:lnTo>
                <a:lnTo>
                  <a:pt x="2336799" y="1107871"/>
                </a:lnTo>
                <a:lnTo>
                  <a:pt x="2286000" y="1107051"/>
                </a:lnTo>
                <a:lnTo>
                  <a:pt x="2235200" y="1106177"/>
                </a:lnTo>
                <a:lnTo>
                  <a:pt x="2184399" y="1105250"/>
                </a:lnTo>
                <a:lnTo>
                  <a:pt x="2133600" y="1104271"/>
                </a:lnTo>
                <a:lnTo>
                  <a:pt x="2082800" y="1103240"/>
                </a:lnTo>
                <a:lnTo>
                  <a:pt x="2031999" y="1102158"/>
                </a:lnTo>
                <a:lnTo>
                  <a:pt x="1981200" y="1101026"/>
                </a:lnTo>
                <a:lnTo>
                  <a:pt x="1930400" y="1099845"/>
                </a:lnTo>
                <a:lnTo>
                  <a:pt x="1879599" y="1098615"/>
                </a:lnTo>
                <a:lnTo>
                  <a:pt x="1828800" y="1097337"/>
                </a:lnTo>
                <a:lnTo>
                  <a:pt x="1778000" y="1096013"/>
                </a:lnTo>
                <a:lnTo>
                  <a:pt x="1727199" y="1094642"/>
                </a:lnTo>
                <a:lnTo>
                  <a:pt x="1676400" y="1093226"/>
                </a:lnTo>
                <a:lnTo>
                  <a:pt x="1625600" y="1091767"/>
                </a:lnTo>
                <a:lnTo>
                  <a:pt x="1574799" y="1090264"/>
                </a:lnTo>
                <a:lnTo>
                  <a:pt x="1524000" y="1088719"/>
                </a:lnTo>
                <a:lnTo>
                  <a:pt x="1473200" y="1087133"/>
                </a:lnTo>
                <a:lnTo>
                  <a:pt x="1422399" y="1085507"/>
                </a:lnTo>
                <a:lnTo>
                  <a:pt x="1371600" y="1083843"/>
                </a:lnTo>
                <a:lnTo>
                  <a:pt x="1320800" y="1082141"/>
                </a:lnTo>
                <a:lnTo>
                  <a:pt x="1269999" y="1080402"/>
                </a:lnTo>
                <a:lnTo>
                  <a:pt x="1219200" y="1078628"/>
                </a:lnTo>
                <a:lnTo>
                  <a:pt x="1168400" y="1076820"/>
                </a:lnTo>
                <a:lnTo>
                  <a:pt x="1117599" y="1074979"/>
                </a:lnTo>
                <a:lnTo>
                  <a:pt x="1066800" y="1073107"/>
                </a:lnTo>
                <a:lnTo>
                  <a:pt x="1016000" y="1071204"/>
                </a:lnTo>
                <a:lnTo>
                  <a:pt x="965199" y="1069272"/>
                </a:lnTo>
                <a:lnTo>
                  <a:pt x="914400" y="1067313"/>
                </a:lnTo>
                <a:lnTo>
                  <a:pt x="863600" y="1065328"/>
                </a:lnTo>
                <a:lnTo>
                  <a:pt x="812799" y="1063317"/>
                </a:lnTo>
                <a:lnTo>
                  <a:pt x="762000" y="1061283"/>
                </a:lnTo>
                <a:lnTo>
                  <a:pt x="711200" y="1059226"/>
                </a:lnTo>
                <a:lnTo>
                  <a:pt x="660399" y="1057149"/>
                </a:lnTo>
                <a:lnTo>
                  <a:pt x="609600" y="1055053"/>
                </a:lnTo>
                <a:lnTo>
                  <a:pt x="558800" y="1052939"/>
                </a:lnTo>
                <a:lnTo>
                  <a:pt x="507999" y="1050808"/>
                </a:lnTo>
                <a:lnTo>
                  <a:pt x="457200" y="1048662"/>
                </a:lnTo>
                <a:lnTo>
                  <a:pt x="406400" y="1046503"/>
                </a:lnTo>
                <a:lnTo>
                  <a:pt x="355599" y="1044331"/>
                </a:lnTo>
                <a:lnTo>
                  <a:pt x="304800" y="1042149"/>
                </a:lnTo>
                <a:lnTo>
                  <a:pt x="254000" y="1039958"/>
                </a:lnTo>
                <a:lnTo>
                  <a:pt x="203199" y="1037760"/>
                </a:lnTo>
                <a:lnTo>
                  <a:pt x="152400" y="1035555"/>
                </a:lnTo>
                <a:lnTo>
                  <a:pt x="101600" y="1033346"/>
                </a:lnTo>
                <a:lnTo>
                  <a:pt x="50799" y="1031133"/>
                </a:lnTo>
                <a:lnTo>
                  <a:pt x="0" y="1028920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ヘッダー山1"/>
          <p:cNvSpPr/>
          <p:nvPr/>
        </p:nvSpPr>
        <p:spPr>
          <a:xfrm>
            <a:off x="8315930" y="352369"/>
            <a:ext cx="2078983" cy="591982"/>
          </a:xfrm>
          <a:custGeom>
            <a:avLst/>
            <a:gdLst/>
            <a:ahLst/>
            <a:cxnLst/>
            <a:rect l="l" t="t" r="r" b="b"/>
            <a:pathLst>
              <a:path w="2078983" h="591982">
                <a:moveTo>
                  <a:pt x="0" y="591982"/>
                </a:moveTo>
                <a:lnTo>
                  <a:pt x="1141679" y="0"/>
                </a:lnTo>
                <a:lnTo>
                  <a:pt x="2078983" y="591982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ヘッダー山2"/>
          <p:cNvSpPr/>
          <p:nvPr/>
        </p:nvSpPr>
        <p:spPr>
          <a:xfrm>
            <a:off x="9866358" y="591981"/>
            <a:ext cx="2043746" cy="352370"/>
          </a:xfrm>
          <a:custGeom>
            <a:avLst/>
            <a:gdLst/>
            <a:ahLst/>
            <a:cxnLst/>
            <a:rect l="l" t="t" r="r" b="b"/>
            <a:pathLst>
              <a:path w="2043746" h="352370">
                <a:moveTo>
                  <a:pt x="0" y="352370"/>
                </a:moveTo>
                <a:lnTo>
                  <a:pt x="1021873" y="0"/>
                </a:lnTo>
                <a:lnTo>
                  <a:pt x="2043746" y="35237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451033" y="211421"/>
            <a:ext cx="6342658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4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介護への考え方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451033" y="422843"/>
            <a:ext cx="10571098" cy="4933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エフビー介護サービスの、介護への考え方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1033" y="1240342"/>
            <a:ext cx="11289932" cy="1057109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夢ラベル"/>
          <p:cNvSpPr txBox="1"/>
          <p:nvPr/>
        </p:nvSpPr>
        <p:spPr>
          <a:xfrm>
            <a:off x="732929" y="1353100"/>
            <a:ext cx="2818959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2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わたしたちの夢</a:t>
            </a:r>
          </a:p>
        </p:txBody>
      </p:sp>
      <p:sp>
        <p:nvSpPr>
          <p:cNvPr id="8" name="夢"/>
          <p:cNvSpPr txBox="1"/>
          <p:nvPr/>
        </p:nvSpPr>
        <p:spPr>
          <a:xfrm>
            <a:off x="732929" y="1564522"/>
            <a:ext cx="10571098" cy="3946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1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人生の最終ステージを、利用者様の幸せと満足で元気にする</a:t>
            </a:r>
          </a:p>
        </p:txBody>
      </p:sp>
      <p:sp>
        <p:nvSpPr>
          <p:cNvPr id="9" name="夢補足"/>
          <p:cNvSpPr txBox="1"/>
          <p:nvPr/>
        </p:nvSpPr>
        <p:spPr>
          <a:xfrm>
            <a:off x="732929" y="2001461"/>
            <a:ext cx="10571098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利用者様の笑顔と、数多くの「ありがとう」を求め、喜ばれること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1033" y="2438400"/>
            <a:ext cx="5496971" cy="3636457"/>
          </a:xfrm>
          <a:prstGeom prst="roundRect">
            <a:avLst>
              <a:gd name="adj" fmla="val 387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見出し_創業からの想い"/>
          <p:cNvSpPr txBox="1"/>
          <p:nvPr/>
        </p:nvSpPr>
        <p:spPr>
          <a:xfrm>
            <a:off x="704739" y="2565253"/>
            <a:ext cx="4989558" cy="2537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創業からの想い</a:t>
            </a:r>
          </a:p>
        </p:txBody>
      </p:sp>
      <p:sp>
        <p:nvSpPr>
          <p:cNvPr id="12" name="番号"/>
          <p:cNvSpPr/>
          <p:nvPr/>
        </p:nvSpPr>
        <p:spPr>
          <a:xfrm>
            <a:off x="704739" y="3044476"/>
            <a:ext cx="394654" cy="39465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番号文字1"/>
          <p:cNvSpPr txBox="1"/>
          <p:nvPr/>
        </p:nvSpPr>
        <p:spPr>
          <a:xfrm>
            <a:off x="704739" y="3044476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4" name="創業からの想い_1"/>
          <p:cNvSpPr txBox="1"/>
          <p:nvPr/>
        </p:nvSpPr>
        <p:spPr>
          <a:xfrm>
            <a:off x="1268531" y="2974002"/>
            <a:ext cx="4369387" cy="845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経営理念と介護方針を基本として、利用者様とご家族の安心感と満足を目指します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04739" y="3890164"/>
            <a:ext cx="4989559" cy="0"/>
          </a:xfrm>
          <a:prstGeom prst="line">
            <a:avLst/>
          </a:prstGeom>
          <a:ln w="15240">
            <a:solidFill>
              <a:srgbClr val="E3EC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番号"/>
          <p:cNvSpPr/>
          <p:nvPr/>
        </p:nvSpPr>
        <p:spPr>
          <a:xfrm>
            <a:off x="704739" y="4059301"/>
            <a:ext cx="394654" cy="39465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番号文字2"/>
          <p:cNvSpPr txBox="1"/>
          <p:nvPr/>
        </p:nvSpPr>
        <p:spPr>
          <a:xfrm>
            <a:off x="704739" y="4059301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8" name="創業からの想い_2"/>
          <p:cNvSpPr txBox="1"/>
          <p:nvPr/>
        </p:nvSpPr>
        <p:spPr>
          <a:xfrm>
            <a:off x="1268531" y="3988827"/>
            <a:ext cx="4369387" cy="845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心の温かい法人、事業所、そして心の優しい人間の集団になります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04739" y="4904989"/>
            <a:ext cx="4989559" cy="0"/>
          </a:xfrm>
          <a:prstGeom prst="line">
            <a:avLst/>
          </a:prstGeom>
          <a:ln w="15240">
            <a:solidFill>
              <a:srgbClr val="E3EC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番号"/>
          <p:cNvSpPr/>
          <p:nvPr/>
        </p:nvSpPr>
        <p:spPr>
          <a:xfrm>
            <a:off x="704739" y="5074127"/>
            <a:ext cx="394654" cy="39465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番号文字3"/>
          <p:cNvSpPr txBox="1"/>
          <p:nvPr/>
        </p:nvSpPr>
        <p:spPr>
          <a:xfrm>
            <a:off x="704739" y="5074127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2" name="創業からの想い_3"/>
          <p:cNvSpPr txBox="1"/>
          <p:nvPr/>
        </p:nvSpPr>
        <p:spPr>
          <a:xfrm>
            <a:off x="1268531" y="5003653"/>
            <a:ext cx="4369387" cy="845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利用者様に喜ばれる介護サービスと介護用品を提供し、スピーディーな対応に専心する社員になります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43995" y="2438400"/>
            <a:ext cx="5496971" cy="3636457"/>
          </a:xfrm>
          <a:prstGeom prst="roundRect">
            <a:avLst>
              <a:gd name="adj" fmla="val 387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見出し_大切にしている姿勢"/>
          <p:cNvSpPr txBox="1"/>
          <p:nvPr/>
        </p:nvSpPr>
        <p:spPr>
          <a:xfrm>
            <a:off x="6497701" y="2565253"/>
            <a:ext cx="4989558" cy="2537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大切にしている姿勢</a:t>
            </a:r>
          </a:p>
        </p:txBody>
      </p:sp>
      <p:sp>
        <p:nvSpPr>
          <p:cNvPr id="25" name="番号"/>
          <p:cNvSpPr/>
          <p:nvPr/>
        </p:nvSpPr>
        <p:spPr>
          <a:xfrm>
            <a:off x="6497701" y="3044476"/>
            <a:ext cx="394654" cy="39465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番号文字1"/>
          <p:cNvSpPr txBox="1"/>
          <p:nvPr/>
        </p:nvSpPr>
        <p:spPr>
          <a:xfrm>
            <a:off x="6497701" y="3044476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27" name="大切にしている姿勢_1"/>
          <p:cNvSpPr txBox="1"/>
          <p:nvPr/>
        </p:nvSpPr>
        <p:spPr>
          <a:xfrm>
            <a:off x="7061493" y="2974002"/>
            <a:ext cx="4369387" cy="845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利用者様を「お客様」として敬い、その人としての尊厳を大切にします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497701" y="3890164"/>
            <a:ext cx="4989559" cy="0"/>
          </a:xfrm>
          <a:prstGeom prst="line">
            <a:avLst/>
          </a:prstGeom>
          <a:ln w="15240">
            <a:solidFill>
              <a:srgbClr val="E3EC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番号"/>
          <p:cNvSpPr/>
          <p:nvPr/>
        </p:nvSpPr>
        <p:spPr>
          <a:xfrm>
            <a:off x="6497701" y="4059301"/>
            <a:ext cx="394654" cy="39465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番号文字2"/>
          <p:cNvSpPr txBox="1"/>
          <p:nvPr/>
        </p:nvSpPr>
        <p:spPr>
          <a:xfrm>
            <a:off x="6497701" y="4059301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31" name="大切にしている姿勢_2"/>
          <p:cNvSpPr txBox="1"/>
          <p:nvPr/>
        </p:nvSpPr>
        <p:spPr>
          <a:xfrm>
            <a:off x="7061493" y="3988827"/>
            <a:ext cx="4369387" cy="845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「自分の親を面倒見るつもりで」。笑顔・言葉づかい・態度の接遇に力を入れています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497701" y="4904989"/>
            <a:ext cx="4989559" cy="0"/>
          </a:xfrm>
          <a:prstGeom prst="line">
            <a:avLst/>
          </a:prstGeom>
          <a:ln w="15240">
            <a:solidFill>
              <a:srgbClr val="E3EC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番号"/>
          <p:cNvSpPr/>
          <p:nvPr/>
        </p:nvSpPr>
        <p:spPr>
          <a:xfrm>
            <a:off x="6497701" y="5074127"/>
            <a:ext cx="394654" cy="39465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番号文字3"/>
          <p:cNvSpPr txBox="1"/>
          <p:nvPr/>
        </p:nvSpPr>
        <p:spPr>
          <a:xfrm>
            <a:off x="6497701" y="5074127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35" name="大切にしている姿勢_3"/>
          <p:cNvSpPr txBox="1"/>
          <p:nvPr/>
        </p:nvSpPr>
        <p:spPr>
          <a:xfrm>
            <a:off x="7061493" y="5003653"/>
            <a:ext cx="4369387" cy="845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介護する人・される人の区別なく、できることを持ち寄る。「誰かのためにはたらき、笑顔とありがとうをいただく」ことが生きがいになります</a:t>
            </a:r>
          </a:p>
        </p:txBody>
      </p:sp>
      <p:sp>
        <p:nvSpPr>
          <p:cNvPr id="36" name="注記"/>
          <p:cNvSpPr txBox="1"/>
          <p:nvPr/>
        </p:nvSpPr>
        <p:spPr>
          <a:xfrm>
            <a:off x="451033" y="6300374"/>
            <a:ext cx="11275838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7" b="0">
                <a:solidFill>
                  <a:srgbClr val="7A8A87"/>
                </a:solidFill>
                <a:latin typeface="游ゴシック"/>
                <a:ea typeface="游ゴシック"/>
                <a:cs typeface="游ゴシック"/>
              </a:rPr>
              <a:t>出典：エフビー介護サービス 企業説明会資料／経営者ヒアリング（2025年）。文言は要約しています。</a:t>
            </a:r>
          </a:p>
        </p:txBody>
      </p:sp>
      <p:sp>
        <p:nvSpPr>
          <p:cNvPr id="39" name="ページ番号"/>
          <p:cNvSpPr txBox="1"/>
          <p:nvPr/>
        </p:nvSpPr>
        <p:spPr>
          <a:xfrm>
            <a:off x="10895278" y="6300374"/>
            <a:ext cx="845687" cy="1832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32">
                <a:solidFill>
                  <a:srgbClr val="8A9A96"/>
                </a:solidFill>
                <a:latin typeface="游ゴシック"/>
              </a:rPr>
              <a:t>4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5963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113489"/>
          </a:xfrm>
          <a:custGeom>
            <a:avLst/>
            <a:gdLst/>
            <a:ahLst/>
            <a:cxnLst/>
            <a:rect l="l" t="t" r="r" b="b"/>
            <a:pathLst>
              <a:path w="12192000" h="1113489">
                <a:moveTo>
                  <a:pt x="0" y="0"/>
                </a:moveTo>
                <a:lnTo>
                  <a:pt x="12192000" y="0"/>
                </a:lnTo>
                <a:lnTo>
                  <a:pt x="12192000" y="1028920"/>
                </a:lnTo>
                <a:lnTo>
                  <a:pt x="12141200" y="1026706"/>
                </a:lnTo>
                <a:lnTo>
                  <a:pt x="12090400" y="1024494"/>
                </a:lnTo>
                <a:lnTo>
                  <a:pt x="12039600" y="1022285"/>
                </a:lnTo>
                <a:lnTo>
                  <a:pt x="11988800" y="1020080"/>
                </a:lnTo>
                <a:lnTo>
                  <a:pt x="11938000" y="1017881"/>
                </a:lnTo>
                <a:lnTo>
                  <a:pt x="11887200" y="1015690"/>
                </a:lnTo>
                <a:lnTo>
                  <a:pt x="11836400" y="1013508"/>
                </a:lnTo>
                <a:lnTo>
                  <a:pt x="11785600" y="1011337"/>
                </a:lnTo>
                <a:lnTo>
                  <a:pt x="11734800" y="1009178"/>
                </a:lnTo>
                <a:lnTo>
                  <a:pt x="11684000" y="1007032"/>
                </a:lnTo>
                <a:lnTo>
                  <a:pt x="11633200" y="1004901"/>
                </a:lnTo>
                <a:lnTo>
                  <a:pt x="11582400" y="1002787"/>
                </a:lnTo>
                <a:lnTo>
                  <a:pt x="11531600" y="1000690"/>
                </a:lnTo>
                <a:lnTo>
                  <a:pt x="11480800" y="998613"/>
                </a:lnTo>
                <a:lnTo>
                  <a:pt x="11430000" y="996557"/>
                </a:lnTo>
                <a:lnTo>
                  <a:pt x="11379200" y="994523"/>
                </a:lnTo>
                <a:lnTo>
                  <a:pt x="11328400" y="992512"/>
                </a:lnTo>
                <a:lnTo>
                  <a:pt x="11277600" y="990526"/>
                </a:lnTo>
                <a:lnTo>
                  <a:pt x="11226800" y="988567"/>
                </a:lnTo>
                <a:lnTo>
                  <a:pt x="11176000" y="986635"/>
                </a:lnTo>
                <a:lnTo>
                  <a:pt x="11125200" y="984733"/>
                </a:lnTo>
                <a:lnTo>
                  <a:pt x="11074400" y="982860"/>
                </a:lnTo>
                <a:lnTo>
                  <a:pt x="11023600" y="981019"/>
                </a:lnTo>
                <a:lnTo>
                  <a:pt x="10972800" y="979211"/>
                </a:lnTo>
                <a:lnTo>
                  <a:pt x="10922000" y="977438"/>
                </a:lnTo>
                <a:lnTo>
                  <a:pt x="10871200" y="975699"/>
                </a:lnTo>
                <a:lnTo>
                  <a:pt x="10820400" y="973997"/>
                </a:lnTo>
                <a:lnTo>
                  <a:pt x="10769600" y="972332"/>
                </a:lnTo>
                <a:lnTo>
                  <a:pt x="10718800" y="970706"/>
                </a:lnTo>
                <a:lnTo>
                  <a:pt x="10668000" y="969121"/>
                </a:lnTo>
                <a:lnTo>
                  <a:pt x="10617200" y="967576"/>
                </a:lnTo>
                <a:lnTo>
                  <a:pt x="10566400" y="966073"/>
                </a:lnTo>
                <a:lnTo>
                  <a:pt x="10515600" y="964613"/>
                </a:lnTo>
                <a:lnTo>
                  <a:pt x="10464800" y="963197"/>
                </a:lnTo>
                <a:lnTo>
                  <a:pt x="10414000" y="961827"/>
                </a:lnTo>
                <a:lnTo>
                  <a:pt x="10363200" y="960502"/>
                </a:lnTo>
                <a:lnTo>
                  <a:pt x="10312400" y="959224"/>
                </a:lnTo>
                <a:lnTo>
                  <a:pt x="10261600" y="957994"/>
                </a:lnTo>
                <a:lnTo>
                  <a:pt x="10210800" y="956813"/>
                </a:lnTo>
                <a:lnTo>
                  <a:pt x="10160000" y="955681"/>
                </a:lnTo>
                <a:lnTo>
                  <a:pt x="10109200" y="954599"/>
                </a:lnTo>
                <a:lnTo>
                  <a:pt x="10058400" y="953568"/>
                </a:lnTo>
                <a:lnTo>
                  <a:pt x="10007600" y="952589"/>
                </a:lnTo>
                <a:lnTo>
                  <a:pt x="9956800" y="951662"/>
                </a:lnTo>
                <a:lnTo>
                  <a:pt x="9906000" y="950788"/>
                </a:lnTo>
                <a:lnTo>
                  <a:pt x="9855200" y="949968"/>
                </a:lnTo>
                <a:lnTo>
                  <a:pt x="9804400" y="949202"/>
                </a:lnTo>
                <a:lnTo>
                  <a:pt x="9753600" y="948490"/>
                </a:lnTo>
                <a:lnTo>
                  <a:pt x="9702800" y="947834"/>
                </a:lnTo>
                <a:lnTo>
                  <a:pt x="9652000" y="947233"/>
                </a:lnTo>
                <a:lnTo>
                  <a:pt x="9601200" y="946688"/>
                </a:lnTo>
                <a:lnTo>
                  <a:pt x="9550400" y="946199"/>
                </a:lnTo>
                <a:lnTo>
                  <a:pt x="9499600" y="945767"/>
                </a:lnTo>
                <a:lnTo>
                  <a:pt x="9448800" y="945392"/>
                </a:lnTo>
                <a:lnTo>
                  <a:pt x="9398000" y="945074"/>
                </a:lnTo>
                <a:lnTo>
                  <a:pt x="9347200" y="944814"/>
                </a:lnTo>
                <a:lnTo>
                  <a:pt x="9296400" y="944612"/>
                </a:lnTo>
                <a:lnTo>
                  <a:pt x="9245600" y="944467"/>
                </a:lnTo>
                <a:lnTo>
                  <a:pt x="9194800" y="944380"/>
                </a:lnTo>
                <a:lnTo>
                  <a:pt x="9144000" y="944351"/>
                </a:lnTo>
                <a:lnTo>
                  <a:pt x="9093200" y="944380"/>
                </a:lnTo>
                <a:lnTo>
                  <a:pt x="9042400" y="944467"/>
                </a:lnTo>
                <a:lnTo>
                  <a:pt x="8991600" y="944612"/>
                </a:lnTo>
                <a:lnTo>
                  <a:pt x="8940800" y="944814"/>
                </a:lnTo>
                <a:lnTo>
                  <a:pt x="8890000" y="945074"/>
                </a:lnTo>
                <a:lnTo>
                  <a:pt x="8839200" y="945392"/>
                </a:lnTo>
                <a:lnTo>
                  <a:pt x="8788400" y="945767"/>
                </a:lnTo>
                <a:lnTo>
                  <a:pt x="8737600" y="946199"/>
                </a:lnTo>
                <a:lnTo>
                  <a:pt x="8686800" y="946688"/>
                </a:lnTo>
                <a:lnTo>
                  <a:pt x="8636000" y="947233"/>
                </a:lnTo>
                <a:lnTo>
                  <a:pt x="8585200" y="947834"/>
                </a:lnTo>
                <a:lnTo>
                  <a:pt x="8534400" y="948490"/>
                </a:lnTo>
                <a:lnTo>
                  <a:pt x="8483599" y="949202"/>
                </a:lnTo>
                <a:lnTo>
                  <a:pt x="8432800" y="949968"/>
                </a:lnTo>
                <a:lnTo>
                  <a:pt x="8382000" y="950788"/>
                </a:lnTo>
                <a:lnTo>
                  <a:pt x="8331199" y="951662"/>
                </a:lnTo>
                <a:lnTo>
                  <a:pt x="8280400" y="952589"/>
                </a:lnTo>
                <a:lnTo>
                  <a:pt x="8229600" y="953568"/>
                </a:lnTo>
                <a:lnTo>
                  <a:pt x="8178799" y="954599"/>
                </a:lnTo>
                <a:lnTo>
                  <a:pt x="8128000" y="955681"/>
                </a:lnTo>
                <a:lnTo>
                  <a:pt x="8077200" y="956813"/>
                </a:lnTo>
                <a:lnTo>
                  <a:pt x="8026399" y="957994"/>
                </a:lnTo>
                <a:lnTo>
                  <a:pt x="7975600" y="959224"/>
                </a:lnTo>
                <a:lnTo>
                  <a:pt x="7924800" y="960502"/>
                </a:lnTo>
                <a:lnTo>
                  <a:pt x="7873999" y="961827"/>
                </a:lnTo>
                <a:lnTo>
                  <a:pt x="7823200" y="963197"/>
                </a:lnTo>
                <a:lnTo>
                  <a:pt x="7772400" y="964613"/>
                </a:lnTo>
                <a:lnTo>
                  <a:pt x="7721599" y="966073"/>
                </a:lnTo>
                <a:lnTo>
                  <a:pt x="7670800" y="967576"/>
                </a:lnTo>
                <a:lnTo>
                  <a:pt x="7620000" y="969121"/>
                </a:lnTo>
                <a:lnTo>
                  <a:pt x="7569199" y="970706"/>
                </a:lnTo>
                <a:lnTo>
                  <a:pt x="7518400" y="972332"/>
                </a:lnTo>
                <a:lnTo>
                  <a:pt x="7467600" y="973997"/>
                </a:lnTo>
                <a:lnTo>
                  <a:pt x="7416799" y="975699"/>
                </a:lnTo>
                <a:lnTo>
                  <a:pt x="7366000" y="977438"/>
                </a:lnTo>
                <a:lnTo>
                  <a:pt x="7315200" y="979211"/>
                </a:lnTo>
                <a:lnTo>
                  <a:pt x="7264399" y="981019"/>
                </a:lnTo>
                <a:lnTo>
                  <a:pt x="7213600" y="982860"/>
                </a:lnTo>
                <a:lnTo>
                  <a:pt x="7162800" y="984733"/>
                </a:lnTo>
                <a:lnTo>
                  <a:pt x="7112000" y="986635"/>
                </a:lnTo>
                <a:lnTo>
                  <a:pt x="7061200" y="988567"/>
                </a:lnTo>
                <a:lnTo>
                  <a:pt x="7010400" y="990526"/>
                </a:lnTo>
                <a:lnTo>
                  <a:pt x="6959600" y="992512"/>
                </a:lnTo>
                <a:lnTo>
                  <a:pt x="6908800" y="994523"/>
                </a:lnTo>
                <a:lnTo>
                  <a:pt x="6858000" y="996557"/>
                </a:lnTo>
                <a:lnTo>
                  <a:pt x="6807200" y="998613"/>
                </a:lnTo>
                <a:lnTo>
                  <a:pt x="6756400" y="1000690"/>
                </a:lnTo>
                <a:lnTo>
                  <a:pt x="6705600" y="1002787"/>
                </a:lnTo>
                <a:lnTo>
                  <a:pt x="6654800" y="1004901"/>
                </a:lnTo>
                <a:lnTo>
                  <a:pt x="6604000" y="1007032"/>
                </a:lnTo>
                <a:lnTo>
                  <a:pt x="6553200" y="1009178"/>
                </a:lnTo>
                <a:lnTo>
                  <a:pt x="6502400" y="1011337"/>
                </a:lnTo>
                <a:lnTo>
                  <a:pt x="6451600" y="1013508"/>
                </a:lnTo>
                <a:lnTo>
                  <a:pt x="6400800" y="1015690"/>
                </a:lnTo>
                <a:lnTo>
                  <a:pt x="6350000" y="1017881"/>
                </a:lnTo>
                <a:lnTo>
                  <a:pt x="6299200" y="1020080"/>
                </a:lnTo>
                <a:lnTo>
                  <a:pt x="6248400" y="1022285"/>
                </a:lnTo>
                <a:lnTo>
                  <a:pt x="6197600" y="1024494"/>
                </a:lnTo>
                <a:lnTo>
                  <a:pt x="6146800" y="1026706"/>
                </a:lnTo>
                <a:lnTo>
                  <a:pt x="6096000" y="1028920"/>
                </a:lnTo>
                <a:lnTo>
                  <a:pt x="6045200" y="1031133"/>
                </a:lnTo>
                <a:lnTo>
                  <a:pt x="5994400" y="1033346"/>
                </a:lnTo>
                <a:lnTo>
                  <a:pt x="5943600" y="1035555"/>
                </a:lnTo>
                <a:lnTo>
                  <a:pt x="5892800" y="1037760"/>
                </a:lnTo>
                <a:lnTo>
                  <a:pt x="5842000" y="1039958"/>
                </a:lnTo>
                <a:lnTo>
                  <a:pt x="5791200" y="1042149"/>
                </a:lnTo>
                <a:lnTo>
                  <a:pt x="5740400" y="1044331"/>
                </a:lnTo>
                <a:lnTo>
                  <a:pt x="5689600" y="1046503"/>
                </a:lnTo>
                <a:lnTo>
                  <a:pt x="5638800" y="1048662"/>
                </a:lnTo>
                <a:lnTo>
                  <a:pt x="5588000" y="1050808"/>
                </a:lnTo>
                <a:lnTo>
                  <a:pt x="5537200" y="1052939"/>
                </a:lnTo>
                <a:lnTo>
                  <a:pt x="5486400" y="1055053"/>
                </a:lnTo>
                <a:lnTo>
                  <a:pt x="5435600" y="1057149"/>
                </a:lnTo>
                <a:lnTo>
                  <a:pt x="5384800" y="1059226"/>
                </a:lnTo>
                <a:lnTo>
                  <a:pt x="5334000" y="1061283"/>
                </a:lnTo>
                <a:lnTo>
                  <a:pt x="5283200" y="1063317"/>
                </a:lnTo>
                <a:lnTo>
                  <a:pt x="5232400" y="1065328"/>
                </a:lnTo>
                <a:lnTo>
                  <a:pt x="5181600" y="1067313"/>
                </a:lnTo>
                <a:lnTo>
                  <a:pt x="5130800" y="1069272"/>
                </a:lnTo>
                <a:lnTo>
                  <a:pt x="5080000" y="1071204"/>
                </a:lnTo>
                <a:lnTo>
                  <a:pt x="5029200" y="1073107"/>
                </a:lnTo>
                <a:lnTo>
                  <a:pt x="4978400" y="1074979"/>
                </a:lnTo>
                <a:lnTo>
                  <a:pt x="4927599" y="1076820"/>
                </a:lnTo>
                <a:lnTo>
                  <a:pt x="4876800" y="1078628"/>
                </a:lnTo>
                <a:lnTo>
                  <a:pt x="4826000" y="1080402"/>
                </a:lnTo>
                <a:lnTo>
                  <a:pt x="4775199" y="1082141"/>
                </a:lnTo>
                <a:lnTo>
                  <a:pt x="4724400" y="1083843"/>
                </a:lnTo>
                <a:lnTo>
                  <a:pt x="4673600" y="1085507"/>
                </a:lnTo>
                <a:lnTo>
                  <a:pt x="4622799" y="1087133"/>
                </a:lnTo>
                <a:lnTo>
                  <a:pt x="4572000" y="1088719"/>
                </a:lnTo>
                <a:lnTo>
                  <a:pt x="4521200" y="1090264"/>
                </a:lnTo>
                <a:lnTo>
                  <a:pt x="4470399" y="1091767"/>
                </a:lnTo>
                <a:lnTo>
                  <a:pt x="4419600" y="1093226"/>
                </a:lnTo>
                <a:lnTo>
                  <a:pt x="4368800" y="1094642"/>
                </a:lnTo>
                <a:lnTo>
                  <a:pt x="4317999" y="1096013"/>
                </a:lnTo>
                <a:lnTo>
                  <a:pt x="4267200" y="1097337"/>
                </a:lnTo>
                <a:lnTo>
                  <a:pt x="4216400" y="1098615"/>
                </a:lnTo>
                <a:lnTo>
                  <a:pt x="4165599" y="1099845"/>
                </a:lnTo>
                <a:lnTo>
                  <a:pt x="4114800" y="1101026"/>
                </a:lnTo>
                <a:lnTo>
                  <a:pt x="4064000" y="1102158"/>
                </a:lnTo>
                <a:lnTo>
                  <a:pt x="4013199" y="1103240"/>
                </a:lnTo>
                <a:lnTo>
                  <a:pt x="3962400" y="1104271"/>
                </a:lnTo>
                <a:lnTo>
                  <a:pt x="3911600" y="1105250"/>
                </a:lnTo>
                <a:lnTo>
                  <a:pt x="3860799" y="1106177"/>
                </a:lnTo>
                <a:lnTo>
                  <a:pt x="3810000" y="1107051"/>
                </a:lnTo>
                <a:lnTo>
                  <a:pt x="3759200" y="1107871"/>
                </a:lnTo>
                <a:lnTo>
                  <a:pt x="3708399" y="1108638"/>
                </a:lnTo>
                <a:lnTo>
                  <a:pt x="3657600" y="1109349"/>
                </a:lnTo>
                <a:lnTo>
                  <a:pt x="3606800" y="1110006"/>
                </a:lnTo>
                <a:lnTo>
                  <a:pt x="3555999" y="1110607"/>
                </a:lnTo>
                <a:lnTo>
                  <a:pt x="3505200" y="1111152"/>
                </a:lnTo>
                <a:lnTo>
                  <a:pt x="3454400" y="1111640"/>
                </a:lnTo>
                <a:lnTo>
                  <a:pt x="3403599" y="1112072"/>
                </a:lnTo>
                <a:lnTo>
                  <a:pt x="3352800" y="1112447"/>
                </a:lnTo>
                <a:lnTo>
                  <a:pt x="3302000" y="1112765"/>
                </a:lnTo>
                <a:lnTo>
                  <a:pt x="3251199" y="1113025"/>
                </a:lnTo>
                <a:lnTo>
                  <a:pt x="3200400" y="1113228"/>
                </a:lnTo>
                <a:lnTo>
                  <a:pt x="3149600" y="1113373"/>
                </a:lnTo>
                <a:lnTo>
                  <a:pt x="3098799" y="1113460"/>
                </a:lnTo>
                <a:lnTo>
                  <a:pt x="3048000" y="1113489"/>
                </a:lnTo>
                <a:lnTo>
                  <a:pt x="2997200" y="1113460"/>
                </a:lnTo>
                <a:lnTo>
                  <a:pt x="2946399" y="1113373"/>
                </a:lnTo>
                <a:lnTo>
                  <a:pt x="2895600" y="1113228"/>
                </a:lnTo>
                <a:lnTo>
                  <a:pt x="2844800" y="1113025"/>
                </a:lnTo>
                <a:lnTo>
                  <a:pt x="2793999" y="1112765"/>
                </a:lnTo>
                <a:lnTo>
                  <a:pt x="2743200" y="1112447"/>
                </a:lnTo>
                <a:lnTo>
                  <a:pt x="2692400" y="1112072"/>
                </a:lnTo>
                <a:lnTo>
                  <a:pt x="2641599" y="1111640"/>
                </a:lnTo>
                <a:lnTo>
                  <a:pt x="2590800" y="1111152"/>
                </a:lnTo>
                <a:lnTo>
                  <a:pt x="2540000" y="1110607"/>
                </a:lnTo>
                <a:lnTo>
                  <a:pt x="2489199" y="1110006"/>
                </a:lnTo>
                <a:lnTo>
                  <a:pt x="2438400" y="1109349"/>
                </a:lnTo>
                <a:lnTo>
                  <a:pt x="2387600" y="1108638"/>
                </a:lnTo>
                <a:lnTo>
                  <a:pt x="2336799" y="1107871"/>
                </a:lnTo>
                <a:lnTo>
                  <a:pt x="2286000" y="1107051"/>
                </a:lnTo>
                <a:lnTo>
                  <a:pt x="2235200" y="1106177"/>
                </a:lnTo>
                <a:lnTo>
                  <a:pt x="2184399" y="1105250"/>
                </a:lnTo>
                <a:lnTo>
                  <a:pt x="2133600" y="1104271"/>
                </a:lnTo>
                <a:lnTo>
                  <a:pt x="2082800" y="1103240"/>
                </a:lnTo>
                <a:lnTo>
                  <a:pt x="2031999" y="1102158"/>
                </a:lnTo>
                <a:lnTo>
                  <a:pt x="1981200" y="1101026"/>
                </a:lnTo>
                <a:lnTo>
                  <a:pt x="1930400" y="1099845"/>
                </a:lnTo>
                <a:lnTo>
                  <a:pt x="1879599" y="1098615"/>
                </a:lnTo>
                <a:lnTo>
                  <a:pt x="1828800" y="1097337"/>
                </a:lnTo>
                <a:lnTo>
                  <a:pt x="1778000" y="1096013"/>
                </a:lnTo>
                <a:lnTo>
                  <a:pt x="1727199" y="1094642"/>
                </a:lnTo>
                <a:lnTo>
                  <a:pt x="1676400" y="1093226"/>
                </a:lnTo>
                <a:lnTo>
                  <a:pt x="1625600" y="1091767"/>
                </a:lnTo>
                <a:lnTo>
                  <a:pt x="1574799" y="1090264"/>
                </a:lnTo>
                <a:lnTo>
                  <a:pt x="1524000" y="1088719"/>
                </a:lnTo>
                <a:lnTo>
                  <a:pt x="1473200" y="1087133"/>
                </a:lnTo>
                <a:lnTo>
                  <a:pt x="1422399" y="1085507"/>
                </a:lnTo>
                <a:lnTo>
                  <a:pt x="1371600" y="1083843"/>
                </a:lnTo>
                <a:lnTo>
                  <a:pt x="1320800" y="1082141"/>
                </a:lnTo>
                <a:lnTo>
                  <a:pt x="1269999" y="1080402"/>
                </a:lnTo>
                <a:lnTo>
                  <a:pt x="1219200" y="1078628"/>
                </a:lnTo>
                <a:lnTo>
                  <a:pt x="1168400" y="1076820"/>
                </a:lnTo>
                <a:lnTo>
                  <a:pt x="1117599" y="1074979"/>
                </a:lnTo>
                <a:lnTo>
                  <a:pt x="1066800" y="1073107"/>
                </a:lnTo>
                <a:lnTo>
                  <a:pt x="1016000" y="1071204"/>
                </a:lnTo>
                <a:lnTo>
                  <a:pt x="965199" y="1069272"/>
                </a:lnTo>
                <a:lnTo>
                  <a:pt x="914400" y="1067313"/>
                </a:lnTo>
                <a:lnTo>
                  <a:pt x="863600" y="1065328"/>
                </a:lnTo>
                <a:lnTo>
                  <a:pt x="812799" y="1063317"/>
                </a:lnTo>
                <a:lnTo>
                  <a:pt x="762000" y="1061283"/>
                </a:lnTo>
                <a:lnTo>
                  <a:pt x="711200" y="1059226"/>
                </a:lnTo>
                <a:lnTo>
                  <a:pt x="660399" y="1057149"/>
                </a:lnTo>
                <a:lnTo>
                  <a:pt x="609600" y="1055053"/>
                </a:lnTo>
                <a:lnTo>
                  <a:pt x="558800" y="1052939"/>
                </a:lnTo>
                <a:lnTo>
                  <a:pt x="507999" y="1050808"/>
                </a:lnTo>
                <a:lnTo>
                  <a:pt x="457200" y="1048662"/>
                </a:lnTo>
                <a:lnTo>
                  <a:pt x="406400" y="1046503"/>
                </a:lnTo>
                <a:lnTo>
                  <a:pt x="355599" y="1044331"/>
                </a:lnTo>
                <a:lnTo>
                  <a:pt x="304800" y="1042149"/>
                </a:lnTo>
                <a:lnTo>
                  <a:pt x="254000" y="1039958"/>
                </a:lnTo>
                <a:lnTo>
                  <a:pt x="203199" y="1037760"/>
                </a:lnTo>
                <a:lnTo>
                  <a:pt x="152400" y="1035555"/>
                </a:lnTo>
                <a:lnTo>
                  <a:pt x="101600" y="1033346"/>
                </a:lnTo>
                <a:lnTo>
                  <a:pt x="50799" y="1031133"/>
                </a:lnTo>
                <a:lnTo>
                  <a:pt x="0" y="1028920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ヘッダー山1"/>
          <p:cNvSpPr/>
          <p:nvPr/>
        </p:nvSpPr>
        <p:spPr>
          <a:xfrm>
            <a:off x="8315930" y="352369"/>
            <a:ext cx="2078983" cy="591982"/>
          </a:xfrm>
          <a:custGeom>
            <a:avLst/>
            <a:gdLst/>
            <a:ahLst/>
            <a:cxnLst/>
            <a:rect l="l" t="t" r="r" b="b"/>
            <a:pathLst>
              <a:path w="2078983" h="591982">
                <a:moveTo>
                  <a:pt x="0" y="591982"/>
                </a:moveTo>
                <a:lnTo>
                  <a:pt x="1141679" y="0"/>
                </a:lnTo>
                <a:lnTo>
                  <a:pt x="2078983" y="591982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ヘッダー山2"/>
          <p:cNvSpPr/>
          <p:nvPr/>
        </p:nvSpPr>
        <p:spPr>
          <a:xfrm>
            <a:off x="9866358" y="591981"/>
            <a:ext cx="2043746" cy="352370"/>
          </a:xfrm>
          <a:custGeom>
            <a:avLst/>
            <a:gdLst/>
            <a:ahLst/>
            <a:cxnLst/>
            <a:rect l="l" t="t" r="r" b="b"/>
            <a:pathLst>
              <a:path w="2043746" h="352370">
                <a:moveTo>
                  <a:pt x="0" y="352370"/>
                </a:moveTo>
                <a:lnTo>
                  <a:pt x="1021873" y="0"/>
                </a:lnTo>
                <a:lnTo>
                  <a:pt x="2043746" y="35237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451033" y="211421"/>
            <a:ext cx="6342658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4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事業の展開（1）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451033" y="422843"/>
            <a:ext cx="10571098" cy="4933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大規模ではなく、小規模な施設を、地域ごとに広げる</a:t>
            </a:r>
          </a:p>
        </p:txBody>
      </p:sp>
      <p:sp>
        <p:nvSpPr>
          <p:cNvPr id="6" name="こだわり"/>
          <p:cNvSpPr/>
          <p:nvPr/>
        </p:nvSpPr>
        <p:spPr>
          <a:xfrm>
            <a:off x="451033" y="1240342"/>
            <a:ext cx="5637919" cy="2396115"/>
          </a:xfrm>
          <a:prstGeom prst="roundRect">
            <a:avLst>
              <a:gd name="adj" fmla="val 6000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こだわりラベル"/>
          <p:cNvSpPr txBox="1"/>
          <p:nvPr/>
        </p:nvSpPr>
        <p:spPr>
          <a:xfrm>
            <a:off x="732929" y="1409479"/>
            <a:ext cx="4933179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20" b="1" spc="2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わたしたちのちょっとしたこだわり</a:t>
            </a:r>
          </a:p>
        </p:txBody>
      </p:sp>
      <p:sp>
        <p:nvSpPr>
          <p:cNvPr id="8" name="こだわり本文"/>
          <p:cNvSpPr txBox="1"/>
          <p:nvPr/>
        </p:nvSpPr>
        <p:spPr>
          <a:xfrm>
            <a:off x="732929" y="1691375"/>
            <a:ext cx="5074127" cy="9161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33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大規模な施設ではなく、</a:t>
            </a:r>
          </a:p>
          <a:p>
            <a:pPr algn="l">
              <a:lnSpc>
                <a:spcPct val="120000"/>
              </a:lnSpc>
            </a:pPr>
            <a:r>
              <a:rPr sz="233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小規模な施設をメインに展開する。</a:t>
            </a:r>
          </a:p>
        </p:txBody>
      </p:sp>
      <p:sp>
        <p:nvSpPr>
          <p:cNvPr id="9" name="こだわり補足"/>
          <p:cNvSpPr txBox="1"/>
          <p:nvPr/>
        </p:nvSpPr>
        <p:spPr>
          <a:xfrm>
            <a:off x="732929" y="2762580"/>
            <a:ext cx="5074127" cy="775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65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地域に深く根ざし、地域の文化・風土を取り入れた、</a:t>
            </a:r>
          </a:p>
          <a:p>
            <a:pPr algn="l">
              <a:lnSpc>
                <a:spcPct val="140000"/>
              </a:lnSpc>
            </a:pPr>
            <a:r>
              <a:rPr sz="1165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きめ細やかなサービスを届けています。</a:t>
            </a:r>
          </a:p>
          <a:p>
            <a:pPr algn="l">
              <a:lnSpc>
                <a:spcPct val="140000"/>
              </a:lnSpc>
            </a:pPr>
            <a:r>
              <a:rPr sz="1165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住み慣れた地元で、長く生活できる環境が「生きる力」に。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42658" y="1240342"/>
            <a:ext cx="5398307" cy="2396115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多拠点見出し"/>
          <p:cNvSpPr txBox="1"/>
          <p:nvPr/>
        </p:nvSpPr>
        <p:spPr>
          <a:xfrm>
            <a:off x="6624554" y="1381290"/>
            <a:ext cx="4228439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多拠点で、地域に根ざす</a:t>
            </a:r>
          </a:p>
        </p:txBody>
      </p:sp>
      <p:sp>
        <p:nvSpPr>
          <p:cNvPr id="12" name="拠点数"/>
          <p:cNvSpPr txBox="1"/>
          <p:nvPr/>
        </p:nvSpPr>
        <p:spPr>
          <a:xfrm>
            <a:off x="6624554" y="1691375"/>
            <a:ext cx="1409479" cy="634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32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109</a:t>
            </a:r>
          </a:p>
        </p:txBody>
      </p:sp>
      <p:sp>
        <p:nvSpPr>
          <p:cNvPr id="13" name="拠点単位"/>
          <p:cNvSpPr txBox="1"/>
          <p:nvPr/>
        </p:nvSpPr>
        <p:spPr>
          <a:xfrm>
            <a:off x="7752138" y="1959176"/>
            <a:ext cx="1409479" cy="281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拠点</a:t>
            </a:r>
          </a:p>
        </p:txBody>
      </p:sp>
      <p:sp>
        <p:nvSpPr>
          <p:cNvPr id="14" name="サービス数"/>
          <p:cNvSpPr txBox="1"/>
          <p:nvPr/>
        </p:nvSpPr>
        <p:spPr>
          <a:xfrm>
            <a:off x="9020670" y="1846418"/>
            <a:ext cx="2537063" cy="281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2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7種のサービス</a:t>
            </a:r>
          </a:p>
        </p:txBody>
      </p:sp>
      <p:sp>
        <p:nvSpPr>
          <p:cNvPr id="15" name="県_長野県"/>
          <p:cNvSpPr/>
          <p:nvPr/>
        </p:nvSpPr>
        <p:spPr>
          <a:xfrm>
            <a:off x="6624554" y="2607537"/>
            <a:ext cx="902067" cy="775213"/>
          </a:xfrm>
          <a:prstGeom prst="roundRect">
            <a:avLst>
              <a:gd name="adj" fmla="val 18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県名_長野県"/>
          <p:cNvSpPr txBox="1"/>
          <p:nvPr/>
        </p:nvSpPr>
        <p:spPr>
          <a:xfrm>
            <a:off x="6624554" y="2678011"/>
            <a:ext cx="902067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4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長野県</a:t>
            </a:r>
          </a:p>
        </p:txBody>
      </p:sp>
      <p:sp>
        <p:nvSpPr>
          <p:cNvPr id="17" name="県数_長野県"/>
          <p:cNvSpPr txBox="1"/>
          <p:nvPr/>
        </p:nvSpPr>
        <p:spPr>
          <a:xfrm>
            <a:off x="6624554" y="2889433"/>
            <a:ext cx="902067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41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57</a:t>
            </a:r>
          </a:p>
        </p:txBody>
      </p:sp>
      <p:sp>
        <p:nvSpPr>
          <p:cNvPr id="18" name="県_新潟県"/>
          <p:cNvSpPr/>
          <p:nvPr/>
        </p:nvSpPr>
        <p:spPr>
          <a:xfrm>
            <a:off x="7625285" y="2607537"/>
            <a:ext cx="902067" cy="775213"/>
          </a:xfrm>
          <a:prstGeom prst="roundRect">
            <a:avLst>
              <a:gd name="adj" fmla="val 18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県名_新潟県"/>
          <p:cNvSpPr txBox="1"/>
          <p:nvPr/>
        </p:nvSpPr>
        <p:spPr>
          <a:xfrm>
            <a:off x="7625285" y="2678011"/>
            <a:ext cx="902067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新潟県</a:t>
            </a:r>
          </a:p>
        </p:txBody>
      </p:sp>
      <p:sp>
        <p:nvSpPr>
          <p:cNvPr id="20" name="県数_新潟県"/>
          <p:cNvSpPr txBox="1"/>
          <p:nvPr/>
        </p:nvSpPr>
        <p:spPr>
          <a:xfrm>
            <a:off x="7625285" y="2889433"/>
            <a:ext cx="902067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4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15</a:t>
            </a:r>
          </a:p>
        </p:txBody>
      </p:sp>
      <p:sp>
        <p:nvSpPr>
          <p:cNvPr id="21" name="県_埼玉県"/>
          <p:cNvSpPr/>
          <p:nvPr/>
        </p:nvSpPr>
        <p:spPr>
          <a:xfrm>
            <a:off x="8626016" y="2607537"/>
            <a:ext cx="902067" cy="775213"/>
          </a:xfrm>
          <a:prstGeom prst="roundRect">
            <a:avLst>
              <a:gd name="adj" fmla="val 18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県名_埼玉県"/>
          <p:cNvSpPr txBox="1"/>
          <p:nvPr/>
        </p:nvSpPr>
        <p:spPr>
          <a:xfrm>
            <a:off x="8626016" y="2678011"/>
            <a:ext cx="902067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埼玉県</a:t>
            </a:r>
          </a:p>
        </p:txBody>
      </p:sp>
      <p:sp>
        <p:nvSpPr>
          <p:cNvPr id="23" name="県数_埼玉県"/>
          <p:cNvSpPr txBox="1"/>
          <p:nvPr/>
        </p:nvSpPr>
        <p:spPr>
          <a:xfrm>
            <a:off x="8626016" y="2889433"/>
            <a:ext cx="902067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4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15</a:t>
            </a:r>
          </a:p>
        </p:txBody>
      </p:sp>
      <p:sp>
        <p:nvSpPr>
          <p:cNvPr id="24" name="県_群馬県"/>
          <p:cNvSpPr/>
          <p:nvPr/>
        </p:nvSpPr>
        <p:spPr>
          <a:xfrm>
            <a:off x="9626746" y="2607537"/>
            <a:ext cx="902067" cy="775213"/>
          </a:xfrm>
          <a:prstGeom prst="roundRect">
            <a:avLst>
              <a:gd name="adj" fmla="val 18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県名_群馬県"/>
          <p:cNvSpPr txBox="1"/>
          <p:nvPr/>
        </p:nvSpPr>
        <p:spPr>
          <a:xfrm>
            <a:off x="9626746" y="2678011"/>
            <a:ext cx="902067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群馬県</a:t>
            </a:r>
          </a:p>
        </p:txBody>
      </p:sp>
      <p:sp>
        <p:nvSpPr>
          <p:cNvPr id="26" name="県数_群馬県"/>
          <p:cNvSpPr txBox="1"/>
          <p:nvPr/>
        </p:nvSpPr>
        <p:spPr>
          <a:xfrm>
            <a:off x="9626746" y="2889433"/>
            <a:ext cx="902067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4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12</a:t>
            </a:r>
          </a:p>
        </p:txBody>
      </p:sp>
      <p:sp>
        <p:nvSpPr>
          <p:cNvPr id="27" name="県_栃木県"/>
          <p:cNvSpPr/>
          <p:nvPr/>
        </p:nvSpPr>
        <p:spPr>
          <a:xfrm>
            <a:off x="10627477" y="2607537"/>
            <a:ext cx="902067" cy="775213"/>
          </a:xfrm>
          <a:prstGeom prst="roundRect">
            <a:avLst>
              <a:gd name="adj" fmla="val 18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県名_栃木県"/>
          <p:cNvSpPr txBox="1"/>
          <p:nvPr/>
        </p:nvSpPr>
        <p:spPr>
          <a:xfrm>
            <a:off x="10627477" y="2678011"/>
            <a:ext cx="902067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栃木県</a:t>
            </a:r>
          </a:p>
        </p:txBody>
      </p:sp>
      <p:sp>
        <p:nvSpPr>
          <p:cNvPr id="29" name="県数_栃木県"/>
          <p:cNvSpPr txBox="1"/>
          <p:nvPr/>
        </p:nvSpPr>
        <p:spPr>
          <a:xfrm>
            <a:off x="10627477" y="2889433"/>
            <a:ext cx="902067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4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10</a:t>
            </a:r>
          </a:p>
        </p:txBody>
      </p:sp>
      <p:sp>
        <p:nvSpPr>
          <p:cNvPr id="30" name="3つのかたち見出し"/>
          <p:cNvSpPr txBox="1"/>
          <p:nvPr/>
        </p:nvSpPr>
        <p:spPr>
          <a:xfrm>
            <a:off x="451033" y="3805595"/>
            <a:ext cx="7047398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暮らし方に合わせて選べる、3つのかたち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1033" y="4129775"/>
            <a:ext cx="3622363" cy="1959176"/>
          </a:xfrm>
          <a:prstGeom prst="roundRect">
            <a:avLst>
              <a:gd name="adj" fmla="val 7194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見出し_自宅で暮らし続ける"/>
          <p:cNvSpPr txBox="1"/>
          <p:nvPr/>
        </p:nvSpPr>
        <p:spPr>
          <a:xfrm>
            <a:off x="704739" y="4270723"/>
            <a:ext cx="3241803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自宅で暮らし続ける</a:t>
            </a:r>
          </a:p>
        </p:txBody>
      </p:sp>
      <p:sp>
        <p:nvSpPr>
          <p:cNvPr id="34" name="補足_自宅で暮らし続ける"/>
          <p:cNvSpPr txBox="1"/>
          <p:nvPr/>
        </p:nvSpPr>
        <p:spPr>
          <a:xfrm>
            <a:off x="704739" y="4524430"/>
            <a:ext cx="3241803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自宅での生活を支援</a:t>
            </a:r>
          </a:p>
        </p:txBody>
      </p:sp>
      <p:sp>
        <p:nvSpPr>
          <p:cNvPr id="35" name="内容_自宅で暮らし続ける"/>
          <p:cNvSpPr txBox="1"/>
          <p:nvPr/>
        </p:nvSpPr>
        <p:spPr>
          <a:xfrm>
            <a:off x="704739" y="4933179"/>
            <a:ext cx="3171329" cy="10571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・居宅介護支援</a:t>
            </a:r>
          </a:p>
          <a:p>
            <a:pPr algn="l">
              <a:lnSpc>
                <a:spcPct val="15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・訪問介護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84818" y="4129775"/>
            <a:ext cx="3622363" cy="1959176"/>
          </a:xfrm>
          <a:prstGeom prst="roundRect">
            <a:avLst>
              <a:gd name="adj" fmla="val 7194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見出し_住まいで暮らす"/>
          <p:cNvSpPr txBox="1"/>
          <p:nvPr/>
        </p:nvSpPr>
        <p:spPr>
          <a:xfrm>
            <a:off x="4538524" y="4270723"/>
            <a:ext cx="3241803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住まいで暮らす</a:t>
            </a:r>
          </a:p>
        </p:txBody>
      </p:sp>
      <p:sp>
        <p:nvSpPr>
          <p:cNvPr id="39" name="補足_住まいで暮らす"/>
          <p:cNvSpPr txBox="1"/>
          <p:nvPr/>
        </p:nvSpPr>
        <p:spPr>
          <a:xfrm>
            <a:off x="4538524" y="4524430"/>
            <a:ext cx="3241803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居住いただき、支援する</a:t>
            </a:r>
          </a:p>
        </p:txBody>
      </p:sp>
      <p:sp>
        <p:nvSpPr>
          <p:cNvPr id="40" name="内容_住まいで暮らす"/>
          <p:cNvSpPr txBox="1"/>
          <p:nvPr/>
        </p:nvSpPr>
        <p:spPr>
          <a:xfrm>
            <a:off x="4538524" y="4933179"/>
            <a:ext cx="3171329" cy="10571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・有料老人ホーム</a:t>
            </a:r>
          </a:p>
          <a:p>
            <a:pPr algn="l">
              <a:lnSpc>
                <a:spcPct val="15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・グループホーム（少人数で暮らす、家庭的な雰囲気）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118603" y="4129775"/>
            <a:ext cx="3622363" cy="1959176"/>
          </a:xfrm>
          <a:prstGeom prst="roundRect">
            <a:avLst>
              <a:gd name="adj" fmla="val 7194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見出し_通い・訪問・泊まりを組み合わせる"/>
          <p:cNvSpPr txBox="1"/>
          <p:nvPr/>
        </p:nvSpPr>
        <p:spPr>
          <a:xfrm>
            <a:off x="8372309" y="4270723"/>
            <a:ext cx="3241803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通い・訪問・泊まりを組み合わせる</a:t>
            </a:r>
          </a:p>
        </p:txBody>
      </p:sp>
      <p:sp>
        <p:nvSpPr>
          <p:cNvPr id="44" name="補足_通い・訪問・泊まりを組み合わせる"/>
          <p:cNvSpPr txBox="1"/>
          <p:nvPr/>
        </p:nvSpPr>
        <p:spPr>
          <a:xfrm>
            <a:off x="8372309" y="4524430"/>
            <a:ext cx="3241803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小規模多機能で、暮らしを支える</a:t>
            </a:r>
          </a:p>
        </p:txBody>
      </p:sp>
      <p:sp>
        <p:nvSpPr>
          <p:cNvPr id="45" name="内容_通い・訪問・泊まりを組み合わせる"/>
          <p:cNvSpPr txBox="1"/>
          <p:nvPr/>
        </p:nvSpPr>
        <p:spPr>
          <a:xfrm>
            <a:off x="8372309" y="4933179"/>
            <a:ext cx="3171329" cy="10571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・小規模多機能型居宅介護</a:t>
            </a:r>
          </a:p>
          <a:p>
            <a:pPr algn="l">
              <a:lnSpc>
                <a:spcPct val="15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・看護小規模多機能型（看護も組み合わせ）</a:t>
            </a:r>
          </a:p>
        </p:txBody>
      </p:sp>
      <p:sp>
        <p:nvSpPr>
          <p:cNvPr id="46" name="注記"/>
          <p:cNvSpPr txBox="1"/>
          <p:nvPr/>
        </p:nvSpPr>
        <p:spPr>
          <a:xfrm>
            <a:off x="451033" y="6300374"/>
            <a:ext cx="11275838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7" b="0">
                <a:solidFill>
                  <a:srgbClr val="7A8A87"/>
                </a:solidFill>
                <a:latin typeface="游ゴシック"/>
                <a:ea typeface="游ゴシック"/>
                <a:cs typeface="游ゴシック"/>
              </a:rPr>
              <a:t>※ このほか、デイサービス（通い）・訪問看護で7種。出典：企業説明会資料、経営者ヒアリング、実習サイトの掲載内容。</a:t>
            </a:r>
          </a:p>
        </p:txBody>
      </p:sp>
      <p:sp>
        <p:nvSpPr>
          <p:cNvPr id="47" name="ページ番号"/>
          <p:cNvSpPr txBox="1"/>
          <p:nvPr/>
        </p:nvSpPr>
        <p:spPr>
          <a:xfrm>
            <a:off x="10895278" y="6300374"/>
            <a:ext cx="845687" cy="1832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32">
                <a:solidFill>
                  <a:srgbClr val="8A9A96"/>
                </a:solidFill>
                <a:latin typeface="游ゴシック"/>
              </a:rPr>
              <a:t>5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5963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113489"/>
          </a:xfrm>
          <a:custGeom>
            <a:avLst/>
            <a:gdLst/>
            <a:ahLst/>
            <a:cxnLst/>
            <a:rect l="l" t="t" r="r" b="b"/>
            <a:pathLst>
              <a:path w="12192000" h="1113489">
                <a:moveTo>
                  <a:pt x="0" y="0"/>
                </a:moveTo>
                <a:lnTo>
                  <a:pt x="12192000" y="0"/>
                </a:lnTo>
                <a:lnTo>
                  <a:pt x="12192000" y="1028920"/>
                </a:lnTo>
                <a:lnTo>
                  <a:pt x="12141200" y="1026706"/>
                </a:lnTo>
                <a:lnTo>
                  <a:pt x="12090400" y="1024494"/>
                </a:lnTo>
                <a:lnTo>
                  <a:pt x="12039600" y="1022285"/>
                </a:lnTo>
                <a:lnTo>
                  <a:pt x="11988800" y="1020080"/>
                </a:lnTo>
                <a:lnTo>
                  <a:pt x="11938000" y="1017881"/>
                </a:lnTo>
                <a:lnTo>
                  <a:pt x="11887200" y="1015690"/>
                </a:lnTo>
                <a:lnTo>
                  <a:pt x="11836400" y="1013508"/>
                </a:lnTo>
                <a:lnTo>
                  <a:pt x="11785600" y="1011337"/>
                </a:lnTo>
                <a:lnTo>
                  <a:pt x="11734800" y="1009178"/>
                </a:lnTo>
                <a:lnTo>
                  <a:pt x="11684000" y="1007032"/>
                </a:lnTo>
                <a:lnTo>
                  <a:pt x="11633200" y="1004901"/>
                </a:lnTo>
                <a:lnTo>
                  <a:pt x="11582400" y="1002787"/>
                </a:lnTo>
                <a:lnTo>
                  <a:pt x="11531600" y="1000690"/>
                </a:lnTo>
                <a:lnTo>
                  <a:pt x="11480800" y="998613"/>
                </a:lnTo>
                <a:lnTo>
                  <a:pt x="11430000" y="996557"/>
                </a:lnTo>
                <a:lnTo>
                  <a:pt x="11379200" y="994523"/>
                </a:lnTo>
                <a:lnTo>
                  <a:pt x="11328400" y="992512"/>
                </a:lnTo>
                <a:lnTo>
                  <a:pt x="11277600" y="990526"/>
                </a:lnTo>
                <a:lnTo>
                  <a:pt x="11226800" y="988567"/>
                </a:lnTo>
                <a:lnTo>
                  <a:pt x="11176000" y="986635"/>
                </a:lnTo>
                <a:lnTo>
                  <a:pt x="11125200" y="984733"/>
                </a:lnTo>
                <a:lnTo>
                  <a:pt x="11074400" y="982860"/>
                </a:lnTo>
                <a:lnTo>
                  <a:pt x="11023600" y="981019"/>
                </a:lnTo>
                <a:lnTo>
                  <a:pt x="10972800" y="979211"/>
                </a:lnTo>
                <a:lnTo>
                  <a:pt x="10922000" y="977438"/>
                </a:lnTo>
                <a:lnTo>
                  <a:pt x="10871200" y="975699"/>
                </a:lnTo>
                <a:lnTo>
                  <a:pt x="10820400" y="973997"/>
                </a:lnTo>
                <a:lnTo>
                  <a:pt x="10769600" y="972332"/>
                </a:lnTo>
                <a:lnTo>
                  <a:pt x="10718800" y="970706"/>
                </a:lnTo>
                <a:lnTo>
                  <a:pt x="10668000" y="969121"/>
                </a:lnTo>
                <a:lnTo>
                  <a:pt x="10617200" y="967576"/>
                </a:lnTo>
                <a:lnTo>
                  <a:pt x="10566400" y="966073"/>
                </a:lnTo>
                <a:lnTo>
                  <a:pt x="10515600" y="964613"/>
                </a:lnTo>
                <a:lnTo>
                  <a:pt x="10464800" y="963197"/>
                </a:lnTo>
                <a:lnTo>
                  <a:pt x="10414000" y="961827"/>
                </a:lnTo>
                <a:lnTo>
                  <a:pt x="10363200" y="960502"/>
                </a:lnTo>
                <a:lnTo>
                  <a:pt x="10312400" y="959224"/>
                </a:lnTo>
                <a:lnTo>
                  <a:pt x="10261600" y="957994"/>
                </a:lnTo>
                <a:lnTo>
                  <a:pt x="10210800" y="956813"/>
                </a:lnTo>
                <a:lnTo>
                  <a:pt x="10160000" y="955681"/>
                </a:lnTo>
                <a:lnTo>
                  <a:pt x="10109200" y="954599"/>
                </a:lnTo>
                <a:lnTo>
                  <a:pt x="10058400" y="953568"/>
                </a:lnTo>
                <a:lnTo>
                  <a:pt x="10007600" y="952589"/>
                </a:lnTo>
                <a:lnTo>
                  <a:pt x="9956800" y="951662"/>
                </a:lnTo>
                <a:lnTo>
                  <a:pt x="9906000" y="950788"/>
                </a:lnTo>
                <a:lnTo>
                  <a:pt x="9855200" y="949968"/>
                </a:lnTo>
                <a:lnTo>
                  <a:pt x="9804400" y="949202"/>
                </a:lnTo>
                <a:lnTo>
                  <a:pt x="9753600" y="948490"/>
                </a:lnTo>
                <a:lnTo>
                  <a:pt x="9702800" y="947834"/>
                </a:lnTo>
                <a:lnTo>
                  <a:pt x="9652000" y="947233"/>
                </a:lnTo>
                <a:lnTo>
                  <a:pt x="9601200" y="946688"/>
                </a:lnTo>
                <a:lnTo>
                  <a:pt x="9550400" y="946199"/>
                </a:lnTo>
                <a:lnTo>
                  <a:pt x="9499600" y="945767"/>
                </a:lnTo>
                <a:lnTo>
                  <a:pt x="9448800" y="945392"/>
                </a:lnTo>
                <a:lnTo>
                  <a:pt x="9398000" y="945074"/>
                </a:lnTo>
                <a:lnTo>
                  <a:pt x="9347200" y="944814"/>
                </a:lnTo>
                <a:lnTo>
                  <a:pt x="9296400" y="944612"/>
                </a:lnTo>
                <a:lnTo>
                  <a:pt x="9245600" y="944467"/>
                </a:lnTo>
                <a:lnTo>
                  <a:pt x="9194800" y="944380"/>
                </a:lnTo>
                <a:lnTo>
                  <a:pt x="9144000" y="944351"/>
                </a:lnTo>
                <a:lnTo>
                  <a:pt x="9093200" y="944380"/>
                </a:lnTo>
                <a:lnTo>
                  <a:pt x="9042400" y="944467"/>
                </a:lnTo>
                <a:lnTo>
                  <a:pt x="8991600" y="944612"/>
                </a:lnTo>
                <a:lnTo>
                  <a:pt x="8940800" y="944814"/>
                </a:lnTo>
                <a:lnTo>
                  <a:pt x="8890000" y="945074"/>
                </a:lnTo>
                <a:lnTo>
                  <a:pt x="8839200" y="945392"/>
                </a:lnTo>
                <a:lnTo>
                  <a:pt x="8788400" y="945767"/>
                </a:lnTo>
                <a:lnTo>
                  <a:pt x="8737600" y="946199"/>
                </a:lnTo>
                <a:lnTo>
                  <a:pt x="8686800" y="946688"/>
                </a:lnTo>
                <a:lnTo>
                  <a:pt x="8636000" y="947233"/>
                </a:lnTo>
                <a:lnTo>
                  <a:pt x="8585200" y="947834"/>
                </a:lnTo>
                <a:lnTo>
                  <a:pt x="8534400" y="948490"/>
                </a:lnTo>
                <a:lnTo>
                  <a:pt x="8483599" y="949202"/>
                </a:lnTo>
                <a:lnTo>
                  <a:pt x="8432800" y="949968"/>
                </a:lnTo>
                <a:lnTo>
                  <a:pt x="8382000" y="950788"/>
                </a:lnTo>
                <a:lnTo>
                  <a:pt x="8331199" y="951662"/>
                </a:lnTo>
                <a:lnTo>
                  <a:pt x="8280400" y="952589"/>
                </a:lnTo>
                <a:lnTo>
                  <a:pt x="8229600" y="953568"/>
                </a:lnTo>
                <a:lnTo>
                  <a:pt x="8178799" y="954599"/>
                </a:lnTo>
                <a:lnTo>
                  <a:pt x="8128000" y="955681"/>
                </a:lnTo>
                <a:lnTo>
                  <a:pt x="8077200" y="956813"/>
                </a:lnTo>
                <a:lnTo>
                  <a:pt x="8026399" y="957994"/>
                </a:lnTo>
                <a:lnTo>
                  <a:pt x="7975600" y="959224"/>
                </a:lnTo>
                <a:lnTo>
                  <a:pt x="7924800" y="960502"/>
                </a:lnTo>
                <a:lnTo>
                  <a:pt x="7873999" y="961827"/>
                </a:lnTo>
                <a:lnTo>
                  <a:pt x="7823200" y="963197"/>
                </a:lnTo>
                <a:lnTo>
                  <a:pt x="7772400" y="964613"/>
                </a:lnTo>
                <a:lnTo>
                  <a:pt x="7721599" y="966073"/>
                </a:lnTo>
                <a:lnTo>
                  <a:pt x="7670800" y="967576"/>
                </a:lnTo>
                <a:lnTo>
                  <a:pt x="7620000" y="969121"/>
                </a:lnTo>
                <a:lnTo>
                  <a:pt x="7569199" y="970706"/>
                </a:lnTo>
                <a:lnTo>
                  <a:pt x="7518400" y="972332"/>
                </a:lnTo>
                <a:lnTo>
                  <a:pt x="7467600" y="973997"/>
                </a:lnTo>
                <a:lnTo>
                  <a:pt x="7416799" y="975699"/>
                </a:lnTo>
                <a:lnTo>
                  <a:pt x="7366000" y="977438"/>
                </a:lnTo>
                <a:lnTo>
                  <a:pt x="7315200" y="979211"/>
                </a:lnTo>
                <a:lnTo>
                  <a:pt x="7264399" y="981019"/>
                </a:lnTo>
                <a:lnTo>
                  <a:pt x="7213600" y="982860"/>
                </a:lnTo>
                <a:lnTo>
                  <a:pt x="7162800" y="984733"/>
                </a:lnTo>
                <a:lnTo>
                  <a:pt x="7112000" y="986635"/>
                </a:lnTo>
                <a:lnTo>
                  <a:pt x="7061200" y="988567"/>
                </a:lnTo>
                <a:lnTo>
                  <a:pt x="7010400" y="990526"/>
                </a:lnTo>
                <a:lnTo>
                  <a:pt x="6959600" y="992512"/>
                </a:lnTo>
                <a:lnTo>
                  <a:pt x="6908800" y="994523"/>
                </a:lnTo>
                <a:lnTo>
                  <a:pt x="6858000" y="996557"/>
                </a:lnTo>
                <a:lnTo>
                  <a:pt x="6807200" y="998613"/>
                </a:lnTo>
                <a:lnTo>
                  <a:pt x="6756400" y="1000690"/>
                </a:lnTo>
                <a:lnTo>
                  <a:pt x="6705600" y="1002787"/>
                </a:lnTo>
                <a:lnTo>
                  <a:pt x="6654800" y="1004901"/>
                </a:lnTo>
                <a:lnTo>
                  <a:pt x="6604000" y="1007032"/>
                </a:lnTo>
                <a:lnTo>
                  <a:pt x="6553200" y="1009178"/>
                </a:lnTo>
                <a:lnTo>
                  <a:pt x="6502400" y="1011337"/>
                </a:lnTo>
                <a:lnTo>
                  <a:pt x="6451600" y="1013508"/>
                </a:lnTo>
                <a:lnTo>
                  <a:pt x="6400800" y="1015690"/>
                </a:lnTo>
                <a:lnTo>
                  <a:pt x="6350000" y="1017881"/>
                </a:lnTo>
                <a:lnTo>
                  <a:pt x="6299200" y="1020080"/>
                </a:lnTo>
                <a:lnTo>
                  <a:pt x="6248400" y="1022285"/>
                </a:lnTo>
                <a:lnTo>
                  <a:pt x="6197600" y="1024494"/>
                </a:lnTo>
                <a:lnTo>
                  <a:pt x="6146800" y="1026706"/>
                </a:lnTo>
                <a:lnTo>
                  <a:pt x="6096000" y="1028920"/>
                </a:lnTo>
                <a:lnTo>
                  <a:pt x="6045200" y="1031133"/>
                </a:lnTo>
                <a:lnTo>
                  <a:pt x="5994400" y="1033346"/>
                </a:lnTo>
                <a:lnTo>
                  <a:pt x="5943600" y="1035555"/>
                </a:lnTo>
                <a:lnTo>
                  <a:pt x="5892800" y="1037760"/>
                </a:lnTo>
                <a:lnTo>
                  <a:pt x="5842000" y="1039958"/>
                </a:lnTo>
                <a:lnTo>
                  <a:pt x="5791200" y="1042149"/>
                </a:lnTo>
                <a:lnTo>
                  <a:pt x="5740400" y="1044331"/>
                </a:lnTo>
                <a:lnTo>
                  <a:pt x="5689600" y="1046503"/>
                </a:lnTo>
                <a:lnTo>
                  <a:pt x="5638800" y="1048662"/>
                </a:lnTo>
                <a:lnTo>
                  <a:pt x="5588000" y="1050808"/>
                </a:lnTo>
                <a:lnTo>
                  <a:pt x="5537200" y="1052939"/>
                </a:lnTo>
                <a:lnTo>
                  <a:pt x="5486400" y="1055053"/>
                </a:lnTo>
                <a:lnTo>
                  <a:pt x="5435600" y="1057149"/>
                </a:lnTo>
                <a:lnTo>
                  <a:pt x="5384800" y="1059226"/>
                </a:lnTo>
                <a:lnTo>
                  <a:pt x="5334000" y="1061283"/>
                </a:lnTo>
                <a:lnTo>
                  <a:pt x="5283200" y="1063317"/>
                </a:lnTo>
                <a:lnTo>
                  <a:pt x="5232400" y="1065328"/>
                </a:lnTo>
                <a:lnTo>
                  <a:pt x="5181600" y="1067313"/>
                </a:lnTo>
                <a:lnTo>
                  <a:pt x="5130800" y="1069272"/>
                </a:lnTo>
                <a:lnTo>
                  <a:pt x="5080000" y="1071204"/>
                </a:lnTo>
                <a:lnTo>
                  <a:pt x="5029200" y="1073107"/>
                </a:lnTo>
                <a:lnTo>
                  <a:pt x="4978400" y="1074979"/>
                </a:lnTo>
                <a:lnTo>
                  <a:pt x="4927599" y="1076820"/>
                </a:lnTo>
                <a:lnTo>
                  <a:pt x="4876800" y="1078628"/>
                </a:lnTo>
                <a:lnTo>
                  <a:pt x="4826000" y="1080402"/>
                </a:lnTo>
                <a:lnTo>
                  <a:pt x="4775199" y="1082141"/>
                </a:lnTo>
                <a:lnTo>
                  <a:pt x="4724400" y="1083843"/>
                </a:lnTo>
                <a:lnTo>
                  <a:pt x="4673600" y="1085507"/>
                </a:lnTo>
                <a:lnTo>
                  <a:pt x="4622799" y="1087133"/>
                </a:lnTo>
                <a:lnTo>
                  <a:pt x="4572000" y="1088719"/>
                </a:lnTo>
                <a:lnTo>
                  <a:pt x="4521200" y="1090264"/>
                </a:lnTo>
                <a:lnTo>
                  <a:pt x="4470399" y="1091767"/>
                </a:lnTo>
                <a:lnTo>
                  <a:pt x="4419600" y="1093226"/>
                </a:lnTo>
                <a:lnTo>
                  <a:pt x="4368800" y="1094642"/>
                </a:lnTo>
                <a:lnTo>
                  <a:pt x="4317999" y="1096013"/>
                </a:lnTo>
                <a:lnTo>
                  <a:pt x="4267200" y="1097337"/>
                </a:lnTo>
                <a:lnTo>
                  <a:pt x="4216400" y="1098615"/>
                </a:lnTo>
                <a:lnTo>
                  <a:pt x="4165599" y="1099845"/>
                </a:lnTo>
                <a:lnTo>
                  <a:pt x="4114800" y="1101026"/>
                </a:lnTo>
                <a:lnTo>
                  <a:pt x="4064000" y="1102158"/>
                </a:lnTo>
                <a:lnTo>
                  <a:pt x="4013199" y="1103240"/>
                </a:lnTo>
                <a:lnTo>
                  <a:pt x="3962400" y="1104271"/>
                </a:lnTo>
                <a:lnTo>
                  <a:pt x="3911600" y="1105250"/>
                </a:lnTo>
                <a:lnTo>
                  <a:pt x="3860799" y="1106177"/>
                </a:lnTo>
                <a:lnTo>
                  <a:pt x="3810000" y="1107051"/>
                </a:lnTo>
                <a:lnTo>
                  <a:pt x="3759200" y="1107871"/>
                </a:lnTo>
                <a:lnTo>
                  <a:pt x="3708399" y="1108638"/>
                </a:lnTo>
                <a:lnTo>
                  <a:pt x="3657600" y="1109349"/>
                </a:lnTo>
                <a:lnTo>
                  <a:pt x="3606800" y="1110006"/>
                </a:lnTo>
                <a:lnTo>
                  <a:pt x="3555999" y="1110607"/>
                </a:lnTo>
                <a:lnTo>
                  <a:pt x="3505200" y="1111152"/>
                </a:lnTo>
                <a:lnTo>
                  <a:pt x="3454400" y="1111640"/>
                </a:lnTo>
                <a:lnTo>
                  <a:pt x="3403599" y="1112072"/>
                </a:lnTo>
                <a:lnTo>
                  <a:pt x="3352800" y="1112447"/>
                </a:lnTo>
                <a:lnTo>
                  <a:pt x="3302000" y="1112765"/>
                </a:lnTo>
                <a:lnTo>
                  <a:pt x="3251199" y="1113025"/>
                </a:lnTo>
                <a:lnTo>
                  <a:pt x="3200400" y="1113228"/>
                </a:lnTo>
                <a:lnTo>
                  <a:pt x="3149600" y="1113373"/>
                </a:lnTo>
                <a:lnTo>
                  <a:pt x="3098799" y="1113460"/>
                </a:lnTo>
                <a:lnTo>
                  <a:pt x="3048000" y="1113489"/>
                </a:lnTo>
                <a:lnTo>
                  <a:pt x="2997200" y="1113460"/>
                </a:lnTo>
                <a:lnTo>
                  <a:pt x="2946399" y="1113373"/>
                </a:lnTo>
                <a:lnTo>
                  <a:pt x="2895600" y="1113228"/>
                </a:lnTo>
                <a:lnTo>
                  <a:pt x="2844800" y="1113025"/>
                </a:lnTo>
                <a:lnTo>
                  <a:pt x="2793999" y="1112765"/>
                </a:lnTo>
                <a:lnTo>
                  <a:pt x="2743200" y="1112447"/>
                </a:lnTo>
                <a:lnTo>
                  <a:pt x="2692400" y="1112072"/>
                </a:lnTo>
                <a:lnTo>
                  <a:pt x="2641599" y="1111640"/>
                </a:lnTo>
                <a:lnTo>
                  <a:pt x="2590800" y="1111152"/>
                </a:lnTo>
                <a:lnTo>
                  <a:pt x="2540000" y="1110607"/>
                </a:lnTo>
                <a:lnTo>
                  <a:pt x="2489199" y="1110006"/>
                </a:lnTo>
                <a:lnTo>
                  <a:pt x="2438400" y="1109349"/>
                </a:lnTo>
                <a:lnTo>
                  <a:pt x="2387600" y="1108638"/>
                </a:lnTo>
                <a:lnTo>
                  <a:pt x="2336799" y="1107871"/>
                </a:lnTo>
                <a:lnTo>
                  <a:pt x="2286000" y="1107051"/>
                </a:lnTo>
                <a:lnTo>
                  <a:pt x="2235200" y="1106177"/>
                </a:lnTo>
                <a:lnTo>
                  <a:pt x="2184399" y="1105250"/>
                </a:lnTo>
                <a:lnTo>
                  <a:pt x="2133600" y="1104271"/>
                </a:lnTo>
                <a:lnTo>
                  <a:pt x="2082800" y="1103240"/>
                </a:lnTo>
                <a:lnTo>
                  <a:pt x="2031999" y="1102158"/>
                </a:lnTo>
                <a:lnTo>
                  <a:pt x="1981200" y="1101026"/>
                </a:lnTo>
                <a:lnTo>
                  <a:pt x="1930400" y="1099845"/>
                </a:lnTo>
                <a:lnTo>
                  <a:pt x="1879599" y="1098615"/>
                </a:lnTo>
                <a:lnTo>
                  <a:pt x="1828800" y="1097337"/>
                </a:lnTo>
                <a:lnTo>
                  <a:pt x="1778000" y="1096013"/>
                </a:lnTo>
                <a:lnTo>
                  <a:pt x="1727199" y="1094642"/>
                </a:lnTo>
                <a:lnTo>
                  <a:pt x="1676400" y="1093226"/>
                </a:lnTo>
                <a:lnTo>
                  <a:pt x="1625600" y="1091767"/>
                </a:lnTo>
                <a:lnTo>
                  <a:pt x="1574799" y="1090264"/>
                </a:lnTo>
                <a:lnTo>
                  <a:pt x="1524000" y="1088719"/>
                </a:lnTo>
                <a:lnTo>
                  <a:pt x="1473200" y="1087133"/>
                </a:lnTo>
                <a:lnTo>
                  <a:pt x="1422399" y="1085507"/>
                </a:lnTo>
                <a:lnTo>
                  <a:pt x="1371600" y="1083843"/>
                </a:lnTo>
                <a:lnTo>
                  <a:pt x="1320800" y="1082141"/>
                </a:lnTo>
                <a:lnTo>
                  <a:pt x="1269999" y="1080402"/>
                </a:lnTo>
                <a:lnTo>
                  <a:pt x="1219200" y="1078628"/>
                </a:lnTo>
                <a:lnTo>
                  <a:pt x="1168400" y="1076820"/>
                </a:lnTo>
                <a:lnTo>
                  <a:pt x="1117599" y="1074979"/>
                </a:lnTo>
                <a:lnTo>
                  <a:pt x="1066800" y="1073107"/>
                </a:lnTo>
                <a:lnTo>
                  <a:pt x="1016000" y="1071204"/>
                </a:lnTo>
                <a:lnTo>
                  <a:pt x="965199" y="1069272"/>
                </a:lnTo>
                <a:lnTo>
                  <a:pt x="914400" y="1067313"/>
                </a:lnTo>
                <a:lnTo>
                  <a:pt x="863600" y="1065328"/>
                </a:lnTo>
                <a:lnTo>
                  <a:pt x="812799" y="1063317"/>
                </a:lnTo>
                <a:lnTo>
                  <a:pt x="762000" y="1061283"/>
                </a:lnTo>
                <a:lnTo>
                  <a:pt x="711200" y="1059226"/>
                </a:lnTo>
                <a:lnTo>
                  <a:pt x="660399" y="1057149"/>
                </a:lnTo>
                <a:lnTo>
                  <a:pt x="609600" y="1055053"/>
                </a:lnTo>
                <a:lnTo>
                  <a:pt x="558800" y="1052939"/>
                </a:lnTo>
                <a:lnTo>
                  <a:pt x="507999" y="1050808"/>
                </a:lnTo>
                <a:lnTo>
                  <a:pt x="457200" y="1048662"/>
                </a:lnTo>
                <a:lnTo>
                  <a:pt x="406400" y="1046503"/>
                </a:lnTo>
                <a:lnTo>
                  <a:pt x="355599" y="1044331"/>
                </a:lnTo>
                <a:lnTo>
                  <a:pt x="304800" y="1042149"/>
                </a:lnTo>
                <a:lnTo>
                  <a:pt x="254000" y="1039958"/>
                </a:lnTo>
                <a:lnTo>
                  <a:pt x="203199" y="1037760"/>
                </a:lnTo>
                <a:lnTo>
                  <a:pt x="152400" y="1035555"/>
                </a:lnTo>
                <a:lnTo>
                  <a:pt x="101600" y="1033346"/>
                </a:lnTo>
                <a:lnTo>
                  <a:pt x="50799" y="1031133"/>
                </a:lnTo>
                <a:lnTo>
                  <a:pt x="0" y="1028920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ヘッダー山1"/>
          <p:cNvSpPr/>
          <p:nvPr/>
        </p:nvSpPr>
        <p:spPr>
          <a:xfrm>
            <a:off x="8315930" y="352369"/>
            <a:ext cx="2078983" cy="591982"/>
          </a:xfrm>
          <a:custGeom>
            <a:avLst/>
            <a:gdLst/>
            <a:ahLst/>
            <a:cxnLst/>
            <a:rect l="l" t="t" r="r" b="b"/>
            <a:pathLst>
              <a:path w="2078983" h="591982">
                <a:moveTo>
                  <a:pt x="0" y="591982"/>
                </a:moveTo>
                <a:lnTo>
                  <a:pt x="1141679" y="0"/>
                </a:lnTo>
                <a:lnTo>
                  <a:pt x="2078983" y="591982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ヘッダー山2"/>
          <p:cNvSpPr/>
          <p:nvPr/>
        </p:nvSpPr>
        <p:spPr>
          <a:xfrm>
            <a:off x="9866358" y="591981"/>
            <a:ext cx="2043746" cy="352370"/>
          </a:xfrm>
          <a:custGeom>
            <a:avLst/>
            <a:gdLst/>
            <a:ahLst/>
            <a:cxnLst/>
            <a:rect l="l" t="t" r="r" b="b"/>
            <a:pathLst>
              <a:path w="2043746" h="352370">
                <a:moveTo>
                  <a:pt x="0" y="352370"/>
                </a:moveTo>
                <a:lnTo>
                  <a:pt x="1021873" y="0"/>
                </a:lnTo>
                <a:lnTo>
                  <a:pt x="2043746" y="35237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451033" y="211421"/>
            <a:ext cx="6342658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4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事業の展開（2）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451033" y="422843"/>
            <a:ext cx="10571098" cy="4933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福祉用具から介護サービスへ。事業を広げてきた歩み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1033" y="1240342"/>
            <a:ext cx="2621632" cy="2114219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時期_1"/>
          <p:cNvSpPr txBox="1"/>
          <p:nvPr/>
        </p:nvSpPr>
        <p:spPr>
          <a:xfrm>
            <a:off x="662455" y="1564522"/>
            <a:ext cx="2255167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はじまり</a:t>
            </a:r>
          </a:p>
        </p:txBody>
      </p:sp>
      <p:sp>
        <p:nvSpPr>
          <p:cNvPr id="9" name="見出し_1"/>
          <p:cNvSpPr txBox="1"/>
          <p:nvPr/>
        </p:nvSpPr>
        <p:spPr>
          <a:xfrm>
            <a:off x="662455" y="1818228"/>
            <a:ext cx="2226978" cy="704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福祉用具のレンタル・販売</a:t>
            </a:r>
          </a:p>
        </p:txBody>
      </p:sp>
      <p:sp>
        <p:nvSpPr>
          <p:cNvPr id="10" name="説明_1"/>
          <p:cNvSpPr txBox="1"/>
          <p:nvPr/>
        </p:nvSpPr>
        <p:spPr>
          <a:xfrm>
            <a:off x="662455" y="2621632"/>
            <a:ext cx="2226978" cy="634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フランスベッドの代理店が原点。2000年に福祉レンタルを開始</a:t>
            </a:r>
          </a:p>
        </p:txBody>
      </p:sp>
      <p:sp>
        <p:nvSpPr>
          <p:cNvPr id="11" name="矢印"/>
          <p:cNvSpPr/>
          <p:nvPr/>
        </p:nvSpPr>
        <p:spPr>
          <a:xfrm>
            <a:off x="3100855" y="2184693"/>
            <a:ext cx="211421" cy="310085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40467" y="1240342"/>
            <a:ext cx="2621632" cy="2114219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時期_2"/>
          <p:cNvSpPr txBox="1"/>
          <p:nvPr/>
        </p:nvSpPr>
        <p:spPr>
          <a:xfrm>
            <a:off x="3551889" y="1564522"/>
            <a:ext cx="2255167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自宅を支える</a:t>
            </a:r>
          </a:p>
        </p:txBody>
      </p:sp>
      <p:sp>
        <p:nvSpPr>
          <p:cNvPr id="15" name="見出し_2"/>
          <p:cNvSpPr txBox="1"/>
          <p:nvPr/>
        </p:nvSpPr>
        <p:spPr>
          <a:xfrm>
            <a:off x="3551889" y="1818228"/>
            <a:ext cx="2226978" cy="704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居宅介護支援・訪問介護</a:t>
            </a:r>
          </a:p>
        </p:txBody>
      </p:sp>
      <p:sp>
        <p:nvSpPr>
          <p:cNvPr id="16" name="説明_2"/>
          <p:cNvSpPr txBox="1"/>
          <p:nvPr/>
        </p:nvSpPr>
        <p:spPr>
          <a:xfrm>
            <a:off x="3551889" y="2621632"/>
            <a:ext cx="2226978" cy="634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自宅での生活を支援するサービスへ</a:t>
            </a:r>
          </a:p>
        </p:txBody>
      </p:sp>
      <p:sp>
        <p:nvSpPr>
          <p:cNvPr id="17" name="矢印"/>
          <p:cNvSpPr/>
          <p:nvPr/>
        </p:nvSpPr>
        <p:spPr>
          <a:xfrm>
            <a:off x="5990289" y="2184693"/>
            <a:ext cx="211421" cy="310085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29900" y="1240342"/>
            <a:ext cx="2621632" cy="2114219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時期_3"/>
          <p:cNvSpPr txBox="1"/>
          <p:nvPr/>
        </p:nvSpPr>
        <p:spPr>
          <a:xfrm>
            <a:off x="6441322" y="1564522"/>
            <a:ext cx="2255167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住まいと暮らしを支える</a:t>
            </a:r>
          </a:p>
        </p:txBody>
      </p:sp>
      <p:sp>
        <p:nvSpPr>
          <p:cNvPr id="21" name="見出し_3"/>
          <p:cNvSpPr txBox="1"/>
          <p:nvPr/>
        </p:nvSpPr>
        <p:spPr>
          <a:xfrm>
            <a:off x="6441322" y="1818228"/>
            <a:ext cx="2226978" cy="704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老人ホーム・グループホーム・小規模多機能</a:t>
            </a:r>
          </a:p>
        </p:txBody>
      </p:sp>
      <p:sp>
        <p:nvSpPr>
          <p:cNvPr id="22" name="説明_3"/>
          <p:cNvSpPr txBox="1"/>
          <p:nvPr/>
        </p:nvSpPr>
        <p:spPr>
          <a:xfrm>
            <a:off x="6441322" y="2621632"/>
            <a:ext cx="2226978" cy="634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居住の支援と、通い・訪問・泊まりの組み合わせへ</a:t>
            </a:r>
          </a:p>
        </p:txBody>
      </p:sp>
      <p:sp>
        <p:nvSpPr>
          <p:cNvPr id="23" name="矢印"/>
          <p:cNvSpPr/>
          <p:nvPr/>
        </p:nvSpPr>
        <p:spPr>
          <a:xfrm>
            <a:off x="8879722" y="2184693"/>
            <a:ext cx="211421" cy="310085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119334" y="1240342"/>
            <a:ext cx="2621632" cy="2114219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時期_4"/>
          <p:cNvSpPr txBox="1"/>
          <p:nvPr/>
        </p:nvSpPr>
        <p:spPr>
          <a:xfrm>
            <a:off x="9330756" y="1564522"/>
            <a:ext cx="2255167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2022年4月</a:t>
            </a:r>
          </a:p>
        </p:txBody>
      </p:sp>
      <p:sp>
        <p:nvSpPr>
          <p:cNvPr id="27" name="見出し_4"/>
          <p:cNvSpPr txBox="1"/>
          <p:nvPr/>
        </p:nvSpPr>
        <p:spPr>
          <a:xfrm>
            <a:off x="9330756" y="1818228"/>
            <a:ext cx="2226978" cy="704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31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東証スタンダード市場に上場</a:t>
            </a:r>
          </a:p>
        </p:txBody>
      </p:sp>
      <p:sp>
        <p:nvSpPr>
          <p:cNvPr id="28" name="説明_4"/>
          <p:cNvSpPr txBox="1"/>
          <p:nvPr/>
        </p:nvSpPr>
        <p:spPr>
          <a:xfrm>
            <a:off x="9330756" y="2621632"/>
            <a:ext cx="2226978" cy="634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事業成長の加速へ。信越・北関東に7種109拠点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1033" y="3551889"/>
            <a:ext cx="5496971" cy="2537063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売上見出し"/>
          <p:cNvSpPr txBox="1"/>
          <p:nvPr/>
        </p:nvSpPr>
        <p:spPr>
          <a:xfrm>
            <a:off x="704739" y="3678742"/>
            <a:ext cx="4933179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売上は、10年で約2.4倍に</a:t>
            </a:r>
          </a:p>
        </p:txBody>
      </p:sp>
      <p:sp>
        <p:nvSpPr>
          <p:cNvPr id="31" name="棒_2013年"/>
          <p:cNvSpPr/>
          <p:nvPr/>
        </p:nvSpPr>
        <p:spPr>
          <a:xfrm>
            <a:off x="1127583" y="4989558"/>
            <a:ext cx="1409479" cy="507412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売上_2013年"/>
          <p:cNvSpPr txBox="1"/>
          <p:nvPr/>
        </p:nvSpPr>
        <p:spPr>
          <a:xfrm>
            <a:off x="1127583" y="4665378"/>
            <a:ext cx="1409479" cy="281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39億円</a:t>
            </a:r>
          </a:p>
        </p:txBody>
      </p:sp>
      <p:sp>
        <p:nvSpPr>
          <p:cNvPr id="33" name="年_2013年"/>
          <p:cNvSpPr txBox="1"/>
          <p:nvPr/>
        </p:nvSpPr>
        <p:spPr>
          <a:xfrm>
            <a:off x="1127583" y="5553350"/>
            <a:ext cx="1409479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2013年</a:t>
            </a:r>
          </a:p>
        </p:txBody>
      </p:sp>
      <p:sp>
        <p:nvSpPr>
          <p:cNvPr id="34" name="棒_2023年"/>
          <p:cNvSpPr/>
          <p:nvPr/>
        </p:nvSpPr>
        <p:spPr>
          <a:xfrm>
            <a:off x="3241803" y="4298913"/>
            <a:ext cx="1409479" cy="1198057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売上_2023年"/>
          <p:cNvSpPr txBox="1"/>
          <p:nvPr/>
        </p:nvSpPr>
        <p:spPr>
          <a:xfrm>
            <a:off x="3241803" y="3974732"/>
            <a:ext cx="1409479" cy="281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7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92億円</a:t>
            </a:r>
          </a:p>
        </p:txBody>
      </p:sp>
      <p:sp>
        <p:nvSpPr>
          <p:cNvPr id="36" name="年_2023年"/>
          <p:cNvSpPr txBox="1"/>
          <p:nvPr/>
        </p:nvSpPr>
        <p:spPr>
          <a:xfrm>
            <a:off x="3241803" y="5553350"/>
            <a:ext cx="1409479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2023年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29900" y="3551889"/>
            <a:ext cx="5511065" cy="2537063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戦略見出し"/>
          <p:cNvSpPr txBox="1"/>
          <p:nvPr/>
        </p:nvSpPr>
        <p:spPr>
          <a:xfrm>
            <a:off x="6483606" y="3678742"/>
            <a:ext cx="4933179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これからの成長戦略</a:t>
            </a:r>
          </a:p>
        </p:txBody>
      </p:sp>
      <p:sp>
        <p:nvSpPr>
          <p:cNvPr id="39" name="タグ_福祉用具事業"/>
          <p:cNvSpPr/>
          <p:nvPr/>
        </p:nvSpPr>
        <p:spPr>
          <a:xfrm>
            <a:off x="6483606" y="4059301"/>
            <a:ext cx="1057109" cy="295990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タグ文字_福祉用具事業"/>
          <p:cNvSpPr txBox="1"/>
          <p:nvPr/>
        </p:nvSpPr>
        <p:spPr>
          <a:xfrm>
            <a:off x="6483606" y="4059301"/>
            <a:ext cx="1057109" cy="295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福祉用具事業</a:t>
            </a:r>
          </a:p>
        </p:txBody>
      </p:sp>
      <p:sp>
        <p:nvSpPr>
          <p:cNvPr id="41" name="戦略_福祉用具事業"/>
          <p:cNvSpPr txBox="1"/>
          <p:nvPr/>
        </p:nvSpPr>
        <p:spPr>
          <a:xfrm>
            <a:off x="7681664" y="4045206"/>
            <a:ext cx="3876069" cy="704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自社仕入レンタル品販売の拡充／新規利用者様の開拓</a:t>
            </a:r>
          </a:p>
        </p:txBody>
      </p:sp>
      <p:sp>
        <p:nvSpPr>
          <p:cNvPr id="42" name="タグ_介護事業"/>
          <p:cNvSpPr/>
          <p:nvPr/>
        </p:nvSpPr>
        <p:spPr>
          <a:xfrm>
            <a:off x="6483606" y="4651283"/>
            <a:ext cx="1057109" cy="295990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タグ文字_介護事業"/>
          <p:cNvSpPr txBox="1"/>
          <p:nvPr/>
        </p:nvSpPr>
        <p:spPr>
          <a:xfrm>
            <a:off x="6483606" y="4651283"/>
            <a:ext cx="1057109" cy="295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介護事業</a:t>
            </a:r>
          </a:p>
        </p:txBody>
      </p:sp>
      <p:sp>
        <p:nvSpPr>
          <p:cNvPr id="44" name="戦略_介護事業"/>
          <p:cNvSpPr txBox="1"/>
          <p:nvPr/>
        </p:nvSpPr>
        <p:spPr>
          <a:xfrm>
            <a:off x="7681664" y="4637188"/>
            <a:ext cx="3876069" cy="704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事業所運営方法の見直し／新たな介護サービスへの挑戦／ニーズにあったきめ細やかなサービスの提供</a:t>
            </a:r>
          </a:p>
        </p:txBody>
      </p:sp>
      <p:sp>
        <p:nvSpPr>
          <p:cNvPr id="45" name="タグ_あわせて"/>
          <p:cNvSpPr/>
          <p:nvPr/>
        </p:nvSpPr>
        <p:spPr>
          <a:xfrm>
            <a:off x="6483606" y="5356023"/>
            <a:ext cx="1057109" cy="295990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タグ文字_あわせて"/>
          <p:cNvSpPr txBox="1"/>
          <p:nvPr/>
        </p:nvSpPr>
        <p:spPr>
          <a:xfrm>
            <a:off x="6483606" y="5356023"/>
            <a:ext cx="1057109" cy="295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4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あわせて</a:t>
            </a:r>
          </a:p>
        </p:txBody>
      </p:sp>
      <p:sp>
        <p:nvSpPr>
          <p:cNvPr id="47" name="戦略_あわせて"/>
          <p:cNvSpPr txBox="1"/>
          <p:nvPr/>
        </p:nvSpPr>
        <p:spPr>
          <a:xfrm>
            <a:off x="7681664" y="5341928"/>
            <a:ext cx="3876069" cy="704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同業種を対象としたM&amp;Aで業績拡大を図る</a:t>
            </a:r>
          </a:p>
        </p:txBody>
      </p:sp>
      <p:sp>
        <p:nvSpPr>
          <p:cNvPr id="48" name="注記"/>
          <p:cNvSpPr txBox="1"/>
          <p:nvPr/>
        </p:nvSpPr>
        <p:spPr>
          <a:xfrm>
            <a:off x="451033" y="6300374"/>
            <a:ext cx="11275838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7" b="0">
                <a:solidFill>
                  <a:srgbClr val="7A8A87"/>
                </a:solidFill>
                <a:latin typeface="游ゴシック"/>
                <a:ea typeface="游ゴシック"/>
                <a:cs typeface="游ゴシック"/>
              </a:rPr>
              <a:t>※ 開始年は経営者ヒアリング、売上は企業説明会資料、成長戦略は2026年3月期 決算説明資料に基づきます（数値は要確認）。</a:t>
            </a:r>
          </a:p>
        </p:txBody>
      </p:sp>
      <p:sp>
        <p:nvSpPr>
          <p:cNvPr id="49" name="ページ番号"/>
          <p:cNvSpPr txBox="1"/>
          <p:nvPr/>
        </p:nvSpPr>
        <p:spPr>
          <a:xfrm>
            <a:off x="10895278" y="6300374"/>
            <a:ext cx="845687" cy="1832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32">
                <a:solidFill>
                  <a:srgbClr val="8A9A96"/>
                </a:solidFill>
                <a:latin typeface="游ゴシック"/>
              </a:rPr>
              <a:t>6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5963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113489"/>
          </a:xfrm>
          <a:custGeom>
            <a:avLst/>
            <a:gdLst/>
            <a:ahLst/>
            <a:cxnLst/>
            <a:rect l="l" t="t" r="r" b="b"/>
            <a:pathLst>
              <a:path w="12192000" h="1113489">
                <a:moveTo>
                  <a:pt x="0" y="0"/>
                </a:moveTo>
                <a:lnTo>
                  <a:pt x="12192000" y="0"/>
                </a:lnTo>
                <a:lnTo>
                  <a:pt x="12192000" y="1028920"/>
                </a:lnTo>
                <a:lnTo>
                  <a:pt x="12141200" y="1026706"/>
                </a:lnTo>
                <a:lnTo>
                  <a:pt x="12090400" y="1024494"/>
                </a:lnTo>
                <a:lnTo>
                  <a:pt x="12039600" y="1022285"/>
                </a:lnTo>
                <a:lnTo>
                  <a:pt x="11988800" y="1020080"/>
                </a:lnTo>
                <a:lnTo>
                  <a:pt x="11938000" y="1017881"/>
                </a:lnTo>
                <a:lnTo>
                  <a:pt x="11887200" y="1015690"/>
                </a:lnTo>
                <a:lnTo>
                  <a:pt x="11836400" y="1013508"/>
                </a:lnTo>
                <a:lnTo>
                  <a:pt x="11785600" y="1011337"/>
                </a:lnTo>
                <a:lnTo>
                  <a:pt x="11734800" y="1009178"/>
                </a:lnTo>
                <a:lnTo>
                  <a:pt x="11684000" y="1007032"/>
                </a:lnTo>
                <a:lnTo>
                  <a:pt x="11633200" y="1004901"/>
                </a:lnTo>
                <a:lnTo>
                  <a:pt x="11582400" y="1002787"/>
                </a:lnTo>
                <a:lnTo>
                  <a:pt x="11531600" y="1000690"/>
                </a:lnTo>
                <a:lnTo>
                  <a:pt x="11480800" y="998613"/>
                </a:lnTo>
                <a:lnTo>
                  <a:pt x="11430000" y="996557"/>
                </a:lnTo>
                <a:lnTo>
                  <a:pt x="11379200" y="994523"/>
                </a:lnTo>
                <a:lnTo>
                  <a:pt x="11328400" y="992512"/>
                </a:lnTo>
                <a:lnTo>
                  <a:pt x="11277600" y="990526"/>
                </a:lnTo>
                <a:lnTo>
                  <a:pt x="11226800" y="988567"/>
                </a:lnTo>
                <a:lnTo>
                  <a:pt x="11176000" y="986635"/>
                </a:lnTo>
                <a:lnTo>
                  <a:pt x="11125200" y="984733"/>
                </a:lnTo>
                <a:lnTo>
                  <a:pt x="11074400" y="982860"/>
                </a:lnTo>
                <a:lnTo>
                  <a:pt x="11023600" y="981019"/>
                </a:lnTo>
                <a:lnTo>
                  <a:pt x="10972800" y="979211"/>
                </a:lnTo>
                <a:lnTo>
                  <a:pt x="10922000" y="977438"/>
                </a:lnTo>
                <a:lnTo>
                  <a:pt x="10871200" y="975699"/>
                </a:lnTo>
                <a:lnTo>
                  <a:pt x="10820400" y="973997"/>
                </a:lnTo>
                <a:lnTo>
                  <a:pt x="10769600" y="972332"/>
                </a:lnTo>
                <a:lnTo>
                  <a:pt x="10718800" y="970706"/>
                </a:lnTo>
                <a:lnTo>
                  <a:pt x="10668000" y="969121"/>
                </a:lnTo>
                <a:lnTo>
                  <a:pt x="10617200" y="967576"/>
                </a:lnTo>
                <a:lnTo>
                  <a:pt x="10566400" y="966073"/>
                </a:lnTo>
                <a:lnTo>
                  <a:pt x="10515600" y="964613"/>
                </a:lnTo>
                <a:lnTo>
                  <a:pt x="10464800" y="963197"/>
                </a:lnTo>
                <a:lnTo>
                  <a:pt x="10414000" y="961827"/>
                </a:lnTo>
                <a:lnTo>
                  <a:pt x="10363200" y="960502"/>
                </a:lnTo>
                <a:lnTo>
                  <a:pt x="10312400" y="959224"/>
                </a:lnTo>
                <a:lnTo>
                  <a:pt x="10261600" y="957994"/>
                </a:lnTo>
                <a:lnTo>
                  <a:pt x="10210800" y="956813"/>
                </a:lnTo>
                <a:lnTo>
                  <a:pt x="10160000" y="955681"/>
                </a:lnTo>
                <a:lnTo>
                  <a:pt x="10109200" y="954599"/>
                </a:lnTo>
                <a:lnTo>
                  <a:pt x="10058400" y="953568"/>
                </a:lnTo>
                <a:lnTo>
                  <a:pt x="10007600" y="952589"/>
                </a:lnTo>
                <a:lnTo>
                  <a:pt x="9956800" y="951662"/>
                </a:lnTo>
                <a:lnTo>
                  <a:pt x="9906000" y="950788"/>
                </a:lnTo>
                <a:lnTo>
                  <a:pt x="9855200" y="949968"/>
                </a:lnTo>
                <a:lnTo>
                  <a:pt x="9804400" y="949202"/>
                </a:lnTo>
                <a:lnTo>
                  <a:pt x="9753600" y="948490"/>
                </a:lnTo>
                <a:lnTo>
                  <a:pt x="9702800" y="947834"/>
                </a:lnTo>
                <a:lnTo>
                  <a:pt x="9652000" y="947233"/>
                </a:lnTo>
                <a:lnTo>
                  <a:pt x="9601200" y="946688"/>
                </a:lnTo>
                <a:lnTo>
                  <a:pt x="9550400" y="946199"/>
                </a:lnTo>
                <a:lnTo>
                  <a:pt x="9499600" y="945767"/>
                </a:lnTo>
                <a:lnTo>
                  <a:pt x="9448800" y="945392"/>
                </a:lnTo>
                <a:lnTo>
                  <a:pt x="9398000" y="945074"/>
                </a:lnTo>
                <a:lnTo>
                  <a:pt x="9347200" y="944814"/>
                </a:lnTo>
                <a:lnTo>
                  <a:pt x="9296400" y="944612"/>
                </a:lnTo>
                <a:lnTo>
                  <a:pt x="9245600" y="944467"/>
                </a:lnTo>
                <a:lnTo>
                  <a:pt x="9194800" y="944380"/>
                </a:lnTo>
                <a:lnTo>
                  <a:pt x="9144000" y="944351"/>
                </a:lnTo>
                <a:lnTo>
                  <a:pt x="9093200" y="944380"/>
                </a:lnTo>
                <a:lnTo>
                  <a:pt x="9042400" y="944467"/>
                </a:lnTo>
                <a:lnTo>
                  <a:pt x="8991600" y="944612"/>
                </a:lnTo>
                <a:lnTo>
                  <a:pt x="8940800" y="944814"/>
                </a:lnTo>
                <a:lnTo>
                  <a:pt x="8890000" y="945074"/>
                </a:lnTo>
                <a:lnTo>
                  <a:pt x="8839200" y="945392"/>
                </a:lnTo>
                <a:lnTo>
                  <a:pt x="8788400" y="945767"/>
                </a:lnTo>
                <a:lnTo>
                  <a:pt x="8737600" y="946199"/>
                </a:lnTo>
                <a:lnTo>
                  <a:pt x="8686800" y="946688"/>
                </a:lnTo>
                <a:lnTo>
                  <a:pt x="8636000" y="947233"/>
                </a:lnTo>
                <a:lnTo>
                  <a:pt x="8585200" y="947834"/>
                </a:lnTo>
                <a:lnTo>
                  <a:pt x="8534400" y="948490"/>
                </a:lnTo>
                <a:lnTo>
                  <a:pt x="8483599" y="949202"/>
                </a:lnTo>
                <a:lnTo>
                  <a:pt x="8432800" y="949968"/>
                </a:lnTo>
                <a:lnTo>
                  <a:pt x="8382000" y="950788"/>
                </a:lnTo>
                <a:lnTo>
                  <a:pt x="8331199" y="951662"/>
                </a:lnTo>
                <a:lnTo>
                  <a:pt x="8280400" y="952589"/>
                </a:lnTo>
                <a:lnTo>
                  <a:pt x="8229600" y="953568"/>
                </a:lnTo>
                <a:lnTo>
                  <a:pt x="8178799" y="954599"/>
                </a:lnTo>
                <a:lnTo>
                  <a:pt x="8128000" y="955681"/>
                </a:lnTo>
                <a:lnTo>
                  <a:pt x="8077200" y="956813"/>
                </a:lnTo>
                <a:lnTo>
                  <a:pt x="8026399" y="957994"/>
                </a:lnTo>
                <a:lnTo>
                  <a:pt x="7975600" y="959224"/>
                </a:lnTo>
                <a:lnTo>
                  <a:pt x="7924800" y="960502"/>
                </a:lnTo>
                <a:lnTo>
                  <a:pt x="7873999" y="961827"/>
                </a:lnTo>
                <a:lnTo>
                  <a:pt x="7823200" y="963197"/>
                </a:lnTo>
                <a:lnTo>
                  <a:pt x="7772400" y="964613"/>
                </a:lnTo>
                <a:lnTo>
                  <a:pt x="7721599" y="966073"/>
                </a:lnTo>
                <a:lnTo>
                  <a:pt x="7670800" y="967576"/>
                </a:lnTo>
                <a:lnTo>
                  <a:pt x="7620000" y="969121"/>
                </a:lnTo>
                <a:lnTo>
                  <a:pt x="7569199" y="970706"/>
                </a:lnTo>
                <a:lnTo>
                  <a:pt x="7518400" y="972332"/>
                </a:lnTo>
                <a:lnTo>
                  <a:pt x="7467600" y="973997"/>
                </a:lnTo>
                <a:lnTo>
                  <a:pt x="7416799" y="975699"/>
                </a:lnTo>
                <a:lnTo>
                  <a:pt x="7366000" y="977438"/>
                </a:lnTo>
                <a:lnTo>
                  <a:pt x="7315200" y="979211"/>
                </a:lnTo>
                <a:lnTo>
                  <a:pt x="7264399" y="981019"/>
                </a:lnTo>
                <a:lnTo>
                  <a:pt x="7213600" y="982860"/>
                </a:lnTo>
                <a:lnTo>
                  <a:pt x="7162800" y="984733"/>
                </a:lnTo>
                <a:lnTo>
                  <a:pt x="7112000" y="986635"/>
                </a:lnTo>
                <a:lnTo>
                  <a:pt x="7061200" y="988567"/>
                </a:lnTo>
                <a:lnTo>
                  <a:pt x="7010400" y="990526"/>
                </a:lnTo>
                <a:lnTo>
                  <a:pt x="6959600" y="992512"/>
                </a:lnTo>
                <a:lnTo>
                  <a:pt x="6908800" y="994523"/>
                </a:lnTo>
                <a:lnTo>
                  <a:pt x="6858000" y="996557"/>
                </a:lnTo>
                <a:lnTo>
                  <a:pt x="6807200" y="998613"/>
                </a:lnTo>
                <a:lnTo>
                  <a:pt x="6756400" y="1000690"/>
                </a:lnTo>
                <a:lnTo>
                  <a:pt x="6705600" y="1002787"/>
                </a:lnTo>
                <a:lnTo>
                  <a:pt x="6654800" y="1004901"/>
                </a:lnTo>
                <a:lnTo>
                  <a:pt x="6604000" y="1007032"/>
                </a:lnTo>
                <a:lnTo>
                  <a:pt x="6553200" y="1009178"/>
                </a:lnTo>
                <a:lnTo>
                  <a:pt x="6502400" y="1011337"/>
                </a:lnTo>
                <a:lnTo>
                  <a:pt x="6451600" y="1013508"/>
                </a:lnTo>
                <a:lnTo>
                  <a:pt x="6400800" y="1015690"/>
                </a:lnTo>
                <a:lnTo>
                  <a:pt x="6350000" y="1017881"/>
                </a:lnTo>
                <a:lnTo>
                  <a:pt x="6299200" y="1020080"/>
                </a:lnTo>
                <a:lnTo>
                  <a:pt x="6248400" y="1022285"/>
                </a:lnTo>
                <a:lnTo>
                  <a:pt x="6197600" y="1024494"/>
                </a:lnTo>
                <a:lnTo>
                  <a:pt x="6146800" y="1026706"/>
                </a:lnTo>
                <a:lnTo>
                  <a:pt x="6096000" y="1028920"/>
                </a:lnTo>
                <a:lnTo>
                  <a:pt x="6045200" y="1031133"/>
                </a:lnTo>
                <a:lnTo>
                  <a:pt x="5994400" y="1033346"/>
                </a:lnTo>
                <a:lnTo>
                  <a:pt x="5943600" y="1035555"/>
                </a:lnTo>
                <a:lnTo>
                  <a:pt x="5892800" y="1037760"/>
                </a:lnTo>
                <a:lnTo>
                  <a:pt x="5842000" y="1039958"/>
                </a:lnTo>
                <a:lnTo>
                  <a:pt x="5791200" y="1042149"/>
                </a:lnTo>
                <a:lnTo>
                  <a:pt x="5740400" y="1044331"/>
                </a:lnTo>
                <a:lnTo>
                  <a:pt x="5689600" y="1046503"/>
                </a:lnTo>
                <a:lnTo>
                  <a:pt x="5638800" y="1048662"/>
                </a:lnTo>
                <a:lnTo>
                  <a:pt x="5588000" y="1050808"/>
                </a:lnTo>
                <a:lnTo>
                  <a:pt x="5537200" y="1052939"/>
                </a:lnTo>
                <a:lnTo>
                  <a:pt x="5486400" y="1055053"/>
                </a:lnTo>
                <a:lnTo>
                  <a:pt x="5435600" y="1057149"/>
                </a:lnTo>
                <a:lnTo>
                  <a:pt x="5384800" y="1059226"/>
                </a:lnTo>
                <a:lnTo>
                  <a:pt x="5334000" y="1061283"/>
                </a:lnTo>
                <a:lnTo>
                  <a:pt x="5283200" y="1063317"/>
                </a:lnTo>
                <a:lnTo>
                  <a:pt x="5232400" y="1065328"/>
                </a:lnTo>
                <a:lnTo>
                  <a:pt x="5181600" y="1067313"/>
                </a:lnTo>
                <a:lnTo>
                  <a:pt x="5130800" y="1069272"/>
                </a:lnTo>
                <a:lnTo>
                  <a:pt x="5080000" y="1071204"/>
                </a:lnTo>
                <a:lnTo>
                  <a:pt x="5029200" y="1073107"/>
                </a:lnTo>
                <a:lnTo>
                  <a:pt x="4978400" y="1074979"/>
                </a:lnTo>
                <a:lnTo>
                  <a:pt x="4927599" y="1076820"/>
                </a:lnTo>
                <a:lnTo>
                  <a:pt x="4876800" y="1078628"/>
                </a:lnTo>
                <a:lnTo>
                  <a:pt x="4826000" y="1080402"/>
                </a:lnTo>
                <a:lnTo>
                  <a:pt x="4775199" y="1082141"/>
                </a:lnTo>
                <a:lnTo>
                  <a:pt x="4724400" y="1083843"/>
                </a:lnTo>
                <a:lnTo>
                  <a:pt x="4673600" y="1085507"/>
                </a:lnTo>
                <a:lnTo>
                  <a:pt x="4622799" y="1087133"/>
                </a:lnTo>
                <a:lnTo>
                  <a:pt x="4572000" y="1088719"/>
                </a:lnTo>
                <a:lnTo>
                  <a:pt x="4521200" y="1090264"/>
                </a:lnTo>
                <a:lnTo>
                  <a:pt x="4470399" y="1091767"/>
                </a:lnTo>
                <a:lnTo>
                  <a:pt x="4419600" y="1093226"/>
                </a:lnTo>
                <a:lnTo>
                  <a:pt x="4368800" y="1094642"/>
                </a:lnTo>
                <a:lnTo>
                  <a:pt x="4317999" y="1096013"/>
                </a:lnTo>
                <a:lnTo>
                  <a:pt x="4267200" y="1097337"/>
                </a:lnTo>
                <a:lnTo>
                  <a:pt x="4216400" y="1098615"/>
                </a:lnTo>
                <a:lnTo>
                  <a:pt x="4165599" y="1099845"/>
                </a:lnTo>
                <a:lnTo>
                  <a:pt x="4114800" y="1101026"/>
                </a:lnTo>
                <a:lnTo>
                  <a:pt x="4064000" y="1102158"/>
                </a:lnTo>
                <a:lnTo>
                  <a:pt x="4013199" y="1103240"/>
                </a:lnTo>
                <a:lnTo>
                  <a:pt x="3962400" y="1104271"/>
                </a:lnTo>
                <a:lnTo>
                  <a:pt x="3911600" y="1105250"/>
                </a:lnTo>
                <a:lnTo>
                  <a:pt x="3860799" y="1106177"/>
                </a:lnTo>
                <a:lnTo>
                  <a:pt x="3810000" y="1107051"/>
                </a:lnTo>
                <a:lnTo>
                  <a:pt x="3759200" y="1107871"/>
                </a:lnTo>
                <a:lnTo>
                  <a:pt x="3708399" y="1108638"/>
                </a:lnTo>
                <a:lnTo>
                  <a:pt x="3657600" y="1109349"/>
                </a:lnTo>
                <a:lnTo>
                  <a:pt x="3606800" y="1110006"/>
                </a:lnTo>
                <a:lnTo>
                  <a:pt x="3555999" y="1110607"/>
                </a:lnTo>
                <a:lnTo>
                  <a:pt x="3505200" y="1111152"/>
                </a:lnTo>
                <a:lnTo>
                  <a:pt x="3454400" y="1111640"/>
                </a:lnTo>
                <a:lnTo>
                  <a:pt x="3403599" y="1112072"/>
                </a:lnTo>
                <a:lnTo>
                  <a:pt x="3352800" y="1112447"/>
                </a:lnTo>
                <a:lnTo>
                  <a:pt x="3302000" y="1112765"/>
                </a:lnTo>
                <a:lnTo>
                  <a:pt x="3251199" y="1113025"/>
                </a:lnTo>
                <a:lnTo>
                  <a:pt x="3200400" y="1113228"/>
                </a:lnTo>
                <a:lnTo>
                  <a:pt x="3149600" y="1113373"/>
                </a:lnTo>
                <a:lnTo>
                  <a:pt x="3098799" y="1113460"/>
                </a:lnTo>
                <a:lnTo>
                  <a:pt x="3048000" y="1113489"/>
                </a:lnTo>
                <a:lnTo>
                  <a:pt x="2997200" y="1113460"/>
                </a:lnTo>
                <a:lnTo>
                  <a:pt x="2946399" y="1113373"/>
                </a:lnTo>
                <a:lnTo>
                  <a:pt x="2895600" y="1113228"/>
                </a:lnTo>
                <a:lnTo>
                  <a:pt x="2844800" y="1113025"/>
                </a:lnTo>
                <a:lnTo>
                  <a:pt x="2793999" y="1112765"/>
                </a:lnTo>
                <a:lnTo>
                  <a:pt x="2743200" y="1112447"/>
                </a:lnTo>
                <a:lnTo>
                  <a:pt x="2692400" y="1112072"/>
                </a:lnTo>
                <a:lnTo>
                  <a:pt x="2641599" y="1111640"/>
                </a:lnTo>
                <a:lnTo>
                  <a:pt x="2590800" y="1111152"/>
                </a:lnTo>
                <a:lnTo>
                  <a:pt x="2540000" y="1110607"/>
                </a:lnTo>
                <a:lnTo>
                  <a:pt x="2489199" y="1110006"/>
                </a:lnTo>
                <a:lnTo>
                  <a:pt x="2438400" y="1109349"/>
                </a:lnTo>
                <a:lnTo>
                  <a:pt x="2387600" y="1108638"/>
                </a:lnTo>
                <a:lnTo>
                  <a:pt x="2336799" y="1107871"/>
                </a:lnTo>
                <a:lnTo>
                  <a:pt x="2286000" y="1107051"/>
                </a:lnTo>
                <a:lnTo>
                  <a:pt x="2235200" y="1106177"/>
                </a:lnTo>
                <a:lnTo>
                  <a:pt x="2184399" y="1105250"/>
                </a:lnTo>
                <a:lnTo>
                  <a:pt x="2133600" y="1104271"/>
                </a:lnTo>
                <a:lnTo>
                  <a:pt x="2082800" y="1103240"/>
                </a:lnTo>
                <a:lnTo>
                  <a:pt x="2031999" y="1102158"/>
                </a:lnTo>
                <a:lnTo>
                  <a:pt x="1981200" y="1101026"/>
                </a:lnTo>
                <a:lnTo>
                  <a:pt x="1930400" y="1099845"/>
                </a:lnTo>
                <a:lnTo>
                  <a:pt x="1879599" y="1098615"/>
                </a:lnTo>
                <a:lnTo>
                  <a:pt x="1828800" y="1097337"/>
                </a:lnTo>
                <a:lnTo>
                  <a:pt x="1778000" y="1096013"/>
                </a:lnTo>
                <a:lnTo>
                  <a:pt x="1727199" y="1094642"/>
                </a:lnTo>
                <a:lnTo>
                  <a:pt x="1676400" y="1093226"/>
                </a:lnTo>
                <a:lnTo>
                  <a:pt x="1625600" y="1091767"/>
                </a:lnTo>
                <a:lnTo>
                  <a:pt x="1574799" y="1090264"/>
                </a:lnTo>
                <a:lnTo>
                  <a:pt x="1524000" y="1088719"/>
                </a:lnTo>
                <a:lnTo>
                  <a:pt x="1473200" y="1087133"/>
                </a:lnTo>
                <a:lnTo>
                  <a:pt x="1422399" y="1085507"/>
                </a:lnTo>
                <a:lnTo>
                  <a:pt x="1371600" y="1083843"/>
                </a:lnTo>
                <a:lnTo>
                  <a:pt x="1320800" y="1082141"/>
                </a:lnTo>
                <a:lnTo>
                  <a:pt x="1269999" y="1080402"/>
                </a:lnTo>
                <a:lnTo>
                  <a:pt x="1219200" y="1078628"/>
                </a:lnTo>
                <a:lnTo>
                  <a:pt x="1168400" y="1076820"/>
                </a:lnTo>
                <a:lnTo>
                  <a:pt x="1117599" y="1074979"/>
                </a:lnTo>
                <a:lnTo>
                  <a:pt x="1066800" y="1073107"/>
                </a:lnTo>
                <a:lnTo>
                  <a:pt x="1016000" y="1071204"/>
                </a:lnTo>
                <a:lnTo>
                  <a:pt x="965199" y="1069272"/>
                </a:lnTo>
                <a:lnTo>
                  <a:pt x="914400" y="1067313"/>
                </a:lnTo>
                <a:lnTo>
                  <a:pt x="863600" y="1065328"/>
                </a:lnTo>
                <a:lnTo>
                  <a:pt x="812799" y="1063317"/>
                </a:lnTo>
                <a:lnTo>
                  <a:pt x="762000" y="1061283"/>
                </a:lnTo>
                <a:lnTo>
                  <a:pt x="711200" y="1059226"/>
                </a:lnTo>
                <a:lnTo>
                  <a:pt x="660399" y="1057149"/>
                </a:lnTo>
                <a:lnTo>
                  <a:pt x="609600" y="1055053"/>
                </a:lnTo>
                <a:lnTo>
                  <a:pt x="558800" y="1052939"/>
                </a:lnTo>
                <a:lnTo>
                  <a:pt x="507999" y="1050808"/>
                </a:lnTo>
                <a:lnTo>
                  <a:pt x="457200" y="1048662"/>
                </a:lnTo>
                <a:lnTo>
                  <a:pt x="406400" y="1046503"/>
                </a:lnTo>
                <a:lnTo>
                  <a:pt x="355599" y="1044331"/>
                </a:lnTo>
                <a:lnTo>
                  <a:pt x="304800" y="1042149"/>
                </a:lnTo>
                <a:lnTo>
                  <a:pt x="254000" y="1039958"/>
                </a:lnTo>
                <a:lnTo>
                  <a:pt x="203199" y="1037760"/>
                </a:lnTo>
                <a:lnTo>
                  <a:pt x="152400" y="1035555"/>
                </a:lnTo>
                <a:lnTo>
                  <a:pt x="101600" y="1033346"/>
                </a:lnTo>
                <a:lnTo>
                  <a:pt x="50799" y="1031133"/>
                </a:lnTo>
                <a:lnTo>
                  <a:pt x="0" y="1028920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ヘッダー山1"/>
          <p:cNvSpPr/>
          <p:nvPr/>
        </p:nvSpPr>
        <p:spPr>
          <a:xfrm>
            <a:off x="8315930" y="352369"/>
            <a:ext cx="2078983" cy="591982"/>
          </a:xfrm>
          <a:custGeom>
            <a:avLst/>
            <a:gdLst/>
            <a:ahLst/>
            <a:cxnLst/>
            <a:rect l="l" t="t" r="r" b="b"/>
            <a:pathLst>
              <a:path w="2078983" h="591982">
                <a:moveTo>
                  <a:pt x="0" y="591982"/>
                </a:moveTo>
                <a:lnTo>
                  <a:pt x="1141679" y="0"/>
                </a:lnTo>
                <a:lnTo>
                  <a:pt x="2078983" y="591982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ヘッダー山2"/>
          <p:cNvSpPr/>
          <p:nvPr/>
        </p:nvSpPr>
        <p:spPr>
          <a:xfrm>
            <a:off x="9866358" y="591981"/>
            <a:ext cx="2043746" cy="352370"/>
          </a:xfrm>
          <a:custGeom>
            <a:avLst/>
            <a:gdLst/>
            <a:ahLst/>
            <a:cxnLst/>
            <a:rect l="l" t="t" r="r" b="b"/>
            <a:pathLst>
              <a:path w="2043746" h="352370">
                <a:moveTo>
                  <a:pt x="0" y="352370"/>
                </a:moveTo>
                <a:lnTo>
                  <a:pt x="1021873" y="0"/>
                </a:lnTo>
                <a:lnTo>
                  <a:pt x="2043746" y="35237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451033" y="211421"/>
            <a:ext cx="6342658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4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採用戦略テーマ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451033" y="422843"/>
            <a:ext cx="10571098" cy="4933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他社と並べて見える、エフビー介護サービスの実習の魅力</a:t>
            </a:r>
          </a:p>
        </p:txBody>
      </p:sp>
      <p:graphicFrame>
        <p:nvGraphicFramePr>
          <p:cNvPr id="6" name="他社比較表"/>
          <p:cNvGraphicFramePr>
            <a:graphicFrameLocks noGrp="1"/>
          </p:cNvGraphicFramePr>
          <p:nvPr/>
        </p:nvGraphicFramePr>
        <p:xfrm>
          <a:off x="451033" y="1240342"/>
          <a:ext cx="11289931" cy="312904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57109"/>
                <a:gridCol w="2959907"/>
                <a:gridCol w="2424305"/>
                <a:gridCol w="2424305"/>
                <a:gridCol w="2424305"/>
              </a:tblGrid>
              <a:tr h="281895">
                <a:tc>
                  <a:txBody>
                    <a:bodyPr wrap="square"/>
                    <a:lstStyle/>
                    <a:p>
                      <a:pPr algn="ctr">
                        <a:lnSpc>
                          <a:spcPct val="120000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/>
                      </a:r>
                    </a:p>
                  </a:txBody>
                  <a:tcPr marL="98663" marR="98663" marT="56379" marB="56379" anchor="ctr">
                    <a:solidFill>
                      <a:srgbClr val="EE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20000"/>
                        </a:lnSpc>
                      </a:pPr>
                      <a:r>
                        <a:rPr sz="1054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エフビー介護サービス</a:t>
                      </a:r>
                    </a:p>
                  </a:txBody>
                  <a:tcPr marL="98663" marR="98663" marT="56379" marB="56379" anchor="ctr">
                    <a:solidFill>
                      <a:srgbClr val="F28C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20000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敬老園</a:t>
                      </a:r>
                    </a:p>
                  </a:txBody>
                  <a:tcPr marL="98663" marR="98663" marT="56379" marB="56379" anchor="ctr">
                    <a:solidFill>
                      <a:srgbClr val="EE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20000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医療法人・緑風会</a:t>
                      </a:r>
                    </a:p>
                  </a:txBody>
                  <a:tcPr marL="98663" marR="98663" marT="56379" marB="56379" anchor="ctr">
                    <a:solidFill>
                      <a:srgbClr val="EE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20000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アズパートナー</a:t>
                      </a:r>
                    </a:p>
                  </a:txBody>
                  <a:tcPr marL="98663" marR="98663" marT="56379" marB="56379" anchor="ctr">
                    <a:solidFill>
                      <a:srgbClr val="EEF4F1"/>
                    </a:solidFill>
                  </a:tcPr>
                </a:tc>
              </a:tr>
              <a:tr h="67655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ビジョン</a:t>
                      </a:r>
                    </a:p>
                  </a:txBody>
                  <a:tcPr marL="98663" marR="98663" marT="56379" marB="56379" anchor="ctr">
                    <a:noFill/>
                    <a:lnB w="9525" cap="flat" cmpd="sng" algn="ctr">
                      <a:solidFill>
                        <a:srgbClr val="DCE6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98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「共生」をテーマにした、人々が助け合う地域創生（独居社会の反対をつくる／エフビータウン構想・コミュニティタワー構想）</a:t>
                      </a:r>
                    </a:p>
                  </a:txBody>
                  <a:tcPr marL="98663" marR="98663" marT="56379" marB="56379" anchor="ctr">
                    <a:solidFill>
                      <a:srgbClr val="FFF4E8"/>
                    </a:solidFill>
                    <a:lnB w="9525" cap="flat" cmpd="sng" algn="ctr">
                      <a:solidFill>
                        <a:srgbClr val="DCE6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―</a:t>
                      </a:r>
                    </a:p>
                  </a:txBody>
                  <a:tcPr marL="98663" marR="98663" marT="56379" marB="56379" anchor="ctr">
                    <a:noFill/>
                    <a:lnB w="9525" cap="flat" cmpd="sng" algn="ctr">
                      <a:solidFill>
                        <a:srgbClr val="DCE6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―</a:t>
                      </a:r>
                    </a:p>
                  </a:txBody>
                  <a:tcPr marL="98663" marR="98663" marT="56379" marB="56379" anchor="ctr">
                    <a:noFill/>
                    <a:lnB w="9525" cap="flat" cmpd="sng" algn="ctr">
                      <a:solidFill>
                        <a:srgbClr val="DCE6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暮らしを、共に。</a:t>
                      </a:r>
                    </a:p>
                  </a:txBody>
                  <a:tcPr marL="98663" marR="98663" marT="56379" marB="56379" anchor="ctr">
                    <a:noFill/>
                    <a:lnB w="9525" cap="flat" cmpd="sng" algn="ctr">
                      <a:solidFill>
                        <a:srgbClr val="DCE6E1"/>
                      </a:solidFill>
                    </a:lnB>
                  </a:tcPr>
                </a:tc>
              </a:tr>
              <a:tr h="507412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事業フェーズ</a:t>
                      </a:r>
                    </a:p>
                  </a:txBody>
                  <a:tcPr marL="98663" marR="98663" marT="56379" marB="56379" anchor="ctr">
                    <a:noFill/>
                    <a:lnB w="9525" cap="flat" cmpd="sng" algn="ctr">
                      <a:solidFill>
                        <a:srgbClr val="DCE6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98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成長期〜拡大期（2022年 スタンダード市場上場）</a:t>
                      </a:r>
                    </a:p>
                  </a:txBody>
                  <a:tcPr marL="98663" marR="98663" marT="56379" marB="56379" anchor="ctr">
                    <a:solidFill>
                      <a:srgbClr val="FFF4E8"/>
                    </a:solidFill>
                    <a:lnB w="9525" cap="flat" cmpd="sng" algn="ctr">
                      <a:solidFill>
                        <a:srgbClr val="DCE6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安定期〜成熟期</a:t>
                      </a:r>
                    </a:p>
                  </a:txBody>
                  <a:tcPr marL="98663" marR="98663" marT="56379" marB="56379" anchor="ctr">
                    <a:noFill/>
                    <a:lnB w="9525" cap="flat" cmpd="sng" algn="ctr">
                      <a:solidFill>
                        <a:srgbClr val="DCE6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地域密着・安定運営期</a:t>
                      </a:r>
                    </a:p>
                  </a:txBody>
                  <a:tcPr marL="98663" marR="98663" marT="56379" marB="56379" anchor="ctr">
                    <a:noFill/>
                    <a:lnB w="9525" cap="flat" cmpd="sng" algn="ctr">
                      <a:solidFill>
                        <a:srgbClr val="DCE6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成長期〜拡大期（2024年 スタンダード市場上場）</a:t>
                      </a:r>
                    </a:p>
                  </a:txBody>
                  <a:tcPr marL="98663" marR="98663" marT="56379" marB="56379" anchor="ctr">
                    <a:noFill/>
                    <a:lnB w="9525" cap="flat" cmpd="sng" algn="ctr">
                      <a:solidFill>
                        <a:srgbClr val="DCE6E1"/>
                      </a:solidFill>
                    </a:lnB>
                  </a:tcPr>
                </a:tc>
              </a:tr>
              <a:tr h="986635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事業・特徴</a:t>
                      </a:r>
                    </a:p>
                  </a:txBody>
                  <a:tcPr marL="98663" marR="98663" marT="56379" marB="56379" anchor="ctr">
                    <a:noFill/>
                    <a:lnB w="9525" cap="flat" cmpd="sng" algn="ctr">
                      <a:solidFill>
                        <a:srgbClr val="DCE6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43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有料老人ホーム、グループホーム、デイ、訪問介護・看護、小規模多機能、福祉用具ほか。利用者の年齢にあわせて使える介護サービス＋小規模多機能</a:t>
                      </a:r>
                    </a:p>
                  </a:txBody>
                  <a:tcPr marL="98663" marR="98663" marT="56379" marB="56379" anchor="ctr">
                    <a:solidFill>
                      <a:srgbClr val="FFF4E8"/>
                    </a:solidFill>
                    <a:lnB w="9525" cap="flat" cmpd="sng" algn="ctr">
                      <a:solidFill>
                        <a:srgbClr val="DCE6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43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特養、ケアハウス、デイ、ショートステイ、居宅介護支援、地域包括支援センター。地域密着の総合福祉</a:t>
                      </a:r>
                    </a:p>
                  </a:txBody>
                  <a:tcPr marL="98663" marR="98663" marT="56379" marB="56379" anchor="ctr">
                    <a:noFill/>
                    <a:lnB w="9525" cap="flat" cmpd="sng" algn="ctr">
                      <a:solidFill>
                        <a:srgbClr val="DCE6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43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病院運営、老健、デイケア、グループホーム、訪問看護ほか。病院母体の医療＋介護連携</a:t>
                      </a:r>
                    </a:p>
                  </a:txBody>
                  <a:tcPr marL="98663" marR="98663" marT="56379" marB="56379" anchor="ctr">
                    <a:noFill/>
                    <a:lnB w="9525" cap="flat" cmpd="sng" algn="ctr">
                      <a:solidFill>
                        <a:srgbClr val="DCE6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43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有料老人ホーム「アズハイム」シリーズ（首都圏中心）。首都圏型・都市型の有料老人ホーム特化</a:t>
                      </a:r>
                    </a:p>
                  </a:txBody>
                  <a:tcPr marL="98663" marR="98663" marT="56379" marB="56379" anchor="ctr">
                    <a:noFill/>
                    <a:lnB w="9525" cap="flat" cmpd="sng" algn="ctr">
                      <a:solidFill>
                        <a:srgbClr val="DCE6E1"/>
                      </a:solidFill>
                    </a:lnB>
                  </a:tcPr>
                </a:tc>
              </a:tr>
              <a:tr h="67655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人・メンバー</a:t>
                      </a:r>
                    </a:p>
                  </a:txBody>
                  <a:tcPr marL="98663" marR="98663" marT="56379" marB="56379" anchor="ctr">
                    <a:noFill/>
                    <a:lnB w="9525" cap="flat" cmpd="sng" algn="ctr">
                      <a:solidFill>
                        <a:srgbClr val="DCE6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98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関わる人たちが、みんな優しく・温かい</a:t>
                      </a:r>
                    </a:p>
                  </a:txBody>
                  <a:tcPr marL="98663" marR="98663" marT="56379" marB="56379" anchor="ctr">
                    <a:solidFill>
                      <a:srgbClr val="FFF4E8"/>
                    </a:solidFill>
                    <a:lnB w="9525" cap="flat" cmpd="sng" algn="ctr">
                      <a:solidFill>
                        <a:srgbClr val="DCE6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「感謝の心を基にした関係」を築き、真心をもってサービスを提供できる人材</a:t>
                      </a:r>
                    </a:p>
                  </a:txBody>
                  <a:tcPr marL="98663" marR="98663" marT="56379" marB="56379" anchor="ctr">
                    <a:noFill/>
                    <a:lnB w="9525" cap="flat" cmpd="sng" algn="ctr">
                      <a:solidFill>
                        <a:srgbClr val="DCE6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「利用者はもちろん、職員にとっても安心できる居場所」を重視</a:t>
                      </a:r>
                    </a:p>
                  </a:txBody>
                  <a:tcPr marL="98663" marR="98663" marT="56379" marB="56379" anchor="ctr">
                    <a:noFill/>
                    <a:lnB w="9525" cap="flat" cmpd="sng" algn="ctr">
                      <a:solidFill>
                        <a:srgbClr val="DCE6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近年は毎年170名以上の新卒社員を受け入れ</a:t>
                      </a:r>
                    </a:p>
                  </a:txBody>
                  <a:tcPr marL="98663" marR="98663" marT="56379" marB="56379" anchor="ctr">
                    <a:noFill/>
                    <a:lnB w="9525" cap="flat" cmpd="sng" algn="ctr">
                      <a:solidFill>
                        <a:srgbClr val="DCE6E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魅力見出し"/>
          <p:cNvSpPr txBox="1"/>
          <p:nvPr/>
        </p:nvSpPr>
        <p:spPr>
          <a:xfrm>
            <a:off x="451033" y="4608998"/>
            <a:ext cx="10571098" cy="281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実習こそ、県内の他社には伝えられない魅力を、プログラムに落とし込む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1033" y="4989558"/>
            <a:ext cx="3622363" cy="873877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番号"/>
          <p:cNvSpPr/>
          <p:nvPr/>
        </p:nvSpPr>
        <p:spPr>
          <a:xfrm>
            <a:off x="634265" y="5229169"/>
            <a:ext cx="366464" cy="3664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番号文字1"/>
          <p:cNvSpPr txBox="1"/>
          <p:nvPr/>
        </p:nvSpPr>
        <p:spPr>
          <a:xfrm>
            <a:off x="634265" y="5229169"/>
            <a:ext cx="366464" cy="366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1" name="魅力_1"/>
          <p:cNvSpPr txBox="1"/>
          <p:nvPr/>
        </p:nvSpPr>
        <p:spPr>
          <a:xfrm>
            <a:off x="1127583" y="5144601"/>
            <a:ext cx="2790769" cy="3100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20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成長産業の上場企業</a:t>
            </a:r>
          </a:p>
        </p:txBody>
      </p:sp>
      <p:sp>
        <p:nvSpPr>
          <p:cNvPr id="12" name="魅力補足_1"/>
          <p:cNvSpPr txBox="1"/>
          <p:nvPr/>
        </p:nvSpPr>
        <p:spPr>
          <a:xfrm>
            <a:off x="1127583" y="5440591"/>
            <a:ext cx="2790769" cy="352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43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その根本となる理念がある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4818" y="4989558"/>
            <a:ext cx="3622363" cy="873877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番号"/>
          <p:cNvSpPr/>
          <p:nvPr/>
        </p:nvSpPr>
        <p:spPr>
          <a:xfrm>
            <a:off x="4468050" y="5229169"/>
            <a:ext cx="366464" cy="3664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番号文字2"/>
          <p:cNvSpPr txBox="1"/>
          <p:nvPr/>
        </p:nvSpPr>
        <p:spPr>
          <a:xfrm>
            <a:off x="4468050" y="5229169"/>
            <a:ext cx="366464" cy="366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6" name="魅力_2"/>
          <p:cNvSpPr txBox="1"/>
          <p:nvPr/>
        </p:nvSpPr>
        <p:spPr>
          <a:xfrm>
            <a:off x="4961368" y="5144601"/>
            <a:ext cx="2790769" cy="3100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20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ニーズに合わせたサービス展開</a:t>
            </a:r>
          </a:p>
        </p:txBody>
      </p:sp>
      <p:sp>
        <p:nvSpPr>
          <p:cNvPr id="17" name="魅力補足_2"/>
          <p:cNvSpPr txBox="1"/>
          <p:nvPr/>
        </p:nvSpPr>
        <p:spPr>
          <a:xfrm>
            <a:off x="4961368" y="5440591"/>
            <a:ext cx="2790769" cy="352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43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ご利用者さんに合わせた、実習経験の幅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8603" y="4989558"/>
            <a:ext cx="3622363" cy="873877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番号"/>
          <p:cNvSpPr/>
          <p:nvPr/>
        </p:nvSpPr>
        <p:spPr>
          <a:xfrm>
            <a:off x="8301835" y="5229169"/>
            <a:ext cx="366464" cy="36646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文字3"/>
          <p:cNvSpPr txBox="1"/>
          <p:nvPr/>
        </p:nvSpPr>
        <p:spPr>
          <a:xfrm>
            <a:off x="8301835" y="5229169"/>
            <a:ext cx="366464" cy="366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1" name="魅力_3"/>
          <p:cNvSpPr txBox="1"/>
          <p:nvPr/>
        </p:nvSpPr>
        <p:spPr>
          <a:xfrm>
            <a:off x="8795153" y="5144601"/>
            <a:ext cx="2790769" cy="3100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20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ダイバーシティな環境</a:t>
            </a:r>
          </a:p>
        </p:txBody>
      </p:sp>
      <p:sp>
        <p:nvSpPr>
          <p:cNvPr id="22" name="魅力補足_3"/>
          <p:cNvSpPr txBox="1"/>
          <p:nvPr/>
        </p:nvSpPr>
        <p:spPr>
          <a:xfrm>
            <a:off x="8795153" y="5440591"/>
            <a:ext cx="2790769" cy="352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43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女性・技能実習生の採用など（例：県内の女性管理職の割合No.1）</a:t>
            </a:r>
          </a:p>
        </p:txBody>
      </p:sp>
      <p:sp>
        <p:nvSpPr>
          <p:cNvPr id="23" name="注記"/>
          <p:cNvSpPr txBox="1"/>
          <p:nvPr/>
        </p:nvSpPr>
        <p:spPr>
          <a:xfrm>
            <a:off x="451033" y="6300374"/>
            <a:ext cx="11275838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7" b="0">
                <a:solidFill>
                  <a:srgbClr val="7A8A87"/>
                </a:solidFill>
                <a:latin typeface="游ゴシック"/>
                <a:ea typeface="游ゴシック"/>
                <a:cs typeface="游ゴシック"/>
              </a:rPr>
              <a:t>※ 他社の記載は公開情報の要約です。県内の女性管理職割合などの実績は、根拠資料の確認が必要です。</a:t>
            </a:r>
          </a:p>
        </p:txBody>
      </p:sp>
      <p:sp>
        <p:nvSpPr>
          <p:cNvPr id="26" name="ページ番号"/>
          <p:cNvSpPr txBox="1"/>
          <p:nvPr/>
        </p:nvSpPr>
        <p:spPr>
          <a:xfrm>
            <a:off x="10895278" y="6300374"/>
            <a:ext cx="845687" cy="1832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32">
                <a:solidFill>
                  <a:srgbClr val="8A9A96"/>
                </a:solidFill>
                <a:latin typeface="游ゴシック"/>
              </a:rPr>
              <a:t>7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5963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113489"/>
          </a:xfrm>
          <a:custGeom>
            <a:avLst/>
            <a:gdLst/>
            <a:ahLst/>
            <a:cxnLst/>
            <a:rect l="l" t="t" r="r" b="b"/>
            <a:pathLst>
              <a:path w="12192000" h="1113489">
                <a:moveTo>
                  <a:pt x="0" y="0"/>
                </a:moveTo>
                <a:lnTo>
                  <a:pt x="12192000" y="0"/>
                </a:lnTo>
                <a:lnTo>
                  <a:pt x="12192000" y="1028920"/>
                </a:lnTo>
                <a:lnTo>
                  <a:pt x="12141200" y="1026706"/>
                </a:lnTo>
                <a:lnTo>
                  <a:pt x="12090400" y="1024494"/>
                </a:lnTo>
                <a:lnTo>
                  <a:pt x="12039600" y="1022285"/>
                </a:lnTo>
                <a:lnTo>
                  <a:pt x="11988800" y="1020080"/>
                </a:lnTo>
                <a:lnTo>
                  <a:pt x="11938000" y="1017881"/>
                </a:lnTo>
                <a:lnTo>
                  <a:pt x="11887200" y="1015690"/>
                </a:lnTo>
                <a:lnTo>
                  <a:pt x="11836400" y="1013508"/>
                </a:lnTo>
                <a:lnTo>
                  <a:pt x="11785600" y="1011337"/>
                </a:lnTo>
                <a:lnTo>
                  <a:pt x="11734800" y="1009178"/>
                </a:lnTo>
                <a:lnTo>
                  <a:pt x="11684000" y="1007032"/>
                </a:lnTo>
                <a:lnTo>
                  <a:pt x="11633200" y="1004901"/>
                </a:lnTo>
                <a:lnTo>
                  <a:pt x="11582400" y="1002787"/>
                </a:lnTo>
                <a:lnTo>
                  <a:pt x="11531600" y="1000690"/>
                </a:lnTo>
                <a:lnTo>
                  <a:pt x="11480800" y="998613"/>
                </a:lnTo>
                <a:lnTo>
                  <a:pt x="11430000" y="996557"/>
                </a:lnTo>
                <a:lnTo>
                  <a:pt x="11379200" y="994523"/>
                </a:lnTo>
                <a:lnTo>
                  <a:pt x="11328400" y="992512"/>
                </a:lnTo>
                <a:lnTo>
                  <a:pt x="11277600" y="990526"/>
                </a:lnTo>
                <a:lnTo>
                  <a:pt x="11226800" y="988567"/>
                </a:lnTo>
                <a:lnTo>
                  <a:pt x="11176000" y="986635"/>
                </a:lnTo>
                <a:lnTo>
                  <a:pt x="11125200" y="984733"/>
                </a:lnTo>
                <a:lnTo>
                  <a:pt x="11074400" y="982860"/>
                </a:lnTo>
                <a:lnTo>
                  <a:pt x="11023600" y="981019"/>
                </a:lnTo>
                <a:lnTo>
                  <a:pt x="10972800" y="979211"/>
                </a:lnTo>
                <a:lnTo>
                  <a:pt x="10922000" y="977438"/>
                </a:lnTo>
                <a:lnTo>
                  <a:pt x="10871200" y="975699"/>
                </a:lnTo>
                <a:lnTo>
                  <a:pt x="10820400" y="973997"/>
                </a:lnTo>
                <a:lnTo>
                  <a:pt x="10769600" y="972332"/>
                </a:lnTo>
                <a:lnTo>
                  <a:pt x="10718800" y="970706"/>
                </a:lnTo>
                <a:lnTo>
                  <a:pt x="10668000" y="969121"/>
                </a:lnTo>
                <a:lnTo>
                  <a:pt x="10617200" y="967576"/>
                </a:lnTo>
                <a:lnTo>
                  <a:pt x="10566400" y="966073"/>
                </a:lnTo>
                <a:lnTo>
                  <a:pt x="10515600" y="964613"/>
                </a:lnTo>
                <a:lnTo>
                  <a:pt x="10464800" y="963197"/>
                </a:lnTo>
                <a:lnTo>
                  <a:pt x="10414000" y="961827"/>
                </a:lnTo>
                <a:lnTo>
                  <a:pt x="10363200" y="960502"/>
                </a:lnTo>
                <a:lnTo>
                  <a:pt x="10312400" y="959224"/>
                </a:lnTo>
                <a:lnTo>
                  <a:pt x="10261600" y="957994"/>
                </a:lnTo>
                <a:lnTo>
                  <a:pt x="10210800" y="956813"/>
                </a:lnTo>
                <a:lnTo>
                  <a:pt x="10160000" y="955681"/>
                </a:lnTo>
                <a:lnTo>
                  <a:pt x="10109200" y="954599"/>
                </a:lnTo>
                <a:lnTo>
                  <a:pt x="10058400" y="953568"/>
                </a:lnTo>
                <a:lnTo>
                  <a:pt x="10007600" y="952589"/>
                </a:lnTo>
                <a:lnTo>
                  <a:pt x="9956800" y="951662"/>
                </a:lnTo>
                <a:lnTo>
                  <a:pt x="9906000" y="950788"/>
                </a:lnTo>
                <a:lnTo>
                  <a:pt x="9855200" y="949968"/>
                </a:lnTo>
                <a:lnTo>
                  <a:pt x="9804400" y="949202"/>
                </a:lnTo>
                <a:lnTo>
                  <a:pt x="9753600" y="948490"/>
                </a:lnTo>
                <a:lnTo>
                  <a:pt x="9702800" y="947834"/>
                </a:lnTo>
                <a:lnTo>
                  <a:pt x="9652000" y="947233"/>
                </a:lnTo>
                <a:lnTo>
                  <a:pt x="9601200" y="946688"/>
                </a:lnTo>
                <a:lnTo>
                  <a:pt x="9550400" y="946199"/>
                </a:lnTo>
                <a:lnTo>
                  <a:pt x="9499600" y="945767"/>
                </a:lnTo>
                <a:lnTo>
                  <a:pt x="9448800" y="945392"/>
                </a:lnTo>
                <a:lnTo>
                  <a:pt x="9398000" y="945074"/>
                </a:lnTo>
                <a:lnTo>
                  <a:pt x="9347200" y="944814"/>
                </a:lnTo>
                <a:lnTo>
                  <a:pt x="9296400" y="944612"/>
                </a:lnTo>
                <a:lnTo>
                  <a:pt x="9245600" y="944467"/>
                </a:lnTo>
                <a:lnTo>
                  <a:pt x="9194800" y="944380"/>
                </a:lnTo>
                <a:lnTo>
                  <a:pt x="9144000" y="944351"/>
                </a:lnTo>
                <a:lnTo>
                  <a:pt x="9093200" y="944380"/>
                </a:lnTo>
                <a:lnTo>
                  <a:pt x="9042400" y="944467"/>
                </a:lnTo>
                <a:lnTo>
                  <a:pt x="8991600" y="944612"/>
                </a:lnTo>
                <a:lnTo>
                  <a:pt x="8940800" y="944814"/>
                </a:lnTo>
                <a:lnTo>
                  <a:pt x="8890000" y="945074"/>
                </a:lnTo>
                <a:lnTo>
                  <a:pt x="8839200" y="945392"/>
                </a:lnTo>
                <a:lnTo>
                  <a:pt x="8788400" y="945767"/>
                </a:lnTo>
                <a:lnTo>
                  <a:pt x="8737600" y="946199"/>
                </a:lnTo>
                <a:lnTo>
                  <a:pt x="8686800" y="946688"/>
                </a:lnTo>
                <a:lnTo>
                  <a:pt x="8636000" y="947233"/>
                </a:lnTo>
                <a:lnTo>
                  <a:pt x="8585200" y="947834"/>
                </a:lnTo>
                <a:lnTo>
                  <a:pt x="8534400" y="948490"/>
                </a:lnTo>
                <a:lnTo>
                  <a:pt x="8483599" y="949202"/>
                </a:lnTo>
                <a:lnTo>
                  <a:pt x="8432800" y="949968"/>
                </a:lnTo>
                <a:lnTo>
                  <a:pt x="8382000" y="950788"/>
                </a:lnTo>
                <a:lnTo>
                  <a:pt x="8331199" y="951662"/>
                </a:lnTo>
                <a:lnTo>
                  <a:pt x="8280400" y="952589"/>
                </a:lnTo>
                <a:lnTo>
                  <a:pt x="8229600" y="953568"/>
                </a:lnTo>
                <a:lnTo>
                  <a:pt x="8178799" y="954599"/>
                </a:lnTo>
                <a:lnTo>
                  <a:pt x="8128000" y="955681"/>
                </a:lnTo>
                <a:lnTo>
                  <a:pt x="8077200" y="956813"/>
                </a:lnTo>
                <a:lnTo>
                  <a:pt x="8026399" y="957994"/>
                </a:lnTo>
                <a:lnTo>
                  <a:pt x="7975600" y="959224"/>
                </a:lnTo>
                <a:lnTo>
                  <a:pt x="7924800" y="960502"/>
                </a:lnTo>
                <a:lnTo>
                  <a:pt x="7873999" y="961827"/>
                </a:lnTo>
                <a:lnTo>
                  <a:pt x="7823200" y="963197"/>
                </a:lnTo>
                <a:lnTo>
                  <a:pt x="7772400" y="964613"/>
                </a:lnTo>
                <a:lnTo>
                  <a:pt x="7721599" y="966073"/>
                </a:lnTo>
                <a:lnTo>
                  <a:pt x="7670800" y="967576"/>
                </a:lnTo>
                <a:lnTo>
                  <a:pt x="7620000" y="969121"/>
                </a:lnTo>
                <a:lnTo>
                  <a:pt x="7569199" y="970706"/>
                </a:lnTo>
                <a:lnTo>
                  <a:pt x="7518400" y="972332"/>
                </a:lnTo>
                <a:lnTo>
                  <a:pt x="7467600" y="973997"/>
                </a:lnTo>
                <a:lnTo>
                  <a:pt x="7416799" y="975699"/>
                </a:lnTo>
                <a:lnTo>
                  <a:pt x="7366000" y="977438"/>
                </a:lnTo>
                <a:lnTo>
                  <a:pt x="7315200" y="979211"/>
                </a:lnTo>
                <a:lnTo>
                  <a:pt x="7264399" y="981019"/>
                </a:lnTo>
                <a:lnTo>
                  <a:pt x="7213600" y="982860"/>
                </a:lnTo>
                <a:lnTo>
                  <a:pt x="7162800" y="984733"/>
                </a:lnTo>
                <a:lnTo>
                  <a:pt x="7112000" y="986635"/>
                </a:lnTo>
                <a:lnTo>
                  <a:pt x="7061200" y="988567"/>
                </a:lnTo>
                <a:lnTo>
                  <a:pt x="7010400" y="990526"/>
                </a:lnTo>
                <a:lnTo>
                  <a:pt x="6959600" y="992512"/>
                </a:lnTo>
                <a:lnTo>
                  <a:pt x="6908800" y="994523"/>
                </a:lnTo>
                <a:lnTo>
                  <a:pt x="6858000" y="996557"/>
                </a:lnTo>
                <a:lnTo>
                  <a:pt x="6807200" y="998613"/>
                </a:lnTo>
                <a:lnTo>
                  <a:pt x="6756400" y="1000690"/>
                </a:lnTo>
                <a:lnTo>
                  <a:pt x="6705600" y="1002787"/>
                </a:lnTo>
                <a:lnTo>
                  <a:pt x="6654800" y="1004901"/>
                </a:lnTo>
                <a:lnTo>
                  <a:pt x="6604000" y="1007032"/>
                </a:lnTo>
                <a:lnTo>
                  <a:pt x="6553200" y="1009178"/>
                </a:lnTo>
                <a:lnTo>
                  <a:pt x="6502400" y="1011337"/>
                </a:lnTo>
                <a:lnTo>
                  <a:pt x="6451600" y="1013508"/>
                </a:lnTo>
                <a:lnTo>
                  <a:pt x="6400800" y="1015690"/>
                </a:lnTo>
                <a:lnTo>
                  <a:pt x="6350000" y="1017881"/>
                </a:lnTo>
                <a:lnTo>
                  <a:pt x="6299200" y="1020080"/>
                </a:lnTo>
                <a:lnTo>
                  <a:pt x="6248400" y="1022285"/>
                </a:lnTo>
                <a:lnTo>
                  <a:pt x="6197600" y="1024494"/>
                </a:lnTo>
                <a:lnTo>
                  <a:pt x="6146800" y="1026706"/>
                </a:lnTo>
                <a:lnTo>
                  <a:pt x="6096000" y="1028920"/>
                </a:lnTo>
                <a:lnTo>
                  <a:pt x="6045200" y="1031133"/>
                </a:lnTo>
                <a:lnTo>
                  <a:pt x="5994400" y="1033346"/>
                </a:lnTo>
                <a:lnTo>
                  <a:pt x="5943600" y="1035555"/>
                </a:lnTo>
                <a:lnTo>
                  <a:pt x="5892800" y="1037760"/>
                </a:lnTo>
                <a:lnTo>
                  <a:pt x="5842000" y="1039958"/>
                </a:lnTo>
                <a:lnTo>
                  <a:pt x="5791200" y="1042149"/>
                </a:lnTo>
                <a:lnTo>
                  <a:pt x="5740400" y="1044331"/>
                </a:lnTo>
                <a:lnTo>
                  <a:pt x="5689600" y="1046503"/>
                </a:lnTo>
                <a:lnTo>
                  <a:pt x="5638800" y="1048662"/>
                </a:lnTo>
                <a:lnTo>
                  <a:pt x="5588000" y="1050808"/>
                </a:lnTo>
                <a:lnTo>
                  <a:pt x="5537200" y="1052939"/>
                </a:lnTo>
                <a:lnTo>
                  <a:pt x="5486400" y="1055053"/>
                </a:lnTo>
                <a:lnTo>
                  <a:pt x="5435600" y="1057149"/>
                </a:lnTo>
                <a:lnTo>
                  <a:pt x="5384800" y="1059226"/>
                </a:lnTo>
                <a:lnTo>
                  <a:pt x="5334000" y="1061283"/>
                </a:lnTo>
                <a:lnTo>
                  <a:pt x="5283200" y="1063317"/>
                </a:lnTo>
                <a:lnTo>
                  <a:pt x="5232400" y="1065328"/>
                </a:lnTo>
                <a:lnTo>
                  <a:pt x="5181600" y="1067313"/>
                </a:lnTo>
                <a:lnTo>
                  <a:pt x="5130800" y="1069272"/>
                </a:lnTo>
                <a:lnTo>
                  <a:pt x="5080000" y="1071204"/>
                </a:lnTo>
                <a:lnTo>
                  <a:pt x="5029200" y="1073107"/>
                </a:lnTo>
                <a:lnTo>
                  <a:pt x="4978400" y="1074979"/>
                </a:lnTo>
                <a:lnTo>
                  <a:pt x="4927599" y="1076820"/>
                </a:lnTo>
                <a:lnTo>
                  <a:pt x="4876800" y="1078628"/>
                </a:lnTo>
                <a:lnTo>
                  <a:pt x="4826000" y="1080402"/>
                </a:lnTo>
                <a:lnTo>
                  <a:pt x="4775199" y="1082141"/>
                </a:lnTo>
                <a:lnTo>
                  <a:pt x="4724400" y="1083843"/>
                </a:lnTo>
                <a:lnTo>
                  <a:pt x="4673600" y="1085507"/>
                </a:lnTo>
                <a:lnTo>
                  <a:pt x="4622799" y="1087133"/>
                </a:lnTo>
                <a:lnTo>
                  <a:pt x="4572000" y="1088719"/>
                </a:lnTo>
                <a:lnTo>
                  <a:pt x="4521200" y="1090264"/>
                </a:lnTo>
                <a:lnTo>
                  <a:pt x="4470399" y="1091767"/>
                </a:lnTo>
                <a:lnTo>
                  <a:pt x="4419600" y="1093226"/>
                </a:lnTo>
                <a:lnTo>
                  <a:pt x="4368800" y="1094642"/>
                </a:lnTo>
                <a:lnTo>
                  <a:pt x="4317999" y="1096013"/>
                </a:lnTo>
                <a:lnTo>
                  <a:pt x="4267200" y="1097337"/>
                </a:lnTo>
                <a:lnTo>
                  <a:pt x="4216400" y="1098615"/>
                </a:lnTo>
                <a:lnTo>
                  <a:pt x="4165599" y="1099845"/>
                </a:lnTo>
                <a:lnTo>
                  <a:pt x="4114800" y="1101026"/>
                </a:lnTo>
                <a:lnTo>
                  <a:pt x="4064000" y="1102158"/>
                </a:lnTo>
                <a:lnTo>
                  <a:pt x="4013199" y="1103240"/>
                </a:lnTo>
                <a:lnTo>
                  <a:pt x="3962400" y="1104271"/>
                </a:lnTo>
                <a:lnTo>
                  <a:pt x="3911600" y="1105250"/>
                </a:lnTo>
                <a:lnTo>
                  <a:pt x="3860799" y="1106177"/>
                </a:lnTo>
                <a:lnTo>
                  <a:pt x="3810000" y="1107051"/>
                </a:lnTo>
                <a:lnTo>
                  <a:pt x="3759200" y="1107871"/>
                </a:lnTo>
                <a:lnTo>
                  <a:pt x="3708399" y="1108638"/>
                </a:lnTo>
                <a:lnTo>
                  <a:pt x="3657600" y="1109349"/>
                </a:lnTo>
                <a:lnTo>
                  <a:pt x="3606800" y="1110006"/>
                </a:lnTo>
                <a:lnTo>
                  <a:pt x="3555999" y="1110607"/>
                </a:lnTo>
                <a:lnTo>
                  <a:pt x="3505200" y="1111152"/>
                </a:lnTo>
                <a:lnTo>
                  <a:pt x="3454400" y="1111640"/>
                </a:lnTo>
                <a:lnTo>
                  <a:pt x="3403599" y="1112072"/>
                </a:lnTo>
                <a:lnTo>
                  <a:pt x="3352800" y="1112447"/>
                </a:lnTo>
                <a:lnTo>
                  <a:pt x="3302000" y="1112765"/>
                </a:lnTo>
                <a:lnTo>
                  <a:pt x="3251199" y="1113025"/>
                </a:lnTo>
                <a:lnTo>
                  <a:pt x="3200400" y="1113228"/>
                </a:lnTo>
                <a:lnTo>
                  <a:pt x="3149600" y="1113373"/>
                </a:lnTo>
                <a:lnTo>
                  <a:pt x="3098799" y="1113460"/>
                </a:lnTo>
                <a:lnTo>
                  <a:pt x="3048000" y="1113489"/>
                </a:lnTo>
                <a:lnTo>
                  <a:pt x="2997200" y="1113460"/>
                </a:lnTo>
                <a:lnTo>
                  <a:pt x="2946399" y="1113373"/>
                </a:lnTo>
                <a:lnTo>
                  <a:pt x="2895600" y="1113228"/>
                </a:lnTo>
                <a:lnTo>
                  <a:pt x="2844800" y="1113025"/>
                </a:lnTo>
                <a:lnTo>
                  <a:pt x="2793999" y="1112765"/>
                </a:lnTo>
                <a:lnTo>
                  <a:pt x="2743200" y="1112447"/>
                </a:lnTo>
                <a:lnTo>
                  <a:pt x="2692400" y="1112072"/>
                </a:lnTo>
                <a:lnTo>
                  <a:pt x="2641599" y="1111640"/>
                </a:lnTo>
                <a:lnTo>
                  <a:pt x="2590800" y="1111152"/>
                </a:lnTo>
                <a:lnTo>
                  <a:pt x="2540000" y="1110607"/>
                </a:lnTo>
                <a:lnTo>
                  <a:pt x="2489199" y="1110006"/>
                </a:lnTo>
                <a:lnTo>
                  <a:pt x="2438400" y="1109349"/>
                </a:lnTo>
                <a:lnTo>
                  <a:pt x="2387600" y="1108638"/>
                </a:lnTo>
                <a:lnTo>
                  <a:pt x="2336799" y="1107871"/>
                </a:lnTo>
                <a:lnTo>
                  <a:pt x="2286000" y="1107051"/>
                </a:lnTo>
                <a:lnTo>
                  <a:pt x="2235200" y="1106177"/>
                </a:lnTo>
                <a:lnTo>
                  <a:pt x="2184399" y="1105250"/>
                </a:lnTo>
                <a:lnTo>
                  <a:pt x="2133600" y="1104271"/>
                </a:lnTo>
                <a:lnTo>
                  <a:pt x="2082800" y="1103240"/>
                </a:lnTo>
                <a:lnTo>
                  <a:pt x="2031999" y="1102158"/>
                </a:lnTo>
                <a:lnTo>
                  <a:pt x="1981200" y="1101026"/>
                </a:lnTo>
                <a:lnTo>
                  <a:pt x="1930400" y="1099845"/>
                </a:lnTo>
                <a:lnTo>
                  <a:pt x="1879599" y="1098615"/>
                </a:lnTo>
                <a:lnTo>
                  <a:pt x="1828800" y="1097337"/>
                </a:lnTo>
                <a:lnTo>
                  <a:pt x="1778000" y="1096013"/>
                </a:lnTo>
                <a:lnTo>
                  <a:pt x="1727199" y="1094642"/>
                </a:lnTo>
                <a:lnTo>
                  <a:pt x="1676400" y="1093226"/>
                </a:lnTo>
                <a:lnTo>
                  <a:pt x="1625600" y="1091767"/>
                </a:lnTo>
                <a:lnTo>
                  <a:pt x="1574799" y="1090264"/>
                </a:lnTo>
                <a:lnTo>
                  <a:pt x="1524000" y="1088719"/>
                </a:lnTo>
                <a:lnTo>
                  <a:pt x="1473200" y="1087133"/>
                </a:lnTo>
                <a:lnTo>
                  <a:pt x="1422399" y="1085507"/>
                </a:lnTo>
                <a:lnTo>
                  <a:pt x="1371600" y="1083843"/>
                </a:lnTo>
                <a:lnTo>
                  <a:pt x="1320800" y="1082141"/>
                </a:lnTo>
                <a:lnTo>
                  <a:pt x="1269999" y="1080402"/>
                </a:lnTo>
                <a:lnTo>
                  <a:pt x="1219200" y="1078628"/>
                </a:lnTo>
                <a:lnTo>
                  <a:pt x="1168400" y="1076820"/>
                </a:lnTo>
                <a:lnTo>
                  <a:pt x="1117599" y="1074979"/>
                </a:lnTo>
                <a:lnTo>
                  <a:pt x="1066800" y="1073107"/>
                </a:lnTo>
                <a:lnTo>
                  <a:pt x="1016000" y="1071204"/>
                </a:lnTo>
                <a:lnTo>
                  <a:pt x="965199" y="1069272"/>
                </a:lnTo>
                <a:lnTo>
                  <a:pt x="914400" y="1067313"/>
                </a:lnTo>
                <a:lnTo>
                  <a:pt x="863600" y="1065328"/>
                </a:lnTo>
                <a:lnTo>
                  <a:pt x="812799" y="1063317"/>
                </a:lnTo>
                <a:lnTo>
                  <a:pt x="762000" y="1061283"/>
                </a:lnTo>
                <a:lnTo>
                  <a:pt x="711200" y="1059226"/>
                </a:lnTo>
                <a:lnTo>
                  <a:pt x="660399" y="1057149"/>
                </a:lnTo>
                <a:lnTo>
                  <a:pt x="609600" y="1055053"/>
                </a:lnTo>
                <a:lnTo>
                  <a:pt x="558800" y="1052939"/>
                </a:lnTo>
                <a:lnTo>
                  <a:pt x="507999" y="1050808"/>
                </a:lnTo>
                <a:lnTo>
                  <a:pt x="457200" y="1048662"/>
                </a:lnTo>
                <a:lnTo>
                  <a:pt x="406400" y="1046503"/>
                </a:lnTo>
                <a:lnTo>
                  <a:pt x="355599" y="1044331"/>
                </a:lnTo>
                <a:lnTo>
                  <a:pt x="304800" y="1042149"/>
                </a:lnTo>
                <a:lnTo>
                  <a:pt x="254000" y="1039958"/>
                </a:lnTo>
                <a:lnTo>
                  <a:pt x="203199" y="1037760"/>
                </a:lnTo>
                <a:lnTo>
                  <a:pt x="152400" y="1035555"/>
                </a:lnTo>
                <a:lnTo>
                  <a:pt x="101600" y="1033346"/>
                </a:lnTo>
                <a:lnTo>
                  <a:pt x="50799" y="1031133"/>
                </a:lnTo>
                <a:lnTo>
                  <a:pt x="0" y="1028920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ヘッダー山1"/>
          <p:cNvSpPr/>
          <p:nvPr/>
        </p:nvSpPr>
        <p:spPr>
          <a:xfrm>
            <a:off x="8315930" y="352369"/>
            <a:ext cx="2078983" cy="591982"/>
          </a:xfrm>
          <a:custGeom>
            <a:avLst/>
            <a:gdLst/>
            <a:ahLst/>
            <a:cxnLst/>
            <a:rect l="l" t="t" r="r" b="b"/>
            <a:pathLst>
              <a:path w="2078983" h="591982">
                <a:moveTo>
                  <a:pt x="0" y="591982"/>
                </a:moveTo>
                <a:lnTo>
                  <a:pt x="1141679" y="0"/>
                </a:lnTo>
                <a:lnTo>
                  <a:pt x="2078983" y="591982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ヘッダー山2"/>
          <p:cNvSpPr/>
          <p:nvPr/>
        </p:nvSpPr>
        <p:spPr>
          <a:xfrm>
            <a:off x="9866358" y="591981"/>
            <a:ext cx="2043746" cy="352370"/>
          </a:xfrm>
          <a:custGeom>
            <a:avLst/>
            <a:gdLst/>
            <a:ahLst/>
            <a:cxnLst/>
            <a:rect l="l" t="t" r="r" b="b"/>
            <a:pathLst>
              <a:path w="2043746" h="352370">
                <a:moveTo>
                  <a:pt x="0" y="352370"/>
                </a:moveTo>
                <a:lnTo>
                  <a:pt x="1021873" y="0"/>
                </a:lnTo>
                <a:lnTo>
                  <a:pt x="2043746" y="35237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451033" y="211421"/>
            <a:ext cx="6342658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4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実習の受け入れ体制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451033" y="422843"/>
            <a:ext cx="10571098" cy="4933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誰が担当しても伝わる、再現性の高い受け入れの仕組み</a:t>
            </a:r>
          </a:p>
        </p:txBody>
      </p:sp>
      <p:sp>
        <p:nvSpPr>
          <p:cNvPr id="6" name="方針"/>
          <p:cNvSpPr/>
          <p:nvPr/>
        </p:nvSpPr>
        <p:spPr>
          <a:xfrm>
            <a:off x="451033" y="1240342"/>
            <a:ext cx="3664647" cy="4834515"/>
          </a:xfrm>
          <a:prstGeom prst="roundRect">
            <a:avLst>
              <a:gd name="adj" fmla="val 4000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方針ラベル"/>
          <p:cNvSpPr txBox="1"/>
          <p:nvPr/>
        </p:nvSpPr>
        <p:spPr>
          <a:xfrm>
            <a:off x="732929" y="1465858"/>
            <a:ext cx="3100855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2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実習コンテンツ（体制）</a:t>
            </a:r>
          </a:p>
        </p:txBody>
      </p:sp>
      <p:sp>
        <p:nvSpPr>
          <p:cNvPr id="8" name="方針本文"/>
          <p:cNvSpPr txBox="1"/>
          <p:nvPr/>
        </p:nvSpPr>
        <p:spPr>
          <a:xfrm>
            <a:off x="732929" y="1818228"/>
            <a:ext cx="3100855" cy="1409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誰が担当しても、</a:t>
            </a:r>
          </a:p>
          <a:p>
            <a:pPr algn="l">
              <a:lnSpc>
                <a:spcPct val="130000"/>
              </a:lnSpc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温かさとメッセージが</a:t>
            </a:r>
          </a:p>
          <a:p>
            <a:pPr algn="l">
              <a:lnSpc>
                <a:spcPct val="130000"/>
              </a:lnSpc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伝わる。</a:t>
            </a:r>
          </a:p>
        </p:txBody>
      </p:sp>
      <p:sp>
        <p:nvSpPr>
          <p:cNvPr id="9" name="方針補足"/>
          <p:cNvSpPr txBox="1"/>
          <p:nvPr/>
        </p:nvSpPr>
        <p:spPr>
          <a:xfrm>
            <a:off x="732929" y="3523699"/>
            <a:ext cx="3100855" cy="10571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65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「再現性の高い仕組み」を</a:t>
            </a:r>
          </a:p>
          <a:p>
            <a:pPr algn="l">
              <a:lnSpc>
                <a:spcPct val="150000"/>
              </a:lnSpc>
            </a:pPr>
            <a:r>
              <a:rPr sz="1165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つくります。</a:t>
            </a:r>
          </a:p>
          <a:p>
            <a:pPr algn="l">
              <a:lnSpc>
                <a:spcPct val="150000"/>
              </a:lnSpc>
            </a:pPr>
            <a:r>
              <a:rPr sz="1165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学生向けの学習シートなどを用意し、</a:t>
            </a:r>
          </a:p>
          <a:p>
            <a:pPr algn="l">
              <a:lnSpc>
                <a:spcPct val="150000"/>
              </a:lnSpc>
            </a:pPr>
            <a:r>
              <a:rPr sz="1165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プログラムを標準化します。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9387" y="1240342"/>
            <a:ext cx="3622363" cy="2367926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4580809" y="1451764"/>
            <a:ext cx="394654" cy="39465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文字1"/>
          <p:cNvSpPr txBox="1"/>
          <p:nvPr/>
        </p:nvSpPr>
        <p:spPr>
          <a:xfrm>
            <a:off x="4580809" y="1451764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体制見出し_1"/>
          <p:cNvSpPr txBox="1"/>
          <p:nvPr/>
        </p:nvSpPr>
        <p:spPr>
          <a:xfrm>
            <a:off x="5130506" y="1451764"/>
            <a:ext cx="2678011" cy="3946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メンター体制</a:t>
            </a:r>
          </a:p>
        </p:txBody>
      </p:sp>
      <p:sp>
        <p:nvSpPr>
          <p:cNvPr id="14" name="体制説明_1"/>
          <p:cNvSpPr txBox="1"/>
          <p:nvPr/>
        </p:nvSpPr>
        <p:spPr>
          <a:xfrm>
            <a:off x="4623093" y="2086030"/>
            <a:ext cx="3129045" cy="13390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87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現場スタッフを「実習メンター」として配置。学生1〜2名につき1名が、親身に伴走します。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8603" y="1240342"/>
            <a:ext cx="3622363" cy="2367926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番号"/>
          <p:cNvSpPr/>
          <p:nvPr/>
        </p:nvSpPr>
        <p:spPr>
          <a:xfrm>
            <a:off x="8330025" y="1451764"/>
            <a:ext cx="394654" cy="39465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番号文字2"/>
          <p:cNvSpPr txBox="1"/>
          <p:nvPr/>
        </p:nvSpPr>
        <p:spPr>
          <a:xfrm>
            <a:off x="8330025" y="1451764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8" name="体制見出し_2"/>
          <p:cNvSpPr txBox="1"/>
          <p:nvPr/>
        </p:nvSpPr>
        <p:spPr>
          <a:xfrm>
            <a:off x="8879722" y="1451764"/>
            <a:ext cx="2678011" cy="3946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標準動画（ツール）</a:t>
            </a:r>
          </a:p>
        </p:txBody>
      </p:sp>
      <p:sp>
        <p:nvSpPr>
          <p:cNvPr id="19" name="体制説明_2"/>
          <p:cNvSpPr txBox="1"/>
          <p:nvPr/>
        </p:nvSpPr>
        <p:spPr>
          <a:xfrm>
            <a:off x="8372309" y="2086030"/>
            <a:ext cx="3129045" cy="13390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87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「ショート導入動画」などを活用。誰が説明しても、エフビーの温かさや社風がストレートに伝わります。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69387" y="3706931"/>
            <a:ext cx="3622363" cy="2367926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番号"/>
          <p:cNvSpPr/>
          <p:nvPr/>
        </p:nvSpPr>
        <p:spPr>
          <a:xfrm>
            <a:off x="4580809" y="3918353"/>
            <a:ext cx="394654" cy="39465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番号文字3"/>
          <p:cNvSpPr txBox="1"/>
          <p:nvPr/>
        </p:nvSpPr>
        <p:spPr>
          <a:xfrm>
            <a:off x="4580809" y="3918353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3" name="体制見出し_3"/>
          <p:cNvSpPr txBox="1"/>
          <p:nvPr/>
        </p:nvSpPr>
        <p:spPr>
          <a:xfrm>
            <a:off x="5130506" y="3918353"/>
            <a:ext cx="2678011" cy="3946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実習生の声の資産化</a:t>
            </a:r>
          </a:p>
        </p:txBody>
      </p:sp>
      <p:sp>
        <p:nvSpPr>
          <p:cNvPr id="24" name="体制説明_3"/>
          <p:cNvSpPr txBox="1"/>
          <p:nvPr/>
        </p:nvSpPr>
        <p:spPr>
          <a:xfrm>
            <a:off x="4623093" y="4552619"/>
            <a:ext cx="3129045" cy="13390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87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リアルな体験談・本音の感想をWeb上に蓄積・公開。次年度の学生や学校（教授・就職課）への開拓ツールに。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18603" y="3706931"/>
            <a:ext cx="3622363" cy="2367926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番号"/>
          <p:cNvSpPr/>
          <p:nvPr/>
        </p:nvSpPr>
        <p:spPr>
          <a:xfrm>
            <a:off x="8330025" y="3918353"/>
            <a:ext cx="394654" cy="39465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番号文字4"/>
          <p:cNvSpPr txBox="1"/>
          <p:nvPr/>
        </p:nvSpPr>
        <p:spPr>
          <a:xfrm>
            <a:off x="8330025" y="3918353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28" name="体制見出し_4"/>
          <p:cNvSpPr txBox="1"/>
          <p:nvPr/>
        </p:nvSpPr>
        <p:spPr>
          <a:xfrm>
            <a:off x="8879722" y="3918353"/>
            <a:ext cx="2678011" cy="3946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年間PDCAの循環</a:t>
            </a:r>
          </a:p>
        </p:txBody>
      </p:sp>
      <p:sp>
        <p:nvSpPr>
          <p:cNvPr id="29" name="体制説明_4"/>
          <p:cNvSpPr txBox="1"/>
          <p:nvPr/>
        </p:nvSpPr>
        <p:spPr>
          <a:xfrm>
            <a:off x="8372309" y="4552619"/>
            <a:ext cx="3129045" cy="13390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87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定期的に受け入れと振り返りを回し、学校や地域とのつながりを広げていきます。</a:t>
            </a:r>
          </a:p>
        </p:txBody>
      </p:sp>
      <p:sp>
        <p:nvSpPr>
          <p:cNvPr id="30" name="注記"/>
          <p:cNvSpPr txBox="1"/>
          <p:nvPr/>
        </p:nvSpPr>
        <p:spPr>
          <a:xfrm>
            <a:off x="451033" y="6300374"/>
            <a:ext cx="11275838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7" b="0">
                <a:solidFill>
                  <a:srgbClr val="7A8A87"/>
                </a:solidFill>
                <a:latin typeface="游ゴシック"/>
                <a:ea typeface="游ゴシック"/>
                <a:cs typeface="游ゴシック"/>
              </a:rPr>
              <a:t>出典：1023採用定例資料（実習の受け入れ体制）。</a:t>
            </a:r>
          </a:p>
        </p:txBody>
      </p:sp>
      <p:sp>
        <p:nvSpPr>
          <p:cNvPr id="33" name="ページ番号"/>
          <p:cNvSpPr txBox="1"/>
          <p:nvPr/>
        </p:nvSpPr>
        <p:spPr>
          <a:xfrm>
            <a:off x="10895278" y="6300374"/>
            <a:ext cx="845687" cy="1832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32">
                <a:solidFill>
                  <a:srgbClr val="8A9A96"/>
                </a:solidFill>
                <a:latin typeface="游ゴシック"/>
              </a:rPr>
              <a:t>10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