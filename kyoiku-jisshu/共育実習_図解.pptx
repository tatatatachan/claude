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71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3FB39D"/>
            </a:solidFill>
          </c:spPr>
          <c:cat>
            <c:strRef>
              <c:f>Sheet1!$A$2:$A$155</c:f>
              <c:strCache>
                <c:ptCount val="154"/>
                <c:pt idx="0">
                  <c:v>1947</c:v>
                </c:pt>
                <c:pt idx="1">
                  <c:v>1948</c:v>
                </c:pt>
                <c:pt idx="2">
                  <c:v>1949</c:v>
                </c:pt>
                <c:pt idx="3">
                  <c:v>1950</c:v>
                </c:pt>
                <c:pt idx="4">
                  <c:v>1951</c:v>
                </c:pt>
                <c:pt idx="5">
                  <c:v>1952</c:v>
                </c:pt>
                <c:pt idx="6">
                  <c:v>1953</c:v>
                </c:pt>
                <c:pt idx="7">
                  <c:v>1954</c:v>
                </c:pt>
                <c:pt idx="8">
                  <c:v>1955</c:v>
                </c:pt>
                <c:pt idx="9">
                  <c:v>1956</c:v>
                </c:pt>
                <c:pt idx="10">
                  <c:v>1957</c:v>
                </c:pt>
                <c:pt idx="11">
                  <c:v>1958</c:v>
                </c:pt>
                <c:pt idx="12">
                  <c:v>1959</c:v>
                </c:pt>
                <c:pt idx="13">
                  <c:v>1960</c:v>
                </c:pt>
                <c:pt idx="14">
                  <c:v>1961</c:v>
                </c:pt>
                <c:pt idx="15">
                  <c:v>1962</c:v>
                </c:pt>
                <c:pt idx="16">
                  <c:v>1963</c:v>
                </c:pt>
                <c:pt idx="17">
                  <c:v>1964</c:v>
                </c:pt>
                <c:pt idx="18">
                  <c:v>1965</c:v>
                </c:pt>
                <c:pt idx="19">
                  <c:v>1966</c:v>
                </c:pt>
                <c:pt idx="20">
                  <c:v>1967</c:v>
                </c:pt>
                <c:pt idx="21">
                  <c:v>1968</c:v>
                </c:pt>
                <c:pt idx="22">
                  <c:v>1969</c:v>
                </c:pt>
                <c:pt idx="23">
                  <c:v>1970</c:v>
                </c:pt>
                <c:pt idx="24">
                  <c:v>1971</c:v>
                </c:pt>
                <c:pt idx="25">
                  <c:v>1972</c:v>
                </c:pt>
                <c:pt idx="26">
                  <c:v>1973</c:v>
                </c:pt>
                <c:pt idx="27">
                  <c:v>1974</c:v>
                </c:pt>
                <c:pt idx="28">
                  <c:v>1975</c:v>
                </c:pt>
                <c:pt idx="29">
                  <c:v>1976</c:v>
                </c:pt>
                <c:pt idx="30">
                  <c:v>1977</c:v>
                </c:pt>
                <c:pt idx="31">
                  <c:v>1978</c:v>
                </c:pt>
                <c:pt idx="32">
                  <c:v>1979</c:v>
                </c:pt>
                <c:pt idx="33">
                  <c:v>1980</c:v>
                </c:pt>
                <c:pt idx="34">
                  <c:v>1981</c:v>
                </c:pt>
                <c:pt idx="35">
                  <c:v>1982</c:v>
                </c:pt>
                <c:pt idx="36">
                  <c:v>1983</c:v>
                </c:pt>
                <c:pt idx="37">
                  <c:v>1984</c:v>
                </c:pt>
                <c:pt idx="38">
                  <c:v>1985</c:v>
                </c:pt>
                <c:pt idx="39">
                  <c:v>1986</c:v>
                </c:pt>
                <c:pt idx="40">
                  <c:v>1987</c:v>
                </c:pt>
                <c:pt idx="41">
                  <c:v>1988</c:v>
                </c:pt>
                <c:pt idx="42">
                  <c:v>1989</c:v>
                </c:pt>
                <c:pt idx="43">
                  <c:v>1990</c:v>
                </c:pt>
                <c:pt idx="44">
                  <c:v>1991</c:v>
                </c:pt>
                <c:pt idx="45">
                  <c:v>1992</c:v>
                </c:pt>
                <c:pt idx="46">
                  <c:v>1993</c:v>
                </c:pt>
                <c:pt idx="47">
                  <c:v>1994</c:v>
                </c:pt>
                <c:pt idx="48">
                  <c:v>1995</c:v>
                </c:pt>
                <c:pt idx="49">
                  <c:v>1996</c:v>
                </c:pt>
                <c:pt idx="50">
                  <c:v>1997</c:v>
                </c:pt>
                <c:pt idx="51">
                  <c:v>1998</c:v>
                </c:pt>
                <c:pt idx="52">
                  <c:v>1999</c:v>
                </c:pt>
                <c:pt idx="53">
                  <c:v>2000</c:v>
                </c:pt>
                <c:pt idx="54">
                  <c:v>2001</c:v>
                </c:pt>
                <c:pt idx="55">
                  <c:v>2002</c:v>
                </c:pt>
                <c:pt idx="56">
                  <c:v>2003</c:v>
                </c:pt>
                <c:pt idx="57">
                  <c:v>2004</c:v>
                </c:pt>
                <c:pt idx="58">
                  <c:v>2005</c:v>
                </c:pt>
                <c:pt idx="59">
                  <c:v>2006</c:v>
                </c:pt>
                <c:pt idx="60">
                  <c:v>2007</c:v>
                </c:pt>
                <c:pt idx="61">
                  <c:v>2008</c:v>
                </c:pt>
                <c:pt idx="62">
                  <c:v>2009</c:v>
                </c:pt>
                <c:pt idx="63">
                  <c:v>2010</c:v>
                </c:pt>
                <c:pt idx="64">
                  <c:v>2011</c:v>
                </c:pt>
                <c:pt idx="65">
                  <c:v>2012</c:v>
                </c:pt>
                <c:pt idx="66">
                  <c:v>2013</c:v>
                </c:pt>
                <c:pt idx="67">
                  <c:v>2014</c:v>
                </c:pt>
                <c:pt idx="68">
                  <c:v>2015</c:v>
                </c:pt>
                <c:pt idx="69">
                  <c:v>2016</c:v>
                </c:pt>
                <c:pt idx="70">
                  <c:v>2017</c:v>
                </c:pt>
                <c:pt idx="71">
                  <c:v>2018</c:v>
                </c:pt>
                <c:pt idx="72">
                  <c:v>2019</c:v>
                </c:pt>
                <c:pt idx="73">
                  <c:v>2020</c:v>
                </c:pt>
                <c:pt idx="74">
                  <c:v>2021</c:v>
                </c:pt>
                <c:pt idx="75">
                  <c:v>2022</c:v>
                </c:pt>
                <c:pt idx="76">
                  <c:v>2023</c:v>
                </c:pt>
                <c:pt idx="77">
                  <c:v>2024</c:v>
                </c:pt>
                <c:pt idx="78">
                  <c:v>2025</c:v>
                </c:pt>
                <c:pt idx="79">
                  <c:v>2026</c:v>
                </c:pt>
                <c:pt idx="80">
                  <c:v>2027</c:v>
                </c:pt>
                <c:pt idx="81">
                  <c:v>2028</c:v>
                </c:pt>
                <c:pt idx="82">
                  <c:v>2029</c:v>
                </c:pt>
                <c:pt idx="83">
                  <c:v>2030</c:v>
                </c:pt>
                <c:pt idx="84">
                  <c:v>2031</c:v>
                </c:pt>
                <c:pt idx="85">
                  <c:v>2032</c:v>
                </c:pt>
                <c:pt idx="86">
                  <c:v>2033</c:v>
                </c:pt>
                <c:pt idx="87">
                  <c:v>2034</c:v>
                </c:pt>
                <c:pt idx="88">
                  <c:v>2035</c:v>
                </c:pt>
                <c:pt idx="89">
                  <c:v>2036</c:v>
                </c:pt>
                <c:pt idx="90">
                  <c:v>2037</c:v>
                </c:pt>
                <c:pt idx="91">
                  <c:v>2038</c:v>
                </c:pt>
                <c:pt idx="92">
                  <c:v>2039</c:v>
                </c:pt>
                <c:pt idx="93">
                  <c:v>2040</c:v>
                </c:pt>
                <c:pt idx="94">
                  <c:v>2041</c:v>
                </c:pt>
                <c:pt idx="95">
                  <c:v>2042</c:v>
                </c:pt>
                <c:pt idx="96">
                  <c:v>2043</c:v>
                </c:pt>
                <c:pt idx="97">
                  <c:v>2044</c:v>
                </c:pt>
                <c:pt idx="98">
                  <c:v>2045</c:v>
                </c:pt>
                <c:pt idx="99">
                  <c:v>2046</c:v>
                </c:pt>
                <c:pt idx="100">
                  <c:v>2047</c:v>
                </c:pt>
                <c:pt idx="101">
                  <c:v>2048</c:v>
                </c:pt>
                <c:pt idx="102">
                  <c:v>2049</c:v>
                </c:pt>
                <c:pt idx="103">
                  <c:v>2050</c:v>
                </c:pt>
                <c:pt idx="104">
                  <c:v>2051</c:v>
                </c:pt>
                <c:pt idx="105">
                  <c:v>2052</c:v>
                </c:pt>
                <c:pt idx="106">
                  <c:v>2053</c:v>
                </c:pt>
                <c:pt idx="107">
                  <c:v>2054</c:v>
                </c:pt>
                <c:pt idx="108">
                  <c:v>2055</c:v>
                </c:pt>
                <c:pt idx="109">
                  <c:v>2056</c:v>
                </c:pt>
                <c:pt idx="110">
                  <c:v>2057</c:v>
                </c:pt>
                <c:pt idx="111">
                  <c:v>2058</c:v>
                </c:pt>
                <c:pt idx="112">
                  <c:v>2059</c:v>
                </c:pt>
                <c:pt idx="113">
                  <c:v>2060</c:v>
                </c:pt>
                <c:pt idx="114">
                  <c:v>2061</c:v>
                </c:pt>
                <c:pt idx="115">
                  <c:v>2062</c:v>
                </c:pt>
                <c:pt idx="116">
                  <c:v>2063</c:v>
                </c:pt>
                <c:pt idx="117">
                  <c:v>2064</c:v>
                </c:pt>
                <c:pt idx="118">
                  <c:v>2065</c:v>
                </c:pt>
                <c:pt idx="119">
                  <c:v>2066</c:v>
                </c:pt>
                <c:pt idx="120">
                  <c:v>2067</c:v>
                </c:pt>
                <c:pt idx="121">
                  <c:v>2068</c:v>
                </c:pt>
                <c:pt idx="122">
                  <c:v>2069</c:v>
                </c:pt>
                <c:pt idx="123">
                  <c:v>2070</c:v>
                </c:pt>
                <c:pt idx="124">
                  <c:v>2071</c:v>
                </c:pt>
                <c:pt idx="125">
                  <c:v>2072</c:v>
                </c:pt>
                <c:pt idx="126">
                  <c:v>2073</c:v>
                </c:pt>
                <c:pt idx="127">
                  <c:v>2074</c:v>
                </c:pt>
                <c:pt idx="128">
                  <c:v>2075</c:v>
                </c:pt>
                <c:pt idx="129">
                  <c:v>2076</c:v>
                </c:pt>
                <c:pt idx="130">
                  <c:v>2077</c:v>
                </c:pt>
                <c:pt idx="131">
                  <c:v>2078</c:v>
                </c:pt>
                <c:pt idx="132">
                  <c:v>2079</c:v>
                </c:pt>
                <c:pt idx="133">
                  <c:v>2080</c:v>
                </c:pt>
                <c:pt idx="134">
                  <c:v>2081</c:v>
                </c:pt>
                <c:pt idx="135">
                  <c:v>2082</c:v>
                </c:pt>
                <c:pt idx="136">
                  <c:v>2083</c:v>
                </c:pt>
                <c:pt idx="137">
                  <c:v>2084</c:v>
                </c:pt>
                <c:pt idx="138">
                  <c:v>2085</c:v>
                </c:pt>
                <c:pt idx="139">
                  <c:v>2086</c:v>
                </c:pt>
                <c:pt idx="140">
                  <c:v>2087</c:v>
                </c:pt>
                <c:pt idx="141">
                  <c:v>2088</c:v>
                </c:pt>
                <c:pt idx="142">
                  <c:v>2089</c:v>
                </c:pt>
                <c:pt idx="143">
                  <c:v>2090</c:v>
                </c:pt>
                <c:pt idx="144">
                  <c:v>2091</c:v>
                </c:pt>
                <c:pt idx="145">
                  <c:v>2092</c:v>
                </c:pt>
                <c:pt idx="146">
                  <c:v>2093</c:v>
                </c:pt>
                <c:pt idx="147">
                  <c:v>2094</c:v>
                </c:pt>
                <c:pt idx="148">
                  <c:v>2095</c:v>
                </c:pt>
                <c:pt idx="149">
                  <c:v>2096</c:v>
                </c:pt>
                <c:pt idx="150">
                  <c:v>2097</c:v>
                </c:pt>
                <c:pt idx="151">
                  <c:v>2098</c:v>
                </c:pt>
                <c:pt idx="152">
                  <c:v>2099</c:v>
                </c:pt>
                <c:pt idx="153">
                  <c:v>2100</c:v>
                </c:pt>
              </c:strCache>
            </c:strRef>
          </c:cat>
          <c:val>
            <c:numRef>
              <c:f>Sheet1!$B$2:$B$155</c:f>
              <c:numCache>
                <c:formatCode>General</c:formatCode>
                <c:ptCount val="154"/>
                <c:pt idx="0">
                  <c:v>7810</c:v>
                </c:pt>
                <c:pt idx="1">
                  <c:v>8000</c:v>
                </c:pt>
                <c:pt idx="2">
                  <c:v>8177</c:v>
                </c:pt>
                <c:pt idx="3">
                  <c:v>8320</c:v>
                </c:pt>
                <c:pt idx="4">
                  <c:v>8454</c:v>
                </c:pt>
                <c:pt idx="5">
                  <c:v>8581</c:v>
                </c:pt>
                <c:pt idx="6">
                  <c:v>8698</c:v>
                </c:pt>
                <c:pt idx="7">
                  <c:v>8824</c:v>
                </c:pt>
                <c:pt idx="8">
                  <c:v>8928</c:v>
                </c:pt>
                <c:pt idx="9">
                  <c:v>9017</c:v>
                </c:pt>
                <c:pt idx="10">
                  <c:v>9093</c:v>
                </c:pt>
                <c:pt idx="11">
                  <c:v>9177</c:v>
                </c:pt>
                <c:pt idx="12">
                  <c:v>9264</c:v>
                </c:pt>
                <c:pt idx="13">
                  <c:v>9342</c:v>
                </c:pt>
                <c:pt idx="14">
                  <c:v>9429</c:v>
                </c:pt>
                <c:pt idx="15">
                  <c:v>9518</c:v>
                </c:pt>
                <c:pt idx="16">
                  <c:v>9616</c:v>
                </c:pt>
                <c:pt idx="17">
                  <c:v>9718</c:v>
                </c:pt>
                <c:pt idx="18">
                  <c:v>9828</c:v>
                </c:pt>
                <c:pt idx="19">
                  <c:v>9904</c:v>
                </c:pt>
                <c:pt idx="20">
                  <c:v>10020</c:v>
                </c:pt>
                <c:pt idx="21">
                  <c:v>10133</c:v>
                </c:pt>
                <c:pt idx="22">
                  <c:v>10254</c:v>
                </c:pt>
                <c:pt idx="23">
                  <c:v>10372</c:v>
                </c:pt>
                <c:pt idx="24">
                  <c:v>10514</c:v>
                </c:pt>
                <c:pt idx="25">
                  <c:v>10760</c:v>
                </c:pt>
                <c:pt idx="26">
                  <c:v>10910</c:v>
                </c:pt>
                <c:pt idx="27">
                  <c:v>11057</c:v>
                </c:pt>
                <c:pt idx="28">
                  <c:v>11194</c:v>
                </c:pt>
                <c:pt idx="29">
                  <c:v>11309</c:v>
                </c:pt>
                <c:pt idx="30">
                  <c:v>11416</c:v>
                </c:pt>
                <c:pt idx="31">
                  <c:v>11519</c:v>
                </c:pt>
                <c:pt idx="32">
                  <c:v>11616</c:v>
                </c:pt>
                <c:pt idx="33">
                  <c:v>11706</c:v>
                </c:pt>
                <c:pt idx="34">
                  <c:v>11790</c:v>
                </c:pt>
                <c:pt idx="35">
                  <c:v>11873</c:v>
                </c:pt>
                <c:pt idx="36">
                  <c:v>11954</c:v>
                </c:pt>
                <c:pt idx="37">
                  <c:v>12030</c:v>
                </c:pt>
                <c:pt idx="38">
                  <c:v>12105</c:v>
                </c:pt>
                <c:pt idx="39">
                  <c:v>12166</c:v>
                </c:pt>
                <c:pt idx="40">
                  <c:v>12224</c:v>
                </c:pt>
                <c:pt idx="41">
                  <c:v>12274</c:v>
                </c:pt>
                <c:pt idx="42">
                  <c:v>12320</c:v>
                </c:pt>
                <c:pt idx="43">
                  <c:v>12361</c:v>
                </c:pt>
                <c:pt idx="44">
                  <c:v>12410</c:v>
                </c:pt>
                <c:pt idx="45">
                  <c:v>12457</c:v>
                </c:pt>
                <c:pt idx="46">
                  <c:v>12494</c:v>
                </c:pt>
                <c:pt idx="47">
                  <c:v>12526</c:v>
                </c:pt>
                <c:pt idx="48">
                  <c:v>12557</c:v>
                </c:pt>
                <c:pt idx="49">
                  <c:v>12586</c:v>
                </c:pt>
                <c:pt idx="50">
                  <c:v>12616</c:v>
                </c:pt>
                <c:pt idx="51">
                  <c:v>12647</c:v>
                </c:pt>
                <c:pt idx="52">
                  <c:v>12667</c:v>
                </c:pt>
                <c:pt idx="53">
                  <c:v>12693</c:v>
                </c:pt>
                <c:pt idx="54">
                  <c:v>12732</c:v>
                </c:pt>
                <c:pt idx="55">
                  <c:v>12749</c:v>
                </c:pt>
                <c:pt idx="56">
                  <c:v>12769</c:v>
                </c:pt>
                <c:pt idx="57">
                  <c:v>12779</c:v>
                </c:pt>
                <c:pt idx="58">
                  <c:v>12777</c:v>
                </c:pt>
                <c:pt idx="59">
                  <c:v>12790</c:v>
                </c:pt>
                <c:pt idx="60">
                  <c:v>12803</c:v>
                </c:pt>
                <c:pt idx="61">
                  <c:v>12808</c:v>
                </c:pt>
                <c:pt idx="62">
                  <c:v>12803</c:v>
                </c:pt>
                <c:pt idx="63">
                  <c:v>12806</c:v>
                </c:pt>
                <c:pt idx="64">
                  <c:v>12783</c:v>
                </c:pt>
                <c:pt idx="65">
                  <c:v>12759</c:v>
                </c:pt>
                <c:pt idx="66">
                  <c:v>12741</c:v>
                </c:pt>
                <c:pt idx="67">
                  <c:v>12724</c:v>
                </c:pt>
                <c:pt idx="68">
                  <c:v>12710</c:v>
                </c:pt>
                <c:pt idx="69">
                  <c:v>12704</c:v>
                </c:pt>
                <c:pt idx="70">
                  <c:v>12692</c:v>
                </c:pt>
                <c:pt idx="71">
                  <c:v>12675</c:v>
                </c:pt>
                <c:pt idx="72">
                  <c:v>12656</c:v>
                </c:pt>
                <c:pt idx="73">
                  <c:v>12615</c:v>
                </c:pt>
                <c:pt idx="74">
                  <c:v>12550</c:v>
                </c:pt>
                <c:pt idx="75">
                  <c:v>12495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推計（社人研）</c:v>
                </c:pt>
              </c:strCache>
            </c:strRef>
          </c:tx>
          <c:spPr>
            <a:solidFill>
              <a:srgbClr val="F28C3C"/>
            </a:solidFill>
          </c:spPr>
          <c:cat>
            <c:strRef>
              <c:f>Sheet1!$A$2:$A$155</c:f>
              <c:strCache>
                <c:ptCount val="154"/>
                <c:pt idx="0">
                  <c:v>1947</c:v>
                </c:pt>
                <c:pt idx="1">
                  <c:v>1948</c:v>
                </c:pt>
                <c:pt idx="2">
                  <c:v>1949</c:v>
                </c:pt>
                <c:pt idx="3">
                  <c:v>1950</c:v>
                </c:pt>
                <c:pt idx="4">
                  <c:v>1951</c:v>
                </c:pt>
                <c:pt idx="5">
                  <c:v>1952</c:v>
                </c:pt>
                <c:pt idx="6">
                  <c:v>1953</c:v>
                </c:pt>
                <c:pt idx="7">
                  <c:v>1954</c:v>
                </c:pt>
                <c:pt idx="8">
                  <c:v>1955</c:v>
                </c:pt>
                <c:pt idx="9">
                  <c:v>1956</c:v>
                </c:pt>
                <c:pt idx="10">
                  <c:v>1957</c:v>
                </c:pt>
                <c:pt idx="11">
                  <c:v>1958</c:v>
                </c:pt>
                <c:pt idx="12">
                  <c:v>1959</c:v>
                </c:pt>
                <c:pt idx="13">
                  <c:v>1960</c:v>
                </c:pt>
                <c:pt idx="14">
                  <c:v>1961</c:v>
                </c:pt>
                <c:pt idx="15">
                  <c:v>1962</c:v>
                </c:pt>
                <c:pt idx="16">
                  <c:v>1963</c:v>
                </c:pt>
                <c:pt idx="17">
                  <c:v>1964</c:v>
                </c:pt>
                <c:pt idx="18">
                  <c:v>1965</c:v>
                </c:pt>
                <c:pt idx="19">
                  <c:v>1966</c:v>
                </c:pt>
                <c:pt idx="20">
                  <c:v>1967</c:v>
                </c:pt>
                <c:pt idx="21">
                  <c:v>1968</c:v>
                </c:pt>
                <c:pt idx="22">
                  <c:v>1969</c:v>
                </c:pt>
                <c:pt idx="23">
                  <c:v>1970</c:v>
                </c:pt>
                <c:pt idx="24">
                  <c:v>1971</c:v>
                </c:pt>
                <c:pt idx="25">
                  <c:v>1972</c:v>
                </c:pt>
                <c:pt idx="26">
                  <c:v>1973</c:v>
                </c:pt>
                <c:pt idx="27">
                  <c:v>1974</c:v>
                </c:pt>
                <c:pt idx="28">
                  <c:v>1975</c:v>
                </c:pt>
                <c:pt idx="29">
                  <c:v>1976</c:v>
                </c:pt>
                <c:pt idx="30">
                  <c:v>1977</c:v>
                </c:pt>
                <c:pt idx="31">
                  <c:v>1978</c:v>
                </c:pt>
                <c:pt idx="32">
                  <c:v>1979</c:v>
                </c:pt>
                <c:pt idx="33">
                  <c:v>1980</c:v>
                </c:pt>
                <c:pt idx="34">
                  <c:v>1981</c:v>
                </c:pt>
                <c:pt idx="35">
                  <c:v>1982</c:v>
                </c:pt>
                <c:pt idx="36">
                  <c:v>1983</c:v>
                </c:pt>
                <c:pt idx="37">
                  <c:v>1984</c:v>
                </c:pt>
                <c:pt idx="38">
                  <c:v>1985</c:v>
                </c:pt>
                <c:pt idx="39">
                  <c:v>1986</c:v>
                </c:pt>
                <c:pt idx="40">
                  <c:v>1987</c:v>
                </c:pt>
                <c:pt idx="41">
                  <c:v>1988</c:v>
                </c:pt>
                <c:pt idx="42">
                  <c:v>1989</c:v>
                </c:pt>
                <c:pt idx="43">
                  <c:v>1990</c:v>
                </c:pt>
                <c:pt idx="44">
                  <c:v>1991</c:v>
                </c:pt>
                <c:pt idx="45">
                  <c:v>1992</c:v>
                </c:pt>
                <c:pt idx="46">
                  <c:v>1993</c:v>
                </c:pt>
                <c:pt idx="47">
                  <c:v>1994</c:v>
                </c:pt>
                <c:pt idx="48">
                  <c:v>1995</c:v>
                </c:pt>
                <c:pt idx="49">
                  <c:v>1996</c:v>
                </c:pt>
                <c:pt idx="50">
                  <c:v>1997</c:v>
                </c:pt>
                <c:pt idx="51">
                  <c:v>1998</c:v>
                </c:pt>
                <c:pt idx="52">
                  <c:v>1999</c:v>
                </c:pt>
                <c:pt idx="53">
                  <c:v>2000</c:v>
                </c:pt>
                <c:pt idx="54">
                  <c:v>2001</c:v>
                </c:pt>
                <c:pt idx="55">
                  <c:v>2002</c:v>
                </c:pt>
                <c:pt idx="56">
                  <c:v>2003</c:v>
                </c:pt>
                <c:pt idx="57">
                  <c:v>2004</c:v>
                </c:pt>
                <c:pt idx="58">
                  <c:v>2005</c:v>
                </c:pt>
                <c:pt idx="59">
                  <c:v>2006</c:v>
                </c:pt>
                <c:pt idx="60">
                  <c:v>2007</c:v>
                </c:pt>
                <c:pt idx="61">
                  <c:v>2008</c:v>
                </c:pt>
                <c:pt idx="62">
                  <c:v>2009</c:v>
                </c:pt>
                <c:pt idx="63">
                  <c:v>2010</c:v>
                </c:pt>
                <c:pt idx="64">
                  <c:v>2011</c:v>
                </c:pt>
                <c:pt idx="65">
                  <c:v>2012</c:v>
                </c:pt>
                <c:pt idx="66">
                  <c:v>2013</c:v>
                </c:pt>
                <c:pt idx="67">
                  <c:v>2014</c:v>
                </c:pt>
                <c:pt idx="68">
                  <c:v>2015</c:v>
                </c:pt>
                <c:pt idx="69">
                  <c:v>2016</c:v>
                </c:pt>
                <c:pt idx="70">
                  <c:v>2017</c:v>
                </c:pt>
                <c:pt idx="71">
                  <c:v>2018</c:v>
                </c:pt>
                <c:pt idx="72">
                  <c:v>2019</c:v>
                </c:pt>
                <c:pt idx="73">
                  <c:v>2020</c:v>
                </c:pt>
                <c:pt idx="74">
                  <c:v>2021</c:v>
                </c:pt>
                <c:pt idx="75">
                  <c:v>2022</c:v>
                </c:pt>
                <c:pt idx="76">
                  <c:v>2023</c:v>
                </c:pt>
                <c:pt idx="77">
                  <c:v>2024</c:v>
                </c:pt>
                <c:pt idx="78">
                  <c:v>2025</c:v>
                </c:pt>
                <c:pt idx="79">
                  <c:v>2026</c:v>
                </c:pt>
                <c:pt idx="80">
                  <c:v>2027</c:v>
                </c:pt>
                <c:pt idx="81">
                  <c:v>2028</c:v>
                </c:pt>
                <c:pt idx="82">
                  <c:v>2029</c:v>
                </c:pt>
                <c:pt idx="83">
                  <c:v>2030</c:v>
                </c:pt>
                <c:pt idx="84">
                  <c:v>2031</c:v>
                </c:pt>
                <c:pt idx="85">
                  <c:v>2032</c:v>
                </c:pt>
                <c:pt idx="86">
                  <c:v>2033</c:v>
                </c:pt>
                <c:pt idx="87">
                  <c:v>2034</c:v>
                </c:pt>
                <c:pt idx="88">
                  <c:v>2035</c:v>
                </c:pt>
                <c:pt idx="89">
                  <c:v>2036</c:v>
                </c:pt>
                <c:pt idx="90">
                  <c:v>2037</c:v>
                </c:pt>
                <c:pt idx="91">
                  <c:v>2038</c:v>
                </c:pt>
                <c:pt idx="92">
                  <c:v>2039</c:v>
                </c:pt>
                <c:pt idx="93">
                  <c:v>2040</c:v>
                </c:pt>
                <c:pt idx="94">
                  <c:v>2041</c:v>
                </c:pt>
                <c:pt idx="95">
                  <c:v>2042</c:v>
                </c:pt>
                <c:pt idx="96">
                  <c:v>2043</c:v>
                </c:pt>
                <c:pt idx="97">
                  <c:v>2044</c:v>
                </c:pt>
                <c:pt idx="98">
                  <c:v>2045</c:v>
                </c:pt>
                <c:pt idx="99">
                  <c:v>2046</c:v>
                </c:pt>
                <c:pt idx="100">
                  <c:v>2047</c:v>
                </c:pt>
                <c:pt idx="101">
                  <c:v>2048</c:v>
                </c:pt>
                <c:pt idx="102">
                  <c:v>2049</c:v>
                </c:pt>
                <c:pt idx="103">
                  <c:v>2050</c:v>
                </c:pt>
                <c:pt idx="104">
                  <c:v>2051</c:v>
                </c:pt>
                <c:pt idx="105">
                  <c:v>2052</c:v>
                </c:pt>
                <c:pt idx="106">
                  <c:v>2053</c:v>
                </c:pt>
                <c:pt idx="107">
                  <c:v>2054</c:v>
                </c:pt>
                <c:pt idx="108">
                  <c:v>2055</c:v>
                </c:pt>
                <c:pt idx="109">
                  <c:v>2056</c:v>
                </c:pt>
                <c:pt idx="110">
                  <c:v>2057</c:v>
                </c:pt>
                <c:pt idx="111">
                  <c:v>2058</c:v>
                </c:pt>
                <c:pt idx="112">
                  <c:v>2059</c:v>
                </c:pt>
                <c:pt idx="113">
                  <c:v>2060</c:v>
                </c:pt>
                <c:pt idx="114">
                  <c:v>2061</c:v>
                </c:pt>
                <c:pt idx="115">
                  <c:v>2062</c:v>
                </c:pt>
                <c:pt idx="116">
                  <c:v>2063</c:v>
                </c:pt>
                <c:pt idx="117">
                  <c:v>2064</c:v>
                </c:pt>
                <c:pt idx="118">
                  <c:v>2065</c:v>
                </c:pt>
                <c:pt idx="119">
                  <c:v>2066</c:v>
                </c:pt>
                <c:pt idx="120">
                  <c:v>2067</c:v>
                </c:pt>
                <c:pt idx="121">
                  <c:v>2068</c:v>
                </c:pt>
                <c:pt idx="122">
                  <c:v>2069</c:v>
                </c:pt>
                <c:pt idx="123">
                  <c:v>2070</c:v>
                </c:pt>
                <c:pt idx="124">
                  <c:v>2071</c:v>
                </c:pt>
                <c:pt idx="125">
                  <c:v>2072</c:v>
                </c:pt>
                <c:pt idx="126">
                  <c:v>2073</c:v>
                </c:pt>
                <c:pt idx="127">
                  <c:v>2074</c:v>
                </c:pt>
                <c:pt idx="128">
                  <c:v>2075</c:v>
                </c:pt>
                <c:pt idx="129">
                  <c:v>2076</c:v>
                </c:pt>
                <c:pt idx="130">
                  <c:v>2077</c:v>
                </c:pt>
                <c:pt idx="131">
                  <c:v>2078</c:v>
                </c:pt>
                <c:pt idx="132">
                  <c:v>2079</c:v>
                </c:pt>
                <c:pt idx="133">
                  <c:v>2080</c:v>
                </c:pt>
                <c:pt idx="134">
                  <c:v>2081</c:v>
                </c:pt>
                <c:pt idx="135">
                  <c:v>2082</c:v>
                </c:pt>
                <c:pt idx="136">
                  <c:v>2083</c:v>
                </c:pt>
                <c:pt idx="137">
                  <c:v>2084</c:v>
                </c:pt>
                <c:pt idx="138">
                  <c:v>2085</c:v>
                </c:pt>
                <c:pt idx="139">
                  <c:v>2086</c:v>
                </c:pt>
                <c:pt idx="140">
                  <c:v>2087</c:v>
                </c:pt>
                <c:pt idx="141">
                  <c:v>2088</c:v>
                </c:pt>
                <c:pt idx="142">
                  <c:v>2089</c:v>
                </c:pt>
                <c:pt idx="143">
                  <c:v>2090</c:v>
                </c:pt>
                <c:pt idx="144">
                  <c:v>2091</c:v>
                </c:pt>
                <c:pt idx="145">
                  <c:v>2092</c:v>
                </c:pt>
                <c:pt idx="146">
                  <c:v>2093</c:v>
                </c:pt>
                <c:pt idx="147">
                  <c:v>2094</c:v>
                </c:pt>
                <c:pt idx="148">
                  <c:v>2095</c:v>
                </c:pt>
                <c:pt idx="149">
                  <c:v>2096</c:v>
                </c:pt>
                <c:pt idx="150">
                  <c:v>2097</c:v>
                </c:pt>
                <c:pt idx="151">
                  <c:v>2098</c:v>
                </c:pt>
                <c:pt idx="152">
                  <c:v>2099</c:v>
                </c:pt>
                <c:pt idx="153">
                  <c:v>2100</c:v>
                </c:pt>
              </c:strCache>
            </c:strRef>
          </c:cat>
          <c:val>
            <c:numRef>
              <c:f>Sheet1!$C$2:$C$155</c:f>
              <c:numCache>
                <c:formatCode>General</c:formatCode>
                <c:ptCount val="154"/>
                <c:pt idx="76">
                  <c:v>12441</c:v>
                </c:pt>
                <c:pt idx="77">
                  <c:v>12384</c:v>
                </c:pt>
                <c:pt idx="78">
                  <c:v>12326</c:v>
                </c:pt>
                <c:pt idx="79">
                  <c:v>12266</c:v>
                </c:pt>
                <c:pt idx="80">
                  <c:v>12204</c:v>
                </c:pt>
                <c:pt idx="81">
                  <c:v>12141</c:v>
                </c:pt>
                <c:pt idx="82">
                  <c:v>12077</c:v>
                </c:pt>
                <c:pt idx="83">
                  <c:v>12012</c:v>
                </c:pt>
                <c:pt idx="84">
                  <c:v>11945</c:v>
                </c:pt>
                <c:pt idx="85">
                  <c:v>11877</c:v>
                </c:pt>
                <c:pt idx="86">
                  <c:v>11807</c:v>
                </c:pt>
                <c:pt idx="87">
                  <c:v>11736</c:v>
                </c:pt>
                <c:pt idx="88">
                  <c:v>11664</c:v>
                </c:pt>
                <c:pt idx="89">
                  <c:v>11590</c:v>
                </c:pt>
                <c:pt idx="90">
                  <c:v>11515</c:v>
                </c:pt>
                <c:pt idx="91">
                  <c:v>11439</c:v>
                </c:pt>
                <c:pt idx="92">
                  <c:v>11362</c:v>
                </c:pt>
                <c:pt idx="93">
                  <c:v>11284</c:v>
                </c:pt>
                <c:pt idx="94">
                  <c:v>11204</c:v>
                </c:pt>
                <c:pt idx="95">
                  <c:v>11124</c:v>
                </c:pt>
                <c:pt idx="96">
                  <c:v>11043</c:v>
                </c:pt>
                <c:pt idx="97">
                  <c:v>10962</c:v>
                </c:pt>
                <c:pt idx="98">
                  <c:v>10880</c:v>
                </c:pt>
                <c:pt idx="99">
                  <c:v>10798</c:v>
                </c:pt>
                <c:pt idx="100">
                  <c:v>10716</c:v>
                </c:pt>
                <c:pt idx="101">
                  <c:v>10634</c:v>
                </c:pt>
                <c:pt idx="102">
                  <c:v>10551</c:v>
                </c:pt>
                <c:pt idx="103">
                  <c:v>10469</c:v>
                </c:pt>
                <c:pt idx="104">
                  <c:v>10386</c:v>
                </c:pt>
                <c:pt idx="105">
                  <c:v>10303</c:v>
                </c:pt>
                <c:pt idx="106">
                  <c:v>10219</c:v>
                </c:pt>
                <c:pt idx="107">
                  <c:v>10135</c:v>
                </c:pt>
                <c:pt idx="108">
                  <c:v>10051</c:v>
                </c:pt>
                <c:pt idx="109">
                  <c:v>9965</c:v>
                </c:pt>
                <c:pt idx="110">
                  <c:v>9879</c:v>
                </c:pt>
                <c:pt idx="111">
                  <c:v>9792</c:v>
                </c:pt>
                <c:pt idx="112">
                  <c:v>9704</c:v>
                </c:pt>
                <c:pt idx="113">
                  <c:v>9615</c:v>
                </c:pt>
                <c:pt idx="114">
                  <c:v>9525</c:v>
                </c:pt>
                <c:pt idx="115">
                  <c:v>9434</c:v>
                </c:pt>
                <c:pt idx="116">
                  <c:v>9343</c:v>
                </c:pt>
                <c:pt idx="117">
                  <c:v>9251</c:v>
                </c:pt>
                <c:pt idx="118">
                  <c:v>9159</c:v>
                </c:pt>
                <c:pt idx="119">
                  <c:v>9066</c:v>
                </c:pt>
                <c:pt idx="120">
                  <c:v>8974</c:v>
                </c:pt>
                <c:pt idx="121">
                  <c:v>8882</c:v>
                </c:pt>
                <c:pt idx="122">
                  <c:v>8790</c:v>
                </c:pt>
                <c:pt idx="123">
                  <c:v>8700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参考（国連・5年ごと）</c:v>
                </c:pt>
              </c:strCache>
            </c:strRef>
          </c:tx>
          <c:spPr>
            <a:solidFill>
              <a:srgbClr val="F7C9A0"/>
            </a:solidFill>
          </c:spPr>
          <c:cat>
            <c:strRef>
              <c:f>Sheet1!$A$2:$A$155</c:f>
              <c:strCache>
                <c:ptCount val="154"/>
                <c:pt idx="0">
                  <c:v>1947</c:v>
                </c:pt>
                <c:pt idx="1">
                  <c:v>1948</c:v>
                </c:pt>
                <c:pt idx="2">
                  <c:v>1949</c:v>
                </c:pt>
                <c:pt idx="3">
                  <c:v>1950</c:v>
                </c:pt>
                <c:pt idx="4">
                  <c:v>1951</c:v>
                </c:pt>
                <c:pt idx="5">
                  <c:v>1952</c:v>
                </c:pt>
                <c:pt idx="6">
                  <c:v>1953</c:v>
                </c:pt>
                <c:pt idx="7">
                  <c:v>1954</c:v>
                </c:pt>
                <c:pt idx="8">
                  <c:v>1955</c:v>
                </c:pt>
                <c:pt idx="9">
                  <c:v>1956</c:v>
                </c:pt>
                <c:pt idx="10">
                  <c:v>1957</c:v>
                </c:pt>
                <c:pt idx="11">
                  <c:v>1958</c:v>
                </c:pt>
                <c:pt idx="12">
                  <c:v>1959</c:v>
                </c:pt>
                <c:pt idx="13">
                  <c:v>1960</c:v>
                </c:pt>
                <c:pt idx="14">
                  <c:v>1961</c:v>
                </c:pt>
                <c:pt idx="15">
                  <c:v>1962</c:v>
                </c:pt>
                <c:pt idx="16">
                  <c:v>1963</c:v>
                </c:pt>
                <c:pt idx="17">
                  <c:v>1964</c:v>
                </c:pt>
                <c:pt idx="18">
                  <c:v>1965</c:v>
                </c:pt>
                <c:pt idx="19">
                  <c:v>1966</c:v>
                </c:pt>
                <c:pt idx="20">
                  <c:v>1967</c:v>
                </c:pt>
                <c:pt idx="21">
                  <c:v>1968</c:v>
                </c:pt>
                <c:pt idx="22">
                  <c:v>1969</c:v>
                </c:pt>
                <c:pt idx="23">
                  <c:v>1970</c:v>
                </c:pt>
                <c:pt idx="24">
                  <c:v>1971</c:v>
                </c:pt>
                <c:pt idx="25">
                  <c:v>1972</c:v>
                </c:pt>
                <c:pt idx="26">
                  <c:v>1973</c:v>
                </c:pt>
                <c:pt idx="27">
                  <c:v>1974</c:v>
                </c:pt>
                <c:pt idx="28">
                  <c:v>1975</c:v>
                </c:pt>
                <c:pt idx="29">
                  <c:v>1976</c:v>
                </c:pt>
                <c:pt idx="30">
                  <c:v>1977</c:v>
                </c:pt>
                <c:pt idx="31">
                  <c:v>1978</c:v>
                </c:pt>
                <c:pt idx="32">
                  <c:v>1979</c:v>
                </c:pt>
                <c:pt idx="33">
                  <c:v>1980</c:v>
                </c:pt>
                <c:pt idx="34">
                  <c:v>1981</c:v>
                </c:pt>
                <c:pt idx="35">
                  <c:v>1982</c:v>
                </c:pt>
                <c:pt idx="36">
                  <c:v>1983</c:v>
                </c:pt>
                <c:pt idx="37">
                  <c:v>1984</c:v>
                </c:pt>
                <c:pt idx="38">
                  <c:v>1985</c:v>
                </c:pt>
                <c:pt idx="39">
                  <c:v>1986</c:v>
                </c:pt>
                <c:pt idx="40">
                  <c:v>1987</c:v>
                </c:pt>
                <c:pt idx="41">
                  <c:v>1988</c:v>
                </c:pt>
                <c:pt idx="42">
                  <c:v>1989</c:v>
                </c:pt>
                <c:pt idx="43">
                  <c:v>1990</c:v>
                </c:pt>
                <c:pt idx="44">
                  <c:v>1991</c:v>
                </c:pt>
                <c:pt idx="45">
                  <c:v>1992</c:v>
                </c:pt>
                <c:pt idx="46">
                  <c:v>1993</c:v>
                </c:pt>
                <c:pt idx="47">
                  <c:v>1994</c:v>
                </c:pt>
                <c:pt idx="48">
                  <c:v>1995</c:v>
                </c:pt>
                <c:pt idx="49">
                  <c:v>1996</c:v>
                </c:pt>
                <c:pt idx="50">
                  <c:v>1997</c:v>
                </c:pt>
                <c:pt idx="51">
                  <c:v>1998</c:v>
                </c:pt>
                <c:pt idx="52">
                  <c:v>1999</c:v>
                </c:pt>
                <c:pt idx="53">
                  <c:v>2000</c:v>
                </c:pt>
                <c:pt idx="54">
                  <c:v>2001</c:v>
                </c:pt>
                <c:pt idx="55">
                  <c:v>2002</c:v>
                </c:pt>
                <c:pt idx="56">
                  <c:v>2003</c:v>
                </c:pt>
                <c:pt idx="57">
                  <c:v>2004</c:v>
                </c:pt>
                <c:pt idx="58">
                  <c:v>2005</c:v>
                </c:pt>
                <c:pt idx="59">
                  <c:v>2006</c:v>
                </c:pt>
                <c:pt idx="60">
                  <c:v>2007</c:v>
                </c:pt>
                <c:pt idx="61">
                  <c:v>2008</c:v>
                </c:pt>
                <c:pt idx="62">
                  <c:v>2009</c:v>
                </c:pt>
                <c:pt idx="63">
                  <c:v>2010</c:v>
                </c:pt>
                <c:pt idx="64">
                  <c:v>2011</c:v>
                </c:pt>
                <c:pt idx="65">
                  <c:v>2012</c:v>
                </c:pt>
                <c:pt idx="66">
                  <c:v>2013</c:v>
                </c:pt>
                <c:pt idx="67">
                  <c:v>2014</c:v>
                </c:pt>
                <c:pt idx="68">
                  <c:v>2015</c:v>
                </c:pt>
                <c:pt idx="69">
                  <c:v>2016</c:v>
                </c:pt>
                <c:pt idx="70">
                  <c:v>2017</c:v>
                </c:pt>
                <c:pt idx="71">
                  <c:v>2018</c:v>
                </c:pt>
                <c:pt idx="72">
                  <c:v>2019</c:v>
                </c:pt>
                <c:pt idx="73">
                  <c:v>2020</c:v>
                </c:pt>
                <c:pt idx="74">
                  <c:v>2021</c:v>
                </c:pt>
                <c:pt idx="75">
                  <c:v>2022</c:v>
                </c:pt>
                <c:pt idx="76">
                  <c:v>2023</c:v>
                </c:pt>
                <c:pt idx="77">
                  <c:v>2024</c:v>
                </c:pt>
                <c:pt idx="78">
                  <c:v>2025</c:v>
                </c:pt>
                <c:pt idx="79">
                  <c:v>2026</c:v>
                </c:pt>
                <c:pt idx="80">
                  <c:v>2027</c:v>
                </c:pt>
                <c:pt idx="81">
                  <c:v>2028</c:v>
                </c:pt>
                <c:pt idx="82">
                  <c:v>2029</c:v>
                </c:pt>
                <c:pt idx="83">
                  <c:v>2030</c:v>
                </c:pt>
                <c:pt idx="84">
                  <c:v>2031</c:v>
                </c:pt>
                <c:pt idx="85">
                  <c:v>2032</c:v>
                </c:pt>
                <c:pt idx="86">
                  <c:v>2033</c:v>
                </c:pt>
                <c:pt idx="87">
                  <c:v>2034</c:v>
                </c:pt>
                <c:pt idx="88">
                  <c:v>2035</c:v>
                </c:pt>
                <c:pt idx="89">
                  <c:v>2036</c:v>
                </c:pt>
                <c:pt idx="90">
                  <c:v>2037</c:v>
                </c:pt>
                <c:pt idx="91">
                  <c:v>2038</c:v>
                </c:pt>
                <c:pt idx="92">
                  <c:v>2039</c:v>
                </c:pt>
                <c:pt idx="93">
                  <c:v>2040</c:v>
                </c:pt>
                <c:pt idx="94">
                  <c:v>2041</c:v>
                </c:pt>
                <c:pt idx="95">
                  <c:v>2042</c:v>
                </c:pt>
                <c:pt idx="96">
                  <c:v>2043</c:v>
                </c:pt>
                <c:pt idx="97">
                  <c:v>2044</c:v>
                </c:pt>
                <c:pt idx="98">
                  <c:v>2045</c:v>
                </c:pt>
                <c:pt idx="99">
                  <c:v>2046</c:v>
                </c:pt>
                <c:pt idx="100">
                  <c:v>2047</c:v>
                </c:pt>
                <c:pt idx="101">
                  <c:v>2048</c:v>
                </c:pt>
                <c:pt idx="102">
                  <c:v>2049</c:v>
                </c:pt>
                <c:pt idx="103">
                  <c:v>2050</c:v>
                </c:pt>
                <c:pt idx="104">
                  <c:v>2051</c:v>
                </c:pt>
                <c:pt idx="105">
                  <c:v>2052</c:v>
                </c:pt>
                <c:pt idx="106">
                  <c:v>2053</c:v>
                </c:pt>
                <c:pt idx="107">
                  <c:v>2054</c:v>
                </c:pt>
                <c:pt idx="108">
                  <c:v>2055</c:v>
                </c:pt>
                <c:pt idx="109">
                  <c:v>2056</c:v>
                </c:pt>
                <c:pt idx="110">
                  <c:v>2057</c:v>
                </c:pt>
                <c:pt idx="111">
                  <c:v>2058</c:v>
                </c:pt>
                <c:pt idx="112">
                  <c:v>2059</c:v>
                </c:pt>
                <c:pt idx="113">
                  <c:v>2060</c:v>
                </c:pt>
                <c:pt idx="114">
                  <c:v>2061</c:v>
                </c:pt>
                <c:pt idx="115">
                  <c:v>2062</c:v>
                </c:pt>
                <c:pt idx="116">
                  <c:v>2063</c:v>
                </c:pt>
                <c:pt idx="117">
                  <c:v>2064</c:v>
                </c:pt>
                <c:pt idx="118">
                  <c:v>2065</c:v>
                </c:pt>
                <c:pt idx="119">
                  <c:v>2066</c:v>
                </c:pt>
                <c:pt idx="120">
                  <c:v>2067</c:v>
                </c:pt>
                <c:pt idx="121">
                  <c:v>2068</c:v>
                </c:pt>
                <c:pt idx="122">
                  <c:v>2069</c:v>
                </c:pt>
                <c:pt idx="123">
                  <c:v>2070</c:v>
                </c:pt>
                <c:pt idx="124">
                  <c:v>2071</c:v>
                </c:pt>
                <c:pt idx="125">
                  <c:v>2072</c:v>
                </c:pt>
                <c:pt idx="126">
                  <c:v>2073</c:v>
                </c:pt>
                <c:pt idx="127">
                  <c:v>2074</c:v>
                </c:pt>
                <c:pt idx="128">
                  <c:v>2075</c:v>
                </c:pt>
                <c:pt idx="129">
                  <c:v>2076</c:v>
                </c:pt>
                <c:pt idx="130">
                  <c:v>2077</c:v>
                </c:pt>
                <c:pt idx="131">
                  <c:v>2078</c:v>
                </c:pt>
                <c:pt idx="132">
                  <c:v>2079</c:v>
                </c:pt>
                <c:pt idx="133">
                  <c:v>2080</c:v>
                </c:pt>
                <c:pt idx="134">
                  <c:v>2081</c:v>
                </c:pt>
                <c:pt idx="135">
                  <c:v>2082</c:v>
                </c:pt>
                <c:pt idx="136">
                  <c:v>2083</c:v>
                </c:pt>
                <c:pt idx="137">
                  <c:v>2084</c:v>
                </c:pt>
                <c:pt idx="138">
                  <c:v>2085</c:v>
                </c:pt>
                <c:pt idx="139">
                  <c:v>2086</c:v>
                </c:pt>
                <c:pt idx="140">
                  <c:v>2087</c:v>
                </c:pt>
                <c:pt idx="141">
                  <c:v>2088</c:v>
                </c:pt>
                <c:pt idx="142">
                  <c:v>2089</c:v>
                </c:pt>
                <c:pt idx="143">
                  <c:v>2090</c:v>
                </c:pt>
                <c:pt idx="144">
                  <c:v>2091</c:v>
                </c:pt>
                <c:pt idx="145">
                  <c:v>2092</c:v>
                </c:pt>
                <c:pt idx="146">
                  <c:v>2093</c:v>
                </c:pt>
                <c:pt idx="147">
                  <c:v>2094</c:v>
                </c:pt>
                <c:pt idx="148">
                  <c:v>2095</c:v>
                </c:pt>
                <c:pt idx="149">
                  <c:v>2096</c:v>
                </c:pt>
                <c:pt idx="150">
                  <c:v>2097</c:v>
                </c:pt>
                <c:pt idx="151">
                  <c:v>2098</c:v>
                </c:pt>
                <c:pt idx="152">
                  <c:v>2099</c:v>
                </c:pt>
                <c:pt idx="153">
                  <c:v>2100</c:v>
                </c:pt>
              </c:strCache>
            </c:strRef>
          </c:cat>
          <c:val>
            <c:numRef>
              <c:f>Sheet1!$D$2:$D$155</c:f>
              <c:numCache>
                <c:formatCode>General</c:formatCode>
                <c:ptCount val="154"/>
                <c:pt idx="128">
                  <c:v>8575</c:v>
                </c:pt>
                <c:pt idx="133">
                  <c:v>8284</c:v>
                </c:pt>
                <c:pt idx="138">
                  <c:v>8030</c:v>
                </c:pt>
                <c:pt idx="143">
                  <c:v>7796</c:v>
                </c:pt>
                <c:pt idx="148">
                  <c:v>7574</c:v>
                </c:pt>
                <c:pt idx="153">
                  <c:v>7364</c:v>
                </c:pt>
              </c:numCache>
            </c:numRef>
          </c:val>
        </c:ser>
        <c:gapWidth val="1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1"/>
            </a:solidFill>
          </a:ln>
        </c:spPr>
        <c:txPr>
          <a:bodyPr/>
          <a:lstStyle/>
          <a:p>
            <a:pPr>
              <a:defRPr sz="1300">
                <a:latin typeface="游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0"/>
        <c:tickMarkSkip val="10"/>
      </c:catAx>
      <c:valAx>
        <c:axId val="-2113994440"/>
        <c:scaling>
          <c:max val="18000.0"/>
          <c:min val="0.0"/>
        </c:scaling>
        <c:delete val="0"/>
        <c:axPos val="l"/>
        <c:majorGridlines>
          <c:spPr>
            <a:ln>
              <a:solidFill>
                <a:srgbClr val="E8EF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游ゴシック"/>
              </a:defRPr>
            </a:pPr>
          </a:p>
        </c:txPr>
        <c:crossAx val="-2068027336"/>
        <c:crosses val="autoZero"/>
        <c:majorUnit val="3000.0"/>
      </c:valAx>
    </c:plotArea>
    <c:legend>
      <c:legendPos val="b"/>
      <c:overlay val="0"/>
      <c:txPr>
        <a:bodyPr/>
        <a:lstStyle/>
        <a:p>
          <a:pPr>
            <a:defRPr sz="1400">
              <a:latin typeface="游ゴシック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実績（社会保障費用統計）</c:v>
                </c:pt>
              </c:strCache>
            </c:strRef>
          </c:tx>
          <c:spPr>
            <a:solidFill>
              <a:srgbClr val="3FB39D"/>
            </a:solidFill>
          </c:spP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  <c:pt idx="6">
                  <c:v>2030</c:v>
                </c:pt>
                <c:pt idx="7">
                  <c:v>2035</c:v>
                </c:pt>
                <c:pt idx="8">
                  <c:v>2040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3.3</c:v>
                </c:pt>
                <c:pt idx="1">
                  <c:v>5.9</c:v>
                </c:pt>
                <c:pt idx="2">
                  <c:v>7.5</c:v>
                </c:pt>
                <c:pt idx="3">
                  <c:v>9.5</c:v>
                </c:pt>
                <c:pt idx="4">
                  <c:v>11.4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見通し（厚生労働省）</c:v>
                </c:pt>
              </c:strCache>
            </c:strRef>
          </c:tx>
          <c:spPr>
            <a:solidFill>
              <a:srgbClr val="F28C3C"/>
            </a:solidFill>
          </c:spP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  <c:pt idx="6">
                  <c:v>2030</c:v>
                </c:pt>
                <c:pt idx="7">
                  <c:v>2035</c:v>
                </c:pt>
                <c:pt idx="8">
                  <c:v>2040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5">
                  <c:v>15.3</c:v>
                </c:pt>
                <c:pt idx="8">
                  <c:v>25.8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参考：2025年度と2040年度を直線で補間</c:v>
                </c:pt>
              </c:strCache>
            </c:strRef>
          </c:tx>
          <c:spPr>
            <a:solidFill>
              <a:srgbClr val="F7C9A0"/>
            </a:solidFill>
          </c:spP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  <c:pt idx="6">
                  <c:v>2030</c:v>
                </c:pt>
                <c:pt idx="7">
                  <c:v>2035</c:v>
                </c:pt>
                <c:pt idx="8">
                  <c:v>2040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6">
                  <c:v>18.8</c:v>
                </c:pt>
                <c:pt idx="7">
                  <c:v>22.3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2000" b="1">
                  <a:latin typeface="游ゴシック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1"/>
            </a:solidFill>
          </a:ln>
        </c:spPr>
        <c:txPr>
          <a:bodyPr/>
          <a:lstStyle/>
          <a:p>
            <a:pPr>
              <a:defRPr sz="1800">
                <a:latin typeface="游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游ゴシック"/>
              </a:defRPr>
            </a:pPr>
          </a:p>
        </c:txPr>
        <c:crossAx val="-2068027336"/>
        <c:crosses val="autoZero"/>
        <c:majorUnit val="10.0"/>
      </c:valAx>
    </c:plotArea>
    <c:legend>
      <c:legendPos val="t"/>
      <c:overlay val="0"/>
      <c:txPr>
        <a:bodyPr/>
        <a:lstStyle/>
        <a:p>
          <a:pPr>
            <a:defRPr sz="1400">
              <a:latin typeface="游ゴシック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拠点数</c:v>
                </c:pt>
              </c:strCache>
            </c:strRef>
          </c:tx>
          <c:dPt>
            <c:idx val="0"/>
            <c:spPr>
              <a:solidFill>
                <a:srgbClr val="F28C3C"/>
              </a:solidFill>
            </c:spPr>
          </c:dPt>
          <c:dPt>
            <c:idx val="1"/>
            <c:spPr>
              <a:solidFill>
                <a:srgbClr val="3FB39D"/>
              </a:solidFill>
            </c:spPr>
          </c:dPt>
          <c:dPt>
            <c:idx val="2"/>
            <c:spPr>
              <a:solidFill>
                <a:srgbClr val="3FB39D"/>
              </a:solidFill>
            </c:spPr>
          </c:dPt>
          <c:dPt>
            <c:idx val="3"/>
            <c:spPr>
              <a:solidFill>
                <a:srgbClr val="3FB39D"/>
              </a:solidFill>
            </c:spPr>
          </c:dPt>
          <c:dPt>
            <c:idx val="4"/>
            <c:spPr>
              <a:solidFill>
                <a:srgbClr val="3FB39D"/>
              </a:solidFill>
            </c:spPr>
          </c:dPt>
          <c:cat>
            <c:strRef>
              <c:f>Sheet1!$A$2:$A$6</c:f>
              <c:strCache>
                <c:ptCount val="5"/>
                <c:pt idx="0">
                  <c:v>長野県</c:v>
                </c:pt>
                <c:pt idx="1">
                  <c:v>新潟県</c:v>
                </c:pt>
                <c:pt idx="2">
                  <c:v>埼玉県</c:v>
                </c:pt>
                <c:pt idx="3">
                  <c:v>群馬県</c:v>
                </c:pt>
                <c:pt idx="4">
                  <c:v>栃木県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</c:v>
                </c:pt>
                <c:pt idx="1">
                  <c:v>15</c:v>
                </c:pt>
                <c:pt idx="2">
                  <c:v>15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2800" b="1">
                  <a:latin typeface="游ゴシック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1"/>
            </a:solidFill>
          </a:ln>
        </c:spPr>
        <c:txPr>
          <a:bodyPr/>
          <a:lstStyle/>
          <a:p>
            <a:pPr>
              <a:defRPr sz="2200">
                <a:latin typeface="游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採用コンセプト FUN LIFE! FUN LOCAL! をもとにした、ブランドストーリーの叩き台。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人口：1947〜2022年は実績（総務省統計局・人口統計資料集）、2023〜2070年は推計（社人研・令和5年推計 出生中位）、2075〜2100年は国連推計（5年ごと）。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介護費：社会保障費用統計 第8表「介護対策」（2000〜2020年度）、2025・2040年度は厚生労働省「2040年を見据えた社会保障の将来見通し」計画ベース。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長野大学×エフビー 産学連携プロジェクト資料（社会状況・やりがい）をもとに整理。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出典：企業説明会資料・経営者ヒアリング。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visions college（エフビー介護サービス回）Chapter02「感情労働の未来」をもとに整理。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沿革。西暦は5年ごとの目盛り。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小規模・多拠点・サービスの見せ方。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売上推移（26期〜36期）。出典：企業説明会資料。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実習サイト「エフビー流の学び」。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申込から振り返りまでの流れと、サイトのコンテンツ。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7種109拠点。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山1"/>
          <p:cNvSpPr/>
          <p:nvPr/>
        </p:nvSpPr>
        <p:spPr>
          <a:xfrm>
            <a:off x="0" y="4228439"/>
            <a:ext cx="6342659" cy="2628680"/>
          </a:xfrm>
          <a:custGeom>
            <a:avLst/>
            <a:gdLst/>
            <a:ahLst/>
            <a:cxnLst/>
            <a:rect l="l" t="t" r="r" b="b"/>
            <a:pathLst>
              <a:path w="6342659" h="2628680">
                <a:moveTo>
                  <a:pt x="0" y="2628680"/>
                </a:moveTo>
                <a:lnTo>
                  <a:pt x="0" y="1127584"/>
                </a:lnTo>
                <a:lnTo>
                  <a:pt x="1832324" y="281896"/>
                </a:lnTo>
                <a:lnTo>
                  <a:pt x="3030382" y="986636"/>
                </a:lnTo>
                <a:lnTo>
                  <a:pt x="4510335" y="0"/>
                </a:lnTo>
                <a:lnTo>
                  <a:pt x="6342659" y="262868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小見出し"/>
          <p:cNvSpPr txBox="1"/>
          <p:nvPr/>
        </p:nvSpPr>
        <p:spPr>
          <a:xfrm>
            <a:off x="845688" y="1198058"/>
            <a:ext cx="6342659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9"/>
              </a:lnSpc>
              <a:spcBef>
                <a:spcPts val="0"/>
              </a:spcBef>
              <a:spcAft>
                <a:spcPts val="0"/>
              </a:spcAft>
            </a:pPr>
            <a:r>
              <a:rPr sz="1553" b="1" spc="6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エフビー介護サービス</a:t>
            </a:r>
          </a:p>
        </p:txBody>
      </p:sp>
      <p:sp>
        <p:nvSpPr>
          <p:cNvPr id="5" name="タイトル"/>
          <p:cNvSpPr txBox="1"/>
          <p:nvPr/>
        </p:nvSpPr>
        <p:spPr>
          <a:xfrm>
            <a:off x="845688" y="1620902"/>
            <a:ext cx="6342659" cy="1832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72"/>
              </a:lnSpc>
              <a:spcBef>
                <a:spcPts val="0"/>
              </a:spcBef>
              <a:spcAft>
                <a:spcPts val="0"/>
              </a:spcAft>
            </a:pPr>
            <a:r>
              <a:rPr sz="832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共育実習</a:t>
            </a:r>
          </a:p>
        </p:txBody>
      </p:sp>
      <p:cxnSp>
        <p:nvCxnSpPr>
          <p:cNvPr id="6" name="ライン"/>
          <p:cNvCxnSpPr/>
          <p:nvPr/>
        </p:nvCxnSpPr>
        <p:spPr>
          <a:xfrm>
            <a:off x="873877" y="3523699"/>
            <a:ext cx="1240343" cy="0"/>
          </a:xfrm>
          <a:prstGeom prst="line">
            <a:avLst/>
          </a:prstGeom>
          <a:ln w="50800">
            <a:solidFill>
              <a:srgbClr val="FCE0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キャッチ"/>
          <p:cNvSpPr txBox="1"/>
          <p:nvPr/>
        </p:nvSpPr>
        <p:spPr>
          <a:xfrm>
            <a:off x="845688" y="3805595"/>
            <a:ext cx="5778867" cy="1127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sz="210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学ぶ人も、迎える人も、地域も。</a:t>
            </a:r>
          </a:p>
          <a:p>
            <a:pPr algn="l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sz="210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みんなが共に育つ、ケアの現場の実習。</a:t>
            </a:r>
          </a:p>
        </p:txBody>
      </p:sp>
      <p:sp>
        <p:nvSpPr>
          <p:cNvPr id="8" name="宛名"/>
          <p:cNvSpPr txBox="1"/>
          <p:nvPr/>
        </p:nvSpPr>
        <p:spPr>
          <a:xfrm>
            <a:off x="845688" y="5778867"/>
            <a:ext cx="6342659" cy="23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20" b="1" spc="2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大学の先生・学生のみなさまへ</a:t>
            </a:r>
          </a:p>
        </p:txBody>
      </p:sp>
      <p:sp>
        <p:nvSpPr>
          <p:cNvPr id="9" name="イラスト枠（公式LINEバナーのイラストを配置）"/>
          <p:cNvSpPr/>
          <p:nvPr/>
        </p:nvSpPr>
        <p:spPr>
          <a:xfrm>
            <a:off x="7117873" y="916162"/>
            <a:ext cx="4510335" cy="5003653"/>
          </a:xfrm>
          <a:prstGeom prst="roundRect">
            <a:avLst>
              <a:gd name="adj" fmla="val 6250"/>
            </a:avLst>
          </a:prstGeom>
          <a:solidFill>
            <a:srgbClr val="A6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山1"/>
          <p:cNvSpPr/>
          <p:nvPr/>
        </p:nvSpPr>
        <p:spPr>
          <a:xfrm>
            <a:off x="7752139" y="4933179"/>
            <a:ext cx="4439861" cy="1923940"/>
          </a:xfrm>
          <a:custGeom>
            <a:avLst/>
            <a:gdLst/>
            <a:ahLst/>
            <a:cxnLst/>
            <a:rect l="l" t="t" r="r" b="b"/>
            <a:pathLst>
              <a:path w="4439861" h="1923940">
                <a:moveTo>
                  <a:pt x="0" y="1923940"/>
                </a:moveTo>
                <a:lnTo>
                  <a:pt x="1620901" y="422844"/>
                </a:lnTo>
                <a:lnTo>
                  <a:pt x="2466589" y="1057110"/>
                </a:lnTo>
                <a:lnTo>
                  <a:pt x="3382751" y="0"/>
                </a:lnTo>
                <a:lnTo>
                  <a:pt x="4439861" y="1127584"/>
                </a:lnTo>
                <a:lnTo>
                  <a:pt x="4439861" y="192394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小見出し"/>
          <p:cNvSpPr txBox="1"/>
          <p:nvPr/>
        </p:nvSpPr>
        <p:spPr>
          <a:xfrm>
            <a:off x="845688" y="634266"/>
            <a:ext cx="6342659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331" b="1" spc="8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PROJECT VISION</a:t>
            </a:r>
          </a:p>
        </p:txBody>
      </p:sp>
      <p:sp>
        <p:nvSpPr>
          <p:cNvPr id="5" name="ビジョン"/>
          <p:cNvSpPr txBox="1"/>
          <p:nvPr/>
        </p:nvSpPr>
        <p:spPr>
          <a:xfrm>
            <a:off x="845688" y="986636"/>
            <a:ext cx="10571098" cy="1409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</a:pPr>
            <a:r>
              <a:rPr sz="377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長寿の国、長野発、</a:t>
            </a:r>
          </a:p>
          <a:p>
            <a:pPr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</a:pPr>
            <a:r>
              <a:rPr sz="377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希望の地域モデルづくりへ</a:t>
            </a:r>
          </a:p>
        </p:txBody>
      </p:sp>
      <p:cxnSp>
        <p:nvCxnSpPr>
          <p:cNvPr id="6" name="ライン"/>
          <p:cNvCxnSpPr/>
          <p:nvPr/>
        </p:nvCxnSpPr>
        <p:spPr>
          <a:xfrm>
            <a:off x="873877" y="2678012"/>
            <a:ext cx="1240343" cy="0"/>
          </a:xfrm>
          <a:prstGeom prst="line">
            <a:avLst/>
          </a:prstGeom>
          <a:ln w="50800">
            <a:solidFill>
              <a:srgbClr val="FCE0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実習ステートメント"/>
          <p:cNvSpPr txBox="1"/>
          <p:nvPr/>
        </p:nvSpPr>
        <p:spPr>
          <a:xfrm>
            <a:off x="845688" y="2959908"/>
            <a:ext cx="10430150" cy="35236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  <a:spcBef>
                <a:spcPts val="0"/>
              </a:spcBef>
              <a:spcAft>
                <a:spcPts val="110"/>
              </a:spcAft>
            </a:pPr>
            <a:r>
              <a:rPr sz="1609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「実習」と聞いて、どんなイメージを持ちますか？大変そう？ 自分にはまだ早いかも？</a:t>
            </a:r>
          </a:p>
          <a:p>
            <a:pPr algn="l">
              <a:lnSpc>
                <a:spcPts val="2816"/>
              </a:lnSpc>
              <a:spcBef>
                <a:spcPts val="0"/>
              </a:spcBef>
              <a:spcAft>
                <a:spcPts val="1220"/>
              </a:spcAft>
            </a:pPr>
            <a:r>
              <a:rPr sz="1609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もし少しでも「やってみたい」と思うなら、ぜひ、私たちの現場に来てください。</a:t>
            </a:r>
          </a:p>
          <a:p>
            <a:pPr algn="l">
              <a:lnSpc>
                <a:spcPts val="2816"/>
              </a:lnSpc>
              <a:spcBef>
                <a:spcPts val="0"/>
              </a:spcBef>
              <a:spcAft>
                <a:spcPts val="110"/>
              </a:spcAft>
            </a:pPr>
            <a:r>
              <a:rPr sz="1609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エフビー介護サービスの共育実習は、「教える・教わる」だけの実習ではありません。</a:t>
            </a:r>
          </a:p>
          <a:p>
            <a:pPr algn="l">
              <a:lnSpc>
                <a:spcPts val="2816"/>
              </a:lnSpc>
              <a:spcBef>
                <a:spcPts val="0"/>
              </a:spcBef>
              <a:spcAft>
                <a:spcPts val="110"/>
              </a:spcAft>
            </a:pPr>
            <a:r>
              <a:rPr sz="1609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学生さんも、先生も、利用者さんも、社員も、みんなが「主役」になれる場所をつくっています。</a:t>
            </a:r>
          </a:p>
          <a:p>
            <a:pPr algn="l">
              <a:lnSpc>
                <a:spcPts val="2816"/>
              </a:lnSpc>
              <a:spcBef>
                <a:spcPts val="0"/>
              </a:spcBef>
              <a:spcAft>
                <a:spcPts val="110"/>
              </a:spcAft>
            </a:pPr>
            <a:r>
              <a:rPr sz="1609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学生さんは現場から学び、社員は学生さんから、仕事の意味を学びなおす。</a:t>
            </a:r>
          </a:p>
          <a:p>
            <a:pPr algn="l">
              <a:lnSpc>
                <a:spcPts val="2816"/>
              </a:lnSpc>
              <a:spcBef>
                <a:spcPts val="0"/>
              </a:spcBef>
              <a:spcAft>
                <a:spcPts val="1220"/>
              </a:spcAft>
            </a:pPr>
            <a:r>
              <a:rPr sz="1609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そこに「迎える人」と「学ぶ人」の区別はなく、みんなが「ありがとう」を言い合います。</a:t>
            </a:r>
          </a:p>
          <a:p>
            <a:pPr algn="l">
              <a:lnSpc>
                <a:spcPts val="2816"/>
              </a:lnSpc>
              <a:spcBef>
                <a:spcPts val="0"/>
              </a:spcBef>
              <a:spcAft>
                <a:spcPts val="110"/>
              </a:spcAft>
            </a:pPr>
            <a:r>
              <a:rPr sz="1609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そこで生まれた声は、次の学生へ、そして地域へ。共に育つ輪が、長野から広がっていきます。</a:t>
            </a:r>
          </a:p>
          <a:p>
            <a:pPr algn="l">
              <a:lnSpc>
                <a:spcPts val="2816"/>
              </a:lnSpc>
              <a:spcBef>
                <a:spcPts val="0"/>
              </a:spcBef>
              <a:spcAft>
                <a:spcPts val="0"/>
              </a:spcAft>
            </a:pPr>
            <a:r>
              <a:rPr sz="1609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介護や老後の話は、なんだか暗い。そんなイメージを、一緒にひっくり返したい。</a:t>
            </a:r>
          </a:p>
        </p:txBody>
      </p:sp>
      <p:sp>
        <p:nvSpPr>
          <p:cNvPr id="8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ブランドストーリー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介護のイメージを、一緒にひっくり返したい</a:t>
            </a:r>
          </a:p>
        </p:txBody>
      </p:sp>
      <p:sp>
        <p:nvSpPr>
          <p:cNvPr id="8" name="コンセプト面"/>
          <p:cNvSpPr/>
          <p:nvPr/>
        </p:nvSpPr>
        <p:spPr>
          <a:xfrm>
            <a:off x="620171" y="1465859"/>
            <a:ext cx="4933179" cy="4890895"/>
          </a:xfrm>
          <a:prstGeom prst="roundRect">
            <a:avLst>
              <a:gd name="adj" fmla="val 4034"/>
            </a:avLst>
          </a:pr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コンセプト小見出し"/>
          <p:cNvSpPr txBox="1"/>
          <p:nvPr/>
        </p:nvSpPr>
        <p:spPr>
          <a:xfrm>
            <a:off x="1014825" y="1804134"/>
            <a:ext cx="4143871" cy="21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109" b="1" spc="6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CARE PRACTICE</a:t>
            </a:r>
          </a:p>
        </p:txBody>
      </p:sp>
      <p:sp>
        <p:nvSpPr>
          <p:cNvPr id="10" name="コンセプト"/>
          <p:cNvSpPr txBox="1"/>
          <p:nvPr/>
        </p:nvSpPr>
        <p:spPr>
          <a:xfrm>
            <a:off x="1014825" y="2142409"/>
            <a:ext cx="4298913" cy="21142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510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FUN LIFE!</a:t>
            </a:r>
          </a:p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5105" b="1">
                <a:solidFill>
                  <a:srgbClr val="FCE08E"/>
                </a:solidFill>
                <a:latin typeface="游ゴシック"/>
                <a:ea typeface="游ゴシック"/>
                <a:cs typeface="游ゴシック"/>
              </a:rPr>
              <a:t>FUN LOCAL!</a:t>
            </a:r>
          </a:p>
        </p:txBody>
      </p:sp>
      <p:sp>
        <p:nvSpPr>
          <p:cNvPr id="11" name="コンセプト文"/>
          <p:cNvSpPr txBox="1"/>
          <p:nvPr/>
        </p:nvSpPr>
        <p:spPr>
          <a:xfrm>
            <a:off x="1014825" y="5299644"/>
            <a:ext cx="4143871" cy="704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6"/>
              </a:lnSpc>
              <a:spcBef>
                <a:spcPts val="0"/>
              </a:spcBef>
              <a:spcAft>
                <a:spcPts val="0"/>
              </a:spcAft>
            </a:pPr>
            <a:r>
              <a:rPr sz="1775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生きがい、持ち寄る。地域の未来。</a:t>
            </a:r>
          </a:p>
        </p:txBody>
      </p:sp>
      <p:cxnSp>
        <p:nvCxnSpPr>
          <p:cNvPr id="12" name="縦線"/>
          <p:cNvCxnSpPr/>
          <p:nvPr/>
        </p:nvCxnSpPr>
        <p:spPr>
          <a:xfrm>
            <a:off x="6377896" y="1818229"/>
            <a:ext cx="0" cy="3100855"/>
          </a:xfrm>
          <a:prstGeom prst="line">
            <a:avLst/>
          </a:prstGeom>
          <a:ln w="381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点"/>
          <p:cNvSpPr/>
          <p:nvPr/>
        </p:nvSpPr>
        <p:spPr>
          <a:xfrm>
            <a:off x="6187616" y="1627949"/>
            <a:ext cx="380560" cy="380560"/>
          </a:xfrm>
          <a:prstGeom prst="ellipse">
            <a:avLst/>
          </a:prstGeom>
          <a:solidFill>
            <a:srgbClr val="8A9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番号"/>
          <p:cNvSpPr txBox="1"/>
          <p:nvPr/>
        </p:nvSpPr>
        <p:spPr>
          <a:xfrm>
            <a:off x="6187616" y="1620902"/>
            <a:ext cx="380560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15" name="ストーリー_きっかけ"/>
          <p:cNvSpPr txBox="1"/>
          <p:nvPr/>
        </p:nvSpPr>
        <p:spPr>
          <a:xfrm>
            <a:off x="6821882" y="1536333"/>
            <a:ext cx="4749947" cy="1409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20" b="1" spc="20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きっかけ</a:t>
            </a:r>
          </a:p>
          <a:p>
            <a:pPr algn="l">
              <a:lnSpc>
                <a:spcPts val="2547"/>
              </a:lnSpc>
              <a:spcBef>
                <a:spcPts val="0"/>
              </a:spcBef>
              <a:spcAft>
                <a:spcPts val="332"/>
              </a:spcAft>
            </a:pPr>
            <a:r>
              <a:rPr sz="188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介護や老後の話は、なんだか暗い。</a:t>
            </a:r>
          </a:p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そんなイメージが、若い世代を遠ざけてきました。</a:t>
            </a:r>
          </a:p>
        </p:txBody>
      </p:sp>
      <p:sp>
        <p:nvSpPr>
          <p:cNvPr id="16" name="点"/>
          <p:cNvSpPr/>
          <p:nvPr/>
        </p:nvSpPr>
        <p:spPr>
          <a:xfrm>
            <a:off x="6187616" y="3178377"/>
            <a:ext cx="380560" cy="380560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番号"/>
          <p:cNvSpPr txBox="1"/>
          <p:nvPr/>
        </p:nvSpPr>
        <p:spPr>
          <a:xfrm>
            <a:off x="6187616" y="3171329"/>
            <a:ext cx="380560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8" name="ストーリー_想い"/>
          <p:cNvSpPr txBox="1"/>
          <p:nvPr/>
        </p:nvSpPr>
        <p:spPr>
          <a:xfrm>
            <a:off x="6821882" y="3086761"/>
            <a:ext cx="4749947" cy="1409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20" b="1" spc="200">
                <a:solidFill>
                  <a:srgbClr val="3FB39D"/>
                </a:solidFill>
                <a:latin typeface="游ゴシック"/>
                <a:ea typeface="游ゴシック"/>
                <a:cs typeface="游ゴシック"/>
              </a:rPr>
              <a:t>想い</a:t>
            </a:r>
          </a:p>
          <a:p>
            <a:pPr algn="l">
              <a:lnSpc>
                <a:spcPts val="2547"/>
              </a:lnSpc>
              <a:spcBef>
                <a:spcPts val="0"/>
              </a:spcBef>
              <a:spcAft>
                <a:spcPts val="332"/>
              </a:spcAft>
            </a:pPr>
            <a:r>
              <a:rPr sz="188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生きがいを、みんなで持ち寄る。</a:t>
            </a:r>
          </a:p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子どもから高齢者まで、地域の人が集う場をつくります。</a:t>
            </a:r>
          </a:p>
        </p:txBody>
      </p:sp>
      <p:sp>
        <p:nvSpPr>
          <p:cNvPr id="19" name="点"/>
          <p:cNvSpPr/>
          <p:nvPr/>
        </p:nvSpPr>
        <p:spPr>
          <a:xfrm>
            <a:off x="6187616" y="4728805"/>
            <a:ext cx="380560" cy="380560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番号"/>
          <p:cNvSpPr txBox="1"/>
          <p:nvPr/>
        </p:nvSpPr>
        <p:spPr>
          <a:xfrm>
            <a:off x="6187616" y="4721757"/>
            <a:ext cx="380560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21" name="ストーリー_めざす姿"/>
          <p:cNvSpPr txBox="1"/>
          <p:nvPr/>
        </p:nvSpPr>
        <p:spPr>
          <a:xfrm>
            <a:off x="6821882" y="4637188"/>
            <a:ext cx="4749947" cy="1409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20" b="1" spc="200">
                <a:solidFill>
                  <a:srgbClr val="F28C3C"/>
                </a:solidFill>
                <a:latin typeface="游ゴシック"/>
                <a:ea typeface="游ゴシック"/>
                <a:cs typeface="游ゴシック"/>
              </a:rPr>
              <a:t>めざす姿</a:t>
            </a:r>
          </a:p>
          <a:p>
            <a:pPr algn="l">
              <a:lnSpc>
                <a:spcPts val="2547"/>
              </a:lnSpc>
              <a:spcBef>
                <a:spcPts val="0"/>
              </a:spcBef>
              <a:spcAft>
                <a:spcPts val="332"/>
              </a:spcAft>
            </a:pPr>
            <a:r>
              <a:rPr sz="188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介護を、身近なテーマに。</a:t>
            </a:r>
          </a:p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特別なものではなく、地域みんなで考えるものへ。共育実習は、その入口です。</a:t>
            </a:r>
          </a:p>
        </p:txBody>
      </p:sp>
      <p:sp>
        <p:nvSpPr>
          <p:cNvPr id="22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※ 採用コンセプト「FUN LIFE! FUN LOCAL!」と、プロジェクトのミッションの言葉をもとにした叩き台です。</a:t>
            </a:r>
          </a:p>
        </p:txBody>
      </p:sp>
      <p:sp>
        <p:nvSpPr>
          <p:cNvPr id="23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共育実習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共育実習の共創モデル</a:t>
            </a:r>
          </a:p>
        </p:txBody>
      </p:sp>
      <p:sp>
        <p:nvSpPr>
          <p:cNvPr id="8" name="サブタイトル"/>
          <p:cNvSpPr txBox="1"/>
          <p:nvPr/>
        </p:nvSpPr>
        <p:spPr>
          <a:xfrm>
            <a:off x="620171" y="831593"/>
            <a:ext cx="8456879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109" b="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学ぶ人も、迎える人も、地域も。みんなが共に育つ</a:t>
            </a:r>
          </a:p>
        </p:txBody>
      </p:sp>
      <p:sp>
        <p:nvSpPr>
          <p:cNvPr id="9" name="中央円"/>
          <p:cNvSpPr/>
          <p:nvPr/>
        </p:nvSpPr>
        <p:spPr>
          <a:xfrm>
            <a:off x="4912037" y="2706201"/>
            <a:ext cx="2367926" cy="2367926"/>
          </a:xfrm>
          <a:prstGeom prst="ellipse">
            <a:avLst/>
          </a:prstGeom>
          <a:solidFill>
            <a:srgbClr val="FFFFFF"/>
          </a:solidFill>
          <a:ln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中央ミニ"/>
          <p:cNvSpPr txBox="1"/>
          <p:nvPr/>
        </p:nvSpPr>
        <p:spPr>
          <a:xfrm>
            <a:off x="5038890" y="3213614"/>
            <a:ext cx="2114220" cy="21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14"/>
              </a:lnSpc>
              <a:spcBef>
                <a:spcPts val="0"/>
              </a:spcBef>
              <a:spcAft>
                <a:spcPts val="0"/>
              </a:spcAft>
            </a:pPr>
            <a:r>
              <a:rPr sz="1276" b="1" spc="200">
                <a:solidFill>
                  <a:srgbClr val="2E9E8A"/>
                </a:solidFill>
                <a:latin typeface="游ゴシック"/>
                <a:ea typeface="游ゴシック"/>
                <a:cs typeface="游ゴシック"/>
              </a:rPr>
              <a:t>エフビー介護の</a:t>
            </a:r>
          </a:p>
        </p:txBody>
      </p:sp>
      <p:sp>
        <p:nvSpPr>
          <p:cNvPr id="11" name="中央タイトル"/>
          <p:cNvSpPr txBox="1"/>
          <p:nvPr/>
        </p:nvSpPr>
        <p:spPr>
          <a:xfrm>
            <a:off x="4897942" y="3467320"/>
            <a:ext cx="2396116" cy="676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61"/>
              </a:lnSpc>
              <a:spcBef>
                <a:spcPts val="0"/>
              </a:spcBef>
              <a:spcAft>
                <a:spcPts val="0"/>
              </a:spcAft>
            </a:pPr>
            <a:r>
              <a:rPr sz="3884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共育実習</a:t>
            </a:r>
          </a:p>
        </p:txBody>
      </p:sp>
      <p:sp>
        <p:nvSpPr>
          <p:cNvPr id="12" name="共に育つ帯"/>
          <p:cNvSpPr/>
          <p:nvPr/>
        </p:nvSpPr>
        <p:spPr>
          <a:xfrm>
            <a:off x="5518113" y="4256629"/>
            <a:ext cx="1155773" cy="281896"/>
          </a:xfrm>
          <a:prstGeom prst="roundRect">
            <a:avLst>
              <a:gd name="adj" fmla="val 50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共に育つ"/>
          <p:cNvSpPr txBox="1"/>
          <p:nvPr/>
        </p:nvSpPr>
        <p:spPr>
          <a:xfrm>
            <a:off x="5518113" y="4256629"/>
            <a:ext cx="1155773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1165" b="1" spc="3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共に育つ</a:t>
            </a:r>
          </a:p>
        </p:txBody>
      </p:sp>
      <p:sp>
        <p:nvSpPr>
          <p:cNvPr id="14" name="環_エフビー介護サービス"/>
          <p:cNvSpPr/>
          <p:nvPr/>
        </p:nvSpPr>
        <p:spPr>
          <a:xfrm>
            <a:off x="4150918" y="1945082"/>
            <a:ext cx="3890164" cy="3890164"/>
          </a:xfrm>
          <a:prstGeom prst="blockArc">
            <a:avLst>
              <a:gd name="adj1" fmla="val 16356000"/>
              <a:gd name="adj2" fmla="val 19644000"/>
              <a:gd name="adj3" fmla="val 14492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環ラベル_エフビー介護サービス"/>
          <p:cNvSpPr txBox="1"/>
          <p:nvPr/>
        </p:nvSpPr>
        <p:spPr>
          <a:xfrm rot="1800000">
            <a:off x="6363801" y="2308855"/>
            <a:ext cx="1127584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31"/>
              </a:lnSpc>
              <a:spcBef>
                <a:spcPts val="0"/>
              </a:spcBef>
              <a:spcAft>
                <a:spcPts val="0"/>
              </a:spcAft>
            </a:pPr>
            <a:r>
              <a:rPr sz="1276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エフビー</a:t>
            </a:r>
          </a:p>
        </p:txBody>
      </p:sp>
      <p:cxnSp>
        <p:nvCxnSpPr>
          <p:cNvPr id="16" name="接続線_エフビー介護サービス"/>
          <p:cNvCxnSpPr/>
          <p:nvPr/>
        </p:nvCxnSpPr>
        <p:spPr>
          <a:xfrm flipH="1">
            <a:off x="7307825" y="2226978"/>
            <a:ext cx="951726" cy="0"/>
          </a:xfrm>
          <a:prstGeom prst="line">
            <a:avLst/>
          </a:prstGeom>
          <a:ln w="25400">
            <a:solidFill>
              <a:srgbClr val="F28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接続点_エフビー介護サービス"/>
          <p:cNvSpPr/>
          <p:nvPr/>
        </p:nvSpPr>
        <p:spPr>
          <a:xfrm>
            <a:off x="7265540" y="2184694"/>
            <a:ext cx="84569" cy="84569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カード_エフビー介護サービス"/>
          <p:cNvSpPr/>
          <p:nvPr/>
        </p:nvSpPr>
        <p:spPr>
          <a:xfrm>
            <a:off x="8259551" y="1606807"/>
            <a:ext cx="3312277" cy="124034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本文_エフビー介護サービス"/>
          <p:cNvSpPr txBox="1"/>
          <p:nvPr/>
        </p:nvSpPr>
        <p:spPr>
          <a:xfrm>
            <a:off x="8499163" y="1761850"/>
            <a:ext cx="2833054" cy="102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8"/>
              </a:lnSpc>
              <a:spcBef>
                <a:spcPts val="0"/>
              </a:spcBef>
              <a:spcAft>
                <a:spcPts val="110"/>
              </a:spcAft>
            </a:pPr>
            <a:r>
              <a:rPr sz="998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エフビー介護サービス</a:t>
            </a:r>
          </a:p>
          <a:p>
            <a:pPr algn="l">
              <a:lnSpc>
                <a:spcPts val="2097"/>
              </a:lnSpc>
              <a:spcBef>
                <a:spcPts val="0"/>
              </a:spcBef>
              <a:spcAft>
                <a:spcPts val="443"/>
              </a:spcAft>
            </a:pPr>
            <a:r>
              <a:rPr sz="1553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若い世代との出会い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学生から学び、地域の担い手づくりに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関わることができます。</a:t>
            </a:r>
          </a:p>
        </p:txBody>
      </p:sp>
      <p:sp>
        <p:nvSpPr>
          <p:cNvPr id="20" name="環_社員"/>
          <p:cNvSpPr/>
          <p:nvPr/>
        </p:nvSpPr>
        <p:spPr>
          <a:xfrm>
            <a:off x="4150918" y="1945082"/>
            <a:ext cx="3890164" cy="3890164"/>
          </a:xfrm>
          <a:prstGeom prst="blockArc">
            <a:avLst>
              <a:gd name="adj1" fmla="val 19956000"/>
              <a:gd name="adj2" fmla="val 1644000"/>
              <a:gd name="adj3" fmla="val 14492"/>
            </a:avLst>
          </a:prstGeom>
          <a:solidFill>
            <a:srgbClr val="F7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環ラベル_社員"/>
          <p:cNvSpPr txBox="1"/>
          <p:nvPr/>
        </p:nvSpPr>
        <p:spPr>
          <a:xfrm rot="5400000">
            <a:off x="7195394" y="3749216"/>
            <a:ext cx="1127584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442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社員</a:t>
            </a:r>
          </a:p>
        </p:txBody>
      </p:sp>
      <p:cxnSp>
        <p:nvCxnSpPr>
          <p:cNvPr id="22" name="接続線_社員"/>
          <p:cNvCxnSpPr/>
          <p:nvPr/>
        </p:nvCxnSpPr>
        <p:spPr>
          <a:xfrm flipH="1">
            <a:off x="8153840" y="3890164"/>
            <a:ext cx="105711" cy="0"/>
          </a:xfrm>
          <a:prstGeom prst="line">
            <a:avLst/>
          </a:prstGeom>
          <a:ln w="25400">
            <a:solidFill>
              <a:srgbClr val="F7AB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接続点_社員"/>
          <p:cNvSpPr/>
          <p:nvPr/>
        </p:nvSpPr>
        <p:spPr>
          <a:xfrm>
            <a:off x="8111556" y="3847880"/>
            <a:ext cx="84569" cy="84569"/>
          </a:xfrm>
          <a:prstGeom prst="ellipse">
            <a:avLst/>
          </a:prstGeom>
          <a:solidFill>
            <a:srgbClr val="F7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カード_社員"/>
          <p:cNvSpPr/>
          <p:nvPr/>
        </p:nvSpPr>
        <p:spPr>
          <a:xfrm>
            <a:off x="8259551" y="3269993"/>
            <a:ext cx="3312277" cy="124034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本文_社員"/>
          <p:cNvSpPr txBox="1"/>
          <p:nvPr/>
        </p:nvSpPr>
        <p:spPr>
          <a:xfrm>
            <a:off x="8499163" y="3425036"/>
            <a:ext cx="2833054" cy="102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8"/>
              </a:lnSpc>
              <a:spcBef>
                <a:spcPts val="0"/>
              </a:spcBef>
              <a:spcAft>
                <a:spcPts val="110"/>
              </a:spcAft>
            </a:pPr>
            <a:r>
              <a:rPr sz="998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社員</a:t>
            </a:r>
          </a:p>
          <a:p>
            <a:pPr algn="l">
              <a:lnSpc>
                <a:spcPts val="2097"/>
              </a:lnSpc>
              <a:spcBef>
                <a:spcPts val="0"/>
              </a:spcBef>
              <a:spcAft>
                <a:spcPts val="443"/>
              </a:spcAft>
            </a:pPr>
            <a:r>
              <a:rPr sz="1553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学びと生きがいが育つ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学生に教えることで、仕事の意味を再発見。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利用者の生きがいも育ちます。</a:t>
            </a:r>
          </a:p>
        </p:txBody>
      </p:sp>
      <p:sp>
        <p:nvSpPr>
          <p:cNvPr id="26" name="環_地域"/>
          <p:cNvSpPr/>
          <p:nvPr/>
        </p:nvSpPr>
        <p:spPr>
          <a:xfrm>
            <a:off x="4150918" y="1945082"/>
            <a:ext cx="3890164" cy="3890164"/>
          </a:xfrm>
          <a:prstGeom prst="blockArc">
            <a:avLst>
              <a:gd name="adj1" fmla="val 1955999"/>
              <a:gd name="adj2" fmla="val 5244000"/>
              <a:gd name="adj3" fmla="val 14492"/>
            </a:avLst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環ラベル_地域"/>
          <p:cNvSpPr txBox="1"/>
          <p:nvPr/>
        </p:nvSpPr>
        <p:spPr>
          <a:xfrm rot="19800000">
            <a:off x="6363801" y="5189578"/>
            <a:ext cx="1127584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442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地域</a:t>
            </a:r>
          </a:p>
        </p:txBody>
      </p:sp>
      <p:cxnSp>
        <p:nvCxnSpPr>
          <p:cNvPr id="28" name="接続線_地域"/>
          <p:cNvCxnSpPr/>
          <p:nvPr/>
        </p:nvCxnSpPr>
        <p:spPr>
          <a:xfrm flipH="1">
            <a:off x="7307825" y="5553350"/>
            <a:ext cx="951726" cy="0"/>
          </a:xfrm>
          <a:prstGeom prst="line">
            <a:avLst/>
          </a:prstGeom>
          <a:ln w="25400">
            <a:solidFill>
              <a:srgbClr val="2E9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接続点_地域"/>
          <p:cNvSpPr/>
          <p:nvPr/>
        </p:nvSpPr>
        <p:spPr>
          <a:xfrm>
            <a:off x="7265540" y="5511066"/>
            <a:ext cx="84569" cy="84569"/>
          </a:xfrm>
          <a:prstGeom prst="ellipse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カード_地域"/>
          <p:cNvSpPr/>
          <p:nvPr/>
        </p:nvSpPr>
        <p:spPr>
          <a:xfrm>
            <a:off x="8259551" y="4933179"/>
            <a:ext cx="3312277" cy="124034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本文_地域"/>
          <p:cNvSpPr txBox="1"/>
          <p:nvPr/>
        </p:nvSpPr>
        <p:spPr>
          <a:xfrm>
            <a:off x="8499163" y="5088222"/>
            <a:ext cx="2833054" cy="102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8"/>
              </a:lnSpc>
              <a:spcBef>
                <a:spcPts val="0"/>
              </a:spcBef>
              <a:spcAft>
                <a:spcPts val="110"/>
              </a:spcAft>
            </a:pPr>
            <a:r>
              <a:rPr sz="998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地域</a:t>
            </a:r>
          </a:p>
          <a:p>
            <a:pPr algn="l">
              <a:lnSpc>
                <a:spcPts val="2097"/>
              </a:lnSpc>
              <a:spcBef>
                <a:spcPts val="0"/>
              </a:spcBef>
              <a:spcAft>
                <a:spcPts val="443"/>
              </a:spcAft>
            </a:pPr>
            <a:r>
              <a:rPr sz="1553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担い手とまちの未来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地域を担う人が育ち、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介護の現場が身近になります。</a:t>
            </a:r>
          </a:p>
        </p:txBody>
      </p:sp>
      <p:sp>
        <p:nvSpPr>
          <p:cNvPr id="32" name="環_大学"/>
          <p:cNvSpPr/>
          <p:nvPr/>
        </p:nvSpPr>
        <p:spPr>
          <a:xfrm>
            <a:off x="4150918" y="1945082"/>
            <a:ext cx="3890164" cy="3890164"/>
          </a:xfrm>
          <a:prstGeom prst="blockArc">
            <a:avLst>
              <a:gd name="adj1" fmla="val 5556000"/>
              <a:gd name="adj2" fmla="val 8844000"/>
              <a:gd name="adj3" fmla="val 14492"/>
            </a:avLst>
          </a:pr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環ラベル_大学"/>
          <p:cNvSpPr txBox="1"/>
          <p:nvPr/>
        </p:nvSpPr>
        <p:spPr>
          <a:xfrm rot="1800000">
            <a:off x="4700615" y="5189578"/>
            <a:ext cx="1127584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442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大学</a:t>
            </a:r>
          </a:p>
        </p:txBody>
      </p:sp>
      <p:cxnSp>
        <p:nvCxnSpPr>
          <p:cNvPr id="34" name="接続線_大学"/>
          <p:cNvCxnSpPr/>
          <p:nvPr/>
        </p:nvCxnSpPr>
        <p:spPr>
          <a:xfrm>
            <a:off x="3932449" y="5553350"/>
            <a:ext cx="951726" cy="0"/>
          </a:xfrm>
          <a:prstGeom prst="line">
            <a:avLst/>
          </a:prstGeom>
          <a:ln w="25400">
            <a:solidFill>
              <a:srgbClr val="54C5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接続点_大学"/>
          <p:cNvSpPr/>
          <p:nvPr/>
        </p:nvSpPr>
        <p:spPr>
          <a:xfrm>
            <a:off x="4841891" y="5511066"/>
            <a:ext cx="84569" cy="84569"/>
          </a:xfrm>
          <a:prstGeom prst="ellipse">
            <a:avLst/>
          </a:pr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カード_大学"/>
          <p:cNvSpPr/>
          <p:nvPr/>
        </p:nvSpPr>
        <p:spPr>
          <a:xfrm>
            <a:off x="620171" y="4933179"/>
            <a:ext cx="3312277" cy="124034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本文_大学"/>
          <p:cNvSpPr txBox="1"/>
          <p:nvPr/>
        </p:nvSpPr>
        <p:spPr>
          <a:xfrm>
            <a:off x="859783" y="5088222"/>
            <a:ext cx="2833054" cy="102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8"/>
              </a:lnSpc>
              <a:spcBef>
                <a:spcPts val="0"/>
              </a:spcBef>
              <a:spcAft>
                <a:spcPts val="110"/>
              </a:spcAft>
            </a:pPr>
            <a:r>
              <a:rPr sz="998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大学</a:t>
            </a:r>
          </a:p>
          <a:p>
            <a:pPr algn="l">
              <a:lnSpc>
                <a:spcPts val="2097"/>
              </a:lnSpc>
              <a:spcBef>
                <a:spcPts val="0"/>
              </a:spcBef>
              <a:spcAft>
                <a:spcPts val="443"/>
              </a:spcAft>
            </a:pPr>
            <a:r>
              <a:rPr sz="1553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学部・学科の魅力向上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魅力的な実習で、学部・学科の魅力が向上。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社会テーマ型プログラム「STA」で連携。</a:t>
            </a:r>
          </a:p>
        </p:txBody>
      </p:sp>
      <p:sp>
        <p:nvSpPr>
          <p:cNvPr id="38" name="環_専門学校"/>
          <p:cNvSpPr/>
          <p:nvPr/>
        </p:nvSpPr>
        <p:spPr>
          <a:xfrm>
            <a:off x="4150918" y="1945082"/>
            <a:ext cx="3890164" cy="3890164"/>
          </a:xfrm>
          <a:prstGeom prst="blockArc">
            <a:avLst>
              <a:gd name="adj1" fmla="val 9156000"/>
              <a:gd name="adj2" fmla="val 12443999"/>
              <a:gd name="adj3" fmla="val 14492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環ラベル_専門学校"/>
          <p:cNvSpPr txBox="1"/>
          <p:nvPr/>
        </p:nvSpPr>
        <p:spPr>
          <a:xfrm rot="16200000">
            <a:off x="3869022" y="3749216"/>
            <a:ext cx="1127584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31"/>
              </a:lnSpc>
              <a:spcBef>
                <a:spcPts val="0"/>
              </a:spcBef>
              <a:spcAft>
                <a:spcPts val="0"/>
              </a:spcAft>
            </a:pPr>
            <a:r>
              <a:rPr sz="1276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専門学校</a:t>
            </a:r>
          </a:p>
        </p:txBody>
      </p:sp>
      <p:cxnSp>
        <p:nvCxnSpPr>
          <p:cNvPr id="40" name="接続線_専門学校"/>
          <p:cNvCxnSpPr/>
          <p:nvPr/>
        </p:nvCxnSpPr>
        <p:spPr>
          <a:xfrm>
            <a:off x="3932449" y="3890164"/>
            <a:ext cx="105711" cy="0"/>
          </a:xfrm>
          <a:prstGeom prst="line">
            <a:avLst/>
          </a:prstGeom>
          <a:ln w="25400">
            <a:solidFill>
              <a:srgbClr val="3FB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接続点_専門学校"/>
          <p:cNvSpPr/>
          <p:nvPr/>
        </p:nvSpPr>
        <p:spPr>
          <a:xfrm>
            <a:off x="3995875" y="3847880"/>
            <a:ext cx="84569" cy="84569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カード_専門学校"/>
          <p:cNvSpPr/>
          <p:nvPr/>
        </p:nvSpPr>
        <p:spPr>
          <a:xfrm>
            <a:off x="620171" y="3269993"/>
            <a:ext cx="3312277" cy="124034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本文_専門学校"/>
          <p:cNvSpPr txBox="1"/>
          <p:nvPr/>
        </p:nvSpPr>
        <p:spPr>
          <a:xfrm>
            <a:off x="859783" y="3425036"/>
            <a:ext cx="2833054" cy="102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8"/>
              </a:lnSpc>
              <a:spcBef>
                <a:spcPts val="0"/>
              </a:spcBef>
              <a:spcAft>
                <a:spcPts val="110"/>
              </a:spcAft>
            </a:pPr>
            <a:r>
              <a:rPr sz="998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専門学校</a:t>
            </a:r>
          </a:p>
          <a:p>
            <a:pPr algn="l">
              <a:lnSpc>
                <a:spcPts val="2097"/>
              </a:lnSpc>
              <a:spcBef>
                <a:spcPts val="0"/>
              </a:spcBef>
              <a:spcAft>
                <a:spcPts val="443"/>
              </a:spcAft>
            </a:pPr>
            <a:r>
              <a:rPr sz="1553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実習先の選択肢が広がる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単位つきの実習先が増え、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介護の学びの入口が広がります。</a:t>
            </a:r>
          </a:p>
        </p:txBody>
      </p:sp>
      <p:sp>
        <p:nvSpPr>
          <p:cNvPr id="44" name="環_高校"/>
          <p:cNvSpPr/>
          <p:nvPr/>
        </p:nvSpPr>
        <p:spPr>
          <a:xfrm>
            <a:off x="4150918" y="1945082"/>
            <a:ext cx="3890164" cy="3890164"/>
          </a:xfrm>
          <a:prstGeom prst="blockArc">
            <a:avLst>
              <a:gd name="adj1" fmla="val 12756000"/>
              <a:gd name="adj2" fmla="val 16043999"/>
              <a:gd name="adj3" fmla="val 14492"/>
            </a:avLst>
          </a:prstGeom>
          <a:solidFill>
            <a:srgbClr val="86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環ラベル_高校"/>
          <p:cNvSpPr txBox="1"/>
          <p:nvPr/>
        </p:nvSpPr>
        <p:spPr>
          <a:xfrm rot="19800000">
            <a:off x="4700615" y="2308855"/>
            <a:ext cx="1127584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442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高校</a:t>
            </a:r>
          </a:p>
        </p:txBody>
      </p:sp>
      <p:cxnSp>
        <p:nvCxnSpPr>
          <p:cNvPr id="46" name="接続線_高校"/>
          <p:cNvCxnSpPr/>
          <p:nvPr/>
        </p:nvCxnSpPr>
        <p:spPr>
          <a:xfrm>
            <a:off x="3932449" y="2226978"/>
            <a:ext cx="951726" cy="0"/>
          </a:xfrm>
          <a:prstGeom prst="line">
            <a:avLst/>
          </a:prstGeom>
          <a:ln w="25400">
            <a:solidFill>
              <a:srgbClr val="86D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接続点_高校"/>
          <p:cNvSpPr/>
          <p:nvPr/>
        </p:nvSpPr>
        <p:spPr>
          <a:xfrm>
            <a:off x="4841891" y="2184694"/>
            <a:ext cx="84569" cy="84569"/>
          </a:xfrm>
          <a:prstGeom prst="ellipse">
            <a:avLst/>
          </a:prstGeom>
          <a:solidFill>
            <a:srgbClr val="86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カード_高校"/>
          <p:cNvSpPr/>
          <p:nvPr/>
        </p:nvSpPr>
        <p:spPr>
          <a:xfrm>
            <a:off x="620171" y="1606807"/>
            <a:ext cx="3312277" cy="124034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本文_高校"/>
          <p:cNvSpPr txBox="1"/>
          <p:nvPr/>
        </p:nvSpPr>
        <p:spPr>
          <a:xfrm>
            <a:off x="859783" y="1761850"/>
            <a:ext cx="2833054" cy="102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8"/>
              </a:lnSpc>
              <a:spcBef>
                <a:spcPts val="0"/>
              </a:spcBef>
              <a:spcAft>
                <a:spcPts val="110"/>
              </a:spcAft>
            </a:pPr>
            <a:r>
              <a:rPr sz="998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高校</a:t>
            </a:r>
          </a:p>
          <a:p>
            <a:pPr algn="l">
              <a:lnSpc>
                <a:spcPts val="2097"/>
              </a:lnSpc>
              <a:spcBef>
                <a:spcPts val="0"/>
              </a:spcBef>
              <a:spcAft>
                <a:spcPts val="443"/>
              </a:spcAft>
            </a:pPr>
            <a:r>
              <a:rPr sz="1553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探究と進路に生きる実績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単位つきで受け入れやすく、探究テーマ</a:t>
            </a:r>
          </a:p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探しと面接で語れる実績になります。</a:t>
            </a:r>
          </a:p>
        </p:txBody>
      </p:sp>
      <p:sp>
        <p:nvSpPr>
          <p:cNvPr id="50" name="循環マーク白"/>
          <p:cNvSpPr/>
          <p:nvPr/>
        </p:nvSpPr>
        <p:spPr>
          <a:xfrm>
            <a:off x="5997336" y="2128314"/>
            <a:ext cx="197327" cy="19732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循環マーク矢印"/>
          <p:cNvSpPr/>
          <p:nvPr/>
        </p:nvSpPr>
        <p:spPr>
          <a:xfrm>
            <a:off x="6067810" y="2198788"/>
            <a:ext cx="84569" cy="56380"/>
          </a:xfrm>
          <a:custGeom>
            <a:avLst/>
            <a:gdLst/>
            <a:ahLst/>
            <a:cxnLst/>
            <a:rect l="l" t="t" r="r" b="b"/>
            <a:pathLst>
              <a:path w="84569" h="56380">
                <a:moveTo>
                  <a:pt x="84569" y="28190"/>
                </a:moveTo>
                <a:lnTo>
                  <a:pt x="0" y="56380"/>
                </a:lnTo>
                <a:lnTo>
                  <a:pt x="0" y="0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循環マーク白"/>
          <p:cNvSpPr/>
          <p:nvPr/>
        </p:nvSpPr>
        <p:spPr>
          <a:xfrm>
            <a:off x="7437698" y="2959908"/>
            <a:ext cx="197327" cy="19732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循環マーク矢印"/>
          <p:cNvSpPr/>
          <p:nvPr/>
        </p:nvSpPr>
        <p:spPr>
          <a:xfrm>
            <a:off x="7497854" y="3020063"/>
            <a:ext cx="66697" cy="87334"/>
          </a:xfrm>
          <a:custGeom>
            <a:avLst/>
            <a:gdLst/>
            <a:ahLst/>
            <a:cxnLst/>
            <a:rect l="l" t="t" r="r" b="b"/>
            <a:pathLst>
              <a:path w="66697" h="87334">
                <a:moveTo>
                  <a:pt x="66697" y="87334"/>
                </a:moveTo>
                <a:lnTo>
                  <a:pt x="0" y="28190"/>
                </a:lnTo>
                <a:lnTo>
                  <a:pt x="48826" y="0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循環マーク白"/>
          <p:cNvSpPr/>
          <p:nvPr/>
        </p:nvSpPr>
        <p:spPr>
          <a:xfrm>
            <a:off x="7437698" y="4623094"/>
            <a:ext cx="197327" cy="19732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循環マーク矢印"/>
          <p:cNvSpPr/>
          <p:nvPr/>
        </p:nvSpPr>
        <p:spPr>
          <a:xfrm>
            <a:off x="7508172" y="4683250"/>
            <a:ext cx="66697" cy="87333"/>
          </a:xfrm>
          <a:custGeom>
            <a:avLst/>
            <a:gdLst/>
            <a:ahLst/>
            <a:cxnLst/>
            <a:rect l="l" t="t" r="r" b="b"/>
            <a:pathLst>
              <a:path w="66697" h="87333">
                <a:moveTo>
                  <a:pt x="0" y="87333"/>
                </a:moveTo>
                <a:lnTo>
                  <a:pt x="17871" y="0"/>
                </a:lnTo>
                <a:lnTo>
                  <a:pt x="66697" y="28189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循環マーク白"/>
          <p:cNvSpPr/>
          <p:nvPr/>
        </p:nvSpPr>
        <p:spPr>
          <a:xfrm>
            <a:off x="5997336" y="5454687"/>
            <a:ext cx="197327" cy="19732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循環マーク矢印"/>
          <p:cNvSpPr/>
          <p:nvPr/>
        </p:nvSpPr>
        <p:spPr>
          <a:xfrm>
            <a:off x="6039621" y="5525161"/>
            <a:ext cx="84569" cy="56379"/>
          </a:xfrm>
          <a:custGeom>
            <a:avLst/>
            <a:gdLst/>
            <a:ahLst/>
            <a:cxnLst/>
            <a:rect l="l" t="t" r="r" b="b"/>
            <a:pathLst>
              <a:path w="84569" h="56379">
                <a:moveTo>
                  <a:pt x="0" y="28189"/>
                </a:moveTo>
                <a:lnTo>
                  <a:pt x="84569" y="0"/>
                </a:lnTo>
                <a:lnTo>
                  <a:pt x="84569" y="56379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循環マーク白"/>
          <p:cNvSpPr/>
          <p:nvPr/>
        </p:nvSpPr>
        <p:spPr>
          <a:xfrm>
            <a:off x="4556975" y="4623094"/>
            <a:ext cx="197327" cy="19732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循環マーク矢印"/>
          <p:cNvSpPr/>
          <p:nvPr/>
        </p:nvSpPr>
        <p:spPr>
          <a:xfrm>
            <a:off x="4627449" y="4672931"/>
            <a:ext cx="66697" cy="87334"/>
          </a:xfrm>
          <a:custGeom>
            <a:avLst/>
            <a:gdLst/>
            <a:ahLst/>
            <a:cxnLst/>
            <a:rect l="l" t="t" r="r" b="b"/>
            <a:pathLst>
              <a:path w="66697" h="87334">
                <a:moveTo>
                  <a:pt x="0" y="0"/>
                </a:moveTo>
                <a:lnTo>
                  <a:pt x="66697" y="59144"/>
                </a:lnTo>
                <a:lnTo>
                  <a:pt x="17871" y="87334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循環マーク白"/>
          <p:cNvSpPr/>
          <p:nvPr/>
        </p:nvSpPr>
        <p:spPr>
          <a:xfrm>
            <a:off x="4556975" y="2959908"/>
            <a:ext cx="197327" cy="19732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循環マーク矢印"/>
          <p:cNvSpPr/>
          <p:nvPr/>
        </p:nvSpPr>
        <p:spPr>
          <a:xfrm>
            <a:off x="4617131" y="3009745"/>
            <a:ext cx="66697" cy="87334"/>
          </a:xfrm>
          <a:custGeom>
            <a:avLst/>
            <a:gdLst/>
            <a:ahLst/>
            <a:cxnLst/>
            <a:rect l="l" t="t" r="r" b="b"/>
            <a:pathLst>
              <a:path w="66697" h="87334">
                <a:moveTo>
                  <a:pt x="66697" y="0"/>
                </a:moveTo>
                <a:lnTo>
                  <a:pt x="48826" y="87334"/>
                </a:lnTo>
                <a:lnTo>
                  <a:pt x="0" y="59144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実習のブランド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実習のブランドは、先輩の声で育っていく</a:t>
            </a:r>
          </a:p>
        </p:txBody>
      </p:sp>
      <p:sp>
        <p:nvSpPr>
          <p:cNvPr id="8" name="サブタイトル"/>
          <p:cNvSpPr txBox="1"/>
          <p:nvPr/>
        </p:nvSpPr>
        <p:spPr>
          <a:xfrm>
            <a:off x="620171" y="831593"/>
            <a:ext cx="8456879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109" b="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回るほど、大学にも学生さんにも、メリットが広がります</a:t>
            </a:r>
          </a:p>
        </p:txBody>
      </p:sp>
      <p:sp>
        <p:nvSpPr>
          <p:cNvPr id="9" name="手順_共育実習を行う"/>
          <p:cNvSpPr/>
          <p:nvPr/>
        </p:nvSpPr>
        <p:spPr>
          <a:xfrm>
            <a:off x="620171" y="1522238"/>
            <a:ext cx="2776675" cy="732929"/>
          </a:xfrm>
          <a:prstGeom prst="homePlat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手順文_共育実習を行う"/>
          <p:cNvSpPr txBox="1"/>
          <p:nvPr/>
        </p:nvSpPr>
        <p:spPr>
          <a:xfrm>
            <a:off x="831593" y="1522238"/>
            <a:ext cx="2057840" cy="7329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1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</a:pPr>
            <a:r>
              <a:rPr sz="138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共育実習を行う</a:t>
            </a:r>
          </a:p>
        </p:txBody>
      </p:sp>
      <p:sp>
        <p:nvSpPr>
          <p:cNvPr id="11" name="ラベル"/>
          <p:cNvSpPr/>
          <p:nvPr/>
        </p:nvSpPr>
        <p:spPr>
          <a:xfrm>
            <a:off x="620171" y="2579348"/>
            <a:ext cx="1409480" cy="281896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ラベル_大学にとって"/>
          <p:cNvSpPr txBox="1"/>
          <p:nvPr/>
        </p:nvSpPr>
        <p:spPr>
          <a:xfrm>
            <a:off x="620171" y="2579348"/>
            <a:ext cx="1409480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大学にとって</a:t>
            </a:r>
          </a:p>
        </p:txBody>
      </p:sp>
      <p:sp>
        <p:nvSpPr>
          <p:cNvPr id="13" name="本文_共育実習を行う_大学にとって"/>
          <p:cNvSpPr txBox="1"/>
          <p:nvPr/>
        </p:nvSpPr>
        <p:spPr>
          <a:xfrm>
            <a:off x="620171" y="3002192"/>
            <a:ext cx="2565253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単位つき・社会テーマ型の、講義を生かす実践の場が増えます</a:t>
            </a:r>
          </a:p>
        </p:txBody>
      </p:sp>
      <p:sp>
        <p:nvSpPr>
          <p:cNvPr id="14" name="ラベル"/>
          <p:cNvSpPr/>
          <p:nvPr/>
        </p:nvSpPr>
        <p:spPr>
          <a:xfrm>
            <a:off x="620171" y="4214345"/>
            <a:ext cx="1409480" cy="28189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ラベル_学生さんにとって"/>
          <p:cNvSpPr txBox="1"/>
          <p:nvPr/>
        </p:nvSpPr>
        <p:spPr>
          <a:xfrm>
            <a:off x="620171" y="4214345"/>
            <a:ext cx="1409480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学生さんにとって</a:t>
            </a:r>
          </a:p>
        </p:txBody>
      </p:sp>
      <p:sp>
        <p:nvSpPr>
          <p:cNvPr id="16" name="本文_共育実習を行う_学生さんにとって"/>
          <p:cNvSpPr txBox="1"/>
          <p:nvPr/>
        </p:nvSpPr>
        <p:spPr>
          <a:xfrm>
            <a:off x="620171" y="4637188"/>
            <a:ext cx="2565253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現場の体験から、「自分に合う仕事か」を考えるきっかけになります</a:t>
            </a:r>
          </a:p>
        </p:txBody>
      </p:sp>
      <p:sp>
        <p:nvSpPr>
          <p:cNvPr id="17" name="手順_声が集まる"/>
          <p:cNvSpPr/>
          <p:nvPr/>
        </p:nvSpPr>
        <p:spPr>
          <a:xfrm>
            <a:off x="3396846" y="1522238"/>
            <a:ext cx="2776675" cy="732929"/>
          </a:xfrm>
          <a:prstGeom prst="chevron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手順文_声が集まる"/>
          <p:cNvSpPr txBox="1"/>
          <p:nvPr/>
        </p:nvSpPr>
        <p:spPr>
          <a:xfrm>
            <a:off x="3777406" y="1522238"/>
            <a:ext cx="2057840" cy="7329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2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</a:pPr>
            <a:r>
              <a:rPr sz="138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声が集まる</a:t>
            </a:r>
          </a:p>
        </p:txBody>
      </p:sp>
      <p:sp>
        <p:nvSpPr>
          <p:cNvPr id="19" name="ラベル"/>
          <p:cNvSpPr/>
          <p:nvPr/>
        </p:nvSpPr>
        <p:spPr>
          <a:xfrm>
            <a:off x="3396846" y="2579348"/>
            <a:ext cx="1409480" cy="281896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ラベル_大学にとって"/>
          <p:cNvSpPr txBox="1"/>
          <p:nvPr/>
        </p:nvSpPr>
        <p:spPr>
          <a:xfrm>
            <a:off x="3396846" y="2579348"/>
            <a:ext cx="1409480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大学にとって</a:t>
            </a:r>
          </a:p>
        </p:txBody>
      </p:sp>
      <p:sp>
        <p:nvSpPr>
          <p:cNvPr id="21" name="本文_声が集まる_大学にとって"/>
          <p:cNvSpPr txBox="1"/>
          <p:nvPr/>
        </p:nvSpPr>
        <p:spPr>
          <a:xfrm>
            <a:off x="3396846" y="3002192"/>
            <a:ext cx="2565253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学生の気づきや感想が、先生にも伝わり、指導に生かせます</a:t>
            </a:r>
          </a:p>
        </p:txBody>
      </p:sp>
      <p:sp>
        <p:nvSpPr>
          <p:cNvPr id="22" name="ラベル"/>
          <p:cNvSpPr/>
          <p:nvPr/>
        </p:nvSpPr>
        <p:spPr>
          <a:xfrm>
            <a:off x="3396846" y="4214345"/>
            <a:ext cx="1409480" cy="28189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ラベル_学生さんにとって"/>
          <p:cNvSpPr txBox="1"/>
          <p:nvPr/>
        </p:nvSpPr>
        <p:spPr>
          <a:xfrm>
            <a:off x="3396846" y="4214345"/>
            <a:ext cx="1409480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学生さんにとって</a:t>
            </a:r>
          </a:p>
        </p:txBody>
      </p:sp>
      <p:sp>
        <p:nvSpPr>
          <p:cNvPr id="24" name="本文_声が集まる_学生さんにとって"/>
          <p:cNvSpPr txBox="1"/>
          <p:nvPr/>
        </p:nvSpPr>
        <p:spPr>
          <a:xfrm>
            <a:off x="3396846" y="4637188"/>
            <a:ext cx="2565253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自分の体験が「価値のある声」として残ります</a:t>
            </a:r>
          </a:p>
        </p:txBody>
      </p:sp>
      <p:sp>
        <p:nvSpPr>
          <p:cNvPr id="25" name="手順_実習サイトに載せる"/>
          <p:cNvSpPr/>
          <p:nvPr/>
        </p:nvSpPr>
        <p:spPr>
          <a:xfrm>
            <a:off x="6173521" y="1522238"/>
            <a:ext cx="2776675" cy="732929"/>
          </a:xfrm>
          <a:prstGeom prst="chevron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手順文_実習サイトに載せる"/>
          <p:cNvSpPr txBox="1"/>
          <p:nvPr/>
        </p:nvSpPr>
        <p:spPr>
          <a:xfrm>
            <a:off x="6554081" y="1522238"/>
            <a:ext cx="2057840" cy="7329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3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</a:pPr>
            <a:r>
              <a:rPr sz="138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実習サイトに載せる</a:t>
            </a:r>
          </a:p>
        </p:txBody>
      </p:sp>
      <p:sp>
        <p:nvSpPr>
          <p:cNvPr id="27" name="ラベル"/>
          <p:cNvSpPr/>
          <p:nvPr/>
        </p:nvSpPr>
        <p:spPr>
          <a:xfrm>
            <a:off x="6173521" y="2579348"/>
            <a:ext cx="1409480" cy="281896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ラベル_大学にとって"/>
          <p:cNvSpPr txBox="1"/>
          <p:nvPr/>
        </p:nvSpPr>
        <p:spPr>
          <a:xfrm>
            <a:off x="6173521" y="2579348"/>
            <a:ext cx="1409480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大学にとって</a:t>
            </a:r>
          </a:p>
        </p:txBody>
      </p:sp>
      <p:sp>
        <p:nvSpPr>
          <p:cNvPr id="29" name="本文_実習サイトに載せる_大学にとって"/>
          <p:cNvSpPr txBox="1"/>
          <p:nvPr/>
        </p:nvSpPr>
        <p:spPr>
          <a:xfrm>
            <a:off x="6173521" y="3002192"/>
            <a:ext cx="2565253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プログラムと口コミで、受け入れを安心して判断できます</a:t>
            </a:r>
          </a:p>
        </p:txBody>
      </p:sp>
      <p:sp>
        <p:nvSpPr>
          <p:cNvPr id="30" name="ラベル"/>
          <p:cNvSpPr/>
          <p:nvPr/>
        </p:nvSpPr>
        <p:spPr>
          <a:xfrm>
            <a:off x="6173521" y="4214345"/>
            <a:ext cx="1409480" cy="28189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ラベル_学生さんにとって"/>
          <p:cNvSpPr txBox="1"/>
          <p:nvPr/>
        </p:nvSpPr>
        <p:spPr>
          <a:xfrm>
            <a:off x="6173521" y="4214345"/>
            <a:ext cx="1409480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学生さんにとって</a:t>
            </a:r>
          </a:p>
        </p:txBody>
      </p:sp>
      <p:sp>
        <p:nvSpPr>
          <p:cNvPr id="32" name="本文_実習サイトに載せる_学生さんにとって"/>
          <p:cNvSpPr txBox="1"/>
          <p:nvPr/>
        </p:nvSpPr>
        <p:spPr>
          <a:xfrm>
            <a:off x="6173521" y="4637188"/>
            <a:ext cx="2565253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先輩のリアルな声で、参加前に実習のイメージがつかめます</a:t>
            </a:r>
          </a:p>
        </p:txBody>
      </p:sp>
      <p:sp>
        <p:nvSpPr>
          <p:cNvPr id="33" name="手順_見て、動く"/>
          <p:cNvSpPr/>
          <p:nvPr/>
        </p:nvSpPr>
        <p:spPr>
          <a:xfrm>
            <a:off x="8950197" y="1522238"/>
            <a:ext cx="2621632" cy="732929"/>
          </a:xfrm>
          <a:prstGeom prst="chevron">
            <a:avLst/>
          </a:prstGeom>
          <a:solidFill>
            <a:srgbClr val="F7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手順文_見て、動く"/>
          <p:cNvSpPr txBox="1"/>
          <p:nvPr/>
        </p:nvSpPr>
        <p:spPr>
          <a:xfrm>
            <a:off x="9330756" y="1522238"/>
            <a:ext cx="2057840" cy="7329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4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</a:pPr>
            <a:r>
              <a:rPr sz="138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見て、動く</a:t>
            </a:r>
          </a:p>
        </p:txBody>
      </p:sp>
      <p:sp>
        <p:nvSpPr>
          <p:cNvPr id="35" name="ラベル"/>
          <p:cNvSpPr/>
          <p:nvPr/>
        </p:nvSpPr>
        <p:spPr>
          <a:xfrm>
            <a:off x="8950197" y="2579348"/>
            <a:ext cx="1409480" cy="281896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ラベル_大学にとって"/>
          <p:cNvSpPr txBox="1"/>
          <p:nvPr/>
        </p:nvSpPr>
        <p:spPr>
          <a:xfrm>
            <a:off x="8950197" y="2579348"/>
            <a:ext cx="1409480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大学にとって</a:t>
            </a:r>
          </a:p>
        </p:txBody>
      </p:sp>
      <p:sp>
        <p:nvSpPr>
          <p:cNvPr id="37" name="本文_見て、動く_大学にとって"/>
          <p:cNvSpPr txBox="1"/>
          <p:nvPr/>
        </p:nvSpPr>
        <p:spPr>
          <a:xfrm>
            <a:off x="8950197" y="3002192"/>
            <a:ext cx="2565253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実習の評判が、学部・学科の魅力と連携先の広がりにつながります</a:t>
            </a:r>
          </a:p>
        </p:txBody>
      </p:sp>
      <p:sp>
        <p:nvSpPr>
          <p:cNvPr id="38" name="ラベル"/>
          <p:cNvSpPr/>
          <p:nvPr/>
        </p:nvSpPr>
        <p:spPr>
          <a:xfrm>
            <a:off x="8950197" y="4214345"/>
            <a:ext cx="1409480" cy="28189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ラベル_学生さんにとって"/>
          <p:cNvSpPr txBox="1"/>
          <p:nvPr/>
        </p:nvSpPr>
        <p:spPr>
          <a:xfrm>
            <a:off x="8950197" y="4214345"/>
            <a:ext cx="1409480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学生さんにとって</a:t>
            </a:r>
          </a:p>
        </p:txBody>
      </p:sp>
      <p:sp>
        <p:nvSpPr>
          <p:cNvPr id="40" name="本文_見て、動く_学生さんにとって"/>
          <p:cNvSpPr txBox="1"/>
          <p:nvPr/>
        </p:nvSpPr>
        <p:spPr>
          <a:xfrm>
            <a:off x="8950197" y="4637188"/>
            <a:ext cx="2565253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2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自分に合う実習を選び、次の学びと進路へつなげられます</a:t>
            </a:r>
          </a:p>
        </p:txBody>
      </p:sp>
      <p:cxnSp>
        <p:nvCxnSpPr>
          <p:cNvPr id="41" name="区切り"/>
          <p:cNvCxnSpPr/>
          <p:nvPr/>
        </p:nvCxnSpPr>
        <p:spPr>
          <a:xfrm>
            <a:off x="620171" y="4031112"/>
            <a:ext cx="10951658" cy="0"/>
          </a:xfrm>
          <a:prstGeom prst="line">
            <a:avLst/>
          </a:prstGeom>
          <a:ln w="1905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循環矢印"/>
          <p:cNvSpPr/>
          <p:nvPr/>
        </p:nvSpPr>
        <p:spPr>
          <a:xfrm>
            <a:off x="620171" y="5891625"/>
            <a:ext cx="10951658" cy="465128"/>
          </a:xfrm>
          <a:prstGeom prst="leftArrow">
            <a:avLst>
              <a:gd name="adj1" fmla="val 62000"/>
              <a:gd name="adj2" fmla="val 9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循環文"/>
          <p:cNvSpPr txBox="1"/>
          <p:nvPr/>
        </p:nvSpPr>
        <p:spPr>
          <a:xfrm>
            <a:off x="1395385" y="5891625"/>
            <a:ext cx="9824074" cy="4651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331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次の大学・次の学生へ。回るほど、実習への信頼が積み上がります</a:t>
            </a:r>
          </a:p>
        </p:txBody>
      </p:sp>
      <p:sp>
        <p:nvSpPr>
          <p:cNvPr id="44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時代の背景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日本の人口は、2008年をピークに減り続けていきます</a:t>
            </a:r>
          </a:p>
        </p:txBody>
      </p:sp>
      <p:sp>
        <p:nvSpPr>
          <p:cNvPr id="8" name="グラフ見出し"/>
          <p:cNvSpPr txBox="1"/>
          <p:nvPr/>
        </p:nvSpPr>
        <p:spPr>
          <a:xfrm>
            <a:off x="620171" y="1423575"/>
            <a:ext cx="6342659" cy="21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109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日本の総人口（万人）  第一次ベビーブーム（1947年）から2100年まで</a:t>
            </a:r>
          </a:p>
        </p:txBody>
      </p:sp>
      <p:graphicFrame>
        <p:nvGraphicFramePr>
          <p:cNvPr id="9" name="総人口グラフ"/>
          <p:cNvGraphicFramePr>
            <a:graphicFrameLocks noGrp="1"/>
          </p:cNvGraphicFramePr>
          <p:nvPr/>
        </p:nvGraphicFramePr>
        <p:xfrm>
          <a:off x="563792" y="1677281"/>
          <a:ext cx="11064416" cy="467947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吹き出し_2008"/>
          <p:cNvSpPr/>
          <p:nvPr/>
        </p:nvSpPr>
        <p:spPr>
          <a:xfrm>
            <a:off x="3536696" y="1930987"/>
            <a:ext cx="2114220" cy="591982"/>
          </a:xfrm>
          <a:prstGeom prst="wedgeRoundRectCallout">
            <a:avLst>
              <a:gd name="adj1" fmla="val 33333"/>
              <a:gd name="adj2" fmla="val 111023"/>
              <a:gd name="adj3" fmla="val 22000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吹き出し文_2008"/>
          <p:cNvSpPr txBox="1"/>
          <p:nvPr/>
        </p:nvSpPr>
        <p:spPr>
          <a:xfrm>
            <a:off x="3635360" y="1973272"/>
            <a:ext cx="1916892" cy="5074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6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2008年がピーク</a:t>
            </a:r>
          </a:p>
          <a:p>
            <a:pPr algn="l">
              <a:lnSpc>
                <a:spcPts val="1864"/>
              </a:lnSpc>
              <a:spcBef>
                <a:spcPts val="0"/>
              </a:spcBef>
              <a:spcAft>
                <a:spcPts val="0"/>
              </a:spcAft>
            </a:pPr>
            <a:r>
              <a:rPr sz="155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1億2,808万人</a:t>
            </a:r>
          </a:p>
        </p:txBody>
      </p:sp>
      <p:sp>
        <p:nvSpPr>
          <p:cNvPr id="12" name="吹き出し_2050"/>
          <p:cNvSpPr/>
          <p:nvPr/>
        </p:nvSpPr>
        <p:spPr>
          <a:xfrm>
            <a:off x="7211594" y="2198788"/>
            <a:ext cx="1902798" cy="591982"/>
          </a:xfrm>
          <a:prstGeom prst="wedgeRoundRectCallout">
            <a:avLst>
              <a:gd name="adj1" fmla="val -1851"/>
              <a:gd name="adj2" fmla="val 153342"/>
              <a:gd name="adj3" fmla="val 22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吹き出し文_2050"/>
          <p:cNvSpPr txBox="1"/>
          <p:nvPr/>
        </p:nvSpPr>
        <p:spPr>
          <a:xfrm>
            <a:off x="7310258" y="2241073"/>
            <a:ext cx="1719565" cy="5074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6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FFF4EA"/>
                </a:solidFill>
                <a:latin typeface="游ゴシック"/>
                <a:ea typeface="游ゴシック"/>
                <a:cs typeface="游ゴシック"/>
              </a:rPr>
              <a:t>2050年</a:t>
            </a:r>
          </a:p>
          <a:p>
            <a:pPr algn="l">
              <a:lnSpc>
                <a:spcPts val="1864"/>
              </a:lnSpc>
              <a:spcBef>
                <a:spcPts val="0"/>
              </a:spcBef>
              <a:spcAft>
                <a:spcPts val="0"/>
              </a:spcAft>
            </a:pPr>
            <a:r>
              <a:rPr sz="155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約1億469万人</a:t>
            </a:r>
          </a:p>
        </p:txBody>
      </p:sp>
      <p:sp>
        <p:nvSpPr>
          <p:cNvPr id="14" name="吹き出し_2100"/>
          <p:cNvSpPr/>
          <p:nvPr/>
        </p:nvSpPr>
        <p:spPr>
          <a:xfrm>
            <a:off x="9381644" y="2706201"/>
            <a:ext cx="2043746" cy="591982"/>
          </a:xfrm>
          <a:prstGeom prst="wedgeRoundRectCallout">
            <a:avLst>
              <a:gd name="adj1" fmla="val 51379"/>
              <a:gd name="adj2" fmla="val 183860"/>
              <a:gd name="adj3" fmla="val 22000"/>
            </a:avLst>
          </a:prstGeom>
          <a:solidFill>
            <a:srgbClr val="E9A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吹き出し文_2100"/>
          <p:cNvSpPr txBox="1"/>
          <p:nvPr/>
        </p:nvSpPr>
        <p:spPr>
          <a:xfrm>
            <a:off x="9480307" y="2748486"/>
            <a:ext cx="1846418" cy="5074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6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FFF4EA"/>
                </a:solidFill>
                <a:latin typeface="游ゴシック"/>
                <a:ea typeface="游ゴシック"/>
                <a:cs typeface="游ゴシック"/>
              </a:rPr>
              <a:t>2100年</a:t>
            </a:r>
          </a:p>
          <a:p>
            <a:pPr algn="l">
              <a:lnSpc>
                <a:spcPts val="1864"/>
              </a:lnSpc>
              <a:spcBef>
                <a:spcPts val="0"/>
              </a:spcBef>
              <a:spcAft>
                <a:spcPts val="0"/>
              </a:spcAft>
            </a:pPr>
            <a:r>
              <a:rPr sz="155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約7,364万人</a:t>
            </a:r>
          </a:p>
        </p:txBody>
      </p:sp>
      <p:sp>
        <p:nvSpPr>
          <p:cNvPr id="16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出典：総務省統計局／社人研 令和5年推計・出生中位（〜2070年）／国連 World Population Prospects（2075年〜、推計方法が異なる参考値）</a:t>
            </a:r>
          </a:p>
        </p:txBody>
      </p:sp>
      <p:sp>
        <p:nvSpPr>
          <p:cNvPr id="17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時代の背景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介護の社会保障給付費は、2040年度に向けて広がります</a:t>
            </a:r>
          </a:p>
        </p:txBody>
      </p:sp>
      <p:sp>
        <p:nvSpPr>
          <p:cNvPr id="8" name="グラフ見出し"/>
          <p:cNvSpPr txBox="1"/>
          <p:nvPr/>
        </p:nvSpPr>
        <p:spPr>
          <a:xfrm>
            <a:off x="620171" y="1423575"/>
            <a:ext cx="7117873" cy="21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109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社会保障給付費「介護」の推移（兆円・年度）  5年ごとの比較</a:t>
            </a:r>
          </a:p>
        </p:txBody>
      </p:sp>
      <p:graphicFrame>
        <p:nvGraphicFramePr>
          <p:cNvPr id="9" name="介護費グラフ"/>
          <p:cNvGraphicFramePr>
            <a:graphicFrameLocks noGrp="1"/>
          </p:cNvGraphicFramePr>
          <p:nvPr/>
        </p:nvGraphicFramePr>
        <p:xfrm>
          <a:off x="563792" y="1677281"/>
          <a:ext cx="7117873" cy="467947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吹き出し_8倍"/>
          <p:cNvSpPr/>
          <p:nvPr/>
        </p:nvSpPr>
        <p:spPr>
          <a:xfrm>
            <a:off x="8090414" y="1747755"/>
            <a:ext cx="3481415" cy="1057110"/>
          </a:xfrm>
          <a:prstGeom prst="wedgeRoundRectCallout">
            <a:avLst>
              <a:gd name="adj1" fmla="val -41902"/>
              <a:gd name="adj2" fmla="val 90000"/>
              <a:gd name="adj3" fmla="val 14000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吹き出し文_8倍"/>
          <p:cNvSpPr txBox="1"/>
          <p:nvPr/>
        </p:nvSpPr>
        <p:spPr>
          <a:xfrm>
            <a:off x="8330025" y="1832324"/>
            <a:ext cx="3002192" cy="8879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98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2000年度と比べて</a:t>
            </a:r>
          </a:p>
          <a:p>
            <a:pPr algn="l">
              <a:lnSpc>
                <a:spcPts val="2358"/>
              </a:lnSpc>
              <a:spcBef>
                <a:spcPts val="0"/>
              </a:spcBef>
              <a:spcAft>
                <a:spcPts val="0"/>
              </a:spcAft>
            </a:pPr>
            <a:r>
              <a:rPr sz="1886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2040年度は約8倍</a:t>
            </a:r>
          </a:p>
        </p:txBody>
      </p:sp>
      <p:sp>
        <p:nvSpPr>
          <p:cNvPr id="12" name="ライン"/>
          <p:cNvSpPr/>
          <p:nvPr/>
        </p:nvSpPr>
        <p:spPr>
          <a:xfrm>
            <a:off x="8090414" y="3608268"/>
            <a:ext cx="42284" cy="789309"/>
          </a:xfrm>
          <a:prstGeom prst="rect">
            <a:avLst/>
          </a:prstGeom>
          <a:solidFill>
            <a:srgbClr val="1F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補足_65歳以上の割合"/>
          <p:cNvSpPr txBox="1"/>
          <p:nvPr/>
        </p:nvSpPr>
        <p:spPr>
          <a:xfrm>
            <a:off x="8259551" y="3580079"/>
            <a:ext cx="3312277" cy="8738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221"/>
              </a:spcAft>
            </a:pPr>
            <a:r>
              <a:rPr sz="1220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65歳以上の割合</a:t>
            </a:r>
          </a:p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</a:pPr>
            <a:r>
              <a:rPr sz="998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2020年 28.6%  →  2050年 37.1%</a:t>
            </a:r>
          </a:p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</a:pPr>
            <a:r>
              <a:rPr sz="998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2100年には 約38.7%（国連推計）</a:t>
            </a:r>
          </a:p>
        </p:txBody>
      </p:sp>
      <p:sp>
        <p:nvSpPr>
          <p:cNvPr id="14" name="ライン"/>
          <p:cNvSpPr/>
          <p:nvPr/>
        </p:nvSpPr>
        <p:spPr>
          <a:xfrm>
            <a:off x="8090414" y="4735852"/>
            <a:ext cx="42284" cy="789309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補足_支える人は減っていく"/>
          <p:cNvSpPr txBox="1"/>
          <p:nvPr/>
        </p:nvSpPr>
        <p:spPr>
          <a:xfrm>
            <a:off x="8259551" y="4707662"/>
            <a:ext cx="3312277" cy="8738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221"/>
              </a:spcAft>
            </a:pPr>
            <a:r>
              <a:rPr sz="1220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支える人は減っていく</a:t>
            </a:r>
          </a:p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</a:pPr>
            <a:r>
              <a:rPr sz="998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15〜64歳の人口は</a:t>
            </a:r>
          </a:p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</a:pPr>
            <a:r>
              <a:rPr sz="998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2020年の7,509万人から減少が続きます</a:t>
            </a:r>
          </a:p>
        </p:txBody>
      </p:sp>
      <p:sp>
        <p:nvSpPr>
          <p:cNvPr id="16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出典：社人研『社会保障費用統計』（〜2020年度）／厚生労働省『2040年を見据えた社会保障の将来見通し』計画ベース。2030・2035年度は公表値がなく、直線補間の参考値</a:t>
            </a:r>
          </a:p>
        </p:txBody>
      </p:sp>
      <p:sp>
        <p:nvSpPr>
          <p:cNvPr id="17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福祉人材のこれからの価値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なぜ、福祉が大切なのか</a:t>
            </a:r>
          </a:p>
        </p:txBody>
      </p:sp>
      <p:sp>
        <p:nvSpPr>
          <p:cNvPr id="8" name="問い"/>
          <p:cNvSpPr/>
          <p:nvPr/>
        </p:nvSpPr>
        <p:spPr>
          <a:xfrm>
            <a:off x="620171" y="1465859"/>
            <a:ext cx="3805595" cy="4890895"/>
          </a:xfrm>
          <a:prstGeom prst="roundRect">
            <a:avLst>
              <a:gd name="adj" fmla="val 4444"/>
            </a:avLst>
          </a:pr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問い本文"/>
          <p:cNvSpPr txBox="1"/>
          <p:nvPr/>
        </p:nvSpPr>
        <p:spPr>
          <a:xfrm>
            <a:off x="958446" y="1804134"/>
            <a:ext cx="3129045" cy="42143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8"/>
              </a:lnSpc>
              <a:spcBef>
                <a:spcPts val="0"/>
              </a:spcBef>
              <a:spcAft>
                <a:spcPts val="1442"/>
              </a:spcAft>
            </a:pPr>
            <a:r>
              <a:rPr sz="998" b="1" spc="4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WHY WELFARE</a:t>
            </a:r>
          </a:p>
          <a:p>
            <a:pPr algn="l">
              <a:lnSpc>
                <a:spcPts val="3218"/>
              </a:lnSpc>
              <a:spcBef>
                <a:spcPts val="0"/>
              </a:spcBef>
              <a:spcAft>
                <a:spcPts val="1775"/>
              </a:spcAft>
            </a:pPr>
            <a:r>
              <a:rPr sz="2219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人を支える仕事が、地域の未来を支える。</a:t>
            </a:r>
          </a:p>
          <a:p>
            <a:pPr algn="l">
              <a:lnSpc>
                <a:spcPts val="1981"/>
              </a:lnSpc>
              <a:spcBef>
                <a:spcPts val="0"/>
              </a:spcBef>
              <a:spcAft>
                <a:spcPts val="1220"/>
              </a:spcAft>
            </a:pPr>
            <a:r>
              <a:rPr sz="1165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2040年に向けて、支える人は減り、支えられる人は増えていきます。福祉は、社会を成り立たせる土台です。</a:t>
            </a:r>
          </a:p>
          <a:p>
            <a:pPr algn="l">
              <a:lnSpc>
                <a:spcPts val="1981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それでも「福祉」が若者に選ばれにくいのは、仕事の価値が、まだ十分に伝わっていないから。</a:t>
            </a:r>
          </a:p>
        </p:txBody>
      </p:sp>
      <p:sp>
        <p:nvSpPr>
          <p:cNvPr id="10" name="カード_社会を支えるインフラだから"/>
          <p:cNvSpPr/>
          <p:nvPr/>
        </p:nvSpPr>
        <p:spPr>
          <a:xfrm>
            <a:off x="4651283" y="1465859"/>
            <a:ext cx="6920546" cy="1517540"/>
          </a:xfrm>
          <a:prstGeom prst="roundRect">
            <a:avLst>
              <a:gd name="adj" fmla="val 9287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番号"/>
          <p:cNvSpPr/>
          <p:nvPr/>
        </p:nvSpPr>
        <p:spPr>
          <a:xfrm>
            <a:off x="4904990" y="2013207"/>
            <a:ext cx="422844" cy="422844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番号1"/>
          <p:cNvSpPr txBox="1"/>
          <p:nvPr/>
        </p:nvSpPr>
        <p:spPr>
          <a:xfrm>
            <a:off x="4904990" y="2013207"/>
            <a:ext cx="422844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64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13" name="理由_1"/>
          <p:cNvSpPr txBox="1"/>
          <p:nvPr/>
        </p:nvSpPr>
        <p:spPr>
          <a:xfrm>
            <a:off x="5567445" y="1620902"/>
            <a:ext cx="5750677" cy="12074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554"/>
              </a:spcAft>
            </a:pPr>
            <a:r>
              <a:rPr sz="1498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社会を支えるインフラだから</a:t>
            </a:r>
          </a:p>
          <a:p>
            <a:pPr algn="l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現役世代2.1人で1人の高齢者を支える構造（2020年）から、2040年には約1.6人で1人を支える構造へ。「支える人」と「支えられる人」のバランスが崩れ、社会インフラの持続可能性が問われています。</a:t>
            </a:r>
          </a:p>
        </p:txBody>
      </p:sp>
      <p:sp>
        <p:nvSpPr>
          <p:cNvPr id="14" name="カード_「生きてて良かった」を支える仕事だから"/>
          <p:cNvSpPr/>
          <p:nvPr/>
        </p:nvSpPr>
        <p:spPr>
          <a:xfrm>
            <a:off x="4651283" y="3152536"/>
            <a:ext cx="6920546" cy="1517540"/>
          </a:xfrm>
          <a:prstGeom prst="roundRect">
            <a:avLst>
              <a:gd name="adj" fmla="val 9287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番号"/>
          <p:cNvSpPr/>
          <p:nvPr/>
        </p:nvSpPr>
        <p:spPr>
          <a:xfrm>
            <a:off x="4904990" y="3699884"/>
            <a:ext cx="422844" cy="422844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番号2"/>
          <p:cNvSpPr txBox="1"/>
          <p:nvPr/>
        </p:nvSpPr>
        <p:spPr>
          <a:xfrm>
            <a:off x="4904990" y="3699884"/>
            <a:ext cx="422844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64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7" name="理由_2"/>
          <p:cNvSpPr txBox="1"/>
          <p:nvPr/>
        </p:nvSpPr>
        <p:spPr>
          <a:xfrm>
            <a:off x="5567445" y="3307579"/>
            <a:ext cx="5750677" cy="12074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554"/>
              </a:spcAft>
            </a:pPr>
            <a:r>
              <a:rPr sz="1498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「生きてて良かった」を支える仕事だから</a:t>
            </a:r>
          </a:p>
          <a:p>
            <a:pPr algn="l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福祉は、残された命をいかに生きるかを支える仕事。人の命と生活を預かり、利用者さんの「最終ページ」に出てくる人物として、その人の生きがいに関わります。</a:t>
            </a:r>
          </a:p>
        </p:txBody>
      </p:sp>
      <p:sp>
        <p:nvSpPr>
          <p:cNvPr id="18" name="カード_地域の未来をつくる人を育てるから"/>
          <p:cNvSpPr/>
          <p:nvPr/>
        </p:nvSpPr>
        <p:spPr>
          <a:xfrm>
            <a:off x="4651283" y="4839214"/>
            <a:ext cx="6920546" cy="1517540"/>
          </a:xfrm>
          <a:prstGeom prst="roundRect">
            <a:avLst>
              <a:gd name="adj" fmla="val 9287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番号"/>
          <p:cNvSpPr/>
          <p:nvPr/>
        </p:nvSpPr>
        <p:spPr>
          <a:xfrm>
            <a:off x="4904990" y="5386562"/>
            <a:ext cx="422844" cy="422844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番号3"/>
          <p:cNvSpPr txBox="1"/>
          <p:nvPr/>
        </p:nvSpPr>
        <p:spPr>
          <a:xfrm>
            <a:off x="4904990" y="5386562"/>
            <a:ext cx="422844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64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21" name="理由_3"/>
          <p:cNvSpPr txBox="1"/>
          <p:nvPr/>
        </p:nvSpPr>
        <p:spPr>
          <a:xfrm>
            <a:off x="5567445" y="4994257"/>
            <a:ext cx="5750677" cy="12074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554"/>
              </a:spcAft>
            </a:pPr>
            <a:r>
              <a:rPr sz="1498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地域の未来をつくる人を育てるから</a:t>
            </a:r>
          </a:p>
          <a:p>
            <a:pPr algn="l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「3K」というイメージを変え、福祉人材が福祉の枠を超えて活躍できる場へ。長寿の国・長野発の、希望の地域モデルをつくる起点になります。</a:t>
            </a:r>
          </a:p>
        </p:txBody>
      </p:sp>
      <p:sp>
        <p:nvSpPr>
          <p:cNvPr id="22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出典：エフビー介護サービス×長野大学 産学連携プロジェクト資料（2025年12月・2026年3月）、雫石部長ヒアリング。人口の数字は国立社会保障・人口問題研究所の推計に基づきます。</a:t>
            </a:r>
          </a:p>
        </p:txBody>
      </p:sp>
      <p:sp>
        <p:nvSpPr>
          <p:cNvPr id="23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介護への考え方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エフビー介護サービスの、介護への考え方</a:t>
            </a:r>
          </a:p>
        </p:txBody>
      </p:sp>
      <p:sp>
        <p:nvSpPr>
          <p:cNvPr id="8" name="夢"/>
          <p:cNvSpPr/>
          <p:nvPr/>
        </p:nvSpPr>
        <p:spPr>
          <a:xfrm>
            <a:off x="620171" y="1465859"/>
            <a:ext cx="10951658" cy="1212153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夢本文"/>
          <p:cNvSpPr txBox="1"/>
          <p:nvPr/>
        </p:nvSpPr>
        <p:spPr>
          <a:xfrm>
            <a:off x="930257" y="1649091"/>
            <a:ext cx="10331487" cy="9725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8"/>
              </a:lnSpc>
              <a:spcBef>
                <a:spcPts val="0"/>
              </a:spcBef>
              <a:spcAft>
                <a:spcPts val="332"/>
              </a:spcAft>
            </a:pPr>
            <a:r>
              <a:rPr sz="998" b="1" spc="20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わたしたちの夢</a:t>
            </a:r>
          </a:p>
          <a:p>
            <a:pPr algn="l">
              <a:lnSpc>
                <a:spcPts val="2741"/>
              </a:lnSpc>
              <a:spcBef>
                <a:spcPts val="0"/>
              </a:spcBef>
              <a:spcAft>
                <a:spcPts val="554"/>
              </a:spcAft>
            </a:pPr>
            <a:r>
              <a:rPr sz="2108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人生の最終ステージを、利用者様の幸せと満足で元気にする</a:t>
            </a:r>
          </a:p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利用者様の笑顔と、数多くの「ありがとう」を求め、喜ばれること</a:t>
            </a:r>
          </a:p>
        </p:txBody>
      </p:sp>
      <p:sp>
        <p:nvSpPr>
          <p:cNvPr id="10" name="カード_創業からの想い"/>
          <p:cNvSpPr/>
          <p:nvPr/>
        </p:nvSpPr>
        <p:spPr>
          <a:xfrm>
            <a:off x="620171" y="2875339"/>
            <a:ext cx="5363071" cy="3481415"/>
          </a:xfrm>
          <a:prstGeom prst="roundRect">
            <a:avLst>
              <a:gd name="adj" fmla="val 4048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見出し_創業からの想い"/>
          <p:cNvSpPr txBox="1"/>
          <p:nvPr/>
        </p:nvSpPr>
        <p:spPr>
          <a:xfrm>
            <a:off x="902067" y="3086761"/>
            <a:ext cx="4799279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498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創業からの想い</a:t>
            </a:r>
          </a:p>
        </p:txBody>
      </p:sp>
      <p:cxnSp>
        <p:nvCxnSpPr>
          <p:cNvPr id="12" name="区切り"/>
          <p:cNvCxnSpPr/>
          <p:nvPr/>
        </p:nvCxnSpPr>
        <p:spPr>
          <a:xfrm>
            <a:off x="902067" y="3509605"/>
            <a:ext cx="4799279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番号"/>
          <p:cNvSpPr/>
          <p:nvPr/>
        </p:nvSpPr>
        <p:spPr>
          <a:xfrm>
            <a:off x="902067" y="3789151"/>
            <a:ext cx="366465" cy="366465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番号1"/>
          <p:cNvSpPr txBox="1"/>
          <p:nvPr/>
        </p:nvSpPr>
        <p:spPr>
          <a:xfrm>
            <a:off x="902067" y="3789151"/>
            <a:ext cx="36646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15" name="創業からの想い_1"/>
          <p:cNvSpPr txBox="1"/>
          <p:nvPr/>
        </p:nvSpPr>
        <p:spPr>
          <a:xfrm>
            <a:off x="1465859" y="3580079"/>
            <a:ext cx="4165013" cy="784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経営理念と介護方針を基本として、利用者様とご家族の安心感と満足を目指します</a:t>
            </a:r>
          </a:p>
        </p:txBody>
      </p:sp>
      <p:cxnSp>
        <p:nvCxnSpPr>
          <p:cNvPr id="16" name="区切り"/>
          <p:cNvCxnSpPr/>
          <p:nvPr/>
        </p:nvCxnSpPr>
        <p:spPr>
          <a:xfrm>
            <a:off x="902067" y="4435163"/>
            <a:ext cx="4799279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番号"/>
          <p:cNvSpPr/>
          <p:nvPr/>
        </p:nvSpPr>
        <p:spPr>
          <a:xfrm>
            <a:off x="902067" y="4714710"/>
            <a:ext cx="366465" cy="366465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番号2"/>
          <p:cNvSpPr txBox="1"/>
          <p:nvPr/>
        </p:nvSpPr>
        <p:spPr>
          <a:xfrm>
            <a:off x="902067" y="4714710"/>
            <a:ext cx="36646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9" name="創業からの想い_2"/>
          <p:cNvSpPr txBox="1"/>
          <p:nvPr/>
        </p:nvSpPr>
        <p:spPr>
          <a:xfrm>
            <a:off x="1465859" y="4505637"/>
            <a:ext cx="4165013" cy="784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心の温かい法人、事業所、そして心の優しい人間の集団になります</a:t>
            </a:r>
          </a:p>
        </p:txBody>
      </p:sp>
      <p:cxnSp>
        <p:nvCxnSpPr>
          <p:cNvPr id="20" name="区切り"/>
          <p:cNvCxnSpPr/>
          <p:nvPr/>
        </p:nvCxnSpPr>
        <p:spPr>
          <a:xfrm>
            <a:off x="902067" y="5360721"/>
            <a:ext cx="4799279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番号"/>
          <p:cNvSpPr/>
          <p:nvPr/>
        </p:nvSpPr>
        <p:spPr>
          <a:xfrm>
            <a:off x="902067" y="5640268"/>
            <a:ext cx="366465" cy="366465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番号3"/>
          <p:cNvSpPr txBox="1"/>
          <p:nvPr/>
        </p:nvSpPr>
        <p:spPr>
          <a:xfrm>
            <a:off x="902067" y="5640268"/>
            <a:ext cx="36646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23" name="創業からの想い_3"/>
          <p:cNvSpPr txBox="1"/>
          <p:nvPr/>
        </p:nvSpPr>
        <p:spPr>
          <a:xfrm>
            <a:off x="1465859" y="5431195"/>
            <a:ext cx="4165013" cy="784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利用者様に喜ばれる介護サービスと介護用品を提供し、スピーディーな対応に専心する社員になります</a:t>
            </a:r>
          </a:p>
        </p:txBody>
      </p:sp>
      <p:sp>
        <p:nvSpPr>
          <p:cNvPr id="24" name="カード_大切にしている姿勢"/>
          <p:cNvSpPr/>
          <p:nvPr/>
        </p:nvSpPr>
        <p:spPr>
          <a:xfrm>
            <a:off x="6208758" y="2875339"/>
            <a:ext cx="5363071" cy="3481415"/>
          </a:xfrm>
          <a:prstGeom prst="roundRect">
            <a:avLst>
              <a:gd name="adj" fmla="val 4048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見出し_大切にしている姿勢"/>
          <p:cNvSpPr txBox="1"/>
          <p:nvPr/>
        </p:nvSpPr>
        <p:spPr>
          <a:xfrm>
            <a:off x="6490654" y="3086761"/>
            <a:ext cx="4799279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498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大切にしている姿勢</a:t>
            </a:r>
          </a:p>
        </p:txBody>
      </p:sp>
      <p:cxnSp>
        <p:nvCxnSpPr>
          <p:cNvPr id="26" name="区切り"/>
          <p:cNvCxnSpPr/>
          <p:nvPr/>
        </p:nvCxnSpPr>
        <p:spPr>
          <a:xfrm>
            <a:off x="6490654" y="3509605"/>
            <a:ext cx="4799279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番号"/>
          <p:cNvSpPr/>
          <p:nvPr/>
        </p:nvSpPr>
        <p:spPr>
          <a:xfrm>
            <a:off x="6490654" y="3789151"/>
            <a:ext cx="366465" cy="366465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番号1"/>
          <p:cNvSpPr txBox="1"/>
          <p:nvPr/>
        </p:nvSpPr>
        <p:spPr>
          <a:xfrm>
            <a:off x="6490654" y="3789151"/>
            <a:ext cx="36646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29" name="大切にしている姿勢_1"/>
          <p:cNvSpPr txBox="1"/>
          <p:nvPr/>
        </p:nvSpPr>
        <p:spPr>
          <a:xfrm>
            <a:off x="7054446" y="3580079"/>
            <a:ext cx="4165013" cy="784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利用者様を「お客様」として敬い、その人としての尊厳を大切にします</a:t>
            </a:r>
          </a:p>
        </p:txBody>
      </p:sp>
      <p:cxnSp>
        <p:nvCxnSpPr>
          <p:cNvPr id="30" name="区切り"/>
          <p:cNvCxnSpPr/>
          <p:nvPr/>
        </p:nvCxnSpPr>
        <p:spPr>
          <a:xfrm>
            <a:off x="6490654" y="4435163"/>
            <a:ext cx="4799279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番号"/>
          <p:cNvSpPr/>
          <p:nvPr/>
        </p:nvSpPr>
        <p:spPr>
          <a:xfrm>
            <a:off x="6490654" y="4714710"/>
            <a:ext cx="366465" cy="366465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番号2"/>
          <p:cNvSpPr txBox="1"/>
          <p:nvPr/>
        </p:nvSpPr>
        <p:spPr>
          <a:xfrm>
            <a:off x="6490654" y="4714710"/>
            <a:ext cx="36646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33" name="大切にしている姿勢_2"/>
          <p:cNvSpPr txBox="1"/>
          <p:nvPr/>
        </p:nvSpPr>
        <p:spPr>
          <a:xfrm>
            <a:off x="7054446" y="4505637"/>
            <a:ext cx="4165013" cy="784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「自分の親を面倒見るつもりで」。笑顔・言葉づかい・態度の接遇に力を入れています</a:t>
            </a:r>
          </a:p>
        </p:txBody>
      </p:sp>
      <p:cxnSp>
        <p:nvCxnSpPr>
          <p:cNvPr id="34" name="区切り"/>
          <p:cNvCxnSpPr/>
          <p:nvPr/>
        </p:nvCxnSpPr>
        <p:spPr>
          <a:xfrm>
            <a:off x="6490654" y="5360721"/>
            <a:ext cx="4799279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番号"/>
          <p:cNvSpPr/>
          <p:nvPr/>
        </p:nvSpPr>
        <p:spPr>
          <a:xfrm>
            <a:off x="6490654" y="5640268"/>
            <a:ext cx="366465" cy="366465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番号3"/>
          <p:cNvSpPr txBox="1"/>
          <p:nvPr/>
        </p:nvSpPr>
        <p:spPr>
          <a:xfrm>
            <a:off x="6490654" y="5640268"/>
            <a:ext cx="36646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37" name="大切にしている姿勢_3"/>
          <p:cNvSpPr txBox="1"/>
          <p:nvPr/>
        </p:nvSpPr>
        <p:spPr>
          <a:xfrm>
            <a:off x="7054446" y="5431195"/>
            <a:ext cx="4165013" cy="784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介護する人・される人の区別なく、できることを持ち寄る。「誰かのためにはたらく」ことが生きがい</a:t>
            </a:r>
          </a:p>
        </p:txBody>
      </p:sp>
      <p:sp>
        <p:nvSpPr>
          <p:cNvPr id="38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出典：エフビー介護サービス 企業説明会資料／経営者ヒアリング（2025年）。文言は要約しています。</a:t>
            </a:r>
          </a:p>
        </p:txBody>
      </p:sp>
      <p:sp>
        <p:nvSpPr>
          <p:cNvPr id="39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感情労働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感情労働の価値：人の心を動かし、意欲を引き出す仕事</a:t>
            </a:r>
          </a:p>
        </p:txBody>
      </p:sp>
      <p:sp>
        <p:nvSpPr>
          <p:cNvPr id="8" name="カード_肉体労働"/>
          <p:cNvSpPr/>
          <p:nvPr/>
        </p:nvSpPr>
        <p:spPr>
          <a:xfrm>
            <a:off x="620171" y="1465859"/>
            <a:ext cx="3519001" cy="1775945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タグ"/>
          <p:cNvSpPr/>
          <p:nvPr/>
        </p:nvSpPr>
        <p:spPr>
          <a:xfrm>
            <a:off x="845688" y="1663186"/>
            <a:ext cx="775214" cy="25370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番号タグ"/>
          <p:cNvSpPr txBox="1"/>
          <p:nvPr/>
        </p:nvSpPr>
        <p:spPr>
          <a:xfrm>
            <a:off x="845688" y="1663186"/>
            <a:ext cx="775214" cy="2537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TYPE 1</a:t>
            </a:r>
          </a:p>
        </p:txBody>
      </p:sp>
      <p:sp>
        <p:nvSpPr>
          <p:cNvPr id="11" name="本文_肉体労働"/>
          <p:cNvSpPr txBox="1"/>
          <p:nvPr/>
        </p:nvSpPr>
        <p:spPr>
          <a:xfrm>
            <a:off x="845688" y="2057840"/>
            <a:ext cx="3067968" cy="1071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8"/>
              </a:lnSpc>
              <a:spcBef>
                <a:spcPts val="0"/>
              </a:spcBef>
              <a:spcAft>
                <a:spcPts val="443"/>
              </a:spcAft>
            </a:pPr>
            <a:r>
              <a:rPr sz="1886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肉体労働</a:t>
            </a:r>
          </a:p>
          <a:p>
            <a:pPr algn="l">
              <a:lnSpc>
                <a:spcPts val="1864"/>
              </a:lnSpc>
              <a:spcBef>
                <a:spcPts val="0"/>
              </a:spcBef>
              <a:spcAft>
                <a:spcPts val="332"/>
              </a:spcAft>
            </a:pPr>
            <a:r>
              <a:rPr sz="1165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体力を使って、対価を得る</a:t>
            </a:r>
          </a:p>
        </p:txBody>
      </p:sp>
      <p:sp>
        <p:nvSpPr>
          <p:cNvPr id="12" name="カード_頭脳労働"/>
          <p:cNvSpPr/>
          <p:nvPr/>
        </p:nvSpPr>
        <p:spPr>
          <a:xfrm>
            <a:off x="4336499" y="1465859"/>
            <a:ext cx="3519001" cy="1775945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タグ"/>
          <p:cNvSpPr/>
          <p:nvPr/>
        </p:nvSpPr>
        <p:spPr>
          <a:xfrm>
            <a:off x="4562016" y="1663186"/>
            <a:ext cx="775214" cy="25370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番号タグ"/>
          <p:cNvSpPr txBox="1"/>
          <p:nvPr/>
        </p:nvSpPr>
        <p:spPr>
          <a:xfrm>
            <a:off x="4562016" y="1663186"/>
            <a:ext cx="775214" cy="2537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TYPE 2</a:t>
            </a:r>
          </a:p>
        </p:txBody>
      </p:sp>
      <p:sp>
        <p:nvSpPr>
          <p:cNvPr id="15" name="本文_頭脳労働"/>
          <p:cNvSpPr txBox="1"/>
          <p:nvPr/>
        </p:nvSpPr>
        <p:spPr>
          <a:xfrm>
            <a:off x="4562016" y="2057840"/>
            <a:ext cx="3067968" cy="1071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8"/>
              </a:lnSpc>
              <a:spcBef>
                <a:spcPts val="0"/>
              </a:spcBef>
              <a:spcAft>
                <a:spcPts val="443"/>
              </a:spcAft>
            </a:pPr>
            <a:r>
              <a:rPr sz="1886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頭脳労働</a:t>
            </a:r>
          </a:p>
          <a:p>
            <a:pPr algn="l">
              <a:lnSpc>
                <a:spcPts val="1864"/>
              </a:lnSpc>
              <a:spcBef>
                <a:spcPts val="0"/>
              </a:spcBef>
              <a:spcAft>
                <a:spcPts val="332"/>
              </a:spcAft>
            </a:pPr>
            <a:r>
              <a:rPr sz="1165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アイデアなどを提供する</a:t>
            </a:r>
          </a:p>
        </p:txBody>
      </p:sp>
      <p:sp>
        <p:nvSpPr>
          <p:cNvPr id="16" name="カード_感情労働"/>
          <p:cNvSpPr/>
          <p:nvPr/>
        </p:nvSpPr>
        <p:spPr>
          <a:xfrm>
            <a:off x="8052828" y="1465859"/>
            <a:ext cx="3519001" cy="1775945"/>
          </a:xfrm>
          <a:prstGeom prst="roundRect">
            <a:avLst>
              <a:gd name="adj" fmla="val 7936"/>
            </a:avLst>
          </a:prstGeom>
          <a:solidFill>
            <a:srgbClr val="FFF6EC"/>
          </a:solidFill>
          <a:ln w="12700">
            <a:solidFill>
              <a:srgbClr val="F28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タグ"/>
          <p:cNvSpPr/>
          <p:nvPr/>
        </p:nvSpPr>
        <p:spPr>
          <a:xfrm>
            <a:off x="8278345" y="1663186"/>
            <a:ext cx="775214" cy="253706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番号タグ"/>
          <p:cNvSpPr txBox="1"/>
          <p:nvPr/>
        </p:nvSpPr>
        <p:spPr>
          <a:xfrm>
            <a:off x="8278345" y="1663186"/>
            <a:ext cx="775214" cy="2537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TYPE 3</a:t>
            </a:r>
          </a:p>
        </p:txBody>
      </p:sp>
      <p:sp>
        <p:nvSpPr>
          <p:cNvPr id="19" name="本文_感情労働"/>
          <p:cNvSpPr txBox="1"/>
          <p:nvPr/>
        </p:nvSpPr>
        <p:spPr>
          <a:xfrm>
            <a:off x="8278345" y="2057840"/>
            <a:ext cx="3067968" cy="1071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8"/>
              </a:lnSpc>
              <a:spcBef>
                <a:spcPts val="0"/>
              </a:spcBef>
              <a:spcAft>
                <a:spcPts val="443"/>
              </a:spcAft>
            </a:pPr>
            <a:r>
              <a:rPr sz="1886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感情労働</a:t>
            </a:r>
          </a:p>
          <a:p>
            <a:pPr algn="l">
              <a:lnSpc>
                <a:spcPts val="1864"/>
              </a:lnSpc>
              <a:spcBef>
                <a:spcPts val="0"/>
              </a:spcBef>
              <a:spcAft>
                <a:spcPts val="332"/>
              </a:spcAft>
            </a:pPr>
            <a:r>
              <a:rPr sz="1165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つねに自分の感情をコントロールし、相手に合わせた言葉や態度で応対する</a:t>
            </a:r>
          </a:p>
          <a:p>
            <a:pPr algn="l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介護・医療など「ひと」を相手にする仕事</a:t>
            </a:r>
          </a:p>
        </p:txBody>
      </p:sp>
      <p:sp>
        <p:nvSpPr>
          <p:cNvPr id="20" name="従来これから"/>
          <p:cNvSpPr/>
          <p:nvPr/>
        </p:nvSpPr>
        <p:spPr>
          <a:xfrm>
            <a:off x="620171" y="3439131"/>
            <a:ext cx="6765503" cy="1437669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変化見出し"/>
          <p:cNvSpPr txBox="1"/>
          <p:nvPr/>
        </p:nvSpPr>
        <p:spPr>
          <a:xfrm>
            <a:off x="873877" y="3608268"/>
            <a:ext cx="2818960" cy="2255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働き方のとらえ方が、変わっていく</a:t>
            </a:r>
          </a:p>
        </p:txBody>
      </p:sp>
      <p:sp>
        <p:nvSpPr>
          <p:cNvPr id="22" name="ラベル_従来"/>
          <p:cNvSpPr txBox="1"/>
          <p:nvPr/>
        </p:nvSpPr>
        <p:spPr>
          <a:xfrm>
            <a:off x="873877" y="3988828"/>
            <a:ext cx="775214" cy="3100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従来</a:t>
            </a:r>
          </a:p>
        </p:txBody>
      </p:sp>
      <p:sp>
        <p:nvSpPr>
          <p:cNvPr id="23" name="チップ"/>
          <p:cNvSpPr/>
          <p:nvPr/>
        </p:nvSpPr>
        <p:spPr>
          <a:xfrm>
            <a:off x="1677281" y="3988828"/>
            <a:ext cx="2234025" cy="31008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チップ_頭脳労働（感情労働を含む）"/>
          <p:cNvSpPr txBox="1"/>
          <p:nvPr/>
        </p:nvSpPr>
        <p:spPr>
          <a:xfrm>
            <a:off x="1677281" y="3988828"/>
            <a:ext cx="2234025" cy="3100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頭脳労働（感情労働を含む）</a:t>
            </a:r>
          </a:p>
        </p:txBody>
      </p:sp>
      <p:sp>
        <p:nvSpPr>
          <p:cNvPr id="25" name="チップ"/>
          <p:cNvSpPr/>
          <p:nvPr/>
        </p:nvSpPr>
        <p:spPr>
          <a:xfrm>
            <a:off x="4009970" y="3988828"/>
            <a:ext cx="902067" cy="31008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チップ_肉体労働"/>
          <p:cNvSpPr txBox="1"/>
          <p:nvPr/>
        </p:nvSpPr>
        <p:spPr>
          <a:xfrm>
            <a:off x="4009970" y="3988828"/>
            <a:ext cx="902067" cy="3100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肉体労働</a:t>
            </a:r>
          </a:p>
        </p:txBody>
      </p:sp>
      <p:sp>
        <p:nvSpPr>
          <p:cNvPr id="27" name="ラベル_これから"/>
          <p:cNvSpPr txBox="1"/>
          <p:nvPr/>
        </p:nvSpPr>
        <p:spPr>
          <a:xfrm>
            <a:off x="873877" y="4411672"/>
            <a:ext cx="775214" cy="3100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これから</a:t>
            </a:r>
          </a:p>
        </p:txBody>
      </p:sp>
      <p:sp>
        <p:nvSpPr>
          <p:cNvPr id="28" name="チップ"/>
          <p:cNvSpPr/>
          <p:nvPr/>
        </p:nvSpPr>
        <p:spPr>
          <a:xfrm>
            <a:off x="1677281" y="4411672"/>
            <a:ext cx="902067" cy="31008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チップ_頭脳労働"/>
          <p:cNvSpPr txBox="1"/>
          <p:nvPr/>
        </p:nvSpPr>
        <p:spPr>
          <a:xfrm>
            <a:off x="1677281" y="4411672"/>
            <a:ext cx="902067" cy="3100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頭脳労働</a:t>
            </a:r>
          </a:p>
        </p:txBody>
      </p:sp>
      <p:sp>
        <p:nvSpPr>
          <p:cNvPr id="30" name="チップ"/>
          <p:cNvSpPr/>
          <p:nvPr/>
        </p:nvSpPr>
        <p:spPr>
          <a:xfrm>
            <a:off x="2678012" y="4411672"/>
            <a:ext cx="902067" cy="310086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チップ_感情労働"/>
          <p:cNvSpPr txBox="1"/>
          <p:nvPr/>
        </p:nvSpPr>
        <p:spPr>
          <a:xfrm>
            <a:off x="2678012" y="4411672"/>
            <a:ext cx="902067" cy="3100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感情労働</a:t>
            </a:r>
          </a:p>
        </p:txBody>
      </p:sp>
      <p:sp>
        <p:nvSpPr>
          <p:cNvPr id="32" name="チップ"/>
          <p:cNvSpPr/>
          <p:nvPr/>
        </p:nvSpPr>
        <p:spPr>
          <a:xfrm>
            <a:off x="3678742" y="4411672"/>
            <a:ext cx="902067" cy="31008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チップ_肉体労働"/>
          <p:cNvSpPr txBox="1"/>
          <p:nvPr/>
        </p:nvSpPr>
        <p:spPr>
          <a:xfrm>
            <a:off x="3678742" y="4411672"/>
            <a:ext cx="902067" cy="3100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肉体労働</a:t>
            </a:r>
          </a:p>
        </p:txBody>
      </p:sp>
      <p:sp>
        <p:nvSpPr>
          <p:cNvPr id="34" name="定義"/>
          <p:cNvSpPr/>
          <p:nvPr/>
        </p:nvSpPr>
        <p:spPr>
          <a:xfrm>
            <a:off x="7583001" y="3439131"/>
            <a:ext cx="3988828" cy="1437669"/>
          </a:xfrm>
          <a:prstGeom prst="roundRect">
            <a:avLst>
              <a:gd name="adj" fmla="val 9803"/>
            </a:avLst>
          </a:prstGeom>
          <a:solidFill>
            <a:srgbClr val="F6F9F8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定義本文"/>
          <p:cNvSpPr txBox="1"/>
          <p:nvPr/>
        </p:nvSpPr>
        <p:spPr>
          <a:xfrm>
            <a:off x="7808518" y="3608268"/>
            <a:ext cx="3537794" cy="1155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443"/>
              </a:spcAft>
            </a:pPr>
            <a:r>
              <a:rPr sz="1220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感情労働とは</a:t>
            </a:r>
          </a:p>
          <a:p>
            <a:pPr algn="l">
              <a:lnSpc>
                <a:spcPts val="1686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相手に感謝や安心の気持ちを喚起させるために行う、感情の管理。（A.R.ホックシールドが提唱）</a:t>
            </a:r>
          </a:p>
        </p:txBody>
      </p:sp>
      <p:sp>
        <p:nvSpPr>
          <p:cNvPr id="36" name="雫石部長"/>
          <p:cNvSpPr/>
          <p:nvPr/>
        </p:nvSpPr>
        <p:spPr>
          <a:xfrm>
            <a:off x="620171" y="5074127"/>
            <a:ext cx="5778867" cy="1282627"/>
          </a:xfrm>
          <a:prstGeom prst="roundRect">
            <a:avLst>
              <a:gd name="adj" fmla="val 10989"/>
            </a:avLst>
          </a:pr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引用"/>
          <p:cNvSpPr txBox="1"/>
          <p:nvPr/>
        </p:nvSpPr>
        <p:spPr>
          <a:xfrm>
            <a:off x="902067" y="5215075"/>
            <a:ext cx="5215075" cy="10712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6"/>
              </a:lnSpc>
              <a:spcBef>
                <a:spcPts val="0"/>
              </a:spcBef>
              <a:spcAft>
                <a:spcPts val="332"/>
              </a:spcAft>
            </a:pPr>
            <a:r>
              <a:rPr sz="943" b="1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雫石部長（介護事業部）より</a:t>
            </a:r>
          </a:p>
          <a:p>
            <a:pPr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</a:pPr>
            <a:r>
              <a:rPr sz="138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介護は、感情労働。単に感情を使うのではなく、自分と相手の感情を管理する仕事です。</a:t>
            </a:r>
          </a:p>
        </p:txBody>
      </p:sp>
      <p:sp>
        <p:nvSpPr>
          <p:cNvPr id="38" name="まとめ"/>
          <p:cNvSpPr/>
          <p:nvPr/>
        </p:nvSpPr>
        <p:spPr>
          <a:xfrm>
            <a:off x="6596365" y="5074127"/>
            <a:ext cx="4975464" cy="1282627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まとめ本文"/>
          <p:cNvSpPr txBox="1"/>
          <p:nvPr/>
        </p:nvSpPr>
        <p:spPr>
          <a:xfrm>
            <a:off x="6850072" y="5200980"/>
            <a:ext cx="4468051" cy="10993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332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・人の心を動かし、人の意欲を引き出す仕事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332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・お互いの感情を管理しながら行う、高度な技術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・これから社会に出る人にとって、どの仕事でも必須のスキル</a:t>
            </a:r>
          </a:p>
        </p:txBody>
      </p:sp>
      <p:sp>
        <p:nvSpPr>
          <p:cNvPr id="40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出典：visions college（エフビー介護サービス回、2026年2月24日）、長野大学×エフビー介護サービス 産学連携プロジェクト資料。</a:t>
            </a:r>
          </a:p>
        </p:txBody>
      </p:sp>
      <p:sp>
        <p:nvSpPr>
          <p:cNvPr id="41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沿革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福祉用具から、地域に根ざす介護の総合企業へ</a:t>
            </a:r>
          </a:p>
        </p:txBody>
      </p:sp>
      <p:sp>
        <p:nvSpPr>
          <p:cNvPr id="8" name="年表の帯"/>
          <p:cNvSpPr/>
          <p:nvPr/>
        </p:nvSpPr>
        <p:spPr>
          <a:xfrm>
            <a:off x="606076" y="3298183"/>
            <a:ext cx="10979847" cy="451034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年_1987"/>
          <p:cNvSpPr/>
          <p:nvPr/>
        </p:nvSpPr>
        <p:spPr>
          <a:xfrm>
            <a:off x="711787" y="3319325"/>
            <a:ext cx="408749" cy="408749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年ラベル_1987"/>
          <p:cNvSpPr txBox="1"/>
          <p:nvPr/>
        </p:nvSpPr>
        <p:spPr>
          <a:xfrm>
            <a:off x="676550" y="3410941"/>
            <a:ext cx="479223" cy="2255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1987</a:t>
            </a:r>
          </a:p>
        </p:txBody>
      </p:sp>
      <p:cxnSp>
        <p:nvCxnSpPr>
          <p:cNvPr id="11" name="目盛り"/>
          <p:cNvCxnSpPr/>
          <p:nvPr/>
        </p:nvCxnSpPr>
        <p:spPr>
          <a:xfrm>
            <a:off x="1181795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目盛り"/>
          <p:cNvCxnSpPr/>
          <p:nvPr/>
        </p:nvCxnSpPr>
        <p:spPr>
          <a:xfrm>
            <a:off x="1447427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年ラベル_1990"/>
          <p:cNvSpPr txBox="1"/>
          <p:nvPr/>
        </p:nvSpPr>
        <p:spPr>
          <a:xfrm>
            <a:off x="1501638" y="3425036"/>
            <a:ext cx="422844" cy="1973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8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1990</a:t>
            </a:r>
          </a:p>
        </p:txBody>
      </p:sp>
      <p:cxnSp>
        <p:nvCxnSpPr>
          <p:cNvPr id="14" name="目盛り"/>
          <p:cNvCxnSpPr/>
          <p:nvPr/>
        </p:nvCxnSpPr>
        <p:spPr>
          <a:xfrm>
            <a:off x="1978693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目盛り"/>
          <p:cNvCxnSpPr/>
          <p:nvPr/>
        </p:nvCxnSpPr>
        <p:spPr>
          <a:xfrm>
            <a:off x="2244325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目盛り"/>
          <p:cNvCxnSpPr/>
          <p:nvPr/>
        </p:nvCxnSpPr>
        <p:spPr>
          <a:xfrm>
            <a:off x="2509958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目盛り"/>
          <p:cNvCxnSpPr/>
          <p:nvPr/>
        </p:nvCxnSpPr>
        <p:spPr>
          <a:xfrm>
            <a:off x="2775591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年ラベル_1995"/>
          <p:cNvSpPr txBox="1"/>
          <p:nvPr/>
        </p:nvSpPr>
        <p:spPr>
          <a:xfrm>
            <a:off x="2829802" y="3425036"/>
            <a:ext cx="422844" cy="1973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8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1995</a:t>
            </a:r>
          </a:p>
        </p:txBody>
      </p:sp>
      <p:cxnSp>
        <p:nvCxnSpPr>
          <p:cNvPr id="19" name="目盛り"/>
          <p:cNvCxnSpPr/>
          <p:nvPr/>
        </p:nvCxnSpPr>
        <p:spPr>
          <a:xfrm>
            <a:off x="3306856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目盛り"/>
          <p:cNvCxnSpPr/>
          <p:nvPr/>
        </p:nvCxnSpPr>
        <p:spPr>
          <a:xfrm>
            <a:off x="3572489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目盛り"/>
          <p:cNvCxnSpPr/>
          <p:nvPr/>
        </p:nvCxnSpPr>
        <p:spPr>
          <a:xfrm>
            <a:off x="3838122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目盛り"/>
          <p:cNvCxnSpPr/>
          <p:nvPr/>
        </p:nvCxnSpPr>
        <p:spPr>
          <a:xfrm>
            <a:off x="4103755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年_2000"/>
          <p:cNvSpPr/>
          <p:nvPr/>
        </p:nvSpPr>
        <p:spPr>
          <a:xfrm>
            <a:off x="4165013" y="3319325"/>
            <a:ext cx="408749" cy="408749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年ラベル_2000"/>
          <p:cNvSpPr txBox="1"/>
          <p:nvPr/>
        </p:nvSpPr>
        <p:spPr>
          <a:xfrm>
            <a:off x="4129776" y="3410941"/>
            <a:ext cx="479223" cy="2255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2000</a:t>
            </a:r>
          </a:p>
        </p:txBody>
      </p:sp>
      <p:cxnSp>
        <p:nvCxnSpPr>
          <p:cNvPr id="25" name="目盛り"/>
          <p:cNvCxnSpPr/>
          <p:nvPr/>
        </p:nvCxnSpPr>
        <p:spPr>
          <a:xfrm>
            <a:off x="4635020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年_2002"/>
          <p:cNvSpPr/>
          <p:nvPr/>
        </p:nvSpPr>
        <p:spPr>
          <a:xfrm>
            <a:off x="4696278" y="3319325"/>
            <a:ext cx="408749" cy="408749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年ラベル_2002"/>
          <p:cNvSpPr txBox="1"/>
          <p:nvPr/>
        </p:nvSpPr>
        <p:spPr>
          <a:xfrm>
            <a:off x="4661041" y="3410941"/>
            <a:ext cx="479223" cy="2255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2002</a:t>
            </a:r>
          </a:p>
        </p:txBody>
      </p:sp>
      <p:cxnSp>
        <p:nvCxnSpPr>
          <p:cNvPr id="28" name="目盛り"/>
          <p:cNvCxnSpPr/>
          <p:nvPr/>
        </p:nvCxnSpPr>
        <p:spPr>
          <a:xfrm>
            <a:off x="5166285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目盛り"/>
          <p:cNvCxnSpPr/>
          <p:nvPr/>
        </p:nvCxnSpPr>
        <p:spPr>
          <a:xfrm>
            <a:off x="5431918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年ラベル_2005"/>
          <p:cNvSpPr txBox="1"/>
          <p:nvPr/>
        </p:nvSpPr>
        <p:spPr>
          <a:xfrm>
            <a:off x="5486129" y="3425036"/>
            <a:ext cx="422844" cy="1973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8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2005</a:t>
            </a:r>
          </a:p>
        </p:txBody>
      </p:sp>
      <p:cxnSp>
        <p:nvCxnSpPr>
          <p:cNvPr id="31" name="目盛り"/>
          <p:cNvCxnSpPr/>
          <p:nvPr/>
        </p:nvCxnSpPr>
        <p:spPr>
          <a:xfrm>
            <a:off x="5963184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目盛り"/>
          <p:cNvCxnSpPr/>
          <p:nvPr/>
        </p:nvCxnSpPr>
        <p:spPr>
          <a:xfrm>
            <a:off x="6228816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目盛り"/>
          <p:cNvCxnSpPr/>
          <p:nvPr/>
        </p:nvCxnSpPr>
        <p:spPr>
          <a:xfrm>
            <a:off x="6494449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目盛り"/>
          <p:cNvCxnSpPr/>
          <p:nvPr/>
        </p:nvCxnSpPr>
        <p:spPr>
          <a:xfrm>
            <a:off x="6760082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年ラベル_2010"/>
          <p:cNvSpPr txBox="1"/>
          <p:nvPr/>
        </p:nvSpPr>
        <p:spPr>
          <a:xfrm>
            <a:off x="6814293" y="3425036"/>
            <a:ext cx="422844" cy="1973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8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2010</a:t>
            </a:r>
          </a:p>
        </p:txBody>
      </p:sp>
      <p:cxnSp>
        <p:nvCxnSpPr>
          <p:cNvPr id="36" name="目盛り"/>
          <p:cNvCxnSpPr/>
          <p:nvPr/>
        </p:nvCxnSpPr>
        <p:spPr>
          <a:xfrm>
            <a:off x="7291347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目盛り"/>
          <p:cNvCxnSpPr/>
          <p:nvPr/>
        </p:nvCxnSpPr>
        <p:spPr>
          <a:xfrm>
            <a:off x="7556980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目盛り"/>
          <p:cNvCxnSpPr/>
          <p:nvPr/>
        </p:nvCxnSpPr>
        <p:spPr>
          <a:xfrm>
            <a:off x="7822613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目盛り"/>
          <p:cNvCxnSpPr/>
          <p:nvPr/>
        </p:nvCxnSpPr>
        <p:spPr>
          <a:xfrm>
            <a:off x="8088245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年ラベル_2015"/>
          <p:cNvSpPr txBox="1"/>
          <p:nvPr/>
        </p:nvSpPr>
        <p:spPr>
          <a:xfrm>
            <a:off x="8142456" y="3425036"/>
            <a:ext cx="422844" cy="1973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8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2015</a:t>
            </a:r>
          </a:p>
        </p:txBody>
      </p:sp>
      <p:cxnSp>
        <p:nvCxnSpPr>
          <p:cNvPr id="41" name="目盛り"/>
          <p:cNvCxnSpPr/>
          <p:nvPr/>
        </p:nvCxnSpPr>
        <p:spPr>
          <a:xfrm>
            <a:off x="8619511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目盛り"/>
          <p:cNvCxnSpPr/>
          <p:nvPr/>
        </p:nvCxnSpPr>
        <p:spPr>
          <a:xfrm>
            <a:off x="8885144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目盛り"/>
          <p:cNvCxnSpPr/>
          <p:nvPr/>
        </p:nvCxnSpPr>
        <p:spPr>
          <a:xfrm>
            <a:off x="9150776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年_2019"/>
          <p:cNvSpPr/>
          <p:nvPr/>
        </p:nvSpPr>
        <p:spPr>
          <a:xfrm>
            <a:off x="9212035" y="3319325"/>
            <a:ext cx="408749" cy="408749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年ラベル_2019"/>
          <p:cNvSpPr txBox="1"/>
          <p:nvPr/>
        </p:nvSpPr>
        <p:spPr>
          <a:xfrm>
            <a:off x="9176798" y="3410941"/>
            <a:ext cx="479223" cy="2255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2019</a:t>
            </a:r>
          </a:p>
        </p:txBody>
      </p:sp>
      <p:cxnSp>
        <p:nvCxnSpPr>
          <p:cNvPr id="46" name="目盛り"/>
          <p:cNvCxnSpPr/>
          <p:nvPr/>
        </p:nvCxnSpPr>
        <p:spPr>
          <a:xfrm>
            <a:off x="9682042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目盛り"/>
          <p:cNvCxnSpPr/>
          <p:nvPr/>
        </p:nvCxnSpPr>
        <p:spPr>
          <a:xfrm>
            <a:off x="9947675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年_2022"/>
          <p:cNvSpPr/>
          <p:nvPr/>
        </p:nvSpPr>
        <p:spPr>
          <a:xfrm>
            <a:off x="10008933" y="3319325"/>
            <a:ext cx="408749" cy="408749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年ラベル_2022"/>
          <p:cNvSpPr txBox="1"/>
          <p:nvPr/>
        </p:nvSpPr>
        <p:spPr>
          <a:xfrm>
            <a:off x="9973696" y="3410941"/>
            <a:ext cx="479223" cy="2255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2022</a:t>
            </a:r>
          </a:p>
        </p:txBody>
      </p:sp>
      <p:cxnSp>
        <p:nvCxnSpPr>
          <p:cNvPr id="50" name="目盛り"/>
          <p:cNvCxnSpPr/>
          <p:nvPr/>
        </p:nvCxnSpPr>
        <p:spPr>
          <a:xfrm>
            <a:off x="10478940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目盛り"/>
          <p:cNvCxnSpPr/>
          <p:nvPr/>
        </p:nvCxnSpPr>
        <p:spPr>
          <a:xfrm>
            <a:off x="10744573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目盛り"/>
          <p:cNvCxnSpPr/>
          <p:nvPr/>
        </p:nvCxnSpPr>
        <p:spPr>
          <a:xfrm>
            <a:off x="11010205" y="3481415"/>
            <a:ext cx="0" cy="84569"/>
          </a:xfrm>
          <a:prstGeom prst="line">
            <a:avLst/>
          </a:prstGeom>
          <a:ln w="19050">
            <a:solidFill>
              <a:srgbClr val="B9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年_2026"/>
          <p:cNvSpPr/>
          <p:nvPr/>
        </p:nvSpPr>
        <p:spPr>
          <a:xfrm>
            <a:off x="11071464" y="3319325"/>
            <a:ext cx="408749" cy="408749"/>
          </a:xfrm>
          <a:prstGeom prst="ellipse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年ラベル_2026"/>
          <p:cNvSpPr txBox="1"/>
          <p:nvPr/>
        </p:nvSpPr>
        <p:spPr>
          <a:xfrm>
            <a:off x="11036227" y="3410941"/>
            <a:ext cx="479223" cy="2255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2026</a:t>
            </a:r>
          </a:p>
        </p:txBody>
      </p:sp>
      <p:cxnSp>
        <p:nvCxnSpPr>
          <p:cNvPr id="55" name="接続線"/>
          <p:cNvCxnSpPr/>
          <p:nvPr/>
        </p:nvCxnSpPr>
        <p:spPr>
          <a:xfrm>
            <a:off x="916162" y="3114950"/>
            <a:ext cx="0" cy="183233"/>
          </a:xfrm>
          <a:prstGeom prst="line">
            <a:avLst/>
          </a:prstGeom>
          <a:ln w="25400">
            <a:solidFill>
              <a:srgbClr val="3FB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沿革_1987"/>
          <p:cNvSpPr txBox="1"/>
          <p:nvPr/>
        </p:nvSpPr>
        <p:spPr>
          <a:xfrm>
            <a:off x="916162" y="1747755"/>
            <a:ext cx="2678012" cy="133900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1987年</a:t>
            </a:r>
          </a:p>
          <a:p>
            <a:pPr algn="l">
              <a:lnSpc>
                <a:spcPts val="2308"/>
              </a:lnSpc>
              <a:spcBef>
                <a:spcPts val="0"/>
              </a:spcBef>
              <a:spcAft>
                <a:spcPts val="332"/>
              </a:spcAft>
            </a:pPr>
            <a:r>
              <a:rPr sz="1775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エフビー信州を設立</a:t>
            </a:r>
          </a:p>
          <a:p>
            <a:pPr algn="l">
              <a:lnSpc>
                <a:spcPts val="1747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フランスベッドの代理店から</a:t>
            </a:r>
          </a:p>
        </p:txBody>
      </p:sp>
      <p:cxnSp>
        <p:nvCxnSpPr>
          <p:cNvPr id="57" name="接続線"/>
          <p:cNvCxnSpPr/>
          <p:nvPr/>
        </p:nvCxnSpPr>
        <p:spPr>
          <a:xfrm>
            <a:off x="4900653" y="3114950"/>
            <a:ext cx="0" cy="183233"/>
          </a:xfrm>
          <a:prstGeom prst="line">
            <a:avLst/>
          </a:prstGeom>
          <a:ln w="25400">
            <a:solidFill>
              <a:srgbClr val="3FB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沿革_2002"/>
          <p:cNvSpPr txBox="1"/>
          <p:nvPr/>
        </p:nvSpPr>
        <p:spPr>
          <a:xfrm>
            <a:off x="4900653" y="1747755"/>
            <a:ext cx="2678012" cy="133900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2002年</a:t>
            </a:r>
          </a:p>
          <a:p>
            <a:pPr algn="l">
              <a:lnSpc>
                <a:spcPts val="2308"/>
              </a:lnSpc>
              <a:spcBef>
                <a:spcPts val="0"/>
              </a:spcBef>
              <a:spcAft>
                <a:spcPts val="332"/>
              </a:spcAft>
            </a:pPr>
            <a:r>
              <a:rPr sz="1775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商号を変更</a:t>
            </a:r>
          </a:p>
          <a:p>
            <a:pPr algn="l">
              <a:lnSpc>
                <a:spcPts val="1747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エフビー介護サービスへ</a:t>
            </a:r>
          </a:p>
        </p:txBody>
      </p:sp>
      <p:cxnSp>
        <p:nvCxnSpPr>
          <p:cNvPr id="59" name="接続線"/>
          <p:cNvCxnSpPr/>
          <p:nvPr/>
        </p:nvCxnSpPr>
        <p:spPr>
          <a:xfrm>
            <a:off x="10213307" y="3114950"/>
            <a:ext cx="0" cy="183233"/>
          </a:xfrm>
          <a:prstGeom prst="line">
            <a:avLst/>
          </a:prstGeom>
          <a:ln w="25400">
            <a:solidFill>
              <a:srgbClr val="3FB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沿革_2022"/>
          <p:cNvSpPr txBox="1"/>
          <p:nvPr/>
        </p:nvSpPr>
        <p:spPr>
          <a:xfrm>
            <a:off x="7535296" y="1747755"/>
            <a:ext cx="2678012" cy="133900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2022年</a:t>
            </a:r>
          </a:p>
          <a:p>
            <a:pPr algn="r">
              <a:lnSpc>
                <a:spcPts val="2308"/>
              </a:lnSpc>
              <a:spcBef>
                <a:spcPts val="0"/>
              </a:spcBef>
              <a:spcAft>
                <a:spcPts val="332"/>
              </a:spcAft>
            </a:pPr>
            <a:r>
              <a:rPr sz="1775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東証に上場</a:t>
            </a:r>
          </a:p>
          <a:p>
            <a:pPr algn="r">
              <a:lnSpc>
                <a:spcPts val="1747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スタンダード市場へ</a:t>
            </a:r>
          </a:p>
        </p:txBody>
      </p:sp>
      <p:cxnSp>
        <p:nvCxnSpPr>
          <p:cNvPr id="61" name="接続線"/>
          <p:cNvCxnSpPr/>
          <p:nvPr/>
        </p:nvCxnSpPr>
        <p:spPr>
          <a:xfrm>
            <a:off x="4369387" y="3749216"/>
            <a:ext cx="0" cy="183233"/>
          </a:xfrm>
          <a:prstGeom prst="line">
            <a:avLst/>
          </a:prstGeom>
          <a:ln w="25400">
            <a:solidFill>
              <a:srgbClr val="3FB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沿革_2000"/>
          <p:cNvSpPr txBox="1"/>
          <p:nvPr/>
        </p:nvSpPr>
        <p:spPr>
          <a:xfrm>
            <a:off x="4369387" y="3960638"/>
            <a:ext cx="2678012" cy="13390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2000年</a:t>
            </a:r>
          </a:p>
          <a:p>
            <a:pPr algn="l">
              <a:lnSpc>
                <a:spcPts val="2308"/>
              </a:lnSpc>
              <a:spcBef>
                <a:spcPts val="0"/>
              </a:spcBef>
              <a:spcAft>
                <a:spcPts val="332"/>
              </a:spcAft>
            </a:pPr>
            <a:r>
              <a:rPr sz="1775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レンタル開始</a:t>
            </a:r>
          </a:p>
          <a:p>
            <a:pPr algn="l">
              <a:lnSpc>
                <a:spcPts val="1747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福祉用具の取り扱いを広げる</a:t>
            </a:r>
          </a:p>
        </p:txBody>
      </p:sp>
      <p:cxnSp>
        <p:nvCxnSpPr>
          <p:cNvPr id="63" name="接続線"/>
          <p:cNvCxnSpPr/>
          <p:nvPr/>
        </p:nvCxnSpPr>
        <p:spPr>
          <a:xfrm>
            <a:off x="9416409" y="3749216"/>
            <a:ext cx="0" cy="183233"/>
          </a:xfrm>
          <a:prstGeom prst="line">
            <a:avLst/>
          </a:prstGeom>
          <a:ln w="25400">
            <a:solidFill>
              <a:srgbClr val="3FB3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沿革_2019"/>
          <p:cNvSpPr txBox="1"/>
          <p:nvPr/>
        </p:nvSpPr>
        <p:spPr>
          <a:xfrm>
            <a:off x="6456502" y="3960638"/>
            <a:ext cx="2959908" cy="13390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2019年</a:t>
            </a:r>
          </a:p>
          <a:p>
            <a:pPr algn="r">
              <a:lnSpc>
                <a:spcPts val="2308"/>
              </a:lnSpc>
              <a:spcBef>
                <a:spcPts val="0"/>
              </a:spcBef>
              <a:spcAft>
                <a:spcPts val="332"/>
              </a:spcAft>
            </a:pPr>
            <a:r>
              <a:rPr sz="1775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海外人材を受け入れ</a:t>
            </a:r>
          </a:p>
          <a:p>
            <a:pPr algn="r">
              <a:lnSpc>
                <a:spcPts val="1747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ベトナム・ネパールなど</a:t>
            </a:r>
          </a:p>
        </p:txBody>
      </p:sp>
      <p:sp>
        <p:nvSpPr>
          <p:cNvPr id="65" name="期間バー"/>
          <p:cNvSpPr/>
          <p:nvPr/>
        </p:nvSpPr>
        <p:spPr>
          <a:xfrm>
            <a:off x="5166285" y="5792962"/>
            <a:ext cx="3984491" cy="112758"/>
          </a:xfrm>
          <a:prstGeom prst="roundRect">
            <a:avLst>
              <a:gd name="adj" fmla="val 50000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事業の広がり"/>
          <p:cNvSpPr txBox="1"/>
          <p:nvPr/>
        </p:nvSpPr>
        <p:spPr>
          <a:xfrm>
            <a:off x="5166285" y="5976194"/>
            <a:ext cx="3984491" cy="4933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331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居宅介護・小規模多機能へ事業を広げる</a:t>
            </a:r>
          </a:p>
        </p:txBody>
      </p:sp>
      <p:sp>
        <p:nvSpPr>
          <p:cNvPr id="67" name="吹き出し_現在"/>
          <p:cNvSpPr/>
          <p:nvPr/>
        </p:nvSpPr>
        <p:spPr>
          <a:xfrm>
            <a:off x="9246187" y="4806326"/>
            <a:ext cx="2325642" cy="1057110"/>
          </a:xfrm>
          <a:prstGeom prst="wedgeRoundRectCallout">
            <a:avLst>
              <a:gd name="adj1" fmla="val 37272"/>
              <a:gd name="adj2" fmla="val -146000"/>
              <a:gd name="adj3" fmla="val 14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吹き出し文_現在"/>
          <p:cNvSpPr txBox="1"/>
          <p:nvPr/>
        </p:nvSpPr>
        <p:spPr>
          <a:xfrm>
            <a:off x="9457609" y="4876800"/>
            <a:ext cx="2043746" cy="9161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14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FFF4EA"/>
                </a:solidFill>
                <a:latin typeface="游ゴシック"/>
                <a:ea typeface="游ゴシック"/>
                <a:cs typeface="游ゴシック"/>
              </a:rPr>
              <a:t>現在</a:t>
            </a:r>
          </a:p>
          <a:p>
            <a:pPr algn="l">
              <a:lnSpc>
                <a:spcPts val="2264"/>
              </a:lnSpc>
              <a:spcBef>
                <a:spcPts val="0"/>
              </a:spcBef>
              <a:spcAft>
                <a:spcPts val="0"/>
              </a:spcAft>
            </a:pPr>
            <a:r>
              <a:rPr sz="1886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7種109拠点</a:t>
            </a:r>
          </a:p>
          <a:p>
            <a:pPr algn="l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従業員 1,250名</a:t>
            </a:r>
          </a:p>
        </p:txBody>
      </p:sp>
      <p:sp>
        <p:nvSpPr>
          <p:cNvPr id="69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※ 出典：エフビー介護サービス 企業説明会資料、経営者ヒアリング、決算説明資料（従業員数は2023年4月時点）。</a:t>
            </a:r>
          </a:p>
        </p:txBody>
      </p:sp>
      <p:sp>
        <p:nvSpPr>
          <p:cNvPr id="70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事業の展開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小規模な施設を、地域ごとに。7つのサービスで暮らしを支える</a:t>
            </a:r>
          </a:p>
        </p:txBody>
      </p:sp>
      <p:sp>
        <p:nvSpPr>
          <p:cNvPr id="8" name="こだわり"/>
          <p:cNvSpPr/>
          <p:nvPr/>
        </p:nvSpPr>
        <p:spPr>
          <a:xfrm>
            <a:off x="620171" y="1465859"/>
            <a:ext cx="5356023" cy="1846418"/>
          </a:xfrm>
          <a:prstGeom prst="roundRect">
            <a:avLst>
              <a:gd name="adj" fmla="val 9160"/>
            </a:avLst>
          </a:pr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こだわり本文"/>
          <p:cNvSpPr txBox="1"/>
          <p:nvPr/>
        </p:nvSpPr>
        <p:spPr>
          <a:xfrm>
            <a:off x="958446" y="1705471"/>
            <a:ext cx="4679473" cy="14940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554"/>
              </a:spcAft>
            </a:pPr>
            <a:r>
              <a:rPr sz="1054" b="1" spc="2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わたしたちのちょっとしたこだわり</a:t>
            </a:r>
          </a:p>
          <a:p>
            <a:pPr algn="l">
              <a:lnSpc>
                <a:spcPts val="2741"/>
              </a:lnSpc>
              <a:spcBef>
                <a:spcPts val="0"/>
              </a:spcBef>
              <a:spcAft>
                <a:spcPts val="0"/>
              </a:spcAft>
            </a:pPr>
            <a:r>
              <a:rPr sz="210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大規模な施設ではなく、</a:t>
            </a:r>
          </a:p>
          <a:p>
            <a:pPr algn="l">
              <a:lnSpc>
                <a:spcPts val="2741"/>
              </a:lnSpc>
              <a:spcBef>
                <a:spcPts val="0"/>
              </a:spcBef>
              <a:spcAft>
                <a:spcPts val="665"/>
              </a:spcAft>
            </a:pPr>
            <a:r>
              <a:rPr sz="210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小規模な施設をメインに展開する。</a:t>
            </a:r>
          </a:p>
          <a:p>
            <a:pPr algn="l">
              <a:lnSpc>
                <a:spcPts val="1634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地域の文化・風土を取り入れた、きめ細やかなサービス。住み慣れた地元で、長く生活できる環境を。</a:t>
            </a:r>
          </a:p>
        </p:txBody>
      </p:sp>
      <p:sp>
        <p:nvSpPr>
          <p:cNvPr id="10" name="拠点見出し"/>
          <p:cNvSpPr txBox="1"/>
          <p:nvPr/>
        </p:nvSpPr>
        <p:spPr>
          <a:xfrm>
            <a:off x="6399038" y="1649091"/>
            <a:ext cx="5172791" cy="23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331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多拠点で、地域に根ざす</a:t>
            </a:r>
          </a:p>
        </p:txBody>
      </p:sp>
      <p:sp>
        <p:nvSpPr>
          <p:cNvPr id="11" name="数字_拠点"/>
          <p:cNvSpPr txBox="1"/>
          <p:nvPr/>
        </p:nvSpPr>
        <p:spPr>
          <a:xfrm>
            <a:off x="6399038" y="2015556"/>
            <a:ext cx="1555126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94"/>
              </a:lnSpc>
              <a:spcBef>
                <a:spcPts val="0"/>
              </a:spcBef>
              <a:spcAft>
                <a:spcPts val="0"/>
              </a:spcAft>
            </a:pPr>
            <a:r>
              <a:rPr sz="3995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109</a:t>
            </a:r>
          </a:p>
          <a:p>
            <a:pPr algn="l">
              <a:lnSpc>
                <a:spcPts val="1587"/>
              </a:lnSpc>
              <a:spcBef>
                <a:spcPts val="0"/>
              </a:spcBef>
              <a:spcAft>
                <a:spcPts val="221"/>
              </a:spcAft>
            </a:pPr>
            <a:r>
              <a:rPr sz="1220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拠点</a:t>
            </a:r>
          </a:p>
        </p:txBody>
      </p:sp>
      <p:cxnSp>
        <p:nvCxnSpPr>
          <p:cNvPr id="12" name="区切り"/>
          <p:cNvCxnSpPr/>
          <p:nvPr/>
        </p:nvCxnSpPr>
        <p:spPr>
          <a:xfrm>
            <a:off x="8024638" y="2100125"/>
            <a:ext cx="0" cy="690645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数字_種のサービス"/>
          <p:cNvSpPr txBox="1"/>
          <p:nvPr/>
        </p:nvSpPr>
        <p:spPr>
          <a:xfrm>
            <a:off x="8123302" y="2015556"/>
            <a:ext cx="1555126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94"/>
              </a:lnSpc>
              <a:spcBef>
                <a:spcPts val="0"/>
              </a:spcBef>
              <a:spcAft>
                <a:spcPts val="0"/>
              </a:spcAft>
            </a:pPr>
            <a:r>
              <a:rPr sz="3995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  <a:p>
            <a:pPr algn="l">
              <a:lnSpc>
                <a:spcPts val="1587"/>
              </a:lnSpc>
              <a:spcBef>
                <a:spcPts val="0"/>
              </a:spcBef>
              <a:spcAft>
                <a:spcPts val="221"/>
              </a:spcAft>
            </a:pPr>
            <a:r>
              <a:rPr sz="1220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種のサービス</a:t>
            </a:r>
          </a:p>
        </p:txBody>
      </p:sp>
      <p:cxnSp>
        <p:nvCxnSpPr>
          <p:cNvPr id="14" name="区切り"/>
          <p:cNvCxnSpPr/>
          <p:nvPr/>
        </p:nvCxnSpPr>
        <p:spPr>
          <a:xfrm>
            <a:off x="9748902" y="2100125"/>
            <a:ext cx="0" cy="690645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数字_県"/>
          <p:cNvSpPr txBox="1"/>
          <p:nvPr/>
        </p:nvSpPr>
        <p:spPr>
          <a:xfrm>
            <a:off x="9847565" y="2015556"/>
            <a:ext cx="1555126" cy="1057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94"/>
              </a:lnSpc>
              <a:spcBef>
                <a:spcPts val="0"/>
              </a:spcBef>
              <a:spcAft>
                <a:spcPts val="0"/>
              </a:spcAft>
            </a:pPr>
            <a:r>
              <a:rPr sz="3995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  <a:p>
            <a:pPr algn="l">
              <a:lnSpc>
                <a:spcPts val="1587"/>
              </a:lnSpc>
              <a:spcBef>
                <a:spcPts val="0"/>
              </a:spcBef>
              <a:spcAft>
                <a:spcPts val="221"/>
              </a:spcAft>
            </a:pPr>
            <a:r>
              <a:rPr sz="1220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県</a:t>
            </a:r>
          </a:p>
        </p:txBody>
      </p:sp>
      <p:sp>
        <p:nvSpPr>
          <p:cNvPr id="16" name="県別"/>
          <p:cNvSpPr txBox="1"/>
          <p:nvPr/>
        </p:nvSpPr>
        <p:spPr>
          <a:xfrm>
            <a:off x="6399038" y="2889434"/>
            <a:ext cx="5172791" cy="23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3"/>
              </a:lnSpc>
              <a:spcBef>
                <a:spcPts val="0"/>
              </a:spcBef>
              <a:spcAft>
                <a:spcPts val="0"/>
              </a:spcAft>
            </a:pPr>
            <a:r>
              <a:rPr sz="1109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長野57・新潟15・埼玉15・群馬12・栃木10</a:t>
            </a:r>
          </a:p>
        </p:txBody>
      </p:sp>
      <p:sp>
        <p:nvSpPr>
          <p:cNvPr id="17" name="サービス見出し"/>
          <p:cNvSpPr txBox="1"/>
          <p:nvPr/>
        </p:nvSpPr>
        <p:spPr>
          <a:xfrm>
            <a:off x="620171" y="3551889"/>
            <a:ext cx="6342659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9"/>
              </a:lnSpc>
              <a:spcBef>
                <a:spcPts val="0"/>
              </a:spcBef>
              <a:spcAft>
                <a:spcPts val="0"/>
              </a:spcAft>
            </a:pPr>
            <a:r>
              <a:rPr sz="155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暮らし方に合わせて選べる、7つのサービス</a:t>
            </a:r>
          </a:p>
        </p:txBody>
      </p:sp>
      <p:sp>
        <p:nvSpPr>
          <p:cNvPr id="18" name="ヘッダー_自宅で暮らし続ける"/>
          <p:cNvSpPr/>
          <p:nvPr/>
        </p:nvSpPr>
        <p:spPr>
          <a:xfrm>
            <a:off x="620171" y="3932449"/>
            <a:ext cx="3519001" cy="591982"/>
          </a:xfrm>
          <a:prstGeom prst="roundRect">
            <a:avLst>
              <a:gd name="adj" fmla="val 23809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ヘッダー下"/>
          <p:cNvSpPr/>
          <p:nvPr/>
        </p:nvSpPr>
        <p:spPr>
          <a:xfrm>
            <a:off x="620171" y="4298913"/>
            <a:ext cx="3519001" cy="225517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見出し_自宅で暮らし続ける"/>
          <p:cNvSpPr txBox="1"/>
          <p:nvPr/>
        </p:nvSpPr>
        <p:spPr>
          <a:xfrm>
            <a:off x="845688" y="4017017"/>
            <a:ext cx="3067968" cy="4369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</a:pPr>
            <a:r>
              <a:rPr sz="133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自宅で暮らし続ける</a:t>
            </a:r>
          </a:p>
          <a:p>
            <a:pPr algn="l">
              <a:lnSpc>
                <a:spcPts val="1226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自宅での生活を支援</a:t>
            </a:r>
          </a:p>
        </p:txBody>
      </p:sp>
      <p:cxnSp>
        <p:nvCxnSpPr>
          <p:cNvPr id="21" name="区切り"/>
          <p:cNvCxnSpPr/>
          <p:nvPr/>
        </p:nvCxnSpPr>
        <p:spPr>
          <a:xfrm>
            <a:off x="761119" y="5440592"/>
            <a:ext cx="3237105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ドット"/>
          <p:cNvSpPr/>
          <p:nvPr/>
        </p:nvSpPr>
        <p:spPr>
          <a:xfrm>
            <a:off x="895020" y="4975464"/>
            <a:ext cx="98664" cy="98664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サービス_訪問介護"/>
          <p:cNvSpPr txBox="1"/>
          <p:nvPr/>
        </p:nvSpPr>
        <p:spPr>
          <a:xfrm>
            <a:off x="1113489" y="4707662"/>
            <a:ext cx="2743787" cy="6342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訪問介護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ご自宅で、生活を支援</a:t>
            </a:r>
          </a:p>
        </p:txBody>
      </p:sp>
      <p:cxnSp>
        <p:nvCxnSpPr>
          <p:cNvPr id="24" name="区切り"/>
          <p:cNvCxnSpPr/>
          <p:nvPr/>
        </p:nvCxnSpPr>
        <p:spPr>
          <a:xfrm>
            <a:off x="761119" y="6272185"/>
            <a:ext cx="3237105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ドット"/>
          <p:cNvSpPr/>
          <p:nvPr/>
        </p:nvSpPr>
        <p:spPr>
          <a:xfrm>
            <a:off x="895020" y="5807057"/>
            <a:ext cx="98664" cy="98664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サービス_訪問看護"/>
          <p:cNvSpPr txBox="1"/>
          <p:nvPr/>
        </p:nvSpPr>
        <p:spPr>
          <a:xfrm>
            <a:off x="1113489" y="5539255"/>
            <a:ext cx="2743787" cy="6342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訪問看護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ご自宅へ、看護を届ける</a:t>
            </a:r>
          </a:p>
        </p:txBody>
      </p:sp>
      <p:sp>
        <p:nvSpPr>
          <p:cNvPr id="27" name="ヘッダー_通い・訪問・泊まりで支える"/>
          <p:cNvSpPr/>
          <p:nvPr/>
        </p:nvSpPr>
        <p:spPr>
          <a:xfrm>
            <a:off x="4336499" y="3932449"/>
            <a:ext cx="3519001" cy="591982"/>
          </a:xfrm>
          <a:prstGeom prst="roundRect">
            <a:avLst>
              <a:gd name="adj" fmla="val 23809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ヘッダー下"/>
          <p:cNvSpPr/>
          <p:nvPr/>
        </p:nvSpPr>
        <p:spPr>
          <a:xfrm>
            <a:off x="4336499" y="4298913"/>
            <a:ext cx="3519001" cy="225517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見出し_通い・訪問・泊まりで支える"/>
          <p:cNvSpPr txBox="1"/>
          <p:nvPr/>
        </p:nvSpPr>
        <p:spPr>
          <a:xfrm>
            <a:off x="4562016" y="4017017"/>
            <a:ext cx="3067968" cy="4369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</a:pPr>
            <a:r>
              <a:rPr sz="133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通い・訪問・泊まりで支える</a:t>
            </a:r>
          </a:p>
          <a:p>
            <a:pPr algn="l">
              <a:lnSpc>
                <a:spcPts val="1226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小規模多機能で、暮らしを支える</a:t>
            </a:r>
          </a:p>
        </p:txBody>
      </p:sp>
      <p:cxnSp>
        <p:nvCxnSpPr>
          <p:cNvPr id="30" name="区切り"/>
          <p:cNvCxnSpPr/>
          <p:nvPr/>
        </p:nvCxnSpPr>
        <p:spPr>
          <a:xfrm>
            <a:off x="4477447" y="5163394"/>
            <a:ext cx="3237106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ドット"/>
          <p:cNvSpPr/>
          <p:nvPr/>
        </p:nvSpPr>
        <p:spPr>
          <a:xfrm>
            <a:off x="4611348" y="4836865"/>
            <a:ext cx="98664" cy="98664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サービス_デイサービス"/>
          <p:cNvSpPr txBox="1"/>
          <p:nvPr/>
        </p:nvSpPr>
        <p:spPr>
          <a:xfrm>
            <a:off x="4829817" y="4707662"/>
            <a:ext cx="2743787" cy="3570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デイサービス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通いで過ごす</a:t>
            </a:r>
          </a:p>
        </p:txBody>
      </p:sp>
      <p:cxnSp>
        <p:nvCxnSpPr>
          <p:cNvPr id="33" name="区切り"/>
          <p:cNvCxnSpPr/>
          <p:nvPr/>
        </p:nvCxnSpPr>
        <p:spPr>
          <a:xfrm>
            <a:off x="4477447" y="5717790"/>
            <a:ext cx="3237106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ドット"/>
          <p:cNvSpPr/>
          <p:nvPr/>
        </p:nvSpPr>
        <p:spPr>
          <a:xfrm>
            <a:off x="4611348" y="5391260"/>
            <a:ext cx="98664" cy="98664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サービス_小規模多機能型"/>
          <p:cNvSpPr txBox="1"/>
          <p:nvPr/>
        </p:nvSpPr>
        <p:spPr>
          <a:xfrm>
            <a:off x="4829817" y="5262058"/>
            <a:ext cx="2743787" cy="3570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小規模多機能型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通い・訪問・泊まりを組み合わせて</a:t>
            </a:r>
          </a:p>
        </p:txBody>
      </p:sp>
      <p:cxnSp>
        <p:nvCxnSpPr>
          <p:cNvPr id="36" name="区切り"/>
          <p:cNvCxnSpPr/>
          <p:nvPr/>
        </p:nvCxnSpPr>
        <p:spPr>
          <a:xfrm>
            <a:off x="4477447" y="6272185"/>
            <a:ext cx="3237106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ドット"/>
          <p:cNvSpPr/>
          <p:nvPr/>
        </p:nvSpPr>
        <p:spPr>
          <a:xfrm>
            <a:off x="4611348" y="5945655"/>
            <a:ext cx="98664" cy="98664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サービス_看護小規模多機能型"/>
          <p:cNvSpPr txBox="1"/>
          <p:nvPr/>
        </p:nvSpPr>
        <p:spPr>
          <a:xfrm>
            <a:off x="4829817" y="5816453"/>
            <a:ext cx="2743787" cy="3570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看護小規模多機能型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看護も組み合わせて</a:t>
            </a:r>
          </a:p>
        </p:txBody>
      </p:sp>
      <p:sp>
        <p:nvSpPr>
          <p:cNvPr id="39" name="ヘッダー_住まいで暮らす"/>
          <p:cNvSpPr/>
          <p:nvPr/>
        </p:nvSpPr>
        <p:spPr>
          <a:xfrm>
            <a:off x="8052828" y="3932449"/>
            <a:ext cx="3519001" cy="591982"/>
          </a:xfrm>
          <a:prstGeom prst="roundRect">
            <a:avLst>
              <a:gd name="adj" fmla="val 23809"/>
            </a:avLst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ヘッダー下"/>
          <p:cNvSpPr/>
          <p:nvPr/>
        </p:nvSpPr>
        <p:spPr>
          <a:xfrm>
            <a:off x="8052828" y="4298913"/>
            <a:ext cx="3519001" cy="225517"/>
          </a:xfrm>
          <a:prstGeom prst="rect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見出し_住まいで暮らす"/>
          <p:cNvSpPr txBox="1"/>
          <p:nvPr/>
        </p:nvSpPr>
        <p:spPr>
          <a:xfrm>
            <a:off x="8278345" y="4017017"/>
            <a:ext cx="3067968" cy="4369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</a:pPr>
            <a:r>
              <a:rPr sz="133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住まいで暮らす</a:t>
            </a:r>
          </a:p>
          <a:p>
            <a:pPr algn="l">
              <a:lnSpc>
                <a:spcPts val="1226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居住いただき、支援する</a:t>
            </a:r>
          </a:p>
        </p:txBody>
      </p:sp>
      <p:cxnSp>
        <p:nvCxnSpPr>
          <p:cNvPr id="42" name="区切り"/>
          <p:cNvCxnSpPr/>
          <p:nvPr/>
        </p:nvCxnSpPr>
        <p:spPr>
          <a:xfrm>
            <a:off x="8193776" y="5440592"/>
            <a:ext cx="3237105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ドット"/>
          <p:cNvSpPr/>
          <p:nvPr/>
        </p:nvSpPr>
        <p:spPr>
          <a:xfrm>
            <a:off x="8327676" y="4975464"/>
            <a:ext cx="98664" cy="98664"/>
          </a:xfrm>
          <a:prstGeom prst="ellipse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サービス_有料老人ホーム"/>
          <p:cNvSpPr txBox="1"/>
          <p:nvPr/>
        </p:nvSpPr>
        <p:spPr>
          <a:xfrm>
            <a:off x="8546146" y="4707662"/>
            <a:ext cx="2743787" cy="6342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有料老人ホーム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住まいで、暮らしを支援</a:t>
            </a:r>
          </a:p>
        </p:txBody>
      </p:sp>
      <p:cxnSp>
        <p:nvCxnSpPr>
          <p:cNvPr id="45" name="区切り"/>
          <p:cNvCxnSpPr/>
          <p:nvPr/>
        </p:nvCxnSpPr>
        <p:spPr>
          <a:xfrm>
            <a:off x="8193776" y="6272185"/>
            <a:ext cx="3237105" cy="0"/>
          </a:xfrm>
          <a:prstGeom prst="line">
            <a:avLst/>
          </a:prstGeom>
          <a:ln w="1270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ドット"/>
          <p:cNvSpPr/>
          <p:nvPr/>
        </p:nvSpPr>
        <p:spPr>
          <a:xfrm>
            <a:off x="8327676" y="5807057"/>
            <a:ext cx="98664" cy="98664"/>
          </a:xfrm>
          <a:prstGeom prst="ellipse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サービス_グループホーム"/>
          <p:cNvSpPr txBox="1"/>
          <p:nvPr/>
        </p:nvSpPr>
        <p:spPr>
          <a:xfrm>
            <a:off x="8546146" y="5539255"/>
            <a:ext cx="2743787" cy="6342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グループホーム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少人数で暮らす、家庭的な雰囲気</a:t>
            </a:r>
          </a:p>
        </p:txBody>
      </p:sp>
      <p:sp>
        <p:nvSpPr>
          <p:cNvPr id="48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出典：企業説明会資料、経営者ヒアリング、実習サイトの掲載内容。サービスの分け方は暮らし方に合わせた整理です。</a:t>
            </a:r>
          </a:p>
        </p:txBody>
      </p:sp>
      <p:sp>
        <p:nvSpPr>
          <p:cNvPr id="49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事業の成長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事業は着実に成長。上場企業ならではの安心感</a:t>
            </a:r>
          </a:p>
        </p:txBody>
      </p:sp>
      <p:sp>
        <p:nvSpPr>
          <p:cNvPr id="8" name="売上見出し"/>
          <p:cNvSpPr txBox="1"/>
          <p:nvPr/>
        </p:nvSpPr>
        <p:spPr>
          <a:xfrm>
            <a:off x="620171" y="1494049"/>
            <a:ext cx="4228439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498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売上の推移（26期〜36期）</a:t>
            </a:r>
          </a:p>
        </p:txBody>
      </p:sp>
      <p:sp>
        <p:nvSpPr>
          <p:cNvPr id="9" name="凡例_用具"/>
          <p:cNvSpPr/>
          <p:nvPr/>
        </p:nvSpPr>
        <p:spPr>
          <a:xfrm>
            <a:off x="4989558" y="1536333"/>
            <a:ext cx="155043" cy="155043"/>
          </a:xfrm>
          <a:prstGeom prst="roundRect">
            <a:avLst>
              <a:gd name="adj" fmla="val 22727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凡例文字_用具"/>
          <p:cNvSpPr txBox="1"/>
          <p:nvPr/>
        </p:nvSpPr>
        <p:spPr>
          <a:xfrm>
            <a:off x="5215075" y="1508143"/>
            <a:ext cx="704740" cy="21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用具</a:t>
            </a:r>
          </a:p>
        </p:txBody>
      </p:sp>
      <p:sp>
        <p:nvSpPr>
          <p:cNvPr id="11" name="凡例_介護"/>
          <p:cNvSpPr/>
          <p:nvPr/>
        </p:nvSpPr>
        <p:spPr>
          <a:xfrm>
            <a:off x="5976194" y="1536333"/>
            <a:ext cx="155043" cy="155043"/>
          </a:xfrm>
          <a:prstGeom prst="roundRect">
            <a:avLst>
              <a:gd name="adj" fmla="val 22727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凡例文字_介護"/>
          <p:cNvSpPr txBox="1"/>
          <p:nvPr/>
        </p:nvSpPr>
        <p:spPr>
          <a:xfrm>
            <a:off x="6201711" y="1508143"/>
            <a:ext cx="704740" cy="21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介護</a:t>
            </a:r>
          </a:p>
        </p:txBody>
      </p:sp>
      <p:sp>
        <p:nvSpPr>
          <p:cNvPr id="13" name="凡例_居宅"/>
          <p:cNvSpPr/>
          <p:nvPr/>
        </p:nvSpPr>
        <p:spPr>
          <a:xfrm>
            <a:off x="6962830" y="1536333"/>
            <a:ext cx="155043" cy="155043"/>
          </a:xfrm>
          <a:prstGeom prst="roundRect">
            <a:avLst>
              <a:gd name="adj" fmla="val 22727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凡例文字_居宅"/>
          <p:cNvSpPr txBox="1"/>
          <p:nvPr/>
        </p:nvSpPr>
        <p:spPr>
          <a:xfrm>
            <a:off x="7188347" y="1508143"/>
            <a:ext cx="704740" cy="21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2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居宅</a:t>
            </a:r>
          </a:p>
        </p:txBody>
      </p:sp>
      <p:sp>
        <p:nvSpPr>
          <p:cNvPr id="15" name="単位"/>
          <p:cNvSpPr txBox="1"/>
          <p:nvPr/>
        </p:nvSpPr>
        <p:spPr>
          <a:xfrm>
            <a:off x="620171" y="1790039"/>
            <a:ext cx="422843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4"/>
              </a:lnSpc>
              <a:spcBef>
                <a:spcPts val="0"/>
              </a:spcBef>
              <a:spcAft>
                <a:spcPts val="0"/>
              </a:spcAft>
            </a:pPr>
            <a:r>
              <a:rPr sz="887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単位：百万円</a:t>
            </a:r>
          </a:p>
        </p:txBody>
      </p:sp>
      <p:sp>
        <p:nvSpPr>
          <p:cNvPr id="16" name="棒_26期"/>
          <p:cNvSpPr/>
          <p:nvPr/>
        </p:nvSpPr>
        <p:spPr>
          <a:xfrm>
            <a:off x="1050062" y="5116686"/>
            <a:ext cx="408749" cy="648086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値"/>
          <p:cNvSpPr txBox="1"/>
          <p:nvPr/>
        </p:nvSpPr>
        <p:spPr>
          <a:xfrm>
            <a:off x="965494" y="5116686"/>
            <a:ext cx="577887" cy="6480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2,137</a:t>
            </a:r>
          </a:p>
        </p:txBody>
      </p:sp>
      <p:sp>
        <p:nvSpPr>
          <p:cNvPr id="18" name="棒_26期"/>
          <p:cNvSpPr/>
          <p:nvPr/>
        </p:nvSpPr>
        <p:spPr>
          <a:xfrm>
            <a:off x="1050062" y="4621751"/>
            <a:ext cx="408749" cy="494935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値"/>
          <p:cNvSpPr txBox="1"/>
          <p:nvPr/>
        </p:nvSpPr>
        <p:spPr>
          <a:xfrm>
            <a:off x="965494" y="4621751"/>
            <a:ext cx="577887" cy="49493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1,632</a:t>
            </a:r>
          </a:p>
        </p:txBody>
      </p:sp>
      <p:sp>
        <p:nvSpPr>
          <p:cNvPr id="20" name="棒_26期"/>
          <p:cNvSpPr/>
          <p:nvPr/>
        </p:nvSpPr>
        <p:spPr>
          <a:xfrm>
            <a:off x="1050062" y="4599309"/>
            <a:ext cx="408749" cy="2244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合計_26期"/>
          <p:cNvSpPr txBox="1"/>
          <p:nvPr/>
        </p:nvSpPr>
        <p:spPr>
          <a:xfrm>
            <a:off x="951399" y="4359697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3,843</a:t>
            </a:r>
          </a:p>
        </p:txBody>
      </p:sp>
      <p:sp>
        <p:nvSpPr>
          <p:cNvPr id="22" name="期_26"/>
          <p:cNvSpPr txBox="1"/>
          <p:nvPr/>
        </p:nvSpPr>
        <p:spPr>
          <a:xfrm>
            <a:off x="951399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26期</a:t>
            </a:r>
          </a:p>
        </p:txBody>
      </p:sp>
      <p:sp>
        <p:nvSpPr>
          <p:cNvPr id="23" name="棒_27期"/>
          <p:cNvSpPr/>
          <p:nvPr/>
        </p:nvSpPr>
        <p:spPr>
          <a:xfrm>
            <a:off x="1656139" y="5060278"/>
            <a:ext cx="408749" cy="704494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棒_27期"/>
          <p:cNvSpPr/>
          <p:nvPr/>
        </p:nvSpPr>
        <p:spPr>
          <a:xfrm>
            <a:off x="1656139" y="4503779"/>
            <a:ext cx="408749" cy="556499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棒_27期"/>
          <p:cNvSpPr/>
          <p:nvPr/>
        </p:nvSpPr>
        <p:spPr>
          <a:xfrm>
            <a:off x="1656139" y="4477698"/>
            <a:ext cx="408749" cy="26081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合計_27期"/>
          <p:cNvSpPr txBox="1"/>
          <p:nvPr/>
        </p:nvSpPr>
        <p:spPr>
          <a:xfrm>
            <a:off x="1557475" y="4238086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4,244</a:t>
            </a:r>
          </a:p>
        </p:txBody>
      </p:sp>
      <p:sp>
        <p:nvSpPr>
          <p:cNvPr id="27" name="期_27"/>
          <p:cNvSpPr txBox="1"/>
          <p:nvPr/>
        </p:nvSpPr>
        <p:spPr>
          <a:xfrm>
            <a:off x="1557475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27期</a:t>
            </a:r>
          </a:p>
        </p:txBody>
      </p:sp>
      <p:sp>
        <p:nvSpPr>
          <p:cNvPr id="28" name="棒_28期"/>
          <p:cNvSpPr/>
          <p:nvPr/>
        </p:nvSpPr>
        <p:spPr>
          <a:xfrm>
            <a:off x="2262215" y="5027525"/>
            <a:ext cx="408749" cy="737247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棒_28期"/>
          <p:cNvSpPr/>
          <p:nvPr/>
        </p:nvSpPr>
        <p:spPr>
          <a:xfrm>
            <a:off x="2262215" y="4394602"/>
            <a:ext cx="408749" cy="632923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棒_28期"/>
          <p:cNvSpPr/>
          <p:nvPr/>
        </p:nvSpPr>
        <p:spPr>
          <a:xfrm>
            <a:off x="2262215" y="4364275"/>
            <a:ext cx="408749" cy="30327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合計_28期"/>
          <p:cNvSpPr txBox="1"/>
          <p:nvPr/>
        </p:nvSpPr>
        <p:spPr>
          <a:xfrm>
            <a:off x="2163551" y="4124663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4,618</a:t>
            </a:r>
          </a:p>
        </p:txBody>
      </p:sp>
      <p:sp>
        <p:nvSpPr>
          <p:cNvPr id="32" name="期_28"/>
          <p:cNvSpPr txBox="1"/>
          <p:nvPr/>
        </p:nvSpPr>
        <p:spPr>
          <a:xfrm>
            <a:off x="2163551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28期</a:t>
            </a:r>
          </a:p>
        </p:txBody>
      </p:sp>
      <p:sp>
        <p:nvSpPr>
          <p:cNvPr id="33" name="棒_29期"/>
          <p:cNvSpPr/>
          <p:nvPr/>
        </p:nvSpPr>
        <p:spPr>
          <a:xfrm>
            <a:off x="2868291" y="4975059"/>
            <a:ext cx="408749" cy="789713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棒_29期"/>
          <p:cNvSpPr/>
          <p:nvPr/>
        </p:nvSpPr>
        <p:spPr>
          <a:xfrm>
            <a:off x="2868291" y="4245090"/>
            <a:ext cx="408749" cy="729969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棒_29期"/>
          <p:cNvSpPr/>
          <p:nvPr/>
        </p:nvSpPr>
        <p:spPr>
          <a:xfrm>
            <a:off x="2868291" y="4212034"/>
            <a:ext cx="408749" cy="3305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合計_29期"/>
          <p:cNvSpPr txBox="1"/>
          <p:nvPr/>
        </p:nvSpPr>
        <p:spPr>
          <a:xfrm>
            <a:off x="2769628" y="3972422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5,120</a:t>
            </a:r>
          </a:p>
        </p:txBody>
      </p:sp>
      <p:sp>
        <p:nvSpPr>
          <p:cNvPr id="37" name="期_29"/>
          <p:cNvSpPr txBox="1"/>
          <p:nvPr/>
        </p:nvSpPr>
        <p:spPr>
          <a:xfrm>
            <a:off x="2769628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29期</a:t>
            </a:r>
          </a:p>
        </p:txBody>
      </p:sp>
      <p:sp>
        <p:nvSpPr>
          <p:cNvPr id="38" name="棒_30期"/>
          <p:cNvSpPr/>
          <p:nvPr/>
        </p:nvSpPr>
        <p:spPr>
          <a:xfrm>
            <a:off x="3474368" y="4918348"/>
            <a:ext cx="408749" cy="846424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棒_30期"/>
          <p:cNvSpPr/>
          <p:nvPr/>
        </p:nvSpPr>
        <p:spPr>
          <a:xfrm>
            <a:off x="3474368" y="4116807"/>
            <a:ext cx="408749" cy="801541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棒_30期"/>
          <p:cNvSpPr/>
          <p:nvPr/>
        </p:nvSpPr>
        <p:spPr>
          <a:xfrm>
            <a:off x="3474368" y="4081022"/>
            <a:ext cx="408749" cy="3578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合計_30期"/>
          <p:cNvSpPr txBox="1"/>
          <p:nvPr/>
        </p:nvSpPr>
        <p:spPr>
          <a:xfrm>
            <a:off x="3375704" y="3841410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5,552</a:t>
            </a:r>
          </a:p>
        </p:txBody>
      </p:sp>
      <p:sp>
        <p:nvSpPr>
          <p:cNvPr id="42" name="期_30"/>
          <p:cNvSpPr txBox="1"/>
          <p:nvPr/>
        </p:nvSpPr>
        <p:spPr>
          <a:xfrm>
            <a:off x="3375704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30期</a:t>
            </a:r>
          </a:p>
        </p:txBody>
      </p:sp>
      <p:sp>
        <p:nvSpPr>
          <p:cNvPr id="43" name="棒_31期"/>
          <p:cNvSpPr/>
          <p:nvPr/>
        </p:nvSpPr>
        <p:spPr>
          <a:xfrm>
            <a:off x="4080444" y="4854055"/>
            <a:ext cx="408749" cy="910717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棒_31期"/>
          <p:cNvSpPr/>
          <p:nvPr/>
        </p:nvSpPr>
        <p:spPr>
          <a:xfrm>
            <a:off x="4080444" y="3969115"/>
            <a:ext cx="408749" cy="884940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棒_31期"/>
          <p:cNvSpPr/>
          <p:nvPr/>
        </p:nvSpPr>
        <p:spPr>
          <a:xfrm>
            <a:off x="4080444" y="3931813"/>
            <a:ext cx="408749" cy="3730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合計_31期"/>
          <p:cNvSpPr txBox="1"/>
          <p:nvPr/>
        </p:nvSpPr>
        <p:spPr>
          <a:xfrm>
            <a:off x="3981780" y="3692202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6,044</a:t>
            </a:r>
          </a:p>
        </p:txBody>
      </p:sp>
      <p:sp>
        <p:nvSpPr>
          <p:cNvPr id="47" name="期_31"/>
          <p:cNvSpPr txBox="1"/>
          <p:nvPr/>
        </p:nvSpPr>
        <p:spPr>
          <a:xfrm>
            <a:off x="3981780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31期</a:t>
            </a:r>
          </a:p>
        </p:txBody>
      </p:sp>
      <p:sp>
        <p:nvSpPr>
          <p:cNvPr id="48" name="棒_32期"/>
          <p:cNvSpPr/>
          <p:nvPr/>
        </p:nvSpPr>
        <p:spPr>
          <a:xfrm>
            <a:off x="4686520" y="4785516"/>
            <a:ext cx="408749" cy="979256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棒_32期"/>
          <p:cNvSpPr/>
          <p:nvPr/>
        </p:nvSpPr>
        <p:spPr>
          <a:xfrm>
            <a:off x="4686520" y="3641888"/>
            <a:ext cx="408749" cy="1143628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棒_32期"/>
          <p:cNvSpPr/>
          <p:nvPr/>
        </p:nvSpPr>
        <p:spPr>
          <a:xfrm>
            <a:off x="4686520" y="3596397"/>
            <a:ext cx="408749" cy="4549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合計_32期"/>
          <p:cNvSpPr txBox="1"/>
          <p:nvPr/>
        </p:nvSpPr>
        <p:spPr>
          <a:xfrm>
            <a:off x="4587857" y="3356786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7,150</a:t>
            </a:r>
          </a:p>
        </p:txBody>
      </p:sp>
      <p:sp>
        <p:nvSpPr>
          <p:cNvPr id="52" name="期_32"/>
          <p:cNvSpPr txBox="1"/>
          <p:nvPr/>
        </p:nvSpPr>
        <p:spPr>
          <a:xfrm>
            <a:off x="4587857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32期</a:t>
            </a:r>
          </a:p>
        </p:txBody>
      </p:sp>
      <p:sp>
        <p:nvSpPr>
          <p:cNvPr id="53" name="棒_33期"/>
          <p:cNvSpPr/>
          <p:nvPr/>
        </p:nvSpPr>
        <p:spPr>
          <a:xfrm>
            <a:off x="5292597" y="4697265"/>
            <a:ext cx="408749" cy="1067508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棒_33期"/>
          <p:cNvSpPr/>
          <p:nvPr/>
        </p:nvSpPr>
        <p:spPr>
          <a:xfrm>
            <a:off x="5292597" y="3493286"/>
            <a:ext cx="408749" cy="1203979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棒_33期"/>
          <p:cNvSpPr/>
          <p:nvPr/>
        </p:nvSpPr>
        <p:spPr>
          <a:xfrm>
            <a:off x="5292597" y="3439607"/>
            <a:ext cx="408749" cy="53679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合計_33期"/>
          <p:cNvSpPr txBox="1"/>
          <p:nvPr/>
        </p:nvSpPr>
        <p:spPr>
          <a:xfrm>
            <a:off x="5193933" y="3199996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7,667</a:t>
            </a:r>
          </a:p>
        </p:txBody>
      </p:sp>
      <p:sp>
        <p:nvSpPr>
          <p:cNvPr id="57" name="期_33"/>
          <p:cNvSpPr txBox="1"/>
          <p:nvPr/>
        </p:nvSpPr>
        <p:spPr>
          <a:xfrm>
            <a:off x="5193933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33期</a:t>
            </a:r>
          </a:p>
        </p:txBody>
      </p:sp>
      <p:sp>
        <p:nvSpPr>
          <p:cNvPr id="58" name="棒_34期"/>
          <p:cNvSpPr/>
          <p:nvPr/>
        </p:nvSpPr>
        <p:spPr>
          <a:xfrm>
            <a:off x="5898673" y="4612349"/>
            <a:ext cx="408749" cy="1152423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棒_34期"/>
          <p:cNvSpPr/>
          <p:nvPr/>
        </p:nvSpPr>
        <p:spPr>
          <a:xfrm>
            <a:off x="5898673" y="3368945"/>
            <a:ext cx="408749" cy="1243404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棒_34期"/>
          <p:cNvSpPr/>
          <p:nvPr/>
        </p:nvSpPr>
        <p:spPr>
          <a:xfrm>
            <a:off x="5898673" y="3311324"/>
            <a:ext cx="408749" cy="57621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合計_34期"/>
          <p:cNvSpPr txBox="1"/>
          <p:nvPr/>
        </p:nvSpPr>
        <p:spPr>
          <a:xfrm>
            <a:off x="5800009" y="3071713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8,090</a:t>
            </a:r>
          </a:p>
        </p:txBody>
      </p:sp>
      <p:sp>
        <p:nvSpPr>
          <p:cNvPr id="62" name="期_34"/>
          <p:cNvSpPr txBox="1"/>
          <p:nvPr/>
        </p:nvSpPr>
        <p:spPr>
          <a:xfrm>
            <a:off x="5800009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34期</a:t>
            </a:r>
          </a:p>
        </p:txBody>
      </p:sp>
      <p:sp>
        <p:nvSpPr>
          <p:cNvPr id="63" name="棒_35期"/>
          <p:cNvSpPr/>
          <p:nvPr/>
        </p:nvSpPr>
        <p:spPr>
          <a:xfrm>
            <a:off x="6504749" y="4608407"/>
            <a:ext cx="408749" cy="1156366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棒_35期"/>
          <p:cNvSpPr/>
          <p:nvPr/>
        </p:nvSpPr>
        <p:spPr>
          <a:xfrm>
            <a:off x="6504749" y="3170911"/>
            <a:ext cx="408749" cy="1437496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棒_35期"/>
          <p:cNvSpPr/>
          <p:nvPr/>
        </p:nvSpPr>
        <p:spPr>
          <a:xfrm>
            <a:off x="6504749" y="3103282"/>
            <a:ext cx="408749" cy="67629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合計_35期"/>
          <p:cNvSpPr txBox="1"/>
          <p:nvPr/>
        </p:nvSpPr>
        <p:spPr>
          <a:xfrm>
            <a:off x="6406086" y="2863670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8,776</a:t>
            </a:r>
          </a:p>
        </p:txBody>
      </p:sp>
      <p:sp>
        <p:nvSpPr>
          <p:cNvPr id="67" name="期_35"/>
          <p:cNvSpPr txBox="1"/>
          <p:nvPr/>
        </p:nvSpPr>
        <p:spPr>
          <a:xfrm>
            <a:off x="6406086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35期</a:t>
            </a:r>
          </a:p>
        </p:txBody>
      </p:sp>
      <p:sp>
        <p:nvSpPr>
          <p:cNvPr id="68" name="棒_36期"/>
          <p:cNvSpPr/>
          <p:nvPr/>
        </p:nvSpPr>
        <p:spPr>
          <a:xfrm>
            <a:off x="7110825" y="4453436"/>
            <a:ext cx="408749" cy="1311336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値"/>
          <p:cNvSpPr txBox="1"/>
          <p:nvPr/>
        </p:nvSpPr>
        <p:spPr>
          <a:xfrm>
            <a:off x="7026257" y="4453436"/>
            <a:ext cx="577887" cy="1311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4,324</a:t>
            </a:r>
          </a:p>
        </p:txBody>
      </p:sp>
      <p:sp>
        <p:nvSpPr>
          <p:cNvPr id="70" name="棒_36期"/>
          <p:cNvSpPr/>
          <p:nvPr/>
        </p:nvSpPr>
        <p:spPr>
          <a:xfrm>
            <a:off x="7110825" y="2896755"/>
            <a:ext cx="408749" cy="1556681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値"/>
          <p:cNvSpPr txBox="1"/>
          <p:nvPr/>
        </p:nvSpPr>
        <p:spPr>
          <a:xfrm>
            <a:off x="7026257" y="2896755"/>
            <a:ext cx="577887" cy="15566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88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5,133</a:t>
            </a:r>
          </a:p>
        </p:txBody>
      </p:sp>
      <p:sp>
        <p:nvSpPr>
          <p:cNvPr id="72" name="棒_36期"/>
          <p:cNvSpPr/>
          <p:nvPr/>
        </p:nvSpPr>
        <p:spPr>
          <a:xfrm>
            <a:off x="7110825" y="2804865"/>
            <a:ext cx="408749" cy="91891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合計_36期"/>
          <p:cNvSpPr txBox="1"/>
          <p:nvPr/>
        </p:nvSpPr>
        <p:spPr>
          <a:xfrm>
            <a:off x="7012162" y="2565253"/>
            <a:ext cx="606076" cy="197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9,760</a:t>
            </a:r>
          </a:p>
        </p:txBody>
      </p:sp>
      <p:sp>
        <p:nvSpPr>
          <p:cNvPr id="74" name="期_36"/>
          <p:cNvSpPr txBox="1"/>
          <p:nvPr/>
        </p:nvSpPr>
        <p:spPr>
          <a:xfrm>
            <a:off x="7012162" y="5849341"/>
            <a:ext cx="606076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43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36期</a:t>
            </a:r>
          </a:p>
        </p:txBody>
      </p:sp>
      <p:cxnSp>
        <p:nvCxnSpPr>
          <p:cNvPr id="75" name="基準線"/>
          <p:cNvCxnSpPr/>
          <p:nvPr/>
        </p:nvCxnSpPr>
        <p:spPr>
          <a:xfrm>
            <a:off x="902067" y="5764772"/>
            <a:ext cx="6765503" cy="0"/>
          </a:xfrm>
          <a:prstGeom prst="line">
            <a:avLst/>
          </a:prstGeom>
          <a:ln w="1905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吹き出し_成長"/>
          <p:cNvSpPr/>
          <p:nvPr/>
        </p:nvSpPr>
        <p:spPr>
          <a:xfrm>
            <a:off x="4002923" y="2057840"/>
            <a:ext cx="2537064" cy="676550"/>
          </a:xfrm>
          <a:prstGeom prst="wedgeRoundRectCallout">
            <a:avLst>
              <a:gd name="adj1" fmla="val 73333"/>
              <a:gd name="adj2" fmla="val 18750"/>
              <a:gd name="adj3" fmla="val 22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吹き出し文_成長"/>
          <p:cNvSpPr txBox="1"/>
          <p:nvPr/>
        </p:nvSpPr>
        <p:spPr>
          <a:xfrm>
            <a:off x="4186155" y="2114220"/>
            <a:ext cx="2184694" cy="563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98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FFF4EA"/>
                </a:solidFill>
                <a:latin typeface="游ゴシック"/>
                <a:ea typeface="游ゴシック"/>
                <a:cs typeface="游ゴシック"/>
              </a:rPr>
              <a:t>2013年 → 2023年</a:t>
            </a:r>
          </a:p>
          <a:p>
            <a:pPr algn="l">
              <a:lnSpc>
                <a:spcPts val="1942"/>
              </a:lnSpc>
              <a:spcBef>
                <a:spcPts val="0"/>
              </a:spcBef>
              <a:spcAft>
                <a:spcPts val="0"/>
              </a:spcAft>
            </a:pPr>
            <a:r>
              <a:rPr sz="155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10年で約2.5倍に成長</a:t>
            </a:r>
          </a:p>
        </p:txBody>
      </p:sp>
      <p:cxnSp>
        <p:nvCxnSpPr>
          <p:cNvPr id="78" name="区切り"/>
          <p:cNvCxnSpPr/>
          <p:nvPr/>
        </p:nvCxnSpPr>
        <p:spPr>
          <a:xfrm>
            <a:off x="8160888" y="1536333"/>
            <a:ext cx="0" cy="4749947"/>
          </a:xfrm>
          <a:prstGeom prst="line">
            <a:avLst/>
          </a:prstGeom>
          <a:ln w="1905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戦略見出し"/>
          <p:cNvSpPr txBox="1"/>
          <p:nvPr/>
        </p:nvSpPr>
        <p:spPr>
          <a:xfrm>
            <a:off x="8626016" y="1677281"/>
            <a:ext cx="2692106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これから目指すこと</a:t>
            </a:r>
          </a:p>
        </p:txBody>
      </p:sp>
      <p:sp>
        <p:nvSpPr>
          <p:cNvPr id="80" name="タグ"/>
          <p:cNvSpPr/>
          <p:nvPr/>
        </p:nvSpPr>
        <p:spPr>
          <a:xfrm>
            <a:off x="8626016" y="2170599"/>
            <a:ext cx="1240342" cy="28189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タグ文字_福祉用具事業"/>
          <p:cNvSpPr txBox="1"/>
          <p:nvPr/>
        </p:nvSpPr>
        <p:spPr>
          <a:xfrm>
            <a:off x="8626016" y="2170599"/>
            <a:ext cx="1240342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福祉用具事業</a:t>
            </a:r>
          </a:p>
        </p:txBody>
      </p:sp>
      <p:sp>
        <p:nvSpPr>
          <p:cNvPr id="82" name="戦略_福祉用具事業"/>
          <p:cNvSpPr txBox="1"/>
          <p:nvPr/>
        </p:nvSpPr>
        <p:spPr>
          <a:xfrm>
            <a:off x="8626016" y="2551158"/>
            <a:ext cx="2692106" cy="676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8"/>
              </a:lnSpc>
              <a:spcBef>
                <a:spcPts val="0"/>
              </a:spcBef>
              <a:spcAft>
                <a:spcPts val="332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・福祉用具のラインナップの充実</a:t>
            </a:r>
          </a:p>
          <a:p>
            <a:pPr algn="l">
              <a:lnSpc>
                <a:spcPts val="1528"/>
              </a:lnSpc>
              <a:spcBef>
                <a:spcPts val="0"/>
              </a:spcBef>
              <a:spcAft>
                <a:spcPts val="332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・より多くの方へのご提案</a:t>
            </a:r>
          </a:p>
        </p:txBody>
      </p:sp>
      <p:sp>
        <p:nvSpPr>
          <p:cNvPr id="83" name="タグ"/>
          <p:cNvSpPr/>
          <p:nvPr/>
        </p:nvSpPr>
        <p:spPr>
          <a:xfrm>
            <a:off x="8626016" y="3382751"/>
            <a:ext cx="1240342" cy="281896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タグ文字_介護事業"/>
          <p:cNvSpPr txBox="1"/>
          <p:nvPr/>
        </p:nvSpPr>
        <p:spPr>
          <a:xfrm>
            <a:off x="8626016" y="3382751"/>
            <a:ext cx="1240342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介護事業</a:t>
            </a:r>
          </a:p>
        </p:txBody>
      </p:sp>
      <p:sp>
        <p:nvSpPr>
          <p:cNvPr id="85" name="戦略_介護事業"/>
          <p:cNvSpPr txBox="1"/>
          <p:nvPr/>
        </p:nvSpPr>
        <p:spPr>
          <a:xfrm>
            <a:off x="8626016" y="3763311"/>
            <a:ext cx="2692106" cy="12121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8"/>
              </a:lnSpc>
              <a:spcBef>
                <a:spcPts val="0"/>
              </a:spcBef>
              <a:spcAft>
                <a:spcPts val="332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・事業所の運営方法の見直し</a:t>
            </a:r>
          </a:p>
          <a:p>
            <a:pPr algn="l">
              <a:lnSpc>
                <a:spcPts val="1528"/>
              </a:lnSpc>
              <a:spcBef>
                <a:spcPts val="0"/>
              </a:spcBef>
              <a:spcAft>
                <a:spcPts val="332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・新たな介護サービスへの挑戦</a:t>
            </a:r>
          </a:p>
          <a:p>
            <a:pPr algn="l">
              <a:lnSpc>
                <a:spcPts val="1528"/>
              </a:lnSpc>
              <a:spcBef>
                <a:spcPts val="0"/>
              </a:spcBef>
              <a:spcAft>
                <a:spcPts val="332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・ニーズにあったきめ細やかなサービス</a:t>
            </a:r>
          </a:p>
        </p:txBody>
      </p:sp>
      <p:sp>
        <p:nvSpPr>
          <p:cNvPr id="86" name="タグ"/>
          <p:cNvSpPr/>
          <p:nvPr/>
        </p:nvSpPr>
        <p:spPr>
          <a:xfrm>
            <a:off x="8626016" y="5130506"/>
            <a:ext cx="1240342" cy="281896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タグ文字_人と技術"/>
          <p:cNvSpPr txBox="1"/>
          <p:nvPr/>
        </p:nvSpPr>
        <p:spPr>
          <a:xfrm>
            <a:off x="8626016" y="5130506"/>
            <a:ext cx="1240342" cy="281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人と技術</a:t>
            </a:r>
          </a:p>
        </p:txBody>
      </p:sp>
      <p:sp>
        <p:nvSpPr>
          <p:cNvPr id="88" name="戦略_人と技術"/>
          <p:cNvSpPr txBox="1"/>
          <p:nvPr/>
        </p:nvSpPr>
        <p:spPr>
          <a:xfrm>
            <a:off x="8626016" y="5511066"/>
            <a:ext cx="2692106" cy="676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8"/>
              </a:lnSpc>
              <a:spcBef>
                <a:spcPts val="0"/>
              </a:spcBef>
              <a:spcAft>
                <a:spcPts val="332"/>
              </a:spcAft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・ICT・DXを進めながらも、介護には人の力が不可欠。業務効率化と質の高いサービスの両立を目指します</a:t>
            </a:r>
          </a:p>
        </p:txBody>
      </p:sp>
      <p:sp>
        <p:nvSpPr>
          <p:cNvPr id="89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※ 売上は用具・介護・居宅の合計（エフビー介護サービス 企業説明会資料）。</a:t>
            </a:r>
          </a:p>
        </p:txBody>
      </p:sp>
      <p:sp>
        <p:nvSpPr>
          <p:cNvPr id="90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実習の魅力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ほかの法人と比べて見える、エフビーの実習の魅力</a:t>
            </a:r>
          </a:p>
        </p:txBody>
      </p:sp>
      <p:graphicFrame>
        <p:nvGraphicFramePr>
          <p:cNvPr id="8" name="他社比較表"/>
          <p:cNvGraphicFramePr>
            <a:graphicFrameLocks noGrp="1"/>
          </p:cNvGraphicFramePr>
          <p:nvPr/>
        </p:nvGraphicFramePr>
        <p:xfrm>
          <a:off x="620171" y="1465859"/>
          <a:ext cx="10951656" cy="307266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10816"/>
                <a:gridCol w="2833054"/>
                <a:gridCol w="2269262"/>
                <a:gridCol w="2269262"/>
                <a:gridCol w="2269262"/>
              </a:tblGrid>
              <a:tr h="310086">
                <a:tc>
                  <a:txBody>
                    <a:bodyPr/>
                    <a:lstStyle/>
                    <a:p>
                      <a:pPr algn="ctr">
                        <a:lnSpc>
                          <a:spcPts val="1528"/>
                        </a:lnSpc>
                      </a:pPr>
                      <a:r>
                        <a:rPr sz="1054" b="1">
                          <a:solidFill>
                            <a:srgbClr val="26323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/>
                      </a:r>
                    </a:p>
                  </a:txBody>
                  <a:tcPr marL="126853" marR="126853" marT="56379" marB="56379" anchor="ctr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28"/>
                        </a:lnSpc>
                      </a:pPr>
                      <a:r>
                        <a:rPr sz="1054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エフビー介護サービス</a:t>
                      </a:r>
                    </a:p>
                  </a:txBody>
                  <a:tcPr marL="126853" marR="126853" marT="56379" marB="56379" anchor="ctr">
                    <a:solidFill>
                      <a:srgbClr val="F28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28"/>
                        </a:lnSpc>
                      </a:pPr>
                      <a:r>
                        <a:rPr sz="1054" b="1">
                          <a:solidFill>
                            <a:srgbClr val="26323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A社</a:t>
                      </a:r>
                    </a:p>
                  </a:txBody>
                  <a:tcPr marL="126853" marR="126853" marT="56379" marB="56379" anchor="ctr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28"/>
                        </a:lnSpc>
                      </a:pPr>
                      <a:r>
                        <a:rPr sz="1054" b="1">
                          <a:solidFill>
                            <a:srgbClr val="26323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B社</a:t>
                      </a:r>
                    </a:p>
                  </a:txBody>
                  <a:tcPr marL="126853" marR="126853" marT="56379" marB="56379" anchor="ctr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28"/>
                        </a:lnSpc>
                      </a:pPr>
                      <a:r>
                        <a:rPr sz="1054" b="1">
                          <a:solidFill>
                            <a:srgbClr val="26323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C社</a:t>
                      </a:r>
                    </a:p>
                  </a:txBody>
                  <a:tcPr marL="126853" marR="126853" marT="56379" marB="56379" anchor="ctr">
                    <a:solidFill>
                      <a:srgbClr val="EEF4F1"/>
                    </a:solidFill>
                  </a:tcPr>
                </a:tc>
              </a:tr>
              <a:tr h="648361">
                <a:tc>
                  <a:txBody>
                    <a:bodyPr/>
                    <a:lstStyle/>
                    <a:p>
                      <a:pPr algn="l">
                        <a:lnSpc>
                          <a:spcPts val="1528"/>
                        </a:lnSpc>
                      </a:pPr>
                      <a:r>
                        <a:rPr sz="1054" b="1">
                          <a:solidFill>
                            <a:srgbClr val="1F7D6C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ビジョン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26323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「共生」をテーマにした、人々が助け合う地域創生（エフビータウン構想・コミュニティタワー構想）</a:t>
                      </a:r>
                    </a:p>
                  </a:txBody>
                  <a:tcPr marL="126853" marR="126853" marT="56379" marB="56379" anchor="ctr">
                    <a:solidFill>
                      <a:srgbClr val="FFF6EC"/>
                    </a:solidFill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―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―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暮らしを、共に。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</a:tr>
              <a:tr h="535602">
                <a:tc>
                  <a:txBody>
                    <a:bodyPr/>
                    <a:lstStyle/>
                    <a:p>
                      <a:pPr algn="l">
                        <a:lnSpc>
                          <a:spcPts val="1528"/>
                        </a:lnSpc>
                      </a:pPr>
                      <a:r>
                        <a:rPr sz="1054" b="1">
                          <a:solidFill>
                            <a:srgbClr val="1F7D6C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事業フェーズ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26323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成長期〜拡大期（2022年 スタンダード市場上場）</a:t>
                      </a:r>
                    </a:p>
                  </a:txBody>
                  <a:tcPr marL="126853" marR="126853" marT="56379" marB="56379" anchor="ctr">
                    <a:solidFill>
                      <a:srgbClr val="FFF6EC"/>
                    </a:solidFill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安定期〜成熟期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地域密着・安定運営期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成長期〜拡大期（2024年 スタンダード市場上場）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</a:tr>
              <a:tr h="902067">
                <a:tc>
                  <a:txBody>
                    <a:bodyPr/>
                    <a:lstStyle/>
                    <a:p>
                      <a:pPr algn="l">
                        <a:lnSpc>
                          <a:spcPts val="1528"/>
                        </a:lnSpc>
                      </a:pPr>
                      <a:r>
                        <a:rPr sz="1054" b="1">
                          <a:solidFill>
                            <a:srgbClr val="1F7D6C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事業・特徴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7"/>
                        </a:lnSpc>
                      </a:pPr>
                      <a:r>
                        <a:rPr sz="943" b="0">
                          <a:solidFill>
                            <a:srgbClr val="26323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有料老人ホーム、グループホーム、デイ、訪問介護・看護、小規模多機能、福祉用具ほか</a:t>
                      </a:r>
                    </a:p>
                  </a:txBody>
                  <a:tcPr marL="126853" marR="126853" marT="56379" marB="56379" anchor="ctr">
                    <a:solidFill>
                      <a:srgbClr val="FFF6EC"/>
                    </a:solidFill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7"/>
                        </a:lnSpc>
                      </a:pPr>
                      <a:r>
                        <a:rPr sz="943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特養、ケアハウス、デイ、ショートステイ、居宅介護支援、地域包括支援センター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7"/>
                        </a:lnSpc>
                      </a:pPr>
                      <a:r>
                        <a:rPr sz="943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病院運営、老健、デイケア、グループホーム、訪問看護ほか。病院母体の医療＋介護連携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7"/>
                        </a:lnSpc>
                      </a:pPr>
                      <a:r>
                        <a:rPr sz="943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有料老人ホームをシリーズで運営（首都圏中心）。都市型の有料老人ホーム特化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</a:tr>
              <a:tr h="676550">
                <a:tc>
                  <a:txBody>
                    <a:bodyPr/>
                    <a:lstStyle/>
                    <a:p>
                      <a:pPr algn="l">
                        <a:lnSpc>
                          <a:spcPts val="1528"/>
                        </a:lnSpc>
                      </a:pPr>
                      <a:r>
                        <a:rPr sz="1054" b="1">
                          <a:solidFill>
                            <a:srgbClr val="1F7D6C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人・メンバー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26323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関わる人たちが、みんな優しく・温かい</a:t>
                      </a:r>
                    </a:p>
                  </a:txBody>
                  <a:tcPr marL="126853" marR="126853" marT="56379" marB="56379" anchor="ctr">
                    <a:solidFill>
                      <a:srgbClr val="FFF6EC"/>
                    </a:solidFill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「感謝の心を基にした関係」を築き、真心をもってサービスを提供できる人材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「利用者はもちろん、職員にとっても安心できる居場所」を重視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8"/>
                        </a:lnSpc>
                      </a:pPr>
                      <a:r>
                        <a:rPr sz="998" b="0">
                          <a:solidFill>
                            <a:srgbClr val="55636B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近年は毎年170名以上の新卒社員を受け入れ</a:t>
                      </a:r>
                    </a:p>
                  </a:txBody>
                  <a:tcPr marL="126853" marR="126853" marT="56379" marB="56379" anchor="ctr">
                    <a:noFill/>
                    <a:lnB w="9525" cap="flat" cmpd="sng" algn="ctr">
                      <a:solidFill>
                        <a:srgbClr val="E1EA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魅力見出し"/>
          <p:cNvSpPr txBox="1"/>
          <p:nvPr/>
        </p:nvSpPr>
        <p:spPr>
          <a:xfrm>
            <a:off x="620171" y="4820421"/>
            <a:ext cx="10951658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498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エフビーの実習ならではの、3つの魅力</a:t>
            </a:r>
          </a:p>
        </p:txBody>
      </p:sp>
      <p:sp>
        <p:nvSpPr>
          <p:cNvPr id="10" name="カード_成長産業の上場企業"/>
          <p:cNvSpPr/>
          <p:nvPr/>
        </p:nvSpPr>
        <p:spPr>
          <a:xfrm>
            <a:off x="620171" y="5215075"/>
            <a:ext cx="3519001" cy="1141679"/>
          </a:xfrm>
          <a:prstGeom prst="roundRect">
            <a:avLst>
              <a:gd name="adj" fmla="val 12345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番号"/>
          <p:cNvSpPr/>
          <p:nvPr/>
        </p:nvSpPr>
        <p:spPr>
          <a:xfrm>
            <a:off x="859783" y="5602682"/>
            <a:ext cx="366465" cy="366465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番号1"/>
          <p:cNvSpPr txBox="1"/>
          <p:nvPr/>
        </p:nvSpPr>
        <p:spPr>
          <a:xfrm>
            <a:off x="859783" y="5602682"/>
            <a:ext cx="36646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13" name="魅力_1"/>
          <p:cNvSpPr txBox="1"/>
          <p:nvPr/>
        </p:nvSpPr>
        <p:spPr>
          <a:xfrm>
            <a:off x="1395385" y="5299644"/>
            <a:ext cx="2532365" cy="9725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成長産業の上場企業</a:t>
            </a:r>
          </a:p>
          <a:p>
            <a:pPr algn="l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998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その根本となる理念がある</a:t>
            </a:r>
          </a:p>
        </p:txBody>
      </p:sp>
      <p:sp>
        <p:nvSpPr>
          <p:cNvPr id="14" name="カード_ニーズに合わせたサービス展開"/>
          <p:cNvSpPr/>
          <p:nvPr/>
        </p:nvSpPr>
        <p:spPr>
          <a:xfrm>
            <a:off x="4336499" y="5215075"/>
            <a:ext cx="3519001" cy="1141679"/>
          </a:xfrm>
          <a:prstGeom prst="roundRect">
            <a:avLst>
              <a:gd name="adj" fmla="val 12345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番号"/>
          <p:cNvSpPr/>
          <p:nvPr/>
        </p:nvSpPr>
        <p:spPr>
          <a:xfrm>
            <a:off x="4576111" y="5602682"/>
            <a:ext cx="366465" cy="366465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番号2"/>
          <p:cNvSpPr txBox="1"/>
          <p:nvPr/>
        </p:nvSpPr>
        <p:spPr>
          <a:xfrm>
            <a:off x="4576111" y="5602682"/>
            <a:ext cx="36646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7" name="魅力_2"/>
          <p:cNvSpPr txBox="1"/>
          <p:nvPr/>
        </p:nvSpPr>
        <p:spPr>
          <a:xfrm>
            <a:off x="5111713" y="5299644"/>
            <a:ext cx="2532365" cy="9725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ニーズに合わせたサービス展開</a:t>
            </a:r>
          </a:p>
          <a:p>
            <a:pPr algn="l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998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ご利用者さんに合わせた、実習経験の幅</a:t>
            </a:r>
          </a:p>
        </p:txBody>
      </p:sp>
      <p:sp>
        <p:nvSpPr>
          <p:cNvPr id="18" name="カード_ダイバーシティな環境"/>
          <p:cNvSpPr/>
          <p:nvPr/>
        </p:nvSpPr>
        <p:spPr>
          <a:xfrm>
            <a:off x="8052828" y="5215075"/>
            <a:ext cx="3519001" cy="1141679"/>
          </a:xfrm>
          <a:prstGeom prst="roundRect">
            <a:avLst>
              <a:gd name="adj" fmla="val 12345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番号"/>
          <p:cNvSpPr/>
          <p:nvPr/>
        </p:nvSpPr>
        <p:spPr>
          <a:xfrm>
            <a:off x="8292439" y="5602682"/>
            <a:ext cx="366465" cy="366465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番号3"/>
          <p:cNvSpPr txBox="1"/>
          <p:nvPr/>
        </p:nvSpPr>
        <p:spPr>
          <a:xfrm>
            <a:off x="8292439" y="5602682"/>
            <a:ext cx="36646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44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21" name="魅力_3"/>
          <p:cNvSpPr txBox="1"/>
          <p:nvPr/>
        </p:nvSpPr>
        <p:spPr>
          <a:xfrm>
            <a:off x="8828042" y="5299644"/>
            <a:ext cx="2532365" cy="9725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ダイバーシティな環境</a:t>
            </a:r>
          </a:p>
          <a:p>
            <a:pPr algn="l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998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女性や技能実習生など、多様な人が活躍できる環境</a:t>
            </a:r>
          </a:p>
        </p:txBody>
      </p:sp>
      <p:sp>
        <p:nvSpPr>
          <p:cNvPr id="22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※ 他法人の記載は、公開情報をもとにした要約です。</a:t>
            </a:r>
          </a:p>
        </p:txBody>
      </p:sp>
      <p:sp>
        <p:nvSpPr>
          <p:cNvPr id="23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エフビー流の学び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介護の現場を体験して学ぶ、4つのステップ</a:t>
            </a:r>
          </a:p>
        </p:txBody>
      </p:sp>
      <p:sp>
        <p:nvSpPr>
          <p:cNvPr id="8" name="帯"/>
          <p:cNvSpPr/>
          <p:nvPr/>
        </p:nvSpPr>
        <p:spPr>
          <a:xfrm>
            <a:off x="3981780" y="1465859"/>
            <a:ext cx="4228439" cy="422844"/>
          </a:xfrm>
          <a:prstGeom prst="roundRect">
            <a:avLst>
              <a:gd name="adj" fmla="val 50000"/>
            </a:avLst>
          </a:pr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帯文字"/>
          <p:cNvSpPr txBox="1"/>
          <p:nvPr/>
        </p:nvSpPr>
        <p:spPr>
          <a:xfrm>
            <a:off x="3981780" y="1465859"/>
            <a:ext cx="4228439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931"/>
              </a:lnSpc>
              <a:spcBef>
                <a:spcPts val="0"/>
              </a:spcBef>
              <a:spcAft>
                <a:spcPts val="0"/>
              </a:spcAft>
            </a:pPr>
            <a:r>
              <a:rPr sz="1609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介護の現場を体験して学ぶ</a:t>
            </a:r>
          </a:p>
        </p:txBody>
      </p:sp>
      <p:sp>
        <p:nvSpPr>
          <p:cNvPr id="10" name="カード_話して知る"/>
          <p:cNvSpPr/>
          <p:nvPr/>
        </p:nvSpPr>
        <p:spPr>
          <a:xfrm>
            <a:off x="620171" y="2142409"/>
            <a:ext cx="2526492" cy="3439131"/>
          </a:xfrm>
          <a:prstGeom prst="roundRect">
            <a:avLst>
              <a:gd name="adj" fmla="val 5578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番号"/>
          <p:cNvSpPr/>
          <p:nvPr/>
        </p:nvSpPr>
        <p:spPr>
          <a:xfrm>
            <a:off x="845688" y="2424305"/>
            <a:ext cx="422844" cy="422844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番号1"/>
          <p:cNvSpPr txBox="1"/>
          <p:nvPr/>
        </p:nvSpPr>
        <p:spPr>
          <a:xfrm>
            <a:off x="845688" y="2424305"/>
            <a:ext cx="422844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64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13" name="見出し_話して知る"/>
          <p:cNvSpPr txBox="1"/>
          <p:nvPr/>
        </p:nvSpPr>
        <p:spPr>
          <a:xfrm>
            <a:off x="1409480" y="2424305"/>
            <a:ext cx="1610331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sz="1775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話して知る</a:t>
            </a:r>
          </a:p>
        </p:txBody>
      </p:sp>
      <p:sp>
        <p:nvSpPr>
          <p:cNvPr id="14" name="小見出し_話して知る"/>
          <p:cNvSpPr txBox="1"/>
          <p:nvPr/>
        </p:nvSpPr>
        <p:spPr>
          <a:xfrm>
            <a:off x="845688" y="3016287"/>
            <a:ext cx="2075459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3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利用者さんの人生にふれる</a:t>
            </a:r>
          </a:p>
        </p:txBody>
      </p:sp>
      <p:cxnSp>
        <p:nvCxnSpPr>
          <p:cNvPr id="15" name="区切り"/>
          <p:cNvCxnSpPr/>
          <p:nvPr/>
        </p:nvCxnSpPr>
        <p:spPr>
          <a:xfrm>
            <a:off x="845688" y="3523699"/>
            <a:ext cx="2075459" cy="0"/>
          </a:xfrm>
          <a:prstGeom prst="line">
            <a:avLst/>
          </a:prstGeom>
          <a:ln w="1524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_話して知る"/>
          <p:cNvSpPr txBox="1"/>
          <p:nvPr/>
        </p:nvSpPr>
        <p:spPr>
          <a:xfrm>
            <a:off x="845688" y="3664647"/>
            <a:ext cx="2075459" cy="17759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・昔の暮らしや仕事の話を聴く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・笑顔が生まれる瞬間を見る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・「ありがとう」をもらう手応え</a:t>
            </a:r>
          </a:p>
        </p:txBody>
      </p:sp>
      <p:sp>
        <p:nvSpPr>
          <p:cNvPr id="17" name="矢印"/>
          <p:cNvSpPr/>
          <p:nvPr/>
        </p:nvSpPr>
        <p:spPr>
          <a:xfrm>
            <a:off x="3188948" y="3706932"/>
            <a:ext cx="197327" cy="310086"/>
          </a:xfrm>
          <a:prstGeom prst="rightArrow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カード_見て学ぶ"/>
          <p:cNvSpPr/>
          <p:nvPr/>
        </p:nvSpPr>
        <p:spPr>
          <a:xfrm>
            <a:off x="3428560" y="2142409"/>
            <a:ext cx="2526492" cy="3439131"/>
          </a:xfrm>
          <a:prstGeom prst="roundRect">
            <a:avLst>
              <a:gd name="adj" fmla="val 5578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番号"/>
          <p:cNvSpPr/>
          <p:nvPr/>
        </p:nvSpPr>
        <p:spPr>
          <a:xfrm>
            <a:off x="3654076" y="2424305"/>
            <a:ext cx="422844" cy="422844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番号2"/>
          <p:cNvSpPr txBox="1"/>
          <p:nvPr/>
        </p:nvSpPr>
        <p:spPr>
          <a:xfrm>
            <a:off x="3654076" y="2424305"/>
            <a:ext cx="422844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64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21" name="見出し_見て学ぶ"/>
          <p:cNvSpPr txBox="1"/>
          <p:nvPr/>
        </p:nvSpPr>
        <p:spPr>
          <a:xfrm>
            <a:off x="4217868" y="2424305"/>
            <a:ext cx="1610331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sz="1775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見て学ぶ</a:t>
            </a:r>
          </a:p>
        </p:txBody>
      </p:sp>
      <p:sp>
        <p:nvSpPr>
          <p:cNvPr id="22" name="小見出し_見て学ぶ"/>
          <p:cNvSpPr txBox="1"/>
          <p:nvPr/>
        </p:nvSpPr>
        <p:spPr>
          <a:xfrm>
            <a:off x="3654076" y="3016287"/>
            <a:ext cx="2075459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3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職員の仕事を観察する</a:t>
            </a:r>
          </a:p>
        </p:txBody>
      </p:sp>
      <p:cxnSp>
        <p:nvCxnSpPr>
          <p:cNvPr id="23" name="区切り"/>
          <p:cNvCxnSpPr/>
          <p:nvPr/>
        </p:nvCxnSpPr>
        <p:spPr>
          <a:xfrm>
            <a:off x="3654076" y="3523699"/>
            <a:ext cx="2075459" cy="0"/>
          </a:xfrm>
          <a:prstGeom prst="line">
            <a:avLst/>
          </a:prstGeom>
          <a:ln w="1524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_見て学ぶ"/>
          <p:cNvSpPr txBox="1"/>
          <p:nvPr/>
        </p:nvSpPr>
        <p:spPr>
          <a:xfrm>
            <a:off x="3654076" y="3664647"/>
            <a:ext cx="2075459" cy="17759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・声かけ・見守りの基本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・介護職の一日の流れと仕事の幅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・看護師など他職種との連携</a:t>
            </a:r>
          </a:p>
        </p:txBody>
      </p:sp>
      <p:sp>
        <p:nvSpPr>
          <p:cNvPr id="25" name="矢印"/>
          <p:cNvSpPr/>
          <p:nvPr/>
        </p:nvSpPr>
        <p:spPr>
          <a:xfrm>
            <a:off x="5997336" y="3706932"/>
            <a:ext cx="197327" cy="310086"/>
          </a:xfrm>
          <a:prstGeom prst="rightArrow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カード_やってみる"/>
          <p:cNvSpPr/>
          <p:nvPr/>
        </p:nvSpPr>
        <p:spPr>
          <a:xfrm>
            <a:off x="6236948" y="2142409"/>
            <a:ext cx="2526492" cy="3439131"/>
          </a:xfrm>
          <a:prstGeom prst="roundRect">
            <a:avLst>
              <a:gd name="adj" fmla="val 5578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番号"/>
          <p:cNvSpPr/>
          <p:nvPr/>
        </p:nvSpPr>
        <p:spPr>
          <a:xfrm>
            <a:off x="6462465" y="2424305"/>
            <a:ext cx="422844" cy="422844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番号3"/>
          <p:cNvSpPr txBox="1"/>
          <p:nvPr/>
        </p:nvSpPr>
        <p:spPr>
          <a:xfrm>
            <a:off x="6462465" y="2424305"/>
            <a:ext cx="422844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64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29" name="見出し_やってみる"/>
          <p:cNvSpPr txBox="1"/>
          <p:nvPr/>
        </p:nvSpPr>
        <p:spPr>
          <a:xfrm>
            <a:off x="7026257" y="2424305"/>
            <a:ext cx="1610331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sz="1775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やってみる</a:t>
            </a:r>
          </a:p>
        </p:txBody>
      </p:sp>
      <p:sp>
        <p:nvSpPr>
          <p:cNvPr id="30" name="小見出し_やってみる"/>
          <p:cNvSpPr txBox="1"/>
          <p:nvPr/>
        </p:nvSpPr>
        <p:spPr>
          <a:xfrm>
            <a:off x="6462465" y="3016287"/>
            <a:ext cx="2075459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3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できることから体験する</a:t>
            </a:r>
          </a:p>
        </p:txBody>
      </p:sp>
      <p:cxnSp>
        <p:nvCxnSpPr>
          <p:cNvPr id="31" name="区切り"/>
          <p:cNvCxnSpPr/>
          <p:nvPr/>
        </p:nvCxnSpPr>
        <p:spPr>
          <a:xfrm>
            <a:off x="6462465" y="3523699"/>
            <a:ext cx="2075459" cy="0"/>
          </a:xfrm>
          <a:prstGeom prst="line">
            <a:avLst/>
          </a:prstGeom>
          <a:ln w="1524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内容_やってみる"/>
          <p:cNvSpPr txBox="1"/>
          <p:nvPr/>
        </p:nvSpPr>
        <p:spPr>
          <a:xfrm>
            <a:off x="6462465" y="3664647"/>
            <a:ext cx="2075459" cy="17759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・食事・レクのお手伝い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・畑や行事など、地域にふれる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・職員がそばでサポート</a:t>
            </a:r>
          </a:p>
        </p:txBody>
      </p:sp>
      <p:sp>
        <p:nvSpPr>
          <p:cNvPr id="33" name="矢印"/>
          <p:cNvSpPr/>
          <p:nvPr/>
        </p:nvSpPr>
        <p:spPr>
          <a:xfrm>
            <a:off x="8805725" y="3706932"/>
            <a:ext cx="197327" cy="310086"/>
          </a:xfrm>
          <a:prstGeom prst="rightArrow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カード_振り返る"/>
          <p:cNvSpPr/>
          <p:nvPr/>
        </p:nvSpPr>
        <p:spPr>
          <a:xfrm>
            <a:off x="9045336" y="2142409"/>
            <a:ext cx="2526492" cy="3439131"/>
          </a:xfrm>
          <a:prstGeom prst="roundRect">
            <a:avLst>
              <a:gd name="adj" fmla="val 5578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番号"/>
          <p:cNvSpPr/>
          <p:nvPr/>
        </p:nvSpPr>
        <p:spPr>
          <a:xfrm>
            <a:off x="9270853" y="2424305"/>
            <a:ext cx="422844" cy="422844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番号4"/>
          <p:cNvSpPr txBox="1"/>
          <p:nvPr/>
        </p:nvSpPr>
        <p:spPr>
          <a:xfrm>
            <a:off x="9270853" y="2424305"/>
            <a:ext cx="422844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664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  <p:sp>
        <p:nvSpPr>
          <p:cNvPr id="37" name="見出し_振り返る"/>
          <p:cNvSpPr txBox="1"/>
          <p:nvPr/>
        </p:nvSpPr>
        <p:spPr>
          <a:xfrm>
            <a:off x="9834645" y="2424305"/>
            <a:ext cx="1610331" cy="4228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30"/>
              </a:lnSpc>
              <a:spcBef>
                <a:spcPts val="0"/>
              </a:spcBef>
              <a:spcAft>
                <a:spcPts val="0"/>
              </a:spcAft>
            </a:pPr>
            <a:r>
              <a:rPr sz="1775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振り返る</a:t>
            </a:r>
          </a:p>
        </p:txBody>
      </p:sp>
      <p:sp>
        <p:nvSpPr>
          <p:cNvPr id="38" name="小見出し_振り返る"/>
          <p:cNvSpPr txBox="1"/>
          <p:nvPr/>
        </p:nvSpPr>
        <p:spPr>
          <a:xfrm>
            <a:off x="9270853" y="3016287"/>
            <a:ext cx="2075459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3"/>
              </a:lnSpc>
              <a:spcBef>
                <a:spcPts val="0"/>
              </a:spcBef>
              <a:spcAft>
                <a:spcPts val="0"/>
              </a:spcAft>
            </a:pPr>
            <a:r>
              <a:rPr sz="1109" b="1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気づきから、キャリアを考える</a:t>
            </a:r>
          </a:p>
        </p:txBody>
      </p:sp>
      <p:cxnSp>
        <p:nvCxnSpPr>
          <p:cNvPr id="39" name="区切り"/>
          <p:cNvCxnSpPr/>
          <p:nvPr/>
        </p:nvCxnSpPr>
        <p:spPr>
          <a:xfrm>
            <a:off x="9270853" y="3523699"/>
            <a:ext cx="2075459" cy="0"/>
          </a:xfrm>
          <a:prstGeom prst="line">
            <a:avLst/>
          </a:prstGeom>
          <a:ln w="15240">
            <a:solidFill>
              <a:srgbClr val="E1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内容_振り返る"/>
          <p:cNvSpPr txBox="1"/>
          <p:nvPr/>
        </p:nvSpPr>
        <p:spPr>
          <a:xfrm>
            <a:off x="9270853" y="3664647"/>
            <a:ext cx="2075459" cy="17759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・感じたことを職員と話し合う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・資格や仕事の道すじを知る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・これからのキャリアを考える</a:t>
            </a:r>
          </a:p>
          <a:p>
            <a:pPr algn="l">
              <a:lnSpc>
                <a:spcPts val="1664"/>
              </a:lnSpc>
              <a:spcBef>
                <a:spcPts val="0"/>
              </a:spcBef>
              <a:spcAft>
                <a:spcPts val="554"/>
              </a:spcAft>
            </a:pP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・自分に向いているかの見極め</a:t>
            </a:r>
          </a:p>
        </p:txBody>
      </p:sp>
      <p:sp>
        <p:nvSpPr>
          <p:cNvPr id="41" name="戻り矢印"/>
          <p:cNvSpPr/>
          <p:nvPr/>
        </p:nvSpPr>
        <p:spPr>
          <a:xfrm>
            <a:off x="620171" y="5821151"/>
            <a:ext cx="10951658" cy="535602"/>
          </a:xfrm>
          <a:prstGeom prst="leftArrow">
            <a:avLst>
              <a:gd name="adj1" fmla="val 50000"/>
              <a:gd name="adj2" fmla="val 90000"/>
            </a:avLst>
          </a:prstGeom>
          <a:solidFill>
            <a:srgbClr val="D4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戻り矢印文字"/>
          <p:cNvSpPr txBox="1"/>
          <p:nvPr/>
        </p:nvSpPr>
        <p:spPr>
          <a:xfrm>
            <a:off x="1254437" y="5821151"/>
            <a:ext cx="10105970" cy="535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④ 振り返りから、次の ① へ　体験をくり返しながら、学びを深めていく</a:t>
            </a:r>
          </a:p>
        </p:txBody>
      </p:sp>
      <p:sp>
        <p:nvSpPr>
          <p:cNvPr id="43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※ 内容は検討中のものです。</a:t>
            </a:r>
          </a:p>
        </p:txBody>
      </p:sp>
      <p:sp>
        <p:nvSpPr>
          <p:cNvPr id="44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実習プログラム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1日で、5日間で。目的に合わせて選べる2つのプログラム</a:t>
            </a:r>
          </a:p>
        </p:txBody>
      </p:sp>
      <p:sp>
        <p:nvSpPr>
          <p:cNvPr id="8" name="帯_1DAY"/>
          <p:cNvSpPr/>
          <p:nvPr/>
        </p:nvSpPr>
        <p:spPr>
          <a:xfrm>
            <a:off x="620171" y="1465859"/>
            <a:ext cx="5577593" cy="591982"/>
          </a:xfrm>
          <a:prstGeom prst="roundRect">
            <a:avLst>
              <a:gd name="adj" fmla="val 28571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1DAY"/>
          <p:cNvSpPr txBox="1"/>
          <p:nvPr/>
        </p:nvSpPr>
        <p:spPr>
          <a:xfrm>
            <a:off x="845688" y="1465859"/>
            <a:ext cx="1198058" cy="5919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97"/>
              </a:lnSpc>
              <a:spcBef>
                <a:spcPts val="0"/>
              </a:spcBef>
              <a:spcAft>
                <a:spcPts val="0"/>
              </a:spcAft>
            </a:pPr>
            <a:r>
              <a:rPr sz="199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1DAY</a:t>
            </a:r>
          </a:p>
        </p:txBody>
      </p:sp>
      <p:sp>
        <p:nvSpPr>
          <p:cNvPr id="10" name="1DAY_見出し"/>
          <p:cNvSpPr txBox="1"/>
          <p:nvPr/>
        </p:nvSpPr>
        <p:spPr>
          <a:xfrm>
            <a:off x="2100125" y="1536333"/>
            <a:ext cx="3942597" cy="4510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33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1日で、現場をのぞいてみる</a:t>
            </a:r>
          </a:p>
          <a:p>
            <a:pPr algn="l">
              <a:lnSpc>
                <a:spcPts val="1298"/>
              </a:lnSpc>
              <a:spcBef>
                <a:spcPts val="0"/>
              </a:spcBef>
              <a:spcAft>
                <a:spcPts val="0"/>
              </a:spcAft>
            </a:pPr>
            <a:r>
              <a:rPr sz="998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9:30〜15:00ごろ　はじめての方に</a:t>
            </a:r>
          </a:p>
        </p:txBody>
      </p:sp>
      <p:sp>
        <p:nvSpPr>
          <p:cNvPr id="11" name="帯_5DAYS"/>
          <p:cNvSpPr/>
          <p:nvPr/>
        </p:nvSpPr>
        <p:spPr>
          <a:xfrm>
            <a:off x="6423281" y="1465859"/>
            <a:ext cx="5148548" cy="591982"/>
          </a:xfrm>
          <a:prstGeom prst="roundRect">
            <a:avLst>
              <a:gd name="adj" fmla="val 28571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DAYS"/>
          <p:cNvSpPr txBox="1"/>
          <p:nvPr/>
        </p:nvSpPr>
        <p:spPr>
          <a:xfrm>
            <a:off x="6648798" y="1465859"/>
            <a:ext cx="1198058" cy="5919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97"/>
              </a:lnSpc>
              <a:spcBef>
                <a:spcPts val="0"/>
              </a:spcBef>
              <a:spcAft>
                <a:spcPts val="0"/>
              </a:spcAft>
            </a:pPr>
            <a:r>
              <a:rPr sz="1997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5DAYS</a:t>
            </a:r>
          </a:p>
        </p:txBody>
      </p:sp>
      <p:sp>
        <p:nvSpPr>
          <p:cNvPr id="13" name="5DAYS_見出し"/>
          <p:cNvSpPr txBox="1"/>
          <p:nvPr/>
        </p:nvSpPr>
        <p:spPr>
          <a:xfrm>
            <a:off x="7903235" y="1536333"/>
            <a:ext cx="3513551" cy="4510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33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5日間で、じっくり向き合う</a:t>
            </a:r>
          </a:p>
          <a:p>
            <a:pPr algn="l">
              <a:lnSpc>
                <a:spcPts val="1298"/>
              </a:lnSpc>
              <a:spcBef>
                <a:spcPts val="0"/>
              </a:spcBef>
              <a:spcAft>
                <a:spcPts val="0"/>
              </a:spcAft>
            </a:pPr>
            <a:r>
              <a:rPr sz="998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DAY1〜DAY5　じっくり学びたい方に</a:t>
            </a:r>
          </a:p>
        </p:txBody>
      </p:sp>
      <p:sp>
        <p:nvSpPr>
          <p:cNvPr id="14" name="行_受付とオープニング"/>
          <p:cNvSpPr/>
          <p:nvPr/>
        </p:nvSpPr>
        <p:spPr>
          <a:xfrm>
            <a:off x="620171" y="2226978"/>
            <a:ext cx="5577593" cy="75830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時刻"/>
          <p:cNvSpPr/>
          <p:nvPr/>
        </p:nvSpPr>
        <p:spPr>
          <a:xfrm>
            <a:off x="789309" y="2436991"/>
            <a:ext cx="817498" cy="33827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時刻_9:30"/>
          <p:cNvSpPr txBox="1"/>
          <p:nvPr/>
        </p:nvSpPr>
        <p:spPr>
          <a:xfrm>
            <a:off x="789309" y="2436991"/>
            <a:ext cx="817498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9:30</a:t>
            </a:r>
          </a:p>
        </p:txBody>
      </p:sp>
      <p:sp>
        <p:nvSpPr>
          <p:cNvPr id="17" name="行本文_受付とオープニング"/>
          <p:cNvSpPr txBox="1"/>
          <p:nvPr/>
        </p:nvSpPr>
        <p:spPr>
          <a:xfrm>
            <a:off x="1775945" y="2297452"/>
            <a:ext cx="4252682" cy="617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受付とオープニング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メンターが温かく出迎え。会社紹介のショート動画で雰囲気を共有</a:t>
            </a:r>
          </a:p>
        </p:txBody>
      </p:sp>
      <p:sp>
        <p:nvSpPr>
          <p:cNvPr id="18" name="行_現場シャドーイング＆その人らしさへの傾聴体験"/>
          <p:cNvSpPr/>
          <p:nvPr/>
        </p:nvSpPr>
        <p:spPr>
          <a:xfrm>
            <a:off x="620171" y="3069847"/>
            <a:ext cx="5577593" cy="75830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時刻"/>
          <p:cNvSpPr/>
          <p:nvPr/>
        </p:nvSpPr>
        <p:spPr>
          <a:xfrm>
            <a:off x="789309" y="3279859"/>
            <a:ext cx="817498" cy="33827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時刻_10:00"/>
          <p:cNvSpPr txBox="1"/>
          <p:nvPr/>
        </p:nvSpPr>
        <p:spPr>
          <a:xfrm>
            <a:off x="789309" y="3279859"/>
            <a:ext cx="817498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10:00</a:t>
            </a:r>
          </a:p>
        </p:txBody>
      </p:sp>
      <p:sp>
        <p:nvSpPr>
          <p:cNvPr id="21" name="行本文_現場シャドーイング＆その人らしさへの傾聴体験"/>
          <p:cNvSpPr txBox="1"/>
          <p:nvPr/>
        </p:nvSpPr>
        <p:spPr>
          <a:xfrm>
            <a:off x="1775945" y="3140321"/>
            <a:ext cx="4252682" cy="617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現場シャドーイング＆その人らしさへの傾聴体験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現場業務のサポートと利用者様へのインタビュー。対話・傾聴が中心</a:t>
            </a:r>
          </a:p>
        </p:txBody>
      </p:sp>
      <p:sp>
        <p:nvSpPr>
          <p:cNvPr id="22" name="行_ランチセッション"/>
          <p:cNvSpPr/>
          <p:nvPr/>
        </p:nvSpPr>
        <p:spPr>
          <a:xfrm>
            <a:off x="620171" y="3912716"/>
            <a:ext cx="5577593" cy="75830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時刻"/>
          <p:cNvSpPr/>
          <p:nvPr/>
        </p:nvSpPr>
        <p:spPr>
          <a:xfrm>
            <a:off x="789309" y="4122728"/>
            <a:ext cx="817498" cy="33827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時刻_12:00"/>
          <p:cNvSpPr txBox="1"/>
          <p:nvPr/>
        </p:nvSpPr>
        <p:spPr>
          <a:xfrm>
            <a:off x="789309" y="4122728"/>
            <a:ext cx="817498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12:00</a:t>
            </a:r>
          </a:p>
        </p:txBody>
      </p:sp>
      <p:sp>
        <p:nvSpPr>
          <p:cNvPr id="25" name="行本文_ランチセッション"/>
          <p:cNvSpPr txBox="1"/>
          <p:nvPr/>
        </p:nvSpPr>
        <p:spPr>
          <a:xfrm>
            <a:off x="1775945" y="3983190"/>
            <a:ext cx="4252682" cy="617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ランチセッション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美味しいご飯と、先輩社員の地方暮らし・働き方のホンネトーク</a:t>
            </a:r>
          </a:p>
        </p:txBody>
      </p:sp>
      <p:sp>
        <p:nvSpPr>
          <p:cNvPr id="26" name="行_対話ワーク『100歳までの履歴書』"/>
          <p:cNvSpPr/>
          <p:nvPr/>
        </p:nvSpPr>
        <p:spPr>
          <a:xfrm>
            <a:off x="620171" y="4755585"/>
            <a:ext cx="5577593" cy="75830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時刻"/>
          <p:cNvSpPr/>
          <p:nvPr/>
        </p:nvSpPr>
        <p:spPr>
          <a:xfrm>
            <a:off x="789309" y="4965597"/>
            <a:ext cx="817498" cy="33827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時刻_13:00"/>
          <p:cNvSpPr txBox="1"/>
          <p:nvPr/>
        </p:nvSpPr>
        <p:spPr>
          <a:xfrm>
            <a:off x="789309" y="4965597"/>
            <a:ext cx="817498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13:00</a:t>
            </a:r>
          </a:p>
        </p:txBody>
      </p:sp>
      <p:sp>
        <p:nvSpPr>
          <p:cNvPr id="29" name="行本文_対話ワーク『100歳までの履歴書』"/>
          <p:cNvSpPr txBox="1"/>
          <p:nvPr/>
        </p:nvSpPr>
        <p:spPr>
          <a:xfrm>
            <a:off x="1775945" y="4826059"/>
            <a:ext cx="4252682" cy="617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対話ワーク『100歳までの履歴書』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「どんな大人になっていたいか」から逆算し、大切にしたい「CARE」を言語化</a:t>
            </a:r>
          </a:p>
        </p:txBody>
      </p:sp>
      <p:sp>
        <p:nvSpPr>
          <p:cNvPr id="30" name="行_リフレクション＆フィードバック"/>
          <p:cNvSpPr/>
          <p:nvPr/>
        </p:nvSpPr>
        <p:spPr>
          <a:xfrm>
            <a:off x="620171" y="5598454"/>
            <a:ext cx="5577593" cy="75830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時刻"/>
          <p:cNvSpPr/>
          <p:nvPr/>
        </p:nvSpPr>
        <p:spPr>
          <a:xfrm>
            <a:off x="789309" y="5808466"/>
            <a:ext cx="817498" cy="33827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時刻_14:30"/>
          <p:cNvSpPr txBox="1"/>
          <p:nvPr/>
        </p:nvSpPr>
        <p:spPr>
          <a:xfrm>
            <a:off x="789309" y="5808466"/>
            <a:ext cx="817498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14:30</a:t>
            </a:r>
          </a:p>
        </p:txBody>
      </p:sp>
      <p:sp>
        <p:nvSpPr>
          <p:cNvPr id="33" name="行本文_リフレクション＆フィードバック"/>
          <p:cNvSpPr txBox="1"/>
          <p:nvPr/>
        </p:nvSpPr>
        <p:spPr>
          <a:xfrm>
            <a:off x="1775945" y="5668928"/>
            <a:ext cx="4252682" cy="617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リフレクション＆フィードバック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メンターからの応援メッセージとフィードバックシートをお渡し</a:t>
            </a:r>
          </a:p>
        </p:txBody>
      </p:sp>
      <p:sp>
        <p:nvSpPr>
          <p:cNvPr id="34" name="行_インストール"/>
          <p:cNvSpPr/>
          <p:nvPr/>
        </p:nvSpPr>
        <p:spPr>
          <a:xfrm>
            <a:off x="6423281" y="2226978"/>
            <a:ext cx="5148548" cy="75830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時刻"/>
          <p:cNvSpPr/>
          <p:nvPr/>
        </p:nvSpPr>
        <p:spPr>
          <a:xfrm>
            <a:off x="6592419" y="2436991"/>
            <a:ext cx="873877" cy="338275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時刻_DAY1"/>
          <p:cNvSpPr txBox="1"/>
          <p:nvPr/>
        </p:nvSpPr>
        <p:spPr>
          <a:xfrm>
            <a:off x="6592419" y="2436991"/>
            <a:ext cx="873877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DAY1</a:t>
            </a:r>
          </a:p>
        </p:txBody>
      </p:sp>
      <p:sp>
        <p:nvSpPr>
          <p:cNvPr id="37" name="行本文_インストール"/>
          <p:cNvSpPr txBox="1"/>
          <p:nvPr/>
        </p:nvSpPr>
        <p:spPr>
          <a:xfrm>
            <a:off x="7635434" y="2297452"/>
            <a:ext cx="3767258" cy="617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インストール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オリエンテーション・動画鑑賞・目標設定。利用者様の人生のお話に耳を傾ける</a:t>
            </a:r>
          </a:p>
        </p:txBody>
      </p:sp>
      <p:sp>
        <p:nvSpPr>
          <p:cNvPr id="38" name="行_現場ケアと人間関係の構築"/>
          <p:cNvSpPr/>
          <p:nvPr/>
        </p:nvSpPr>
        <p:spPr>
          <a:xfrm>
            <a:off x="6423281" y="3069847"/>
            <a:ext cx="5148548" cy="75830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時刻"/>
          <p:cNvSpPr/>
          <p:nvPr/>
        </p:nvSpPr>
        <p:spPr>
          <a:xfrm>
            <a:off x="6592419" y="3279859"/>
            <a:ext cx="873877" cy="338275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時刻_DAY2-3"/>
          <p:cNvSpPr txBox="1"/>
          <p:nvPr/>
        </p:nvSpPr>
        <p:spPr>
          <a:xfrm>
            <a:off x="6592419" y="3279859"/>
            <a:ext cx="873877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DAY2-3</a:t>
            </a:r>
          </a:p>
        </p:txBody>
      </p:sp>
      <p:sp>
        <p:nvSpPr>
          <p:cNvPr id="41" name="行本文_現場ケアと人間関係の構築"/>
          <p:cNvSpPr txBox="1"/>
          <p:nvPr/>
        </p:nvSpPr>
        <p:spPr>
          <a:xfrm>
            <a:off x="7635434" y="3140321"/>
            <a:ext cx="3767258" cy="617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現場ケアと人間関係の構築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現場サポートと利用者様へのインタビュー。毎日の振り返り（※実習サイトへ）</a:t>
            </a:r>
          </a:p>
        </p:txBody>
      </p:sp>
      <p:sp>
        <p:nvSpPr>
          <p:cNvPr id="42" name="行_笑顔を届けるプチ企画"/>
          <p:cNvSpPr/>
          <p:nvPr/>
        </p:nvSpPr>
        <p:spPr>
          <a:xfrm>
            <a:off x="6423281" y="3912716"/>
            <a:ext cx="5148548" cy="75830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時刻"/>
          <p:cNvSpPr/>
          <p:nvPr/>
        </p:nvSpPr>
        <p:spPr>
          <a:xfrm>
            <a:off x="6592419" y="4122728"/>
            <a:ext cx="873877" cy="338275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時刻_DAY4"/>
          <p:cNvSpPr txBox="1"/>
          <p:nvPr/>
        </p:nvSpPr>
        <p:spPr>
          <a:xfrm>
            <a:off x="6592419" y="4122728"/>
            <a:ext cx="873877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DAY4</a:t>
            </a:r>
          </a:p>
        </p:txBody>
      </p:sp>
      <p:sp>
        <p:nvSpPr>
          <p:cNvPr id="45" name="行本文_笑顔を届けるプチ企画"/>
          <p:cNvSpPr txBox="1"/>
          <p:nvPr/>
        </p:nvSpPr>
        <p:spPr>
          <a:xfrm>
            <a:off x="7635434" y="3983190"/>
            <a:ext cx="3767258" cy="617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笑顔を届けるプチ企画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学生が考えた「利用者様を喜ばせる小さな企画」を実践</a:t>
            </a:r>
          </a:p>
        </p:txBody>
      </p:sp>
      <p:sp>
        <p:nvSpPr>
          <p:cNvPr id="46" name="行_履歴書の発表会＆結びのランチ"/>
          <p:cNvSpPr/>
          <p:nvPr/>
        </p:nvSpPr>
        <p:spPr>
          <a:xfrm>
            <a:off x="6423281" y="4755585"/>
            <a:ext cx="5148548" cy="75830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時刻"/>
          <p:cNvSpPr/>
          <p:nvPr/>
        </p:nvSpPr>
        <p:spPr>
          <a:xfrm>
            <a:off x="6592419" y="4965597"/>
            <a:ext cx="873877" cy="338275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時刻_DAY5"/>
          <p:cNvSpPr txBox="1"/>
          <p:nvPr/>
        </p:nvSpPr>
        <p:spPr>
          <a:xfrm>
            <a:off x="6592419" y="4965597"/>
            <a:ext cx="873877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98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DAY5</a:t>
            </a:r>
          </a:p>
        </p:txBody>
      </p:sp>
      <p:sp>
        <p:nvSpPr>
          <p:cNvPr id="49" name="行本文_履歴書の発表会＆結びのランチ"/>
          <p:cNvSpPr txBox="1"/>
          <p:nvPr/>
        </p:nvSpPr>
        <p:spPr>
          <a:xfrm>
            <a:off x="7635434" y="4826059"/>
            <a:ext cx="3767258" cy="617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11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履歴書の発表会＆結びのランチ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「100歳までの履歴書」の発表、メンター全員からのメッセージ、修了式</a:t>
            </a:r>
          </a:p>
        </p:txBody>
      </p:sp>
      <p:sp>
        <p:nvSpPr>
          <p:cNvPr id="50" name="標準化ボックス"/>
          <p:cNvSpPr/>
          <p:nvPr/>
        </p:nvSpPr>
        <p:spPr>
          <a:xfrm>
            <a:off x="6423281" y="5598454"/>
            <a:ext cx="5148548" cy="758300"/>
          </a:xfrm>
          <a:prstGeom prst="roundRect">
            <a:avLst>
              <a:gd name="adj" fmla="val 14869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標準化本文"/>
          <p:cNvSpPr txBox="1"/>
          <p:nvPr/>
        </p:nvSpPr>
        <p:spPr>
          <a:xfrm>
            <a:off x="6634703" y="5668928"/>
            <a:ext cx="4725704" cy="617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87"/>
              </a:lnSpc>
              <a:spcBef>
                <a:spcPts val="0"/>
              </a:spcBef>
              <a:spcAft>
                <a:spcPts val="221"/>
              </a:spcAft>
            </a:pPr>
            <a:r>
              <a:rPr sz="1220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体験はサイトへ、運営は標準化</a:t>
            </a:r>
          </a:p>
          <a:p>
            <a:pPr algn="l">
              <a:lnSpc>
                <a:spcPts val="1367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体験・感想は後日、実習サイトに掲載。学習シートを用意し、プログラムを標準化します。</a:t>
            </a:r>
          </a:p>
        </p:txBody>
      </p:sp>
      <p:sp>
        <p:nvSpPr>
          <p:cNvPr id="52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※ プログラムの内容・日程は調整中です。</a:t>
            </a:r>
          </a:p>
        </p:txBody>
      </p:sp>
      <p:sp>
        <p:nvSpPr>
          <p:cNvPr id="53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実習の受け入れ体制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誰が担当しても伝わる、再現性の高い受け入れの仕組み</a:t>
            </a:r>
          </a:p>
        </p:txBody>
      </p:sp>
      <p:sp>
        <p:nvSpPr>
          <p:cNvPr id="8" name="方針"/>
          <p:cNvSpPr/>
          <p:nvPr/>
        </p:nvSpPr>
        <p:spPr>
          <a:xfrm>
            <a:off x="620171" y="1465859"/>
            <a:ext cx="3664647" cy="4890895"/>
          </a:xfrm>
          <a:prstGeom prst="roundRect">
            <a:avLst>
              <a:gd name="adj" fmla="val 4615"/>
            </a:avLst>
          </a:pr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方針本文"/>
          <p:cNvSpPr txBox="1"/>
          <p:nvPr/>
        </p:nvSpPr>
        <p:spPr>
          <a:xfrm>
            <a:off x="958446" y="1804134"/>
            <a:ext cx="2988097" cy="42143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1664"/>
              </a:spcAft>
            </a:pPr>
            <a:r>
              <a:rPr sz="1054" b="1" spc="2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実習の運営体制</a:t>
            </a:r>
          </a:p>
          <a:p>
            <a:pPr algn="l">
              <a:lnSpc>
                <a:spcPts val="3057"/>
              </a:lnSpc>
              <a:spcBef>
                <a:spcPts val="0"/>
              </a:spcBef>
              <a:spcAft>
                <a:spcPts val="1997"/>
              </a:spcAft>
            </a:pPr>
            <a:r>
              <a:rPr sz="210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誰が担当しても、温かさとメッセージが伝わる。</a:t>
            </a:r>
          </a:p>
          <a:p>
            <a:pPr algn="l">
              <a:lnSpc>
                <a:spcPts val="1981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F0FBF8"/>
                </a:solidFill>
                <a:latin typeface="游ゴシック"/>
                <a:ea typeface="游ゴシック"/>
                <a:cs typeface="游ゴシック"/>
              </a:rPr>
              <a:t>「再現性の高い仕組み」をつくります。学生向けの学習シートなどを用意し、プログラムを標準化します。</a:t>
            </a:r>
          </a:p>
        </p:txBody>
      </p:sp>
      <p:sp>
        <p:nvSpPr>
          <p:cNvPr id="10" name="カード_メンター体制"/>
          <p:cNvSpPr/>
          <p:nvPr/>
        </p:nvSpPr>
        <p:spPr>
          <a:xfrm>
            <a:off x="4510335" y="1465859"/>
            <a:ext cx="3417988" cy="2332689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番号"/>
          <p:cNvSpPr/>
          <p:nvPr/>
        </p:nvSpPr>
        <p:spPr>
          <a:xfrm>
            <a:off x="4764042" y="1733660"/>
            <a:ext cx="394654" cy="394654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番号1"/>
          <p:cNvSpPr txBox="1"/>
          <p:nvPr/>
        </p:nvSpPr>
        <p:spPr>
          <a:xfrm>
            <a:off x="4764042" y="1733660"/>
            <a:ext cx="394654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55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13" name="見出し_メンター体制"/>
          <p:cNvSpPr txBox="1"/>
          <p:nvPr/>
        </p:nvSpPr>
        <p:spPr>
          <a:xfrm>
            <a:off x="5327834" y="1733660"/>
            <a:ext cx="2360879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sz="1498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メンター体制</a:t>
            </a:r>
          </a:p>
        </p:txBody>
      </p:sp>
      <p:sp>
        <p:nvSpPr>
          <p:cNvPr id="14" name="説明_メンター体制"/>
          <p:cNvSpPr txBox="1"/>
          <p:nvPr/>
        </p:nvSpPr>
        <p:spPr>
          <a:xfrm>
            <a:off x="4764042" y="2325642"/>
            <a:ext cx="2910576" cy="1346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5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現場スタッフを「実習メンター」として配置。学生1〜2名につき1名が、親身に伴走します。</a:t>
            </a:r>
          </a:p>
        </p:txBody>
      </p:sp>
      <p:sp>
        <p:nvSpPr>
          <p:cNvPr id="15" name="カード_標準動画（ツール）"/>
          <p:cNvSpPr/>
          <p:nvPr/>
        </p:nvSpPr>
        <p:spPr>
          <a:xfrm>
            <a:off x="8153840" y="1465859"/>
            <a:ext cx="3417988" cy="2332689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番号"/>
          <p:cNvSpPr/>
          <p:nvPr/>
        </p:nvSpPr>
        <p:spPr>
          <a:xfrm>
            <a:off x="8407547" y="1733660"/>
            <a:ext cx="394654" cy="394654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番号2"/>
          <p:cNvSpPr txBox="1"/>
          <p:nvPr/>
        </p:nvSpPr>
        <p:spPr>
          <a:xfrm>
            <a:off x="8407547" y="1733660"/>
            <a:ext cx="394654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55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8" name="見出し_標準動画（ツール）"/>
          <p:cNvSpPr txBox="1"/>
          <p:nvPr/>
        </p:nvSpPr>
        <p:spPr>
          <a:xfrm>
            <a:off x="8971339" y="1733660"/>
            <a:ext cx="2360879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sz="1498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標準動画（ツール）</a:t>
            </a:r>
          </a:p>
        </p:txBody>
      </p:sp>
      <p:sp>
        <p:nvSpPr>
          <p:cNvPr id="19" name="説明_標準動画（ツール）"/>
          <p:cNvSpPr txBox="1"/>
          <p:nvPr/>
        </p:nvSpPr>
        <p:spPr>
          <a:xfrm>
            <a:off x="8407547" y="2325642"/>
            <a:ext cx="2910576" cy="1346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5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「ショート導入動画」などを活用。誰が説明しても、エフビーの温かさや社風がストレートに伝わります。</a:t>
            </a:r>
          </a:p>
        </p:txBody>
      </p:sp>
      <p:sp>
        <p:nvSpPr>
          <p:cNvPr id="20" name="カード_実習生の声の資産化"/>
          <p:cNvSpPr/>
          <p:nvPr/>
        </p:nvSpPr>
        <p:spPr>
          <a:xfrm>
            <a:off x="4510335" y="4024065"/>
            <a:ext cx="3417988" cy="2332689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番号"/>
          <p:cNvSpPr/>
          <p:nvPr/>
        </p:nvSpPr>
        <p:spPr>
          <a:xfrm>
            <a:off x="4764042" y="4291866"/>
            <a:ext cx="394654" cy="394654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番号3"/>
          <p:cNvSpPr txBox="1"/>
          <p:nvPr/>
        </p:nvSpPr>
        <p:spPr>
          <a:xfrm>
            <a:off x="4764042" y="4291866"/>
            <a:ext cx="394654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55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23" name="見出し_実習生の声の資産化"/>
          <p:cNvSpPr txBox="1"/>
          <p:nvPr/>
        </p:nvSpPr>
        <p:spPr>
          <a:xfrm>
            <a:off x="5327834" y="4291866"/>
            <a:ext cx="2360879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sz="1498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実習生の声の資産化</a:t>
            </a:r>
          </a:p>
        </p:txBody>
      </p:sp>
      <p:sp>
        <p:nvSpPr>
          <p:cNvPr id="24" name="説明_実習生の声の資産化"/>
          <p:cNvSpPr txBox="1"/>
          <p:nvPr/>
        </p:nvSpPr>
        <p:spPr>
          <a:xfrm>
            <a:off x="4764042" y="4883847"/>
            <a:ext cx="2910576" cy="1346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5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リアルな体験談・本音の感想を、Web上に蓄積・公開。次年度の学生や学校（教授・就職課）にも届けます。</a:t>
            </a:r>
          </a:p>
        </p:txBody>
      </p:sp>
      <p:sp>
        <p:nvSpPr>
          <p:cNvPr id="25" name="カード_年間PDCAの循環"/>
          <p:cNvSpPr/>
          <p:nvPr/>
        </p:nvSpPr>
        <p:spPr>
          <a:xfrm>
            <a:off x="8153840" y="4024065"/>
            <a:ext cx="3417988" cy="2332689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番号"/>
          <p:cNvSpPr/>
          <p:nvPr/>
        </p:nvSpPr>
        <p:spPr>
          <a:xfrm>
            <a:off x="8407547" y="4291866"/>
            <a:ext cx="394654" cy="394654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番号4"/>
          <p:cNvSpPr txBox="1"/>
          <p:nvPr/>
        </p:nvSpPr>
        <p:spPr>
          <a:xfrm>
            <a:off x="8407547" y="4291866"/>
            <a:ext cx="394654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553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  <p:sp>
        <p:nvSpPr>
          <p:cNvPr id="28" name="見出し_年間PDCAの循環"/>
          <p:cNvSpPr txBox="1"/>
          <p:nvPr/>
        </p:nvSpPr>
        <p:spPr>
          <a:xfrm>
            <a:off x="8971339" y="4291866"/>
            <a:ext cx="2360879" cy="3946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sz="1498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年間PDCAの循環</a:t>
            </a:r>
          </a:p>
        </p:txBody>
      </p:sp>
      <p:sp>
        <p:nvSpPr>
          <p:cNvPr id="29" name="説明_年間PDCAの循環"/>
          <p:cNvSpPr txBox="1"/>
          <p:nvPr/>
        </p:nvSpPr>
        <p:spPr>
          <a:xfrm>
            <a:off x="8407547" y="4883847"/>
            <a:ext cx="2910576" cy="1346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5"/>
              </a:lnSpc>
              <a:spcBef>
                <a:spcPts val="0"/>
              </a:spcBef>
              <a:spcAft>
                <a:spcPts val="0"/>
              </a:spcAft>
            </a:pPr>
            <a:r>
              <a:rPr sz="1276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受け入れと振り返りを定期的にくり返し、学校や地域とのつながりを広げていきます。</a:t>
            </a:r>
          </a:p>
        </p:txBody>
      </p:sp>
      <p:sp>
        <p:nvSpPr>
          <p:cNvPr id="30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出典：エフビー介護サービス。</a:t>
            </a:r>
          </a:p>
        </p:txBody>
      </p:sp>
      <p:sp>
        <p:nvSpPr>
          <p:cNvPr id="31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実習の流れ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はじめてでも安心。4つのステップと、サイトで届ける内容</a:t>
            </a:r>
          </a:p>
        </p:txBody>
      </p:sp>
      <p:sp>
        <p:nvSpPr>
          <p:cNvPr id="8" name="カード_申し込む"/>
          <p:cNvSpPr/>
          <p:nvPr/>
        </p:nvSpPr>
        <p:spPr>
          <a:xfrm>
            <a:off x="620171" y="1465859"/>
            <a:ext cx="2526492" cy="1634997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ステップ帯"/>
          <p:cNvSpPr/>
          <p:nvPr/>
        </p:nvSpPr>
        <p:spPr>
          <a:xfrm>
            <a:off x="620171" y="1465859"/>
            <a:ext cx="2526492" cy="507413"/>
          </a:xfrm>
          <a:prstGeom prst="roundRect">
            <a:avLst>
              <a:gd name="adj" fmla="val 27777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ステップ帯下"/>
          <p:cNvSpPr/>
          <p:nvPr/>
        </p:nvSpPr>
        <p:spPr>
          <a:xfrm>
            <a:off x="620171" y="1747755"/>
            <a:ext cx="2526492" cy="225517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見出し_申し込む"/>
          <p:cNvSpPr txBox="1"/>
          <p:nvPr/>
        </p:nvSpPr>
        <p:spPr>
          <a:xfrm>
            <a:off x="831593" y="1465859"/>
            <a:ext cx="2103649" cy="5074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01</a:t>
            </a:r>
            <a:r>
              <a:rPr sz="149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   申し込む</a:t>
            </a:r>
          </a:p>
        </p:txBody>
      </p:sp>
      <p:sp>
        <p:nvSpPr>
          <p:cNvPr id="12" name="説明_申し込む"/>
          <p:cNvSpPr txBox="1"/>
          <p:nvPr/>
        </p:nvSpPr>
        <p:spPr>
          <a:xfrm>
            <a:off x="831593" y="2142409"/>
            <a:ext cx="2103649" cy="8597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4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フォームから、行きたい日と事業所を選んで申込。質問だけでも大丈夫です。</a:t>
            </a:r>
          </a:p>
        </p:txBody>
      </p:sp>
      <p:sp>
        <p:nvSpPr>
          <p:cNvPr id="13" name="矢印"/>
          <p:cNvSpPr/>
          <p:nvPr/>
        </p:nvSpPr>
        <p:spPr>
          <a:xfrm>
            <a:off x="3188948" y="2128314"/>
            <a:ext cx="197327" cy="310086"/>
          </a:xfrm>
          <a:prstGeom prst="rightArrow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カード_事前の連絡"/>
          <p:cNvSpPr/>
          <p:nvPr/>
        </p:nvSpPr>
        <p:spPr>
          <a:xfrm>
            <a:off x="3428560" y="1465859"/>
            <a:ext cx="2526492" cy="1634997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ステップ帯"/>
          <p:cNvSpPr/>
          <p:nvPr/>
        </p:nvSpPr>
        <p:spPr>
          <a:xfrm>
            <a:off x="3428560" y="1465859"/>
            <a:ext cx="2526492" cy="507413"/>
          </a:xfrm>
          <a:prstGeom prst="roundRect">
            <a:avLst>
              <a:gd name="adj" fmla="val 27777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ステップ帯下"/>
          <p:cNvSpPr/>
          <p:nvPr/>
        </p:nvSpPr>
        <p:spPr>
          <a:xfrm>
            <a:off x="3428560" y="1747755"/>
            <a:ext cx="2526492" cy="225517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見出し_事前の連絡"/>
          <p:cNvSpPr txBox="1"/>
          <p:nvPr/>
        </p:nvSpPr>
        <p:spPr>
          <a:xfrm>
            <a:off x="3639982" y="1465859"/>
            <a:ext cx="2103649" cy="5074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02</a:t>
            </a:r>
            <a:r>
              <a:rPr sz="149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   事前の連絡</a:t>
            </a:r>
          </a:p>
        </p:txBody>
      </p:sp>
      <p:sp>
        <p:nvSpPr>
          <p:cNvPr id="18" name="説明_事前の連絡"/>
          <p:cNvSpPr txBox="1"/>
          <p:nvPr/>
        </p:nvSpPr>
        <p:spPr>
          <a:xfrm>
            <a:off x="3639982" y="2142409"/>
            <a:ext cx="2103649" cy="8597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4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持ち物や服装、当日の集合場所をお知らせします。</a:t>
            </a:r>
          </a:p>
        </p:txBody>
      </p:sp>
      <p:sp>
        <p:nvSpPr>
          <p:cNvPr id="19" name="矢印"/>
          <p:cNvSpPr/>
          <p:nvPr/>
        </p:nvSpPr>
        <p:spPr>
          <a:xfrm>
            <a:off x="5997336" y="2128314"/>
            <a:ext cx="197327" cy="310086"/>
          </a:xfrm>
          <a:prstGeom prst="rightArrow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カード_実習の当日"/>
          <p:cNvSpPr/>
          <p:nvPr/>
        </p:nvSpPr>
        <p:spPr>
          <a:xfrm>
            <a:off x="6236948" y="1465859"/>
            <a:ext cx="2526492" cy="1634997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ステップ帯"/>
          <p:cNvSpPr/>
          <p:nvPr/>
        </p:nvSpPr>
        <p:spPr>
          <a:xfrm>
            <a:off x="6236948" y="1465859"/>
            <a:ext cx="2526492" cy="507413"/>
          </a:xfrm>
          <a:prstGeom prst="roundRect">
            <a:avLst>
              <a:gd name="adj" fmla="val 27777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ステップ帯下"/>
          <p:cNvSpPr/>
          <p:nvPr/>
        </p:nvSpPr>
        <p:spPr>
          <a:xfrm>
            <a:off x="6236948" y="1747755"/>
            <a:ext cx="2526492" cy="225517"/>
          </a:xfrm>
          <a:prstGeom prst="rect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見出し_実習の当日"/>
          <p:cNvSpPr txBox="1"/>
          <p:nvPr/>
        </p:nvSpPr>
        <p:spPr>
          <a:xfrm>
            <a:off x="6448370" y="1465859"/>
            <a:ext cx="2103649" cy="5074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03</a:t>
            </a:r>
            <a:r>
              <a:rPr sz="149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   実習の当日</a:t>
            </a:r>
          </a:p>
        </p:txBody>
      </p:sp>
      <p:sp>
        <p:nvSpPr>
          <p:cNvPr id="24" name="説明_実習の当日"/>
          <p:cNvSpPr txBox="1"/>
          <p:nvPr/>
        </p:nvSpPr>
        <p:spPr>
          <a:xfrm>
            <a:off x="6448370" y="2142409"/>
            <a:ext cx="2103649" cy="8597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4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職員がそばでサポート。利用者さんとおしゃべりしながら、現場を体験。</a:t>
            </a:r>
          </a:p>
        </p:txBody>
      </p:sp>
      <p:sp>
        <p:nvSpPr>
          <p:cNvPr id="25" name="矢印"/>
          <p:cNvSpPr/>
          <p:nvPr/>
        </p:nvSpPr>
        <p:spPr>
          <a:xfrm>
            <a:off x="8805725" y="2128314"/>
            <a:ext cx="197327" cy="310086"/>
          </a:xfrm>
          <a:prstGeom prst="rightArrow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カード_振り返り"/>
          <p:cNvSpPr/>
          <p:nvPr/>
        </p:nvSpPr>
        <p:spPr>
          <a:xfrm>
            <a:off x="9045336" y="1465859"/>
            <a:ext cx="2526492" cy="1634997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ステップ帯"/>
          <p:cNvSpPr/>
          <p:nvPr/>
        </p:nvSpPr>
        <p:spPr>
          <a:xfrm>
            <a:off x="9045336" y="1465859"/>
            <a:ext cx="2526492" cy="507413"/>
          </a:xfrm>
          <a:prstGeom prst="roundRect">
            <a:avLst>
              <a:gd name="adj" fmla="val 27777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ステップ帯下"/>
          <p:cNvSpPr/>
          <p:nvPr/>
        </p:nvSpPr>
        <p:spPr>
          <a:xfrm>
            <a:off x="9045336" y="1747755"/>
            <a:ext cx="2526492" cy="225517"/>
          </a:xfrm>
          <a:prstGeom prst="rect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見出し_振り返り"/>
          <p:cNvSpPr txBox="1"/>
          <p:nvPr/>
        </p:nvSpPr>
        <p:spPr>
          <a:xfrm>
            <a:off x="9256758" y="1465859"/>
            <a:ext cx="2103649" cy="5074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sz="99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04</a:t>
            </a:r>
            <a:r>
              <a:rPr sz="1498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   振り返り</a:t>
            </a:r>
          </a:p>
        </p:txBody>
      </p:sp>
      <p:sp>
        <p:nvSpPr>
          <p:cNvPr id="30" name="説明_振り返り"/>
          <p:cNvSpPr txBox="1"/>
          <p:nvPr/>
        </p:nvSpPr>
        <p:spPr>
          <a:xfrm>
            <a:off x="9256758" y="2142409"/>
            <a:ext cx="2103649" cy="8597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4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感じたことや気づいたことを、職員と話し合います。</a:t>
            </a:r>
          </a:p>
        </p:txBody>
      </p:sp>
      <p:sp>
        <p:nvSpPr>
          <p:cNvPr id="31" name="サイト見出し"/>
          <p:cNvSpPr txBox="1"/>
          <p:nvPr/>
        </p:nvSpPr>
        <p:spPr>
          <a:xfrm>
            <a:off x="620171" y="3410941"/>
            <a:ext cx="6342659" cy="2678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609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実習サイトで届ける内容</a:t>
            </a:r>
          </a:p>
        </p:txBody>
      </p:sp>
      <p:sp>
        <p:nvSpPr>
          <p:cNvPr id="32" name="タイル_実習レポート"/>
          <p:cNvSpPr/>
          <p:nvPr/>
        </p:nvSpPr>
        <p:spPr>
          <a:xfrm>
            <a:off x="620171" y="3805595"/>
            <a:ext cx="1684328" cy="1846418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色"/>
          <p:cNvSpPr/>
          <p:nvPr/>
        </p:nvSpPr>
        <p:spPr>
          <a:xfrm>
            <a:off x="789309" y="3974733"/>
            <a:ext cx="338275" cy="56379"/>
          </a:xfrm>
          <a:prstGeom prst="roundRect">
            <a:avLst>
              <a:gd name="adj" fmla="val 50000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タイル本文_実習レポート"/>
          <p:cNvSpPr txBox="1"/>
          <p:nvPr/>
        </p:nvSpPr>
        <p:spPr>
          <a:xfrm>
            <a:off x="789309" y="4129776"/>
            <a:ext cx="1346053" cy="1423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443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実習レポート</a:t>
            </a:r>
          </a:p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実習の1日の流れをたどる記事</a:t>
            </a:r>
          </a:p>
        </p:txBody>
      </p:sp>
      <p:sp>
        <p:nvSpPr>
          <p:cNvPr id="35" name="タイル_職員の声"/>
          <p:cNvSpPr/>
          <p:nvPr/>
        </p:nvSpPr>
        <p:spPr>
          <a:xfrm>
            <a:off x="2473637" y="3805595"/>
            <a:ext cx="1684328" cy="1846418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色"/>
          <p:cNvSpPr/>
          <p:nvPr/>
        </p:nvSpPr>
        <p:spPr>
          <a:xfrm>
            <a:off x="2642775" y="3974733"/>
            <a:ext cx="338275" cy="56379"/>
          </a:xfrm>
          <a:prstGeom prst="roundRect">
            <a:avLst>
              <a:gd name="adj" fmla="val 50000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タイル本文_職員の声"/>
          <p:cNvSpPr txBox="1"/>
          <p:nvPr/>
        </p:nvSpPr>
        <p:spPr>
          <a:xfrm>
            <a:off x="2642775" y="4129776"/>
            <a:ext cx="1346053" cy="1423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443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職員の声</a:t>
            </a:r>
          </a:p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仕事のやりがいと、実習生へのメッセージ</a:t>
            </a:r>
          </a:p>
        </p:txBody>
      </p:sp>
      <p:sp>
        <p:nvSpPr>
          <p:cNvPr id="38" name="タイル_人生の先輩の&#10;メッセージ"/>
          <p:cNvSpPr/>
          <p:nvPr/>
        </p:nvSpPr>
        <p:spPr>
          <a:xfrm>
            <a:off x="4327103" y="3805595"/>
            <a:ext cx="1684328" cy="1846418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色"/>
          <p:cNvSpPr/>
          <p:nvPr/>
        </p:nvSpPr>
        <p:spPr>
          <a:xfrm>
            <a:off x="4496240" y="3974733"/>
            <a:ext cx="338275" cy="56379"/>
          </a:xfrm>
          <a:prstGeom prst="roundRect">
            <a:avLst>
              <a:gd name="adj" fmla="val 50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タイル本文_人生の先輩の&#10;メッセージ"/>
          <p:cNvSpPr txBox="1"/>
          <p:nvPr/>
        </p:nvSpPr>
        <p:spPr>
          <a:xfrm>
            <a:off x="4496240" y="4129776"/>
            <a:ext cx="1346053" cy="1423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人生の先輩の</a:t>
            </a:r>
          </a:p>
          <a:p>
            <a:pPr algn="l">
              <a:lnSpc>
                <a:spcPts val="1659"/>
              </a:lnSpc>
              <a:spcBef>
                <a:spcPts val="0"/>
              </a:spcBef>
              <a:spcAft>
                <a:spcPts val="443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メッセージ</a:t>
            </a:r>
          </a:p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ご利用者さんから、実習に来るみなさんへのひとこと</a:t>
            </a:r>
          </a:p>
        </p:txBody>
      </p:sp>
      <p:sp>
        <p:nvSpPr>
          <p:cNvPr id="41" name="タイル_お知らせ"/>
          <p:cNvSpPr/>
          <p:nvPr/>
        </p:nvSpPr>
        <p:spPr>
          <a:xfrm>
            <a:off x="6180569" y="3805595"/>
            <a:ext cx="1684328" cy="1846418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色"/>
          <p:cNvSpPr/>
          <p:nvPr/>
        </p:nvSpPr>
        <p:spPr>
          <a:xfrm>
            <a:off x="6349706" y="3974733"/>
            <a:ext cx="338275" cy="56379"/>
          </a:xfrm>
          <a:prstGeom prst="roundRect">
            <a:avLst>
              <a:gd name="adj" fmla="val 50000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タイル本文_お知らせ"/>
          <p:cNvSpPr txBox="1"/>
          <p:nvPr/>
        </p:nvSpPr>
        <p:spPr>
          <a:xfrm>
            <a:off x="6349706" y="4129776"/>
            <a:ext cx="1346053" cy="1423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443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お知らせ</a:t>
            </a:r>
          </a:p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実習受け入れ拠点の追加など</a:t>
            </a:r>
          </a:p>
        </p:txBody>
      </p:sp>
      <p:sp>
        <p:nvSpPr>
          <p:cNvPr id="44" name="タイル_事業所の&#10;360°ツアー"/>
          <p:cNvSpPr/>
          <p:nvPr/>
        </p:nvSpPr>
        <p:spPr>
          <a:xfrm>
            <a:off x="8034035" y="3805595"/>
            <a:ext cx="1684328" cy="1846418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色"/>
          <p:cNvSpPr/>
          <p:nvPr/>
        </p:nvSpPr>
        <p:spPr>
          <a:xfrm>
            <a:off x="8203172" y="3974733"/>
            <a:ext cx="338275" cy="56379"/>
          </a:xfrm>
          <a:prstGeom prst="roundRect">
            <a:avLst>
              <a:gd name="adj" fmla="val 50000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タイル本文_事業所の&#10;360°ツアー"/>
          <p:cNvSpPr txBox="1"/>
          <p:nvPr/>
        </p:nvSpPr>
        <p:spPr>
          <a:xfrm>
            <a:off x="8203172" y="4129776"/>
            <a:ext cx="1346053" cy="1423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事業所の</a:t>
            </a:r>
          </a:p>
          <a:p>
            <a:pPr algn="l">
              <a:lnSpc>
                <a:spcPts val="1659"/>
              </a:lnSpc>
              <a:spcBef>
                <a:spcPts val="0"/>
              </a:spcBef>
              <a:spcAft>
                <a:spcPts val="443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360°ツアー</a:t>
            </a:r>
          </a:p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事業所の中の様子をのぞける</a:t>
            </a:r>
          </a:p>
        </p:txBody>
      </p:sp>
      <p:sp>
        <p:nvSpPr>
          <p:cNvPr id="47" name="タイル_経営者&#10;インタビュー"/>
          <p:cNvSpPr/>
          <p:nvPr/>
        </p:nvSpPr>
        <p:spPr>
          <a:xfrm>
            <a:off x="9887501" y="3805595"/>
            <a:ext cx="1684328" cy="1846418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色"/>
          <p:cNvSpPr/>
          <p:nvPr/>
        </p:nvSpPr>
        <p:spPr>
          <a:xfrm>
            <a:off x="10056638" y="3974733"/>
            <a:ext cx="338275" cy="56379"/>
          </a:xfrm>
          <a:prstGeom prst="roundRect">
            <a:avLst>
              <a:gd name="adj" fmla="val 50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タイル本文_経営者&#10;インタビュー"/>
          <p:cNvSpPr txBox="1"/>
          <p:nvPr/>
        </p:nvSpPr>
        <p:spPr>
          <a:xfrm>
            <a:off x="10056638" y="4129776"/>
            <a:ext cx="1346053" cy="1423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9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経営者</a:t>
            </a:r>
          </a:p>
          <a:p>
            <a:pPr algn="l">
              <a:lnSpc>
                <a:spcPts val="1659"/>
              </a:lnSpc>
              <a:spcBef>
                <a:spcPts val="0"/>
              </a:spcBef>
              <a:spcAft>
                <a:spcPts val="443"/>
              </a:spcAft>
            </a:pPr>
            <a:r>
              <a:rPr sz="1276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インタビュー</a:t>
            </a:r>
          </a:p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943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社長に聞いた、これからのまちのカタチ（visions）</a:t>
            </a:r>
          </a:p>
        </p:txBody>
      </p:sp>
      <p:sp>
        <p:nvSpPr>
          <p:cNvPr id="50" name="そのほか"/>
          <p:cNvSpPr/>
          <p:nvPr/>
        </p:nvSpPr>
        <p:spPr>
          <a:xfrm>
            <a:off x="620171" y="5821151"/>
            <a:ext cx="10951658" cy="535602"/>
          </a:xfrm>
          <a:prstGeom prst="roundRect">
            <a:avLst>
              <a:gd name="adj" fmla="val 21052"/>
            </a:avLst>
          </a:prstGeom>
          <a:solidFill>
            <a:srgbClr val="F6F9F8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そのほか本文"/>
          <p:cNvSpPr txBox="1"/>
          <p:nvPr/>
        </p:nvSpPr>
        <p:spPr>
          <a:xfrm>
            <a:off x="873877" y="5821151"/>
            <a:ext cx="10444245" cy="535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14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そのほか　</a:t>
            </a:r>
            <a:r>
              <a:rPr sz="1109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よくある質問／個人情報の取扱い／気になるキーワードから記事を探す／実習の申込フォーム</a:t>
            </a:r>
          </a:p>
        </p:txBody>
      </p:sp>
      <p:sp>
        <p:nvSpPr>
          <p:cNvPr id="52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※ 申込フォーム・SNS・問い合わせ先は準備中です。</a:t>
            </a:r>
          </a:p>
        </p:txBody>
      </p:sp>
      <p:sp>
        <p:nvSpPr>
          <p:cNvPr id="53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7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254437"/>
          </a:xfrm>
          <a:custGeom>
            <a:avLst/>
            <a:gdLst/>
            <a:ahLst/>
            <a:cxnLst/>
            <a:rect l="l" t="t" r="r" b="b"/>
            <a:pathLst>
              <a:path w="12192000" h="1254437">
                <a:moveTo>
                  <a:pt x="0" y="0"/>
                </a:moveTo>
                <a:lnTo>
                  <a:pt x="12192000" y="0"/>
                </a:lnTo>
                <a:lnTo>
                  <a:pt x="12192000" y="1169868"/>
                </a:lnTo>
                <a:lnTo>
                  <a:pt x="12141200" y="1167654"/>
                </a:lnTo>
                <a:lnTo>
                  <a:pt x="12090400" y="1165442"/>
                </a:lnTo>
                <a:lnTo>
                  <a:pt x="12039600" y="1163233"/>
                </a:lnTo>
                <a:lnTo>
                  <a:pt x="11988800" y="1161028"/>
                </a:lnTo>
                <a:lnTo>
                  <a:pt x="11938000" y="1158830"/>
                </a:lnTo>
                <a:lnTo>
                  <a:pt x="11887200" y="1156639"/>
                </a:lnTo>
                <a:lnTo>
                  <a:pt x="11836400" y="1154457"/>
                </a:lnTo>
                <a:lnTo>
                  <a:pt x="11785600" y="1152285"/>
                </a:lnTo>
                <a:lnTo>
                  <a:pt x="11734800" y="1150126"/>
                </a:lnTo>
                <a:lnTo>
                  <a:pt x="11684000" y="1147980"/>
                </a:lnTo>
                <a:lnTo>
                  <a:pt x="11633200" y="1145849"/>
                </a:lnTo>
                <a:lnTo>
                  <a:pt x="11582400" y="1143735"/>
                </a:lnTo>
                <a:lnTo>
                  <a:pt x="11531600" y="1141639"/>
                </a:lnTo>
                <a:lnTo>
                  <a:pt x="11480800" y="1139561"/>
                </a:lnTo>
                <a:lnTo>
                  <a:pt x="11430000" y="1137505"/>
                </a:lnTo>
                <a:lnTo>
                  <a:pt x="11379200" y="1135471"/>
                </a:lnTo>
                <a:lnTo>
                  <a:pt x="11328400" y="1133460"/>
                </a:lnTo>
                <a:lnTo>
                  <a:pt x="11277600" y="1131475"/>
                </a:lnTo>
                <a:lnTo>
                  <a:pt x="11226800" y="1129515"/>
                </a:lnTo>
                <a:lnTo>
                  <a:pt x="11176000" y="1127584"/>
                </a:lnTo>
                <a:lnTo>
                  <a:pt x="11125200" y="1125681"/>
                </a:lnTo>
                <a:lnTo>
                  <a:pt x="11074400" y="1123809"/>
                </a:lnTo>
                <a:lnTo>
                  <a:pt x="11023600" y="1121968"/>
                </a:lnTo>
                <a:lnTo>
                  <a:pt x="10972800" y="1120160"/>
                </a:lnTo>
                <a:lnTo>
                  <a:pt x="10922000" y="1118386"/>
                </a:lnTo>
                <a:lnTo>
                  <a:pt x="10871200" y="1116647"/>
                </a:lnTo>
                <a:lnTo>
                  <a:pt x="10820400" y="1114945"/>
                </a:lnTo>
                <a:lnTo>
                  <a:pt x="10769600" y="1113281"/>
                </a:lnTo>
                <a:lnTo>
                  <a:pt x="10718800" y="1111655"/>
                </a:lnTo>
                <a:lnTo>
                  <a:pt x="10668000" y="1110069"/>
                </a:lnTo>
                <a:lnTo>
                  <a:pt x="10617200" y="1108524"/>
                </a:lnTo>
                <a:lnTo>
                  <a:pt x="10566400" y="1107021"/>
                </a:lnTo>
                <a:lnTo>
                  <a:pt x="10515600" y="1105562"/>
                </a:lnTo>
                <a:lnTo>
                  <a:pt x="10464800" y="1104146"/>
                </a:lnTo>
                <a:lnTo>
                  <a:pt x="10414000" y="1102775"/>
                </a:lnTo>
                <a:lnTo>
                  <a:pt x="10363200" y="1101451"/>
                </a:lnTo>
                <a:lnTo>
                  <a:pt x="10312400" y="1100173"/>
                </a:lnTo>
                <a:lnTo>
                  <a:pt x="10261600" y="1098943"/>
                </a:lnTo>
                <a:lnTo>
                  <a:pt x="10210800" y="1097761"/>
                </a:lnTo>
                <a:lnTo>
                  <a:pt x="10160000" y="1096629"/>
                </a:lnTo>
                <a:lnTo>
                  <a:pt x="10109200" y="1095548"/>
                </a:lnTo>
                <a:lnTo>
                  <a:pt x="10058400" y="1094517"/>
                </a:lnTo>
                <a:lnTo>
                  <a:pt x="10007600" y="1093538"/>
                </a:lnTo>
                <a:lnTo>
                  <a:pt x="9956800" y="1092611"/>
                </a:lnTo>
                <a:lnTo>
                  <a:pt x="9906000" y="1091737"/>
                </a:lnTo>
                <a:lnTo>
                  <a:pt x="9855200" y="1090916"/>
                </a:lnTo>
                <a:lnTo>
                  <a:pt x="9804400" y="1090150"/>
                </a:lnTo>
                <a:lnTo>
                  <a:pt x="9753600" y="1089439"/>
                </a:lnTo>
                <a:lnTo>
                  <a:pt x="9702800" y="1088782"/>
                </a:lnTo>
                <a:lnTo>
                  <a:pt x="9652000" y="1088181"/>
                </a:lnTo>
                <a:lnTo>
                  <a:pt x="9601200" y="1087636"/>
                </a:lnTo>
                <a:lnTo>
                  <a:pt x="9550400" y="1087147"/>
                </a:lnTo>
                <a:lnTo>
                  <a:pt x="9499600" y="1086716"/>
                </a:lnTo>
                <a:lnTo>
                  <a:pt x="9448800" y="1086341"/>
                </a:lnTo>
                <a:lnTo>
                  <a:pt x="9398000" y="1086023"/>
                </a:lnTo>
                <a:lnTo>
                  <a:pt x="9347200" y="1085763"/>
                </a:lnTo>
                <a:lnTo>
                  <a:pt x="9296400" y="1085560"/>
                </a:lnTo>
                <a:lnTo>
                  <a:pt x="9245600" y="1085415"/>
                </a:lnTo>
                <a:lnTo>
                  <a:pt x="9194800" y="1085328"/>
                </a:lnTo>
                <a:lnTo>
                  <a:pt x="9144000" y="1085299"/>
                </a:lnTo>
                <a:lnTo>
                  <a:pt x="9093200" y="1085328"/>
                </a:lnTo>
                <a:lnTo>
                  <a:pt x="9042400" y="1085415"/>
                </a:lnTo>
                <a:lnTo>
                  <a:pt x="8991600" y="1085560"/>
                </a:lnTo>
                <a:lnTo>
                  <a:pt x="8940800" y="1085763"/>
                </a:lnTo>
                <a:lnTo>
                  <a:pt x="8890000" y="1086023"/>
                </a:lnTo>
                <a:lnTo>
                  <a:pt x="8839200" y="1086341"/>
                </a:lnTo>
                <a:lnTo>
                  <a:pt x="8788400" y="1086716"/>
                </a:lnTo>
                <a:lnTo>
                  <a:pt x="8737600" y="1087147"/>
                </a:lnTo>
                <a:lnTo>
                  <a:pt x="8686800" y="1087636"/>
                </a:lnTo>
                <a:lnTo>
                  <a:pt x="8636000" y="1088181"/>
                </a:lnTo>
                <a:lnTo>
                  <a:pt x="8585200" y="1088782"/>
                </a:lnTo>
                <a:lnTo>
                  <a:pt x="8534400" y="1089439"/>
                </a:lnTo>
                <a:lnTo>
                  <a:pt x="8483600" y="1090150"/>
                </a:lnTo>
                <a:lnTo>
                  <a:pt x="8432800" y="1090916"/>
                </a:lnTo>
                <a:lnTo>
                  <a:pt x="8382000" y="1091737"/>
                </a:lnTo>
                <a:lnTo>
                  <a:pt x="8331200" y="1092611"/>
                </a:lnTo>
                <a:lnTo>
                  <a:pt x="8280400" y="1093538"/>
                </a:lnTo>
                <a:lnTo>
                  <a:pt x="8229600" y="1094517"/>
                </a:lnTo>
                <a:lnTo>
                  <a:pt x="8178800" y="1095548"/>
                </a:lnTo>
                <a:lnTo>
                  <a:pt x="8128000" y="1096629"/>
                </a:lnTo>
                <a:lnTo>
                  <a:pt x="8077200" y="1097761"/>
                </a:lnTo>
                <a:lnTo>
                  <a:pt x="8026400" y="1098943"/>
                </a:lnTo>
                <a:lnTo>
                  <a:pt x="7975600" y="1100173"/>
                </a:lnTo>
                <a:lnTo>
                  <a:pt x="7924800" y="1101451"/>
                </a:lnTo>
                <a:lnTo>
                  <a:pt x="7874000" y="1102775"/>
                </a:lnTo>
                <a:lnTo>
                  <a:pt x="7823200" y="1104146"/>
                </a:lnTo>
                <a:lnTo>
                  <a:pt x="7772400" y="1105562"/>
                </a:lnTo>
                <a:lnTo>
                  <a:pt x="7721600" y="1107021"/>
                </a:lnTo>
                <a:lnTo>
                  <a:pt x="7670800" y="1108524"/>
                </a:lnTo>
                <a:lnTo>
                  <a:pt x="7620000" y="1110069"/>
                </a:lnTo>
                <a:lnTo>
                  <a:pt x="7569200" y="1111655"/>
                </a:lnTo>
                <a:lnTo>
                  <a:pt x="7518400" y="1113281"/>
                </a:lnTo>
                <a:lnTo>
                  <a:pt x="7467600" y="1114945"/>
                </a:lnTo>
                <a:lnTo>
                  <a:pt x="7416800" y="1116647"/>
                </a:lnTo>
                <a:lnTo>
                  <a:pt x="7366000" y="1118386"/>
                </a:lnTo>
                <a:lnTo>
                  <a:pt x="7315200" y="1120160"/>
                </a:lnTo>
                <a:lnTo>
                  <a:pt x="7264400" y="1121968"/>
                </a:lnTo>
                <a:lnTo>
                  <a:pt x="7213600" y="1123809"/>
                </a:lnTo>
                <a:lnTo>
                  <a:pt x="7162800" y="1125681"/>
                </a:lnTo>
                <a:lnTo>
                  <a:pt x="7112000" y="1127584"/>
                </a:lnTo>
                <a:lnTo>
                  <a:pt x="7061200" y="1129515"/>
                </a:lnTo>
                <a:lnTo>
                  <a:pt x="7010400" y="1131475"/>
                </a:lnTo>
                <a:lnTo>
                  <a:pt x="6959600" y="1133460"/>
                </a:lnTo>
                <a:lnTo>
                  <a:pt x="6908800" y="1135471"/>
                </a:lnTo>
                <a:lnTo>
                  <a:pt x="6858000" y="1137505"/>
                </a:lnTo>
                <a:lnTo>
                  <a:pt x="6807200" y="1139561"/>
                </a:lnTo>
                <a:lnTo>
                  <a:pt x="6756400" y="1141639"/>
                </a:lnTo>
                <a:lnTo>
                  <a:pt x="6705600" y="1143735"/>
                </a:lnTo>
                <a:lnTo>
                  <a:pt x="6654800" y="1145849"/>
                </a:lnTo>
                <a:lnTo>
                  <a:pt x="6604000" y="1147980"/>
                </a:lnTo>
                <a:lnTo>
                  <a:pt x="6553200" y="1150126"/>
                </a:lnTo>
                <a:lnTo>
                  <a:pt x="6502400" y="1152285"/>
                </a:lnTo>
                <a:lnTo>
                  <a:pt x="6451600" y="1154457"/>
                </a:lnTo>
                <a:lnTo>
                  <a:pt x="6400800" y="1156639"/>
                </a:lnTo>
                <a:lnTo>
                  <a:pt x="6350000" y="1158830"/>
                </a:lnTo>
                <a:lnTo>
                  <a:pt x="6299200" y="1161028"/>
                </a:lnTo>
                <a:lnTo>
                  <a:pt x="6248400" y="1163233"/>
                </a:lnTo>
                <a:lnTo>
                  <a:pt x="6197600" y="1165442"/>
                </a:lnTo>
                <a:lnTo>
                  <a:pt x="6146800" y="1167654"/>
                </a:lnTo>
                <a:lnTo>
                  <a:pt x="6096000" y="1169868"/>
                </a:lnTo>
                <a:lnTo>
                  <a:pt x="6045200" y="1172082"/>
                </a:lnTo>
                <a:lnTo>
                  <a:pt x="5994400" y="1174294"/>
                </a:lnTo>
                <a:lnTo>
                  <a:pt x="5943600" y="1176503"/>
                </a:lnTo>
                <a:lnTo>
                  <a:pt x="5892800" y="1178708"/>
                </a:lnTo>
                <a:lnTo>
                  <a:pt x="5842000" y="1180907"/>
                </a:lnTo>
                <a:lnTo>
                  <a:pt x="5791200" y="1183098"/>
                </a:lnTo>
                <a:lnTo>
                  <a:pt x="5740400" y="1185280"/>
                </a:lnTo>
                <a:lnTo>
                  <a:pt x="5689600" y="1187451"/>
                </a:lnTo>
                <a:lnTo>
                  <a:pt x="5638800" y="1189610"/>
                </a:lnTo>
                <a:lnTo>
                  <a:pt x="5588000" y="1191756"/>
                </a:lnTo>
                <a:lnTo>
                  <a:pt x="5537200" y="1193887"/>
                </a:lnTo>
                <a:lnTo>
                  <a:pt x="5486400" y="1196001"/>
                </a:lnTo>
                <a:lnTo>
                  <a:pt x="5435600" y="1198098"/>
                </a:lnTo>
                <a:lnTo>
                  <a:pt x="5384800" y="1200175"/>
                </a:lnTo>
                <a:lnTo>
                  <a:pt x="5334000" y="1202231"/>
                </a:lnTo>
                <a:lnTo>
                  <a:pt x="5283200" y="1204265"/>
                </a:lnTo>
                <a:lnTo>
                  <a:pt x="5232400" y="1206276"/>
                </a:lnTo>
                <a:lnTo>
                  <a:pt x="5181600" y="1208262"/>
                </a:lnTo>
                <a:lnTo>
                  <a:pt x="5130800" y="1210221"/>
                </a:lnTo>
                <a:lnTo>
                  <a:pt x="5080000" y="1212153"/>
                </a:lnTo>
                <a:lnTo>
                  <a:pt x="5029200" y="1214055"/>
                </a:lnTo>
                <a:lnTo>
                  <a:pt x="4978400" y="1215928"/>
                </a:lnTo>
                <a:lnTo>
                  <a:pt x="4927600" y="1217768"/>
                </a:lnTo>
                <a:lnTo>
                  <a:pt x="4876800" y="1219576"/>
                </a:lnTo>
                <a:lnTo>
                  <a:pt x="4826000" y="1221350"/>
                </a:lnTo>
                <a:lnTo>
                  <a:pt x="4775200" y="1223089"/>
                </a:lnTo>
                <a:lnTo>
                  <a:pt x="4724400" y="1224791"/>
                </a:lnTo>
                <a:lnTo>
                  <a:pt x="4673600" y="1226456"/>
                </a:lnTo>
                <a:lnTo>
                  <a:pt x="4622800" y="1228082"/>
                </a:lnTo>
                <a:lnTo>
                  <a:pt x="4572000" y="1229667"/>
                </a:lnTo>
                <a:lnTo>
                  <a:pt x="4521200" y="1231212"/>
                </a:lnTo>
                <a:lnTo>
                  <a:pt x="4470400" y="1232715"/>
                </a:lnTo>
                <a:lnTo>
                  <a:pt x="4419600" y="1234175"/>
                </a:lnTo>
                <a:lnTo>
                  <a:pt x="4368800" y="1235590"/>
                </a:lnTo>
                <a:lnTo>
                  <a:pt x="4318000" y="1236961"/>
                </a:lnTo>
                <a:lnTo>
                  <a:pt x="4267200" y="1238286"/>
                </a:lnTo>
                <a:lnTo>
                  <a:pt x="4216400" y="1239564"/>
                </a:lnTo>
                <a:lnTo>
                  <a:pt x="4165600" y="1240794"/>
                </a:lnTo>
                <a:lnTo>
                  <a:pt x="4114800" y="1241975"/>
                </a:lnTo>
                <a:lnTo>
                  <a:pt x="4064000" y="1243107"/>
                </a:lnTo>
                <a:lnTo>
                  <a:pt x="4013200" y="1244189"/>
                </a:lnTo>
                <a:lnTo>
                  <a:pt x="3962400" y="1245220"/>
                </a:lnTo>
                <a:lnTo>
                  <a:pt x="3911600" y="1246199"/>
                </a:lnTo>
                <a:lnTo>
                  <a:pt x="3860800" y="1247126"/>
                </a:lnTo>
                <a:lnTo>
                  <a:pt x="3810000" y="1248000"/>
                </a:lnTo>
                <a:lnTo>
                  <a:pt x="3759200" y="1248820"/>
                </a:lnTo>
                <a:lnTo>
                  <a:pt x="3708400" y="1249586"/>
                </a:lnTo>
                <a:lnTo>
                  <a:pt x="3657600" y="1250298"/>
                </a:lnTo>
                <a:lnTo>
                  <a:pt x="3606800" y="1250954"/>
                </a:lnTo>
                <a:lnTo>
                  <a:pt x="3556000" y="1251555"/>
                </a:lnTo>
                <a:lnTo>
                  <a:pt x="3505200" y="1252100"/>
                </a:lnTo>
                <a:lnTo>
                  <a:pt x="3454400" y="1252589"/>
                </a:lnTo>
                <a:lnTo>
                  <a:pt x="3403600" y="1253021"/>
                </a:lnTo>
                <a:lnTo>
                  <a:pt x="3352800" y="1253396"/>
                </a:lnTo>
                <a:lnTo>
                  <a:pt x="3302000" y="1253713"/>
                </a:lnTo>
                <a:lnTo>
                  <a:pt x="3251200" y="1253974"/>
                </a:lnTo>
                <a:lnTo>
                  <a:pt x="3200400" y="1254176"/>
                </a:lnTo>
                <a:lnTo>
                  <a:pt x="3149600" y="1254321"/>
                </a:lnTo>
                <a:lnTo>
                  <a:pt x="3098800" y="1254408"/>
                </a:lnTo>
                <a:lnTo>
                  <a:pt x="3048000" y="1254437"/>
                </a:lnTo>
                <a:lnTo>
                  <a:pt x="2997200" y="1254408"/>
                </a:lnTo>
                <a:lnTo>
                  <a:pt x="2946400" y="1254321"/>
                </a:lnTo>
                <a:lnTo>
                  <a:pt x="2895600" y="1254176"/>
                </a:lnTo>
                <a:lnTo>
                  <a:pt x="2844800" y="1253974"/>
                </a:lnTo>
                <a:lnTo>
                  <a:pt x="2794000" y="1253713"/>
                </a:lnTo>
                <a:lnTo>
                  <a:pt x="2743200" y="1253396"/>
                </a:lnTo>
                <a:lnTo>
                  <a:pt x="2692400" y="1253021"/>
                </a:lnTo>
                <a:lnTo>
                  <a:pt x="2641600" y="1252589"/>
                </a:lnTo>
                <a:lnTo>
                  <a:pt x="2590800" y="1252100"/>
                </a:lnTo>
                <a:lnTo>
                  <a:pt x="2540000" y="1251555"/>
                </a:lnTo>
                <a:lnTo>
                  <a:pt x="2489200" y="1250954"/>
                </a:lnTo>
                <a:lnTo>
                  <a:pt x="2438400" y="1250298"/>
                </a:lnTo>
                <a:lnTo>
                  <a:pt x="2387600" y="1249586"/>
                </a:lnTo>
                <a:lnTo>
                  <a:pt x="2336800" y="1248820"/>
                </a:lnTo>
                <a:lnTo>
                  <a:pt x="2286000" y="1248000"/>
                </a:lnTo>
                <a:lnTo>
                  <a:pt x="2235200" y="1247126"/>
                </a:lnTo>
                <a:lnTo>
                  <a:pt x="2184400" y="1246199"/>
                </a:lnTo>
                <a:lnTo>
                  <a:pt x="2133600" y="1245220"/>
                </a:lnTo>
                <a:lnTo>
                  <a:pt x="2082800" y="1244189"/>
                </a:lnTo>
                <a:lnTo>
                  <a:pt x="2032000" y="1243107"/>
                </a:lnTo>
                <a:lnTo>
                  <a:pt x="1981200" y="1241975"/>
                </a:lnTo>
                <a:lnTo>
                  <a:pt x="1930400" y="1240794"/>
                </a:lnTo>
                <a:lnTo>
                  <a:pt x="1879600" y="1239564"/>
                </a:lnTo>
                <a:lnTo>
                  <a:pt x="1828800" y="1238286"/>
                </a:lnTo>
                <a:lnTo>
                  <a:pt x="1778000" y="1236961"/>
                </a:lnTo>
                <a:lnTo>
                  <a:pt x="1727200" y="1235590"/>
                </a:lnTo>
                <a:lnTo>
                  <a:pt x="1676400" y="1234175"/>
                </a:lnTo>
                <a:lnTo>
                  <a:pt x="1625600" y="1232715"/>
                </a:lnTo>
                <a:lnTo>
                  <a:pt x="1574800" y="1231212"/>
                </a:lnTo>
                <a:lnTo>
                  <a:pt x="1524000" y="1229667"/>
                </a:lnTo>
                <a:lnTo>
                  <a:pt x="1473200" y="1228082"/>
                </a:lnTo>
                <a:lnTo>
                  <a:pt x="1422400" y="1226456"/>
                </a:lnTo>
                <a:lnTo>
                  <a:pt x="1371600" y="1224791"/>
                </a:lnTo>
                <a:lnTo>
                  <a:pt x="1320800" y="1223089"/>
                </a:lnTo>
                <a:lnTo>
                  <a:pt x="1270000" y="1221350"/>
                </a:lnTo>
                <a:lnTo>
                  <a:pt x="1219200" y="1219576"/>
                </a:lnTo>
                <a:lnTo>
                  <a:pt x="1168400" y="1217768"/>
                </a:lnTo>
                <a:lnTo>
                  <a:pt x="1117600" y="1215928"/>
                </a:lnTo>
                <a:lnTo>
                  <a:pt x="1066800" y="1214055"/>
                </a:lnTo>
                <a:lnTo>
                  <a:pt x="1016000" y="1212153"/>
                </a:lnTo>
                <a:lnTo>
                  <a:pt x="965200" y="1210221"/>
                </a:lnTo>
                <a:lnTo>
                  <a:pt x="914400" y="1208262"/>
                </a:lnTo>
                <a:lnTo>
                  <a:pt x="863600" y="1206276"/>
                </a:lnTo>
                <a:lnTo>
                  <a:pt x="812800" y="1204265"/>
                </a:lnTo>
                <a:lnTo>
                  <a:pt x="762000" y="1202231"/>
                </a:lnTo>
                <a:lnTo>
                  <a:pt x="711200" y="1200175"/>
                </a:lnTo>
                <a:lnTo>
                  <a:pt x="660400" y="1198098"/>
                </a:lnTo>
                <a:lnTo>
                  <a:pt x="609600" y="1196001"/>
                </a:lnTo>
                <a:lnTo>
                  <a:pt x="558800" y="1193887"/>
                </a:lnTo>
                <a:lnTo>
                  <a:pt x="508000" y="1191756"/>
                </a:lnTo>
                <a:lnTo>
                  <a:pt x="457200" y="1189610"/>
                </a:lnTo>
                <a:lnTo>
                  <a:pt x="406400" y="1187451"/>
                </a:lnTo>
                <a:lnTo>
                  <a:pt x="355600" y="1185280"/>
                </a:lnTo>
                <a:lnTo>
                  <a:pt x="304800" y="1183098"/>
                </a:lnTo>
                <a:lnTo>
                  <a:pt x="254000" y="1180907"/>
                </a:lnTo>
                <a:lnTo>
                  <a:pt x="203200" y="1178708"/>
                </a:lnTo>
                <a:lnTo>
                  <a:pt x="152400" y="1176503"/>
                </a:lnTo>
                <a:lnTo>
                  <a:pt x="101600" y="1174294"/>
                </a:lnTo>
                <a:lnTo>
                  <a:pt x="50800" y="1172082"/>
                </a:lnTo>
                <a:lnTo>
                  <a:pt x="0" y="1169868"/>
                </a:lnTo>
                <a:close/>
              </a:path>
            </a:pathLst>
          </a:custGeom>
          <a:solidFill>
            <a:srgbClr val="74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ヘッダー山1"/>
          <p:cNvSpPr/>
          <p:nvPr/>
        </p:nvSpPr>
        <p:spPr>
          <a:xfrm>
            <a:off x="8386405" y="436939"/>
            <a:ext cx="2086030" cy="634266"/>
          </a:xfrm>
          <a:custGeom>
            <a:avLst/>
            <a:gdLst/>
            <a:ahLst/>
            <a:cxnLst/>
            <a:rect l="l" t="t" r="r" b="b"/>
            <a:pathLst>
              <a:path w="2086030" h="634266">
                <a:moveTo>
                  <a:pt x="0" y="634266"/>
                </a:moveTo>
                <a:lnTo>
                  <a:pt x="1141678" y="0"/>
                </a:lnTo>
                <a:lnTo>
                  <a:pt x="2086030" y="634266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ヘッダー山2"/>
          <p:cNvSpPr/>
          <p:nvPr/>
        </p:nvSpPr>
        <p:spPr>
          <a:xfrm>
            <a:off x="9936832" y="690645"/>
            <a:ext cx="2043746" cy="380560"/>
          </a:xfrm>
          <a:custGeom>
            <a:avLst/>
            <a:gdLst/>
            <a:ahLst/>
            <a:cxnLst/>
            <a:rect l="l" t="t" r="r" b="b"/>
            <a:pathLst>
              <a:path w="2043746" h="380560">
                <a:moveTo>
                  <a:pt x="0" y="380560"/>
                </a:moveTo>
                <a:lnTo>
                  <a:pt x="1028921" y="0"/>
                </a:lnTo>
                <a:lnTo>
                  <a:pt x="2043746" y="380560"/>
                </a:lnTo>
                <a:close/>
              </a:path>
            </a:pathLst>
          </a:custGeom>
          <a:solidFill>
            <a:srgbClr val="8A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小見出し"/>
          <p:cNvSpPr txBox="1"/>
          <p:nvPr/>
        </p:nvSpPr>
        <p:spPr>
          <a:xfrm>
            <a:off x="620171" y="225517"/>
            <a:ext cx="6342659" cy="18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054" b="1" spc="300">
                <a:solidFill>
                  <a:srgbClr val="EAF8F4"/>
                </a:solidFill>
                <a:latin typeface="游ゴシック"/>
                <a:ea typeface="游ゴシック"/>
                <a:cs typeface="游ゴシック"/>
              </a:rPr>
              <a:t>拠点</a:t>
            </a:r>
          </a:p>
        </p:txBody>
      </p:sp>
      <p:sp>
        <p:nvSpPr>
          <p:cNvPr id="7" name="タイトル"/>
          <p:cNvSpPr txBox="1"/>
          <p:nvPr/>
        </p:nvSpPr>
        <p:spPr>
          <a:xfrm>
            <a:off x="620171" y="422844"/>
            <a:ext cx="9161618" cy="42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41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長野を中心に、信越・北関東に109の拠点</a:t>
            </a:r>
          </a:p>
        </p:txBody>
      </p:sp>
      <p:sp>
        <p:nvSpPr>
          <p:cNvPr id="8" name="グラフカード"/>
          <p:cNvSpPr/>
          <p:nvPr/>
        </p:nvSpPr>
        <p:spPr>
          <a:xfrm>
            <a:off x="620171" y="1465859"/>
            <a:ext cx="6342659" cy="4890895"/>
          </a:xfrm>
          <a:prstGeom prst="roundRect">
            <a:avLst>
              <a:gd name="adj" fmla="val 2881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グラフ見出し"/>
          <p:cNvSpPr txBox="1"/>
          <p:nvPr/>
        </p:nvSpPr>
        <p:spPr>
          <a:xfrm>
            <a:off x="902067" y="1677281"/>
            <a:ext cx="5778867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498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都県別の拠点数（計109拠点）</a:t>
            </a:r>
          </a:p>
        </p:txBody>
      </p:sp>
      <p:graphicFrame>
        <p:nvGraphicFramePr>
          <p:cNvPr id="10" name="拠点数グラフ"/>
          <p:cNvGraphicFramePr>
            <a:graphicFrameLocks noGrp="1"/>
          </p:cNvGraphicFramePr>
          <p:nvPr/>
        </p:nvGraphicFramePr>
        <p:xfrm>
          <a:off x="831593" y="2057840"/>
          <a:ext cx="5919815" cy="411568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サービスカード"/>
          <p:cNvSpPr/>
          <p:nvPr/>
        </p:nvSpPr>
        <p:spPr>
          <a:xfrm>
            <a:off x="7188347" y="1465859"/>
            <a:ext cx="4383482" cy="21142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サービス見出し"/>
          <p:cNvSpPr txBox="1"/>
          <p:nvPr/>
        </p:nvSpPr>
        <p:spPr>
          <a:xfrm>
            <a:off x="7442053" y="1663186"/>
            <a:ext cx="3876069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</a:pPr>
            <a:r>
              <a:rPr sz="1387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提供しているサービス　7種</a:t>
            </a:r>
          </a:p>
        </p:txBody>
      </p:sp>
      <p:sp>
        <p:nvSpPr>
          <p:cNvPr id="13" name="サービス_有料老人ホーム"/>
          <p:cNvSpPr/>
          <p:nvPr/>
        </p:nvSpPr>
        <p:spPr>
          <a:xfrm>
            <a:off x="7442053" y="2057840"/>
            <a:ext cx="1881655" cy="36646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サービス文字_有料老人ホーム"/>
          <p:cNvSpPr txBox="1"/>
          <p:nvPr/>
        </p:nvSpPr>
        <p:spPr>
          <a:xfrm>
            <a:off x="7442053" y="2057840"/>
            <a:ext cx="188165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有料老人ホーム</a:t>
            </a:r>
          </a:p>
        </p:txBody>
      </p:sp>
      <p:sp>
        <p:nvSpPr>
          <p:cNvPr id="15" name="サービス_グループホーム"/>
          <p:cNvSpPr/>
          <p:nvPr/>
        </p:nvSpPr>
        <p:spPr>
          <a:xfrm>
            <a:off x="9436467" y="2057840"/>
            <a:ext cx="1881655" cy="36646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サービス文字_グループホーム"/>
          <p:cNvSpPr txBox="1"/>
          <p:nvPr/>
        </p:nvSpPr>
        <p:spPr>
          <a:xfrm>
            <a:off x="9436467" y="2057840"/>
            <a:ext cx="188165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グループホーム</a:t>
            </a:r>
          </a:p>
        </p:txBody>
      </p:sp>
      <p:sp>
        <p:nvSpPr>
          <p:cNvPr id="17" name="サービス_デイサービス"/>
          <p:cNvSpPr/>
          <p:nvPr/>
        </p:nvSpPr>
        <p:spPr>
          <a:xfrm>
            <a:off x="7442053" y="2522969"/>
            <a:ext cx="1881655" cy="36646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サービス文字_デイサービス"/>
          <p:cNvSpPr txBox="1"/>
          <p:nvPr/>
        </p:nvSpPr>
        <p:spPr>
          <a:xfrm>
            <a:off x="7442053" y="2522969"/>
            <a:ext cx="188165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デイサービス</a:t>
            </a:r>
          </a:p>
        </p:txBody>
      </p:sp>
      <p:sp>
        <p:nvSpPr>
          <p:cNvPr id="19" name="サービス_小規模多機能"/>
          <p:cNvSpPr/>
          <p:nvPr/>
        </p:nvSpPr>
        <p:spPr>
          <a:xfrm>
            <a:off x="9436467" y="2522969"/>
            <a:ext cx="1881655" cy="36646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サービス文字_小規模多機能"/>
          <p:cNvSpPr txBox="1"/>
          <p:nvPr/>
        </p:nvSpPr>
        <p:spPr>
          <a:xfrm>
            <a:off x="9436467" y="2522969"/>
            <a:ext cx="188165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小規模多機能</a:t>
            </a:r>
          </a:p>
        </p:txBody>
      </p:sp>
      <p:sp>
        <p:nvSpPr>
          <p:cNvPr id="21" name="サービス_看護小規模多機能型"/>
          <p:cNvSpPr/>
          <p:nvPr/>
        </p:nvSpPr>
        <p:spPr>
          <a:xfrm>
            <a:off x="7442053" y="2988097"/>
            <a:ext cx="1881655" cy="36646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サービス文字_看護小規模多機能型"/>
          <p:cNvSpPr txBox="1"/>
          <p:nvPr/>
        </p:nvSpPr>
        <p:spPr>
          <a:xfrm>
            <a:off x="7442053" y="2988097"/>
            <a:ext cx="188165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看護小規模多機能型</a:t>
            </a:r>
          </a:p>
        </p:txBody>
      </p:sp>
      <p:sp>
        <p:nvSpPr>
          <p:cNvPr id="23" name="サービス_訪問介護"/>
          <p:cNvSpPr/>
          <p:nvPr/>
        </p:nvSpPr>
        <p:spPr>
          <a:xfrm>
            <a:off x="9436467" y="2988097"/>
            <a:ext cx="1881655" cy="36646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サービス文字_訪問介護"/>
          <p:cNvSpPr txBox="1"/>
          <p:nvPr/>
        </p:nvSpPr>
        <p:spPr>
          <a:xfrm>
            <a:off x="9436467" y="2988097"/>
            <a:ext cx="188165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訪問介護</a:t>
            </a:r>
          </a:p>
        </p:txBody>
      </p:sp>
      <p:sp>
        <p:nvSpPr>
          <p:cNvPr id="25" name="サービス_訪問看護"/>
          <p:cNvSpPr/>
          <p:nvPr/>
        </p:nvSpPr>
        <p:spPr>
          <a:xfrm>
            <a:off x="7442053" y="3453225"/>
            <a:ext cx="1881655" cy="366465"/>
          </a:xfrm>
          <a:prstGeom prst="roundRect">
            <a:avLst>
              <a:gd name="adj" fmla="val 50000"/>
            </a:avLst>
          </a:prstGeom>
          <a:solidFill>
            <a:srgbClr val="E3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サービス文字_訪問看護"/>
          <p:cNvSpPr txBox="1"/>
          <p:nvPr/>
        </p:nvSpPr>
        <p:spPr>
          <a:xfrm>
            <a:off x="7442053" y="3453225"/>
            <a:ext cx="1881655" cy="36646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訪問看護</a:t>
            </a:r>
          </a:p>
        </p:txBody>
      </p:sp>
      <p:sp>
        <p:nvSpPr>
          <p:cNvPr id="27" name="ツアーカード"/>
          <p:cNvSpPr/>
          <p:nvPr/>
        </p:nvSpPr>
        <p:spPr>
          <a:xfrm>
            <a:off x="7188347" y="3805595"/>
            <a:ext cx="4383482" cy="2551158"/>
          </a:xfrm>
          <a:prstGeom prst="roundRect">
            <a:avLst>
              <a:gd name="adj" fmla="val 5524"/>
            </a:avLst>
          </a:prstGeom>
          <a:solidFill>
            <a:srgbClr val="FFFFFF"/>
          </a:solidFill>
          <a:ln w="12700">
            <a:solidFill>
              <a:srgbClr val="E1E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ツアー見出し"/>
          <p:cNvSpPr txBox="1"/>
          <p:nvPr/>
        </p:nvSpPr>
        <p:spPr>
          <a:xfrm>
            <a:off x="7442053" y="4002923"/>
            <a:ext cx="3876069" cy="253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1"/>
              </a:lnSpc>
              <a:spcBef>
                <a:spcPts val="0"/>
              </a:spcBef>
              <a:spcAft>
                <a:spcPts val="0"/>
              </a:spcAft>
            </a:pPr>
            <a:r>
              <a:rPr sz="1331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360°ツアーで見学できる事業所　9拠点</a:t>
            </a:r>
          </a:p>
        </p:txBody>
      </p:sp>
      <p:sp>
        <p:nvSpPr>
          <p:cNvPr id="29" name="県"/>
          <p:cNvSpPr/>
          <p:nvPr/>
        </p:nvSpPr>
        <p:spPr>
          <a:xfrm>
            <a:off x="7442053" y="4462765"/>
            <a:ext cx="902067" cy="338275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県_長野県"/>
          <p:cNvSpPr txBox="1"/>
          <p:nvPr/>
        </p:nvSpPr>
        <p:spPr>
          <a:xfrm>
            <a:off x="7442053" y="4462765"/>
            <a:ext cx="902067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長野県</a:t>
            </a:r>
          </a:p>
        </p:txBody>
      </p:sp>
      <p:sp>
        <p:nvSpPr>
          <p:cNvPr id="31" name="拠点数_長野県"/>
          <p:cNvSpPr txBox="1"/>
          <p:nvPr/>
        </p:nvSpPr>
        <p:spPr>
          <a:xfrm>
            <a:off x="8485068" y="4397577"/>
            <a:ext cx="704740" cy="4686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5拠点</a:t>
            </a:r>
          </a:p>
        </p:txBody>
      </p:sp>
      <p:sp>
        <p:nvSpPr>
          <p:cNvPr id="32" name="所在地_長野県"/>
          <p:cNvSpPr txBox="1"/>
          <p:nvPr/>
        </p:nvSpPr>
        <p:spPr>
          <a:xfrm>
            <a:off x="9232092" y="4397577"/>
            <a:ext cx="2086030" cy="4686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安曇野・松本・佐久・諏訪・上田</a:t>
            </a:r>
          </a:p>
        </p:txBody>
      </p:sp>
      <p:sp>
        <p:nvSpPr>
          <p:cNvPr id="33" name="県"/>
          <p:cNvSpPr/>
          <p:nvPr/>
        </p:nvSpPr>
        <p:spPr>
          <a:xfrm>
            <a:off x="7442053" y="4931417"/>
            <a:ext cx="902067" cy="338275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県_新潟県"/>
          <p:cNvSpPr txBox="1"/>
          <p:nvPr/>
        </p:nvSpPr>
        <p:spPr>
          <a:xfrm>
            <a:off x="7442053" y="4931417"/>
            <a:ext cx="902067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新潟県</a:t>
            </a:r>
          </a:p>
        </p:txBody>
      </p:sp>
      <p:sp>
        <p:nvSpPr>
          <p:cNvPr id="35" name="拠点数_新潟県"/>
          <p:cNvSpPr txBox="1"/>
          <p:nvPr/>
        </p:nvSpPr>
        <p:spPr>
          <a:xfrm>
            <a:off x="8485068" y="4866229"/>
            <a:ext cx="704740" cy="4686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1拠点</a:t>
            </a:r>
          </a:p>
        </p:txBody>
      </p:sp>
      <p:sp>
        <p:nvSpPr>
          <p:cNvPr id="36" name="所在地_新潟県"/>
          <p:cNvSpPr txBox="1"/>
          <p:nvPr/>
        </p:nvSpPr>
        <p:spPr>
          <a:xfrm>
            <a:off x="9232092" y="4866229"/>
            <a:ext cx="2086030" cy="4686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糸魚川</a:t>
            </a:r>
          </a:p>
        </p:txBody>
      </p:sp>
      <p:sp>
        <p:nvSpPr>
          <p:cNvPr id="37" name="県"/>
          <p:cNvSpPr/>
          <p:nvPr/>
        </p:nvSpPr>
        <p:spPr>
          <a:xfrm>
            <a:off x="7442053" y="5400069"/>
            <a:ext cx="902067" cy="338275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県_栃木県"/>
          <p:cNvSpPr txBox="1"/>
          <p:nvPr/>
        </p:nvSpPr>
        <p:spPr>
          <a:xfrm>
            <a:off x="7442053" y="5400069"/>
            <a:ext cx="902067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栃木県</a:t>
            </a:r>
          </a:p>
        </p:txBody>
      </p:sp>
      <p:sp>
        <p:nvSpPr>
          <p:cNvPr id="39" name="拠点数_栃木県"/>
          <p:cNvSpPr txBox="1"/>
          <p:nvPr/>
        </p:nvSpPr>
        <p:spPr>
          <a:xfrm>
            <a:off x="8485068" y="5334881"/>
            <a:ext cx="704740" cy="4686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2拠点</a:t>
            </a:r>
          </a:p>
        </p:txBody>
      </p:sp>
      <p:sp>
        <p:nvSpPr>
          <p:cNvPr id="40" name="所在地_栃木県"/>
          <p:cNvSpPr txBox="1"/>
          <p:nvPr/>
        </p:nvSpPr>
        <p:spPr>
          <a:xfrm>
            <a:off x="9232092" y="5334881"/>
            <a:ext cx="2086030" cy="4686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宇都宮・小山</a:t>
            </a:r>
          </a:p>
        </p:txBody>
      </p:sp>
      <p:sp>
        <p:nvSpPr>
          <p:cNvPr id="41" name="県"/>
          <p:cNvSpPr/>
          <p:nvPr/>
        </p:nvSpPr>
        <p:spPr>
          <a:xfrm>
            <a:off x="7442053" y="5868721"/>
            <a:ext cx="902067" cy="338275"/>
          </a:xfrm>
          <a:prstGeom prst="roundRect">
            <a:avLst>
              <a:gd name="adj" fmla="val 50000"/>
            </a:avLst>
          </a:prstGeom>
          <a:solidFill>
            <a:srgbClr val="FD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県_埼玉県"/>
          <p:cNvSpPr txBox="1"/>
          <p:nvPr/>
        </p:nvSpPr>
        <p:spPr>
          <a:xfrm>
            <a:off x="7442053" y="5868721"/>
            <a:ext cx="902067" cy="3382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54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埼玉県</a:t>
            </a:r>
          </a:p>
        </p:txBody>
      </p:sp>
      <p:sp>
        <p:nvSpPr>
          <p:cNvPr id="43" name="拠点数_埼玉県"/>
          <p:cNvSpPr txBox="1"/>
          <p:nvPr/>
        </p:nvSpPr>
        <p:spPr>
          <a:xfrm>
            <a:off x="8485068" y="5803533"/>
            <a:ext cx="704740" cy="4686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1拠点</a:t>
            </a:r>
          </a:p>
        </p:txBody>
      </p:sp>
      <p:sp>
        <p:nvSpPr>
          <p:cNvPr id="44" name="所在地_埼玉県"/>
          <p:cNvSpPr txBox="1"/>
          <p:nvPr/>
        </p:nvSpPr>
        <p:spPr>
          <a:xfrm>
            <a:off x="9232092" y="5803533"/>
            <a:ext cx="2086030" cy="4686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54" b="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羽生</a:t>
            </a:r>
          </a:p>
        </p:txBody>
      </p:sp>
      <p:sp>
        <p:nvSpPr>
          <p:cNvPr id="45" name="注記"/>
          <p:cNvSpPr txBox="1"/>
          <p:nvPr/>
        </p:nvSpPr>
        <p:spPr>
          <a:xfrm>
            <a:off x="620171" y="6539986"/>
            <a:ext cx="916161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※ 出典：エフビー介護サービス コーポレートサイト（360°ツアー）ほか、実習サイトの掲載内容。</a:t>
            </a:r>
          </a:p>
        </p:txBody>
      </p:sp>
      <p:sp>
        <p:nvSpPr>
          <p:cNvPr id="46" name="ページ番号"/>
          <p:cNvSpPr txBox="1"/>
          <p:nvPr/>
        </p:nvSpPr>
        <p:spPr>
          <a:xfrm>
            <a:off x="10726141" y="6525891"/>
            <a:ext cx="845688" cy="15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2"/>
              </a:lnSpc>
              <a:spcBef>
                <a:spcPts val="0"/>
              </a:spcBef>
              <a:spcAft>
                <a:spcPts val="0"/>
              </a:spcAft>
            </a:pPr>
            <a:r>
              <a:rPr sz="832" b="0">
                <a:solidFill>
                  <a:srgbClr val="8A9A96"/>
                </a:solidFill>
                <a:latin typeface="游ゴシック"/>
                <a:ea typeface="游ゴシック"/>
                <a:cs typeface="游ゴシック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