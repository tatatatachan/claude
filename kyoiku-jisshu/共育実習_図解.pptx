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実習ブランドが育つ循環：共育実習を行う→声が集まる→実習サイトに載せる→見て、動く→次の共育実習へ。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6" name="中央円"/>
          <p:cNvSpPr/>
          <p:nvPr/>
        </p:nvSpPr>
        <p:spPr>
          <a:xfrm>
            <a:off x="4841563" y="2424305"/>
            <a:ext cx="2508873" cy="2508873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40226" y="2522968"/>
            <a:ext cx="2311546" cy="2311546"/>
          </a:xfrm>
          <a:prstGeom prst="ellipse">
            <a:avLst/>
          </a:prstGeom>
          <a:noFill/>
          <a:ln w="15240">
            <a:solidFill>
              <a:srgbClr val="CFEEE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中央ミニ見出し"/>
          <p:cNvSpPr txBox="1"/>
          <p:nvPr/>
        </p:nvSpPr>
        <p:spPr>
          <a:xfrm>
            <a:off x="5038890" y="3129045"/>
            <a:ext cx="211421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9" name="中央タイトル"/>
          <p:cNvSpPr txBox="1"/>
          <p:nvPr/>
        </p:nvSpPr>
        <p:spPr>
          <a:xfrm>
            <a:off x="4933179" y="3312277"/>
            <a:ext cx="2325641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77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0" name="共に育つ帯"/>
          <p:cNvSpPr/>
          <p:nvPr/>
        </p:nvSpPr>
        <p:spPr>
          <a:xfrm>
            <a:off x="5546302" y="4045206"/>
            <a:ext cx="1099394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共に育つ"/>
          <p:cNvSpPr txBox="1"/>
          <p:nvPr/>
        </p:nvSpPr>
        <p:spPr>
          <a:xfrm>
            <a:off x="5546302" y="4045206"/>
            <a:ext cx="1099394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2" name="環_エフビー介護サービス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6356000"/>
              <a:gd name="adj2" fmla="val 19644000"/>
              <a:gd name="adj3" fmla="val 1453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環ラベル_エフビー介護サービス"/>
          <p:cNvSpPr txBox="1"/>
          <p:nvPr/>
        </p:nvSpPr>
        <p:spPr>
          <a:xfrm rot="1800000">
            <a:off x="6416656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sp>
        <p:nvSpPr>
          <p:cNvPr id="14" name="環_社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956000"/>
              <a:gd name="adj2" fmla="val 1644000"/>
              <a:gd name="adj3" fmla="val 14539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社員"/>
          <p:cNvSpPr txBox="1"/>
          <p:nvPr/>
        </p:nvSpPr>
        <p:spPr>
          <a:xfrm rot="5400000">
            <a:off x="7265868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16" name="環_地域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55999"/>
              <a:gd name="adj2" fmla="val 5244000"/>
              <a:gd name="adj3" fmla="val 1453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地域"/>
          <p:cNvSpPr txBox="1"/>
          <p:nvPr/>
        </p:nvSpPr>
        <p:spPr>
          <a:xfrm rot="19800000">
            <a:off x="6416656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18" name="環_大学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5556000"/>
              <a:gd name="adj2" fmla="val 8844000"/>
              <a:gd name="adj3" fmla="val 1453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環ラベル_大学"/>
          <p:cNvSpPr txBox="1"/>
          <p:nvPr/>
        </p:nvSpPr>
        <p:spPr>
          <a:xfrm rot="1800000">
            <a:off x="4718233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20" name="環_専門学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9156000"/>
              <a:gd name="adj2" fmla="val 12443999"/>
              <a:gd name="adj3" fmla="val 1453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専門学校"/>
          <p:cNvSpPr txBox="1"/>
          <p:nvPr/>
        </p:nvSpPr>
        <p:spPr>
          <a:xfrm rot="16200000">
            <a:off x="3869021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22" name="環_高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2756000"/>
              <a:gd name="adj2" fmla="val 16043999"/>
              <a:gd name="adj3" fmla="val 14539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高校"/>
          <p:cNvSpPr txBox="1"/>
          <p:nvPr/>
        </p:nvSpPr>
        <p:spPr>
          <a:xfrm rot="19800000">
            <a:off x="4718233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24" name="循環マーク白"/>
          <p:cNvSpPr/>
          <p:nvPr/>
        </p:nvSpPr>
        <p:spPr>
          <a:xfrm>
            <a:off x="6004383" y="1888702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循環マーク矢印"/>
          <p:cNvSpPr/>
          <p:nvPr/>
        </p:nvSpPr>
        <p:spPr>
          <a:xfrm>
            <a:off x="6067810" y="1952129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84569" y="28190"/>
                </a:moveTo>
                <a:lnTo>
                  <a:pt x="0" y="56379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循環マーク白"/>
          <p:cNvSpPr/>
          <p:nvPr/>
        </p:nvSpPr>
        <p:spPr>
          <a:xfrm>
            <a:off x="7475261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循環マーク矢印"/>
          <p:cNvSpPr/>
          <p:nvPr/>
        </p:nvSpPr>
        <p:spPr>
          <a:xfrm>
            <a:off x="7528369" y="2791022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循環マーク白"/>
          <p:cNvSpPr/>
          <p:nvPr/>
        </p:nvSpPr>
        <p:spPr>
          <a:xfrm>
            <a:off x="7475261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循環マーク矢印"/>
          <p:cNvSpPr/>
          <p:nvPr/>
        </p:nvSpPr>
        <p:spPr>
          <a:xfrm>
            <a:off x="7538687" y="4489446"/>
            <a:ext cx="66698" cy="87333"/>
          </a:xfrm>
          <a:custGeom>
            <a:avLst/>
            <a:gdLst/>
            <a:ahLst/>
            <a:cxnLst/>
            <a:rect l="l" t="t" r="r" b="b"/>
            <a:pathLst>
              <a:path w="66698" h="87333">
                <a:moveTo>
                  <a:pt x="0" y="87333"/>
                </a:moveTo>
                <a:lnTo>
                  <a:pt x="17872" y="0"/>
                </a:lnTo>
                <a:lnTo>
                  <a:pt x="66698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循環マーク白"/>
          <p:cNvSpPr/>
          <p:nvPr/>
        </p:nvSpPr>
        <p:spPr>
          <a:xfrm>
            <a:off x="6004383" y="5285549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循環マーク矢印"/>
          <p:cNvSpPr/>
          <p:nvPr/>
        </p:nvSpPr>
        <p:spPr>
          <a:xfrm>
            <a:off x="6039620" y="5348975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90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循環マーク白"/>
          <p:cNvSpPr/>
          <p:nvPr/>
        </p:nvSpPr>
        <p:spPr>
          <a:xfrm>
            <a:off x="4533506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循環マーク矢印"/>
          <p:cNvSpPr/>
          <p:nvPr/>
        </p:nvSpPr>
        <p:spPr>
          <a:xfrm>
            <a:off x="4596932" y="4479127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0" y="0"/>
                </a:moveTo>
                <a:lnTo>
                  <a:pt x="66698" y="59144"/>
                </a:lnTo>
                <a:lnTo>
                  <a:pt x="17872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循環マーク白"/>
          <p:cNvSpPr/>
          <p:nvPr/>
        </p:nvSpPr>
        <p:spPr>
          <a:xfrm>
            <a:off x="4533506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循環マーク矢印"/>
          <p:cNvSpPr/>
          <p:nvPr/>
        </p:nvSpPr>
        <p:spPr>
          <a:xfrm>
            <a:off x="4586614" y="2780704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接続線_エフビー介護サービス"/>
          <p:cNvCxnSpPr/>
          <p:nvPr/>
        </p:nvCxnSpPr>
        <p:spPr>
          <a:xfrm flipH="1">
            <a:off x="7355100" y="2015556"/>
            <a:ext cx="1003115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312815" y="1973271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エフビー介護サービス"/>
          <p:cNvSpPr/>
          <p:nvPr/>
        </p:nvSpPr>
        <p:spPr>
          <a:xfrm>
            <a:off x="8358215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カード色バー"/>
          <p:cNvSpPr/>
          <p:nvPr/>
        </p:nvSpPr>
        <p:spPr>
          <a:xfrm>
            <a:off x="8358215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名称_エフビー介護サービス"/>
          <p:cNvSpPr txBox="1"/>
          <p:nvPr/>
        </p:nvSpPr>
        <p:spPr>
          <a:xfrm>
            <a:off x="8611921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41" name="要点_エフビー介護サービス"/>
          <p:cNvSpPr txBox="1"/>
          <p:nvPr/>
        </p:nvSpPr>
        <p:spPr>
          <a:xfrm>
            <a:off x="8611921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</p:txBody>
      </p:sp>
      <p:sp>
        <p:nvSpPr>
          <p:cNvPr id="42" name="説明_エフビー介護サービス"/>
          <p:cNvSpPr txBox="1"/>
          <p:nvPr/>
        </p:nvSpPr>
        <p:spPr>
          <a:xfrm>
            <a:off x="8611921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cxnSp>
        <p:nvCxnSpPr>
          <p:cNvPr id="43" name="接続線_社員"/>
          <p:cNvCxnSpPr/>
          <p:nvPr/>
        </p:nvCxnSpPr>
        <p:spPr>
          <a:xfrm flipH="1">
            <a:off x="8182030" y="3678742"/>
            <a:ext cx="176185" cy="0"/>
          </a:xfrm>
          <a:prstGeom prst="line">
            <a:avLst/>
          </a:prstGeom>
          <a:ln w="22860">
            <a:solidFill>
              <a:srgbClr val="F7A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39745" y="3636457"/>
            <a:ext cx="84568" cy="84568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カード_社員"/>
          <p:cNvSpPr/>
          <p:nvPr/>
        </p:nvSpPr>
        <p:spPr>
          <a:xfrm>
            <a:off x="8358215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カード色バー"/>
          <p:cNvSpPr/>
          <p:nvPr/>
        </p:nvSpPr>
        <p:spPr>
          <a:xfrm>
            <a:off x="8358215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名称_社員"/>
          <p:cNvSpPr txBox="1"/>
          <p:nvPr/>
        </p:nvSpPr>
        <p:spPr>
          <a:xfrm>
            <a:off x="8611921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48" name="要点_社員"/>
          <p:cNvSpPr txBox="1"/>
          <p:nvPr/>
        </p:nvSpPr>
        <p:spPr>
          <a:xfrm>
            <a:off x="8611921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</p:txBody>
      </p:sp>
      <p:sp>
        <p:nvSpPr>
          <p:cNvPr id="49" name="説明_社員"/>
          <p:cNvSpPr txBox="1"/>
          <p:nvPr/>
        </p:nvSpPr>
        <p:spPr>
          <a:xfrm>
            <a:off x="8611921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cxnSp>
        <p:nvCxnSpPr>
          <p:cNvPr id="50" name="接続線_地域"/>
          <p:cNvCxnSpPr/>
          <p:nvPr/>
        </p:nvCxnSpPr>
        <p:spPr>
          <a:xfrm flipH="1">
            <a:off x="7355100" y="5341928"/>
            <a:ext cx="1003115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312815" y="5299643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カード_地域"/>
          <p:cNvSpPr/>
          <p:nvPr/>
        </p:nvSpPr>
        <p:spPr>
          <a:xfrm>
            <a:off x="8358215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カード色バー"/>
          <p:cNvSpPr/>
          <p:nvPr/>
        </p:nvSpPr>
        <p:spPr>
          <a:xfrm>
            <a:off x="8358215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名称_地域"/>
          <p:cNvSpPr txBox="1"/>
          <p:nvPr/>
        </p:nvSpPr>
        <p:spPr>
          <a:xfrm>
            <a:off x="8611921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55" name="要点_地域"/>
          <p:cNvSpPr txBox="1"/>
          <p:nvPr/>
        </p:nvSpPr>
        <p:spPr>
          <a:xfrm>
            <a:off x="8611921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</p:txBody>
      </p:sp>
      <p:sp>
        <p:nvSpPr>
          <p:cNvPr id="56" name="説明_地域"/>
          <p:cNvSpPr txBox="1"/>
          <p:nvPr/>
        </p:nvSpPr>
        <p:spPr>
          <a:xfrm>
            <a:off x="8611921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cxnSp>
        <p:nvCxnSpPr>
          <p:cNvPr id="57" name="接続線_大学"/>
          <p:cNvCxnSpPr/>
          <p:nvPr/>
        </p:nvCxnSpPr>
        <p:spPr>
          <a:xfrm>
            <a:off x="3833784" y="5341928"/>
            <a:ext cx="1003115" cy="0"/>
          </a:xfrm>
          <a:prstGeom prst="line">
            <a:avLst/>
          </a:prstGeom>
          <a:ln w="22860">
            <a:solidFill>
              <a:srgbClr val="54C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794615" y="5299643"/>
            <a:ext cx="84568" cy="84568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カード_大学"/>
          <p:cNvSpPr/>
          <p:nvPr/>
        </p:nvSpPr>
        <p:spPr>
          <a:xfrm>
            <a:off x="451033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カード色バー"/>
          <p:cNvSpPr/>
          <p:nvPr/>
        </p:nvSpPr>
        <p:spPr>
          <a:xfrm>
            <a:off x="451033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名称_大学"/>
          <p:cNvSpPr txBox="1"/>
          <p:nvPr/>
        </p:nvSpPr>
        <p:spPr>
          <a:xfrm>
            <a:off x="704739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62" name="要点_大学"/>
          <p:cNvSpPr txBox="1"/>
          <p:nvPr/>
        </p:nvSpPr>
        <p:spPr>
          <a:xfrm>
            <a:off x="704739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</p:txBody>
      </p:sp>
      <p:sp>
        <p:nvSpPr>
          <p:cNvPr id="63" name="説明_大学"/>
          <p:cNvSpPr txBox="1"/>
          <p:nvPr/>
        </p:nvSpPr>
        <p:spPr>
          <a:xfrm>
            <a:off x="704739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魅力的な実習を提供。社会テーマ型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プログラム「STA」で連携します。</a:t>
            </a:r>
          </a:p>
        </p:txBody>
      </p:sp>
      <p:cxnSp>
        <p:nvCxnSpPr>
          <p:cNvPr id="64" name="接続線_専門学校"/>
          <p:cNvCxnSpPr/>
          <p:nvPr/>
        </p:nvCxnSpPr>
        <p:spPr>
          <a:xfrm>
            <a:off x="3833784" y="3678742"/>
            <a:ext cx="176185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3967685" y="3636457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カード_専門学校"/>
          <p:cNvSpPr/>
          <p:nvPr/>
        </p:nvSpPr>
        <p:spPr>
          <a:xfrm>
            <a:off x="451033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カード色バー"/>
          <p:cNvSpPr/>
          <p:nvPr/>
        </p:nvSpPr>
        <p:spPr>
          <a:xfrm>
            <a:off x="451033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名称_専門学校"/>
          <p:cNvSpPr txBox="1"/>
          <p:nvPr/>
        </p:nvSpPr>
        <p:spPr>
          <a:xfrm>
            <a:off x="704739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69" name="要点_専門学校"/>
          <p:cNvSpPr txBox="1"/>
          <p:nvPr/>
        </p:nvSpPr>
        <p:spPr>
          <a:xfrm>
            <a:off x="704739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</p:txBody>
      </p:sp>
      <p:sp>
        <p:nvSpPr>
          <p:cNvPr id="70" name="説明_専門学校"/>
          <p:cNvSpPr txBox="1"/>
          <p:nvPr/>
        </p:nvSpPr>
        <p:spPr>
          <a:xfrm>
            <a:off x="704739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cxnSp>
        <p:nvCxnSpPr>
          <p:cNvPr id="71" name="接続線_高校"/>
          <p:cNvCxnSpPr/>
          <p:nvPr/>
        </p:nvCxnSpPr>
        <p:spPr>
          <a:xfrm>
            <a:off x="3833784" y="2015556"/>
            <a:ext cx="1003115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794615" y="1973271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カード_高校"/>
          <p:cNvSpPr/>
          <p:nvPr/>
        </p:nvSpPr>
        <p:spPr>
          <a:xfrm>
            <a:off x="451033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カード色バー"/>
          <p:cNvSpPr/>
          <p:nvPr/>
        </p:nvSpPr>
        <p:spPr>
          <a:xfrm>
            <a:off x="451033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名称_高校"/>
          <p:cNvSpPr txBox="1"/>
          <p:nvPr/>
        </p:nvSpPr>
        <p:spPr>
          <a:xfrm>
            <a:off x="704739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76" name="要点_高校"/>
          <p:cNvSpPr txBox="1"/>
          <p:nvPr/>
        </p:nvSpPr>
        <p:spPr>
          <a:xfrm>
            <a:off x="704739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</p:txBody>
      </p:sp>
      <p:sp>
        <p:nvSpPr>
          <p:cNvPr id="77" name="説明_高校"/>
          <p:cNvSpPr txBox="1"/>
          <p:nvPr/>
        </p:nvSpPr>
        <p:spPr>
          <a:xfrm>
            <a:off x="704739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78" name="キャッチコピー"/>
          <p:cNvSpPr txBox="1"/>
          <p:nvPr/>
        </p:nvSpPr>
        <p:spPr>
          <a:xfrm>
            <a:off x="1162820" y="5976194"/>
            <a:ext cx="9866358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79" name="下線"/>
          <p:cNvSpPr/>
          <p:nvPr/>
        </p:nvSpPr>
        <p:spPr>
          <a:xfrm>
            <a:off x="3100855" y="6399038"/>
            <a:ext cx="5990289" cy="2818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施策　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どうブランドを育てていくか</a:t>
            </a:r>
          </a:p>
        </p:txBody>
      </p:sp>
      <p:sp>
        <p:nvSpPr>
          <p:cNvPr id="6" name="矢印_1から2"/>
          <p:cNvSpPr/>
          <p:nvPr/>
        </p:nvSpPr>
        <p:spPr>
          <a:xfrm>
            <a:off x="4228439" y="1677280"/>
            <a:ext cx="3735121" cy="451033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矢印_2から3"/>
          <p:cNvSpPr/>
          <p:nvPr/>
        </p:nvSpPr>
        <p:spPr>
          <a:xfrm>
            <a:off x="9711315" y="2579347"/>
            <a:ext cx="394654" cy="944351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矢印_3から4"/>
          <p:cNvSpPr/>
          <p:nvPr/>
        </p:nvSpPr>
        <p:spPr>
          <a:xfrm>
            <a:off x="4228439" y="4045206"/>
            <a:ext cx="3735121" cy="451033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矢印_4から1"/>
          <p:cNvSpPr/>
          <p:nvPr/>
        </p:nvSpPr>
        <p:spPr>
          <a:xfrm>
            <a:off x="2086030" y="2579347"/>
            <a:ext cx="394654" cy="944351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循環ラベル"/>
          <p:cNvSpPr txBox="1"/>
          <p:nvPr/>
        </p:nvSpPr>
        <p:spPr>
          <a:xfrm>
            <a:off x="2621632" y="2917623"/>
            <a:ext cx="3241803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1" name="広がる輪"/>
          <p:cNvSpPr/>
          <p:nvPr/>
        </p:nvSpPr>
        <p:spPr>
          <a:xfrm>
            <a:off x="5306691" y="2156504"/>
            <a:ext cx="1578617" cy="1578617"/>
          </a:xfrm>
          <a:prstGeom prst="ellipse">
            <a:avLst/>
          </a:prstGeom>
          <a:solidFill>
            <a:srgbClr val="D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広がる輪"/>
          <p:cNvSpPr/>
          <p:nvPr/>
        </p:nvSpPr>
        <p:spPr>
          <a:xfrm>
            <a:off x="5489923" y="2339736"/>
            <a:ext cx="1212152" cy="1212152"/>
          </a:xfrm>
          <a:prstGeom prst="ellipse">
            <a:avLst/>
          </a:prstGeom>
          <a:solidFill>
            <a:srgbClr val="A9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広がる輪"/>
          <p:cNvSpPr/>
          <p:nvPr/>
        </p:nvSpPr>
        <p:spPr>
          <a:xfrm>
            <a:off x="5673156" y="2522968"/>
            <a:ext cx="845687" cy="84568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中央1"/>
          <p:cNvSpPr txBox="1"/>
          <p:nvPr/>
        </p:nvSpPr>
        <p:spPr>
          <a:xfrm>
            <a:off x="5616776" y="2706201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</p:txBody>
      </p:sp>
      <p:sp>
        <p:nvSpPr>
          <p:cNvPr id="15" name="中央2"/>
          <p:cNvSpPr txBox="1"/>
          <p:nvPr/>
        </p:nvSpPr>
        <p:spPr>
          <a:xfrm>
            <a:off x="5616776" y="2917623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ブランド</a:t>
            </a:r>
          </a:p>
        </p:txBody>
      </p:sp>
      <p:sp>
        <p:nvSpPr>
          <p:cNvPr id="16" name="帯"/>
          <p:cNvSpPr/>
          <p:nvPr/>
        </p:nvSpPr>
        <p:spPr>
          <a:xfrm>
            <a:off x="5461734" y="3763310"/>
            <a:ext cx="1268531" cy="23961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帯文字"/>
          <p:cNvSpPr txBox="1"/>
          <p:nvPr/>
        </p:nvSpPr>
        <p:spPr>
          <a:xfrm>
            <a:off x="5461734" y="3763310"/>
            <a:ext cx="1268531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回るほど育つ</a:t>
            </a:r>
          </a:p>
        </p:txBody>
      </p:sp>
      <p:sp>
        <p:nvSpPr>
          <p:cNvPr id="18" name="カード_共育実習を行う"/>
          <p:cNvSpPr/>
          <p:nvPr/>
        </p:nvSpPr>
        <p:spPr>
          <a:xfrm>
            <a:off x="451033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カード色バー"/>
          <p:cNvSpPr/>
          <p:nvPr/>
        </p:nvSpPr>
        <p:spPr>
          <a:xfrm>
            <a:off x="451033" y="1479953"/>
            <a:ext cx="56379" cy="77521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/>
          <p:nvPr/>
        </p:nvSpPr>
        <p:spPr>
          <a:xfrm>
            <a:off x="676550" y="1451764"/>
            <a:ext cx="366464" cy="3664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文字1"/>
          <p:cNvSpPr txBox="1"/>
          <p:nvPr/>
        </p:nvSpPr>
        <p:spPr>
          <a:xfrm>
            <a:off x="676550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2" name="要点_共育実習を行う"/>
          <p:cNvSpPr txBox="1"/>
          <p:nvPr/>
        </p:nvSpPr>
        <p:spPr>
          <a:xfrm>
            <a:off x="1169868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3" name="説明_共育実習を行う"/>
          <p:cNvSpPr txBox="1"/>
          <p:nvPr/>
        </p:nvSpPr>
        <p:spPr>
          <a:xfrm>
            <a:off x="704739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4" name="カード_声が集まる"/>
          <p:cNvSpPr/>
          <p:nvPr/>
        </p:nvSpPr>
        <p:spPr>
          <a:xfrm>
            <a:off x="8076319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カード色バー"/>
          <p:cNvSpPr/>
          <p:nvPr/>
        </p:nvSpPr>
        <p:spPr>
          <a:xfrm>
            <a:off x="8076319" y="1479953"/>
            <a:ext cx="56379" cy="775213"/>
          </a:xfrm>
          <a:prstGeom prst="roundRect">
            <a:avLst>
              <a:gd name="adj" fmla="val 50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301835" y="1451764"/>
            <a:ext cx="366464" cy="36646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文字2"/>
          <p:cNvSpPr txBox="1"/>
          <p:nvPr/>
        </p:nvSpPr>
        <p:spPr>
          <a:xfrm>
            <a:off x="8301835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要点_声が集まる"/>
          <p:cNvSpPr txBox="1"/>
          <p:nvPr/>
        </p:nvSpPr>
        <p:spPr>
          <a:xfrm>
            <a:off x="8795153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8330025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8076319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カード色バー"/>
          <p:cNvSpPr/>
          <p:nvPr/>
        </p:nvSpPr>
        <p:spPr>
          <a:xfrm>
            <a:off x="8076319" y="3847879"/>
            <a:ext cx="56379" cy="77521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"/>
          <p:cNvSpPr/>
          <p:nvPr/>
        </p:nvSpPr>
        <p:spPr>
          <a:xfrm>
            <a:off x="8301835" y="3819690"/>
            <a:ext cx="366464" cy="3664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番号文字3"/>
          <p:cNvSpPr txBox="1"/>
          <p:nvPr/>
        </p:nvSpPr>
        <p:spPr>
          <a:xfrm>
            <a:off x="8301835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4" name="要点_実習サイトに載せる"/>
          <p:cNvSpPr txBox="1"/>
          <p:nvPr/>
        </p:nvSpPr>
        <p:spPr>
          <a:xfrm>
            <a:off x="8795153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5" name="説明_実習サイトに載せる"/>
          <p:cNvSpPr txBox="1"/>
          <p:nvPr/>
        </p:nvSpPr>
        <p:spPr>
          <a:xfrm>
            <a:off x="8330025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6" name="カード_見て、動く"/>
          <p:cNvSpPr/>
          <p:nvPr/>
        </p:nvSpPr>
        <p:spPr>
          <a:xfrm>
            <a:off x="451033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カード色バー"/>
          <p:cNvSpPr/>
          <p:nvPr/>
        </p:nvSpPr>
        <p:spPr>
          <a:xfrm>
            <a:off x="451033" y="3847879"/>
            <a:ext cx="56379" cy="775213"/>
          </a:xfrm>
          <a:prstGeom prst="roundRect">
            <a:avLst>
              <a:gd name="adj" fmla="val 5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"/>
          <p:cNvSpPr/>
          <p:nvPr/>
        </p:nvSpPr>
        <p:spPr>
          <a:xfrm>
            <a:off x="676550" y="3819690"/>
            <a:ext cx="366464" cy="3664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番号文字4"/>
          <p:cNvSpPr txBox="1"/>
          <p:nvPr/>
        </p:nvSpPr>
        <p:spPr>
          <a:xfrm>
            <a:off x="676550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40" name="要点_見て、動く"/>
          <p:cNvSpPr txBox="1"/>
          <p:nvPr/>
        </p:nvSpPr>
        <p:spPr>
          <a:xfrm>
            <a:off x="1169868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41" name="説明_見て、動く"/>
          <p:cNvSpPr txBox="1"/>
          <p:nvPr/>
        </p:nvSpPr>
        <p:spPr>
          <a:xfrm>
            <a:off x="704739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2" name="ボックス_サイトに載せるもの"/>
          <p:cNvSpPr/>
          <p:nvPr/>
        </p:nvSpPr>
        <p:spPr>
          <a:xfrm>
            <a:off x="451033" y="5179838"/>
            <a:ext cx="5778867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1033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サイトに載せるもの_見出し"/>
          <p:cNvSpPr txBox="1"/>
          <p:nvPr/>
        </p:nvSpPr>
        <p:spPr>
          <a:xfrm>
            <a:off x="690645" y="5313738"/>
            <a:ext cx="535602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</p:txBody>
      </p:sp>
      <p:sp>
        <p:nvSpPr>
          <p:cNvPr id="45" name="サイトに載せるもの_本文"/>
          <p:cNvSpPr txBox="1"/>
          <p:nvPr/>
        </p:nvSpPr>
        <p:spPr>
          <a:xfrm>
            <a:off x="690645" y="5609729"/>
            <a:ext cx="5356023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学生が参加を決められる状態にする。</a:t>
            </a:r>
          </a:p>
        </p:txBody>
      </p:sp>
      <p:sp>
        <p:nvSpPr>
          <p:cNvPr id="46" name="ボックス_ほかの施策"/>
          <p:cNvSpPr/>
          <p:nvPr/>
        </p:nvSpPr>
        <p:spPr>
          <a:xfrm>
            <a:off x="6413132" y="5179838"/>
            <a:ext cx="5327833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13132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B8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ほかの施策_見出し"/>
          <p:cNvSpPr txBox="1"/>
          <p:nvPr/>
        </p:nvSpPr>
        <p:spPr>
          <a:xfrm>
            <a:off x="6652744" y="5313738"/>
            <a:ext cx="490498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ほかの施策</a:t>
            </a:r>
          </a:p>
        </p:txBody>
      </p:sp>
      <p:sp>
        <p:nvSpPr>
          <p:cNvPr id="49" name="ほかの施策_本文"/>
          <p:cNvSpPr txBox="1"/>
          <p:nvPr/>
        </p:nvSpPr>
        <p:spPr>
          <a:xfrm>
            <a:off x="6652744" y="5609729"/>
            <a:ext cx="4904989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・関連大学・専門学校を増やす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・対応地域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・産官学で連携（次世代の育成を地域のみなさんで実施）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