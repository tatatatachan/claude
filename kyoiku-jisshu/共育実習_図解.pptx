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Sheet1!$A$2:$A$105</c:f>
              <c:strCache>
                <c:ptCount val="10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</c:strCache>
            </c:strRef>
          </c:cat>
          <c:val>
            <c:numRef>
              <c:f>Sheet1!$B$2:$B$105</c:f>
              <c:numCache>
                <c:formatCode>General</c:formatCode>
                <c:ptCount val="10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Sheet1!$A$2:$A$105</c:f>
              <c:strCache>
                <c:ptCount val="10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</c:strCache>
            </c:strRef>
          </c:cat>
          <c:val>
            <c:numRef>
              <c:f>Sheet1!$C$2:$C$105</c:f>
              <c:numCache>
                <c:formatCode>General</c:formatCode>
                <c:ptCount val="10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</c:numCache>
            </c:numRef>
          </c:val>
        </c:ser>
        <c:gapWidth val="18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9"/>
        <c:tickMarkSkip val="9"/>
      </c:catAx>
      <c:valAx>
        <c:axId val="-2113994440"/>
        <c:scaling>
          <c:max val="14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游ゴシック"/>
              </a:defRPr>
            </a:pPr>
          </a:p>
        </c:txPr>
        <c:crossAx val="-2068027336"/>
        <c:crosses val="autoZero"/>
        <c:majorUnit val="2000.0"/>
      </c:valAx>
    </c:plotArea>
    <c:legend>
      <c:legendPos val="t"/>
      <c:overlay val="0"/>
      <c:txPr>
        <a:bodyPr/>
        <a:lstStyle/>
        <a:p>
          <a:pPr>
            <a:defRPr sz="13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Sheet1!$A$2:$A$25</c:f>
              <c:strCach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2040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3.3</c:v>
                </c:pt>
                <c:pt idx="1">
                  <c:v>4.2</c:v>
                </c:pt>
                <c:pt idx="2">
                  <c:v>4.7</c:v>
                </c:pt>
                <c:pt idx="3">
                  <c:v>5.2</c:v>
                </c:pt>
                <c:pt idx="4">
                  <c:v>5.6</c:v>
                </c:pt>
                <c:pt idx="5">
                  <c:v>5.9</c:v>
                </c:pt>
                <c:pt idx="6">
                  <c:v>6.0</c:v>
                </c:pt>
                <c:pt idx="7">
                  <c:v>6.4</c:v>
                </c:pt>
                <c:pt idx="8">
                  <c:v>6.7</c:v>
                </c:pt>
                <c:pt idx="9">
                  <c:v>7.1</c:v>
                </c:pt>
                <c:pt idx="10">
                  <c:v>7.5</c:v>
                </c:pt>
                <c:pt idx="11">
                  <c:v>7.9</c:v>
                </c:pt>
                <c:pt idx="12">
                  <c:v>8.4</c:v>
                </c:pt>
                <c:pt idx="13">
                  <c:v>8.8</c:v>
                </c:pt>
                <c:pt idx="14">
                  <c:v>9.2</c:v>
                </c:pt>
                <c:pt idx="15">
                  <c:v>9.5</c:v>
                </c:pt>
                <c:pt idx="16">
                  <c:v>9.7</c:v>
                </c:pt>
                <c:pt idx="17">
                  <c:v>10.1</c:v>
                </c:pt>
                <c:pt idx="18">
                  <c:v>10.4</c:v>
                </c:pt>
                <c:pt idx="19">
                  <c:v>10.7</c:v>
                </c:pt>
                <c:pt idx="20">
                  <c:v>11.4</c:v>
                </c:pt>
                <c:pt idx="21">
                  <c:v>11.2</c:v>
                </c:pt>
                <c:pt idx="22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Sheet1!$A$2:$A$25</c:f>
              <c:strCach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2040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23">
                  <c:v>25.8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1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人口：1947〜2022年は実績（人口統計資料集）、2023〜2050年は推計（令和5年推計・出生中位）。介護費：社会保障費用統計 第8表「介護対策」。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沿革。年次が資料で確認できた出来事のみ年を表示。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実習応募サイトの概要。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実習の声が、次の学びを広げる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実習の体験が声になり、声がサイトに載り、次の実習へつながる</a:t>
            </a:r>
          </a:p>
        </p:txBody>
      </p:sp>
      <p:sp>
        <p:nvSpPr>
          <p:cNvPr id="9" name="矢印_1から2"/>
          <p:cNvSpPr/>
          <p:nvPr/>
        </p:nvSpPr>
        <p:spPr>
          <a:xfrm>
            <a:off x="4848610" y="1860513"/>
            <a:ext cx="2494779" cy="451034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矢印_2から3"/>
          <p:cNvSpPr/>
          <p:nvPr/>
        </p:nvSpPr>
        <p:spPr>
          <a:xfrm>
            <a:off x="9316661" y="2804865"/>
            <a:ext cx="422844" cy="859783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矢印_3から4"/>
          <p:cNvSpPr/>
          <p:nvPr/>
        </p:nvSpPr>
        <p:spPr>
          <a:xfrm>
            <a:off x="4848610" y="4157965"/>
            <a:ext cx="2494779" cy="451034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矢印_4から1"/>
          <p:cNvSpPr/>
          <p:nvPr/>
        </p:nvSpPr>
        <p:spPr>
          <a:xfrm>
            <a:off x="2452495" y="2804865"/>
            <a:ext cx="422844" cy="859783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循環ラベル"/>
          <p:cNvSpPr txBox="1"/>
          <p:nvPr/>
        </p:nvSpPr>
        <p:spPr>
          <a:xfrm>
            <a:off x="3030382" y="3129045"/>
            <a:ext cx="253706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4" name="広がる輪"/>
          <p:cNvSpPr/>
          <p:nvPr/>
        </p:nvSpPr>
        <p:spPr>
          <a:xfrm>
            <a:off x="5264407" y="2346784"/>
            <a:ext cx="1663186" cy="1663186"/>
          </a:xfrm>
          <a:prstGeom prst="ellipse">
            <a:avLst/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広がる輪"/>
          <p:cNvSpPr/>
          <p:nvPr/>
        </p:nvSpPr>
        <p:spPr>
          <a:xfrm>
            <a:off x="5461734" y="2544111"/>
            <a:ext cx="1268532" cy="1268532"/>
          </a:xfrm>
          <a:prstGeom prst="ellipse">
            <a:avLst/>
          </a:prstGeom>
          <a:solidFill>
            <a:srgbClr val="B5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広がる輪"/>
          <p:cNvSpPr/>
          <p:nvPr/>
        </p:nvSpPr>
        <p:spPr>
          <a:xfrm>
            <a:off x="5659061" y="2741438"/>
            <a:ext cx="873877" cy="87387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中央"/>
          <p:cNvSpPr txBox="1"/>
          <p:nvPr/>
        </p:nvSpPr>
        <p:spPr>
          <a:xfrm>
            <a:off x="5673156" y="2981050"/>
            <a:ext cx="845688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</a:t>
            </a:r>
          </a:p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8" name="帯"/>
          <p:cNvSpPr/>
          <p:nvPr/>
        </p:nvSpPr>
        <p:spPr>
          <a:xfrm>
            <a:off x="5419450" y="4080444"/>
            <a:ext cx="1353101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帯文字"/>
          <p:cNvSpPr txBox="1"/>
          <p:nvPr/>
        </p:nvSpPr>
        <p:spPr>
          <a:xfrm>
            <a:off x="5419450" y="4080444"/>
            <a:ext cx="1353101" cy="2678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回るほど広がる</a:t>
            </a:r>
          </a:p>
        </p:txBody>
      </p:sp>
      <p:sp>
        <p:nvSpPr>
          <p:cNvPr id="20" name="カード_共育実習を行う"/>
          <p:cNvSpPr/>
          <p:nvPr/>
        </p:nvSpPr>
        <p:spPr>
          <a:xfrm>
            <a:off x="620171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859783" y="167728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1"/>
          <p:cNvSpPr txBox="1"/>
          <p:nvPr/>
        </p:nvSpPr>
        <p:spPr>
          <a:xfrm>
            <a:off x="859783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3" name="見出し_共育実習を行う"/>
          <p:cNvSpPr txBox="1"/>
          <p:nvPr/>
        </p:nvSpPr>
        <p:spPr>
          <a:xfrm>
            <a:off x="1423575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4" name="説明_共育実習を行う"/>
          <p:cNvSpPr txBox="1"/>
          <p:nvPr/>
        </p:nvSpPr>
        <p:spPr>
          <a:xfrm>
            <a:off x="859783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5" name="カード_声が集まる"/>
          <p:cNvSpPr/>
          <p:nvPr/>
        </p:nvSpPr>
        <p:spPr>
          <a:xfrm>
            <a:off x="7484338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7723949" y="1677281"/>
            <a:ext cx="394654" cy="39465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2"/>
          <p:cNvSpPr txBox="1"/>
          <p:nvPr/>
        </p:nvSpPr>
        <p:spPr>
          <a:xfrm>
            <a:off x="7723949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見出し_声が集まる"/>
          <p:cNvSpPr txBox="1"/>
          <p:nvPr/>
        </p:nvSpPr>
        <p:spPr>
          <a:xfrm>
            <a:off x="8287741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7723949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7484338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"/>
          <p:cNvSpPr/>
          <p:nvPr/>
        </p:nvSpPr>
        <p:spPr>
          <a:xfrm>
            <a:off x="7723949" y="397473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3"/>
          <p:cNvSpPr txBox="1"/>
          <p:nvPr/>
        </p:nvSpPr>
        <p:spPr>
          <a:xfrm>
            <a:off x="7723949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3" name="見出し_実習サイトに載せる"/>
          <p:cNvSpPr txBox="1"/>
          <p:nvPr/>
        </p:nvSpPr>
        <p:spPr>
          <a:xfrm>
            <a:off x="8287741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4" name="説明_実習サイトに載せる"/>
          <p:cNvSpPr txBox="1"/>
          <p:nvPr/>
        </p:nvSpPr>
        <p:spPr>
          <a:xfrm>
            <a:off x="7723949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5" name="カード_見て、動く"/>
          <p:cNvSpPr/>
          <p:nvPr/>
        </p:nvSpPr>
        <p:spPr>
          <a:xfrm>
            <a:off x="620171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"/>
          <p:cNvSpPr/>
          <p:nvPr/>
        </p:nvSpPr>
        <p:spPr>
          <a:xfrm>
            <a:off x="859783" y="3974733"/>
            <a:ext cx="394654" cy="39465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4"/>
          <p:cNvSpPr txBox="1"/>
          <p:nvPr/>
        </p:nvSpPr>
        <p:spPr>
          <a:xfrm>
            <a:off x="859783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8" name="見出し_見て、動く"/>
          <p:cNvSpPr txBox="1"/>
          <p:nvPr/>
        </p:nvSpPr>
        <p:spPr>
          <a:xfrm>
            <a:off x="1423575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9" name="説明_見て、動く"/>
          <p:cNvSpPr txBox="1"/>
          <p:nvPr/>
        </p:nvSpPr>
        <p:spPr>
          <a:xfrm>
            <a:off x="859783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0" name="サイトに載せるもの"/>
          <p:cNvSpPr/>
          <p:nvPr/>
        </p:nvSpPr>
        <p:spPr>
          <a:xfrm>
            <a:off x="620171" y="5215075"/>
            <a:ext cx="5637919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ほかの施策"/>
          <p:cNvSpPr/>
          <p:nvPr/>
        </p:nvSpPr>
        <p:spPr>
          <a:xfrm>
            <a:off x="6469512" y="5215075"/>
            <a:ext cx="5102317" cy="1141679"/>
          </a:xfrm>
          <a:prstGeom prst="roundRect">
            <a:avLst>
              <a:gd name="adj" fmla="val 12345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サイトに載せるもの本文"/>
          <p:cNvSpPr txBox="1"/>
          <p:nvPr/>
        </p:nvSpPr>
        <p:spPr>
          <a:xfrm>
            <a:off x="873877" y="5341928"/>
            <a:ext cx="5144601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プログラム内容と口コミ。学校の先生が受け入れを判断でき、学生が参加を決められる状態にする。</a:t>
            </a:r>
          </a:p>
        </p:txBody>
      </p:sp>
      <p:sp>
        <p:nvSpPr>
          <p:cNvPr id="43" name="これから本文"/>
          <p:cNvSpPr txBox="1"/>
          <p:nvPr/>
        </p:nvSpPr>
        <p:spPr>
          <a:xfrm>
            <a:off x="6723218" y="5341928"/>
            <a:ext cx="4594904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連携する大学・専門学校、対応地域を広げ、産官学で次世代の育成を地域のみなさんと進めます。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人口は減り、高齢者は増える。介護の需要は広がり続ける</a:t>
            </a:r>
          </a:p>
        </p:txBody>
      </p:sp>
      <p:sp>
        <p:nvSpPr>
          <p:cNvPr id="8" name="人口カード"/>
          <p:cNvSpPr/>
          <p:nvPr/>
        </p:nvSpPr>
        <p:spPr>
          <a:xfrm>
            <a:off x="620171" y="1465859"/>
            <a:ext cx="10951658" cy="2790770"/>
          </a:xfrm>
          <a:prstGeom prst="roundRect">
            <a:avLst>
              <a:gd name="adj" fmla="val 505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人口見出し"/>
          <p:cNvSpPr txBox="1"/>
          <p:nvPr/>
        </p:nvSpPr>
        <p:spPr>
          <a:xfrm>
            <a:off x="902067" y="1649091"/>
            <a:ext cx="5356023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日本の総人口の推移（1947年 → 2050年・毎年）</a:t>
            </a:r>
          </a:p>
        </p:txBody>
      </p:sp>
      <p:sp>
        <p:nvSpPr>
          <p:cNvPr id="10" name="人口補足"/>
          <p:cNvSpPr txBox="1"/>
          <p:nvPr/>
        </p:nvSpPr>
        <p:spPr>
          <a:xfrm>
            <a:off x="902067" y="1916892"/>
            <a:ext cx="5356023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第一次ベビーブーム（1947年〜）から、2050年までの総人口（万人）</a:t>
            </a:r>
          </a:p>
        </p:txBody>
      </p:sp>
      <p:sp>
        <p:nvSpPr>
          <p:cNvPr id="11" name="要点_1947年"/>
          <p:cNvSpPr txBox="1"/>
          <p:nvPr/>
        </p:nvSpPr>
        <p:spPr>
          <a:xfrm>
            <a:off x="5792962" y="1620902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1947年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7,810万人</a:t>
            </a:r>
          </a:p>
        </p:txBody>
      </p:sp>
      <p:sp>
        <p:nvSpPr>
          <p:cNvPr id="12" name="要点_2008年（ピーク）"/>
          <p:cNvSpPr txBox="1"/>
          <p:nvPr/>
        </p:nvSpPr>
        <p:spPr>
          <a:xfrm>
            <a:off x="7709854" y="1620902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2008年（ピーク）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12,808万人</a:t>
            </a:r>
          </a:p>
        </p:txBody>
      </p:sp>
      <p:sp>
        <p:nvSpPr>
          <p:cNvPr id="13" name="要点_2050年"/>
          <p:cNvSpPr txBox="1"/>
          <p:nvPr/>
        </p:nvSpPr>
        <p:spPr>
          <a:xfrm>
            <a:off x="9626747" y="1620902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10,469万人</a:t>
            </a:r>
          </a:p>
        </p:txBody>
      </p:sp>
      <p:graphicFrame>
        <p:nvGraphicFramePr>
          <p:cNvPr id="14" name="総人口グラフ"/>
          <p:cNvGraphicFramePr>
            <a:graphicFrameLocks noGrp="1"/>
          </p:cNvGraphicFramePr>
          <p:nvPr/>
        </p:nvGraphicFramePr>
        <p:xfrm>
          <a:off x="789309" y="2198788"/>
          <a:ext cx="10613383" cy="197327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介護費カード"/>
          <p:cNvSpPr/>
          <p:nvPr/>
        </p:nvSpPr>
        <p:spPr>
          <a:xfrm>
            <a:off x="620171" y="4453956"/>
            <a:ext cx="10951658" cy="190279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介護費見出し"/>
          <p:cNvSpPr txBox="1"/>
          <p:nvPr/>
        </p:nvSpPr>
        <p:spPr>
          <a:xfrm>
            <a:off x="902067" y="4623094"/>
            <a:ext cx="5356023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介護の給付費の推移（2000年度 → 2022年度・毎年）</a:t>
            </a:r>
          </a:p>
        </p:txBody>
      </p:sp>
      <p:sp>
        <p:nvSpPr>
          <p:cNvPr id="17" name="介護費補足"/>
          <p:cNvSpPr txBox="1"/>
          <p:nvPr/>
        </p:nvSpPr>
        <p:spPr>
          <a:xfrm>
            <a:off x="902067" y="4890895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介護対策の社会保障給付費（兆円）。右端は、厚生労働省の2040年度の見通し</a:t>
            </a:r>
          </a:p>
        </p:txBody>
      </p:sp>
      <p:sp>
        <p:nvSpPr>
          <p:cNvPr id="18" name="介護要点_2000年度"/>
          <p:cNvSpPr txBox="1"/>
          <p:nvPr/>
        </p:nvSpPr>
        <p:spPr>
          <a:xfrm>
            <a:off x="5792962" y="4594904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2000年度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3.3兆円</a:t>
            </a:r>
          </a:p>
        </p:txBody>
      </p:sp>
      <p:sp>
        <p:nvSpPr>
          <p:cNvPr id="19" name="介護要点_2022年度"/>
          <p:cNvSpPr txBox="1"/>
          <p:nvPr/>
        </p:nvSpPr>
        <p:spPr>
          <a:xfrm>
            <a:off x="7709854" y="4594904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2022年度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11.3兆円</a:t>
            </a:r>
          </a:p>
        </p:txBody>
      </p:sp>
      <p:sp>
        <p:nvSpPr>
          <p:cNvPr id="20" name="介護要点_2040年度（見通し）"/>
          <p:cNvSpPr txBox="1"/>
          <p:nvPr/>
        </p:nvSpPr>
        <p:spPr>
          <a:xfrm>
            <a:off x="9626747" y="4594904"/>
            <a:ext cx="1832324" cy="5356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2040年度（見通し）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25.8兆円</a:t>
            </a:r>
          </a:p>
        </p:txBody>
      </p:sp>
      <p:graphicFrame>
        <p:nvGraphicFramePr>
          <p:cNvPr id="21" name="介護費グラフ"/>
          <p:cNvGraphicFramePr>
            <a:graphicFrameLocks noGrp="1"/>
          </p:cNvGraphicFramePr>
          <p:nvPr/>
        </p:nvGraphicFramePr>
        <p:xfrm>
          <a:off x="789309" y="5158696"/>
          <a:ext cx="10613383" cy="11275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人口：総務省統計局・人口統計資料集（1947〜2022年）、国立社会保障・人口問題研究所『日本の将来推計人口（令和5年推計）』（2023〜2050年）。介護費：同研究所『社会保障費用統計』、厚生労働省『2040年を見据えた社会保障の将来見通し』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沿革リボン"/>
          <p:cNvSpPr/>
          <p:nvPr/>
        </p:nvSpPr>
        <p:spPr>
          <a:xfrm>
            <a:off x="0" y="3580088"/>
            <a:ext cx="12192000" cy="1240327"/>
          </a:xfrm>
          <a:custGeom>
            <a:avLst/>
            <a:gdLst/>
            <a:ahLst/>
            <a:cxnLst/>
            <a:rect l="l" t="t" r="r" b="b"/>
            <a:pathLst>
              <a:path w="12192000" h="1240327">
                <a:moveTo>
                  <a:pt x="0" y="352844"/>
                </a:moveTo>
                <a:lnTo>
                  <a:pt x="76200" y="361140"/>
                </a:lnTo>
                <a:lnTo>
                  <a:pt x="152400" y="369158"/>
                </a:lnTo>
                <a:lnTo>
                  <a:pt x="228600" y="376882"/>
                </a:lnTo>
                <a:lnTo>
                  <a:pt x="304800" y="384295"/>
                </a:lnTo>
                <a:lnTo>
                  <a:pt x="381000" y="391383"/>
                </a:lnTo>
                <a:lnTo>
                  <a:pt x="457200" y="398130"/>
                </a:lnTo>
                <a:lnTo>
                  <a:pt x="533400" y="404524"/>
                </a:lnTo>
                <a:lnTo>
                  <a:pt x="609600" y="410550"/>
                </a:lnTo>
                <a:lnTo>
                  <a:pt x="685800" y="416196"/>
                </a:lnTo>
                <a:lnTo>
                  <a:pt x="762000" y="421452"/>
                </a:lnTo>
                <a:lnTo>
                  <a:pt x="838200" y="426306"/>
                </a:lnTo>
                <a:lnTo>
                  <a:pt x="914400" y="430747"/>
                </a:lnTo>
                <a:lnTo>
                  <a:pt x="990600" y="434768"/>
                </a:lnTo>
                <a:lnTo>
                  <a:pt x="1066800" y="438360"/>
                </a:lnTo>
                <a:lnTo>
                  <a:pt x="1143000" y="441515"/>
                </a:lnTo>
                <a:lnTo>
                  <a:pt x="1219200" y="444227"/>
                </a:lnTo>
                <a:lnTo>
                  <a:pt x="1295400" y="446491"/>
                </a:lnTo>
                <a:lnTo>
                  <a:pt x="1371600" y="448301"/>
                </a:lnTo>
                <a:lnTo>
                  <a:pt x="1447800" y="449655"/>
                </a:lnTo>
                <a:lnTo>
                  <a:pt x="1524000" y="450548"/>
                </a:lnTo>
                <a:lnTo>
                  <a:pt x="1600200" y="450980"/>
                </a:lnTo>
                <a:lnTo>
                  <a:pt x="1676400" y="450950"/>
                </a:lnTo>
                <a:lnTo>
                  <a:pt x="1752600" y="450458"/>
                </a:lnTo>
                <a:lnTo>
                  <a:pt x="1828800" y="449503"/>
                </a:lnTo>
                <a:lnTo>
                  <a:pt x="1905000" y="448090"/>
                </a:lnTo>
                <a:lnTo>
                  <a:pt x="1981200" y="446220"/>
                </a:lnTo>
                <a:lnTo>
                  <a:pt x="2057400" y="443897"/>
                </a:lnTo>
                <a:lnTo>
                  <a:pt x="2133600" y="441127"/>
                </a:lnTo>
                <a:lnTo>
                  <a:pt x="2209800" y="437914"/>
                </a:lnTo>
                <a:lnTo>
                  <a:pt x="2286000" y="434266"/>
                </a:lnTo>
                <a:lnTo>
                  <a:pt x="2362200" y="430189"/>
                </a:lnTo>
                <a:lnTo>
                  <a:pt x="2438400" y="425693"/>
                </a:lnTo>
                <a:lnTo>
                  <a:pt x="2514600" y="420786"/>
                </a:lnTo>
                <a:lnTo>
                  <a:pt x="2590800" y="415479"/>
                </a:lnTo>
                <a:lnTo>
                  <a:pt x="2667000" y="409782"/>
                </a:lnTo>
                <a:lnTo>
                  <a:pt x="2743200" y="403707"/>
                </a:lnTo>
                <a:lnTo>
                  <a:pt x="2819400" y="397266"/>
                </a:lnTo>
                <a:lnTo>
                  <a:pt x="2895600" y="390474"/>
                </a:lnTo>
                <a:lnTo>
                  <a:pt x="2971800" y="383342"/>
                </a:lnTo>
                <a:lnTo>
                  <a:pt x="3048000" y="375888"/>
                </a:lnTo>
                <a:lnTo>
                  <a:pt x="3124200" y="368125"/>
                </a:lnTo>
                <a:lnTo>
                  <a:pt x="3200400" y="360069"/>
                </a:lnTo>
                <a:lnTo>
                  <a:pt x="3276600" y="351737"/>
                </a:lnTo>
                <a:lnTo>
                  <a:pt x="3352800" y="343147"/>
                </a:lnTo>
                <a:lnTo>
                  <a:pt x="3429000" y="334315"/>
                </a:lnTo>
                <a:lnTo>
                  <a:pt x="3505200" y="325260"/>
                </a:lnTo>
                <a:lnTo>
                  <a:pt x="3581400" y="316000"/>
                </a:lnTo>
                <a:lnTo>
                  <a:pt x="3657600" y="306555"/>
                </a:lnTo>
                <a:lnTo>
                  <a:pt x="3733800" y="296944"/>
                </a:lnTo>
                <a:lnTo>
                  <a:pt x="3810000" y="287186"/>
                </a:lnTo>
                <a:lnTo>
                  <a:pt x="3886200" y="277301"/>
                </a:lnTo>
                <a:lnTo>
                  <a:pt x="3962400" y="267311"/>
                </a:lnTo>
                <a:lnTo>
                  <a:pt x="4038600" y="257234"/>
                </a:lnTo>
                <a:lnTo>
                  <a:pt x="4114800" y="247093"/>
                </a:lnTo>
                <a:lnTo>
                  <a:pt x="4191000" y="236907"/>
                </a:lnTo>
                <a:lnTo>
                  <a:pt x="4267200" y="226698"/>
                </a:lnTo>
                <a:lnTo>
                  <a:pt x="4343400" y="216487"/>
                </a:lnTo>
                <a:lnTo>
                  <a:pt x="4419600" y="206294"/>
                </a:lnTo>
                <a:lnTo>
                  <a:pt x="4495800" y="196140"/>
                </a:lnTo>
                <a:lnTo>
                  <a:pt x="4572000" y="186047"/>
                </a:lnTo>
                <a:lnTo>
                  <a:pt x="4648200" y="176034"/>
                </a:lnTo>
                <a:lnTo>
                  <a:pt x="4724400" y="166123"/>
                </a:lnTo>
                <a:lnTo>
                  <a:pt x="4800600" y="156334"/>
                </a:lnTo>
                <a:lnTo>
                  <a:pt x="4876800" y="146687"/>
                </a:lnTo>
                <a:lnTo>
                  <a:pt x="4953000" y="137201"/>
                </a:lnTo>
                <a:lnTo>
                  <a:pt x="5029200" y="127896"/>
                </a:lnTo>
                <a:lnTo>
                  <a:pt x="5105400" y="118792"/>
                </a:lnTo>
                <a:lnTo>
                  <a:pt x="5181600" y="109906"/>
                </a:lnTo>
                <a:lnTo>
                  <a:pt x="5257800" y="101258"/>
                </a:lnTo>
                <a:lnTo>
                  <a:pt x="5334000" y="92864"/>
                </a:lnTo>
                <a:lnTo>
                  <a:pt x="5410200" y="84743"/>
                </a:lnTo>
                <a:lnTo>
                  <a:pt x="5486400" y="76910"/>
                </a:lnTo>
                <a:lnTo>
                  <a:pt x="5562600" y="69382"/>
                </a:lnTo>
                <a:lnTo>
                  <a:pt x="5638800" y="62174"/>
                </a:lnTo>
                <a:lnTo>
                  <a:pt x="5715000" y="55301"/>
                </a:lnTo>
                <a:lnTo>
                  <a:pt x="5791200" y="48778"/>
                </a:lnTo>
                <a:lnTo>
                  <a:pt x="5867400" y="42616"/>
                </a:lnTo>
                <a:lnTo>
                  <a:pt x="5943600" y="36830"/>
                </a:lnTo>
                <a:lnTo>
                  <a:pt x="6019800" y="31431"/>
                </a:lnTo>
                <a:lnTo>
                  <a:pt x="6096000" y="26430"/>
                </a:lnTo>
                <a:lnTo>
                  <a:pt x="6172200" y="21837"/>
                </a:lnTo>
                <a:lnTo>
                  <a:pt x="6248400" y="17661"/>
                </a:lnTo>
                <a:lnTo>
                  <a:pt x="6324600" y="13913"/>
                </a:lnTo>
                <a:lnTo>
                  <a:pt x="6400800" y="10598"/>
                </a:lnTo>
                <a:lnTo>
                  <a:pt x="6477000" y="7723"/>
                </a:lnTo>
                <a:lnTo>
                  <a:pt x="6553200" y="5296"/>
                </a:lnTo>
                <a:lnTo>
                  <a:pt x="6629400" y="3320"/>
                </a:lnTo>
                <a:lnTo>
                  <a:pt x="6705600" y="1800"/>
                </a:lnTo>
                <a:lnTo>
                  <a:pt x="6781800" y="739"/>
                </a:lnTo>
                <a:lnTo>
                  <a:pt x="6858000" y="138"/>
                </a:lnTo>
                <a:lnTo>
                  <a:pt x="6934200" y="0"/>
                </a:lnTo>
                <a:lnTo>
                  <a:pt x="7010400" y="324"/>
                </a:lnTo>
                <a:lnTo>
                  <a:pt x="7086600" y="1111"/>
                </a:lnTo>
                <a:lnTo>
                  <a:pt x="7162800" y="2357"/>
                </a:lnTo>
                <a:lnTo>
                  <a:pt x="7239000" y="4061"/>
                </a:lnTo>
                <a:lnTo>
                  <a:pt x="7315200" y="6219"/>
                </a:lnTo>
                <a:lnTo>
                  <a:pt x="7391400" y="8827"/>
                </a:lnTo>
                <a:lnTo>
                  <a:pt x="7467600" y="11880"/>
                </a:lnTo>
                <a:lnTo>
                  <a:pt x="7543800" y="15370"/>
                </a:lnTo>
                <a:lnTo>
                  <a:pt x="7620000" y="19292"/>
                </a:lnTo>
                <a:lnTo>
                  <a:pt x="7696200" y="23636"/>
                </a:lnTo>
                <a:lnTo>
                  <a:pt x="7772400" y="28395"/>
                </a:lnTo>
                <a:lnTo>
                  <a:pt x="7848600" y="33558"/>
                </a:lnTo>
                <a:lnTo>
                  <a:pt x="7924800" y="39114"/>
                </a:lnTo>
                <a:lnTo>
                  <a:pt x="8001000" y="45053"/>
                </a:lnTo>
                <a:lnTo>
                  <a:pt x="8077200" y="51362"/>
                </a:lnTo>
                <a:lnTo>
                  <a:pt x="8153400" y="58028"/>
                </a:lnTo>
                <a:lnTo>
                  <a:pt x="8229600" y="65037"/>
                </a:lnTo>
                <a:lnTo>
                  <a:pt x="8305800" y="72376"/>
                </a:lnTo>
                <a:lnTo>
                  <a:pt x="8382000" y="80028"/>
                </a:lnTo>
                <a:lnTo>
                  <a:pt x="8458200" y="87979"/>
                </a:lnTo>
                <a:lnTo>
                  <a:pt x="8534400" y="96213"/>
                </a:lnTo>
                <a:lnTo>
                  <a:pt x="8610600" y="104711"/>
                </a:lnTo>
                <a:lnTo>
                  <a:pt x="8686800" y="113457"/>
                </a:lnTo>
                <a:lnTo>
                  <a:pt x="8763000" y="122433"/>
                </a:lnTo>
                <a:lnTo>
                  <a:pt x="8839200" y="131620"/>
                </a:lnTo>
                <a:lnTo>
                  <a:pt x="8915400" y="141000"/>
                </a:lnTo>
                <a:lnTo>
                  <a:pt x="8991600" y="150553"/>
                </a:lnTo>
                <a:lnTo>
                  <a:pt x="9067800" y="160260"/>
                </a:lnTo>
                <a:lnTo>
                  <a:pt x="9144000" y="170100"/>
                </a:lnTo>
                <a:lnTo>
                  <a:pt x="9220200" y="180055"/>
                </a:lnTo>
                <a:lnTo>
                  <a:pt x="9296400" y="190102"/>
                </a:lnTo>
                <a:lnTo>
                  <a:pt x="9372600" y="200222"/>
                </a:lnTo>
                <a:lnTo>
                  <a:pt x="9448800" y="210394"/>
                </a:lnTo>
                <a:lnTo>
                  <a:pt x="9525000" y="220597"/>
                </a:lnTo>
                <a:lnTo>
                  <a:pt x="9601200" y="230811"/>
                </a:lnTo>
                <a:lnTo>
                  <a:pt x="9677400" y="241013"/>
                </a:lnTo>
                <a:lnTo>
                  <a:pt x="9753600" y="251183"/>
                </a:lnTo>
                <a:lnTo>
                  <a:pt x="9829800" y="261301"/>
                </a:lnTo>
                <a:lnTo>
                  <a:pt x="9906000" y="271345"/>
                </a:lnTo>
                <a:lnTo>
                  <a:pt x="9982200" y="281295"/>
                </a:lnTo>
                <a:lnTo>
                  <a:pt x="10058400" y="291131"/>
                </a:lnTo>
                <a:lnTo>
                  <a:pt x="10134600" y="300833"/>
                </a:lnTo>
                <a:lnTo>
                  <a:pt x="10210800" y="310379"/>
                </a:lnTo>
                <a:lnTo>
                  <a:pt x="10287000" y="319752"/>
                </a:lnTo>
                <a:lnTo>
                  <a:pt x="10363200" y="328932"/>
                </a:lnTo>
                <a:lnTo>
                  <a:pt x="10439400" y="337899"/>
                </a:lnTo>
                <a:lnTo>
                  <a:pt x="10515600" y="346636"/>
                </a:lnTo>
                <a:lnTo>
                  <a:pt x="10591800" y="355124"/>
                </a:lnTo>
                <a:lnTo>
                  <a:pt x="10668000" y="363347"/>
                </a:lnTo>
                <a:lnTo>
                  <a:pt x="10744200" y="371287"/>
                </a:lnTo>
                <a:lnTo>
                  <a:pt x="10820400" y="378928"/>
                </a:lnTo>
                <a:lnTo>
                  <a:pt x="10896600" y="386254"/>
                </a:lnTo>
                <a:lnTo>
                  <a:pt x="10972800" y="393250"/>
                </a:lnTo>
                <a:lnTo>
                  <a:pt x="11049000" y="399903"/>
                </a:lnTo>
                <a:lnTo>
                  <a:pt x="11125200" y="406198"/>
                </a:lnTo>
                <a:lnTo>
                  <a:pt x="11201400" y="412122"/>
                </a:lnTo>
                <a:lnTo>
                  <a:pt x="11277600" y="417663"/>
                </a:lnTo>
                <a:lnTo>
                  <a:pt x="11353800" y="422811"/>
                </a:lnTo>
                <a:lnTo>
                  <a:pt x="11430000" y="427553"/>
                </a:lnTo>
                <a:lnTo>
                  <a:pt x="11506200" y="431882"/>
                </a:lnTo>
                <a:lnTo>
                  <a:pt x="11582400" y="435787"/>
                </a:lnTo>
                <a:lnTo>
                  <a:pt x="11658600" y="439261"/>
                </a:lnTo>
                <a:lnTo>
                  <a:pt x="11734800" y="442296"/>
                </a:lnTo>
                <a:lnTo>
                  <a:pt x="11811000" y="444887"/>
                </a:lnTo>
                <a:lnTo>
                  <a:pt x="11887200" y="447028"/>
                </a:lnTo>
                <a:lnTo>
                  <a:pt x="11963400" y="448714"/>
                </a:lnTo>
                <a:lnTo>
                  <a:pt x="12039600" y="449943"/>
                </a:lnTo>
                <a:lnTo>
                  <a:pt x="12115800" y="450711"/>
                </a:lnTo>
                <a:lnTo>
                  <a:pt x="12192000" y="451018"/>
                </a:lnTo>
                <a:lnTo>
                  <a:pt x="12192000" y="1240327"/>
                </a:lnTo>
                <a:lnTo>
                  <a:pt x="12115800" y="1240020"/>
                </a:lnTo>
                <a:lnTo>
                  <a:pt x="12039600" y="1239252"/>
                </a:lnTo>
                <a:lnTo>
                  <a:pt x="11963400" y="1238023"/>
                </a:lnTo>
                <a:lnTo>
                  <a:pt x="11887200" y="1236336"/>
                </a:lnTo>
                <a:lnTo>
                  <a:pt x="11811000" y="1234196"/>
                </a:lnTo>
                <a:lnTo>
                  <a:pt x="11734800" y="1231605"/>
                </a:lnTo>
                <a:lnTo>
                  <a:pt x="11658600" y="1228569"/>
                </a:lnTo>
                <a:lnTo>
                  <a:pt x="11582400" y="1225096"/>
                </a:lnTo>
                <a:lnTo>
                  <a:pt x="11506200" y="1221190"/>
                </a:lnTo>
                <a:lnTo>
                  <a:pt x="11430000" y="1216862"/>
                </a:lnTo>
                <a:lnTo>
                  <a:pt x="11353800" y="1212119"/>
                </a:lnTo>
                <a:lnTo>
                  <a:pt x="11277600" y="1206972"/>
                </a:lnTo>
                <a:lnTo>
                  <a:pt x="11201400" y="1201430"/>
                </a:lnTo>
                <a:lnTo>
                  <a:pt x="11125200" y="1195506"/>
                </a:lnTo>
                <a:lnTo>
                  <a:pt x="11049000" y="1189211"/>
                </a:lnTo>
                <a:lnTo>
                  <a:pt x="10972800" y="1182559"/>
                </a:lnTo>
                <a:lnTo>
                  <a:pt x="10896600" y="1175562"/>
                </a:lnTo>
                <a:lnTo>
                  <a:pt x="10820400" y="1168236"/>
                </a:lnTo>
                <a:lnTo>
                  <a:pt x="10744200" y="1160595"/>
                </a:lnTo>
                <a:lnTo>
                  <a:pt x="10668000" y="1152655"/>
                </a:lnTo>
                <a:lnTo>
                  <a:pt x="10591800" y="1144433"/>
                </a:lnTo>
                <a:lnTo>
                  <a:pt x="10515600" y="1135945"/>
                </a:lnTo>
                <a:lnTo>
                  <a:pt x="10439400" y="1127208"/>
                </a:lnTo>
                <a:lnTo>
                  <a:pt x="10363200" y="1118240"/>
                </a:lnTo>
                <a:lnTo>
                  <a:pt x="10287000" y="1109061"/>
                </a:lnTo>
                <a:lnTo>
                  <a:pt x="10210800" y="1099688"/>
                </a:lnTo>
                <a:lnTo>
                  <a:pt x="10134600" y="1090141"/>
                </a:lnTo>
                <a:lnTo>
                  <a:pt x="10058400" y="1080440"/>
                </a:lnTo>
                <a:lnTo>
                  <a:pt x="9982200" y="1070604"/>
                </a:lnTo>
                <a:lnTo>
                  <a:pt x="9906000" y="1060654"/>
                </a:lnTo>
                <a:lnTo>
                  <a:pt x="9829800" y="1050610"/>
                </a:lnTo>
                <a:lnTo>
                  <a:pt x="9753600" y="1040492"/>
                </a:lnTo>
                <a:lnTo>
                  <a:pt x="9677400" y="1030321"/>
                </a:lnTo>
                <a:lnTo>
                  <a:pt x="9601200" y="1020119"/>
                </a:lnTo>
                <a:lnTo>
                  <a:pt x="9525000" y="1009906"/>
                </a:lnTo>
                <a:lnTo>
                  <a:pt x="9448800" y="999703"/>
                </a:lnTo>
                <a:lnTo>
                  <a:pt x="9372600" y="989531"/>
                </a:lnTo>
                <a:lnTo>
                  <a:pt x="9296400" y="979411"/>
                </a:lnTo>
                <a:lnTo>
                  <a:pt x="9220200" y="969363"/>
                </a:lnTo>
                <a:lnTo>
                  <a:pt x="9144000" y="959409"/>
                </a:lnTo>
                <a:lnTo>
                  <a:pt x="9067800" y="949568"/>
                </a:lnTo>
                <a:lnTo>
                  <a:pt x="8991600" y="939862"/>
                </a:lnTo>
                <a:lnTo>
                  <a:pt x="8915400" y="930308"/>
                </a:lnTo>
                <a:lnTo>
                  <a:pt x="8839200" y="920929"/>
                </a:lnTo>
                <a:lnTo>
                  <a:pt x="8763000" y="911741"/>
                </a:lnTo>
                <a:lnTo>
                  <a:pt x="8686800" y="902766"/>
                </a:lnTo>
                <a:lnTo>
                  <a:pt x="8610600" y="894020"/>
                </a:lnTo>
                <a:lnTo>
                  <a:pt x="8534400" y="885521"/>
                </a:lnTo>
                <a:lnTo>
                  <a:pt x="8458200" y="877288"/>
                </a:lnTo>
                <a:lnTo>
                  <a:pt x="8382000" y="869337"/>
                </a:lnTo>
                <a:lnTo>
                  <a:pt x="8305800" y="861684"/>
                </a:lnTo>
                <a:lnTo>
                  <a:pt x="8229600" y="854346"/>
                </a:lnTo>
                <a:lnTo>
                  <a:pt x="8153400" y="847336"/>
                </a:lnTo>
                <a:lnTo>
                  <a:pt x="8077200" y="840670"/>
                </a:lnTo>
                <a:lnTo>
                  <a:pt x="8001000" y="834361"/>
                </a:lnTo>
                <a:lnTo>
                  <a:pt x="7924800" y="828423"/>
                </a:lnTo>
                <a:lnTo>
                  <a:pt x="7848600" y="822866"/>
                </a:lnTo>
                <a:lnTo>
                  <a:pt x="7772400" y="817704"/>
                </a:lnTo>
                <a:lnTo>
                  <a:pt x="7696200" y="812945"/>
                </a:lnTo>
                <a:lnTo>
                  <a:pt x="7620000" y="808601"/>
                </a:lnTo>
                <a:lnTo>
                  <a:pt x="7543800" y="804679"/>
                </a:lnTo>
                <a:lnTo>
                  <a:pt x="7467600" y="801188"/>
                </a:lnTo>
                <a:lnTo>
                  <a:pt x="7391400" y="798136"/>
                </a:lnTo>
                <a:lnTo>
                  <a:pt x="7315200" y="795528"/>
                </a:lnTo>
                <a:lnTo>
                  <a:pt x="7239000" y="793370"/>
                </a:lnTo>
                <a:lnTo>
                  <a:pt x="7162800" y="791666"/>
                </a:lnTo>
                <a:lnTo>
                  <a:pt x="7086600" y="790419"/>
                </a:lnTo>
                <a:lnTo>
                  <a:pt x="7010400" y="789633"/>
                </a:lnTo>
                <a:lnTo>
                  <a:pt x="6934200" y="789309"/>
                </a:lnTo>
                <a:lnTo>
                  <a:pt x="6858000" y="789447"/>
                </a:lnTo>
                <a:lnTo>
                  <a:pt x="6781800" y="790047"/>
                </a:lnTo>
                <a:lnTo>
                  <a:pt x="6705600" y="791109"/>
                </a:lnTo>
                <a:lnTo>
                  <a:pt x="6629400" y="792629"/>
                </a:lnTo>
                <a:lnTo>
                  <a:pt x="6553200" y="794605"/>
                </a:lnTo>
                <a:lnTo>
                  <a:pt x="6477000" y="797032"/>
                </a:lnTo>
                <a:lnTo>
                  <a:pt x="6400800" y="799906"/>
                </a:lnTo>
                <a:lnTo>
                  <a:pt x="6324600" y="803221"/>
                </a:lnTo>
                <a:lnTo>
                  <a:pt x="6248400" y="806970"/>
                </a:lnTo>
                <a:lnTo>
                  <a:pt x="6172200" y="811145"/>
                </a:lnTo>
                <a:lnTo>
                  <a:pt x="6096000" y="815738"/>
                </a:lnTo>
                <a:lnTo>
                  <a:pt x="6019800" y="820739"/>
                </a:lnTo>
                <a:lnTo>
                  <a:pt x="5943600" y="826139"/>
                </a:lnTo>
                <a:lnTo>
                  <a:pt x="5867400" y="831925"/>
                </a:lnTo>
                <a:lnTo>
                  <a:pt x="5791200" y="838086"/>
                </a:lnTo>
                <a:lnTo>
                  <a:pt x="5715000" y="844610"/>
                </a:lnTo>
                <a:lnTo>
                  <a:pt x="5638800" y="851483"/>
                </a:lnTo>
                <a:lnTo>
                  <a:pt x="5562600" y="858691"/>
                </a:lnTo>
                <a:lnTo>
                  <a:pt x="5486400" y="866219"/>
                </a:lnTo>
                <a:lnTo>
                  <a:pt x="5410200" y="874052"/>
                </a:lnTo>
                <a:lnTo>
                  <a:pt x="5334000" y="882173"/>
                </a:lnTo>
                <a:lnTo>
                  <a:pt x="5257800" y="890567"/>
                </a:lnTo>
                <a:lnTo>
                  <a:pt x="5181600" y="899215"/>
                </a:lnTo>
                <a:lnTo>
                  <a:pt x="5105400" y="908101"/>
                </a:lnTo>
                <a:lnTo>
                  <a:pt x="5029200" y="917205"/>
                </a:lnTo>
                <a:lnTo>
                  <a:pt x="4953000" y="926510"/>
                </a:lnTo>
                <a:lnTo>
                  <a:pt x="4876800" y="935995"/>
                </a:lnTo>
                <a:lnTo>
                  <a:pt x="4800600" y="945643"/>
                </a:lnTo>
                <a:lnTo>
                  <a:pt x="4724400" y="955432"/>
                </a:lnTo>
                <a:lnTo>
                  <a:pt x="4648200" y="965343"/>
                </a:lnTo>
                <a:lnTo>
                  <a:pt x="4572000" y="975355"/>
                </a:lnTo>
                <a:lnTo>
                  <a:pt x="4495800" y="985449"/>
                </a:lnTo>
                <a:lnTo>
                  <a:pt x="4419600" y="995602"/>
                </a:lnTo>
                <a:lnTo>
                  <a:pt x="4343400" y="1005795"/>
                </a:lnTo>
                <a:lnTo>
                  <a:pt x="4267200" y="1016007"/>
                </a:lnTo>
                <a:lnTo>
                  <a:pt x="4191000" y="1026216"/>
                </a:lnTo>
                <a:lnTo>
                  <a:pt x="4114800" y="1036402"/>
                </a:lnTo>
                <a:lnTo>
                  <a:pt x="4038600" y="1046543"/>
                </a:lnTo>
                <a:lnTo>
                  <a:pt x="3962400" y="1056619"/>
                </a:lnTo>
                <a:lnTo>
                  <a:pt x="3886200" y="1066610"/>
                </a:lnTo>
                <a:lnTo>
                  <a:pt x="3810000" y="1076494"/>
                </a:lnTo>
                <a:lnTo>
                  <a:pt x="3733800" y="1086252"/>
                </a:lnTo>
                <a:lnTo>
                  <a:pt x="3657600" y="1095864"/>
                </a:lnTo>
                <a:lnTo>
                  <a:pt x="3581400" y="1105309"/>
                </a:lnTo>
                <a:lnTo>
                  <a:pt x="3505200" y="1114568"/>
                </a:lnTo>
                <a:lnTo>
                  <a:pt x="3429000" y="1123623"/>
                </a:lnTo>
                <a:lnTo>
                  <a:pt x="3352800" y="1132455"/>
                </a:lnTo>
                <a:lnTo>
                  <a:pt x="3276600" y="1141046"/>
                </a:lnTo>
                <a:lnTo>
                  <a:pt x="3200400" y="1149378"/>
                </a:lnTo>
                <a:lnTo>
                  <a:pt x="3124200" y="1157433"/>
                </a:lnTo>
                <a:lnTo>
                  <a:pt x="3048000" y="1165196"/>
                </a:lnTo>
                <a:lnTo>
                  <a:pt x="2971800" y="1172651"/>
                </a:lnTo>
                <a:lnTo>
                  <a:pt x="2895600" y="1179782"/>
                </a:lnTo>
                <a:lnTo>
                  <a:pt x="2819400" y="1186575"/>
                </a:lnTo>
                <a:lnTo>
                  <a:pt x="2743200" y="1193015"/>
                </a:lnTo>
                <a:lnTo>
                  <a:pt x="2667000" y="1199090"/>
                </a:lnTo>
                <a:lnTo>
                  <a:pt x="2590800" y="1204787"/>
                </a:lnTo>
                <a:lnTo>
                  <a:pt x="2514600" y="1210095"/>
                </a:lnTo>
                <a:lnTo>
                  <a:pt x="2438400" y="1215002"/>
                </a:lnTo>
                <a:lnTo>
                  <a:pt x="2362200" y="1219498"/>
                </a:lnTo>
                <a:lnTo>
                  <a:pt x="2286000" y="1223575"/>
                </a:lnTo>
                <a:lnTo>
                  <a:pt x="2209800" y="1227223"/>
                </a:lnTo>
                <a:lnTo>
                  <a:pt x="2133600" y="1230436"/>
                </a:lnTo>
                <a:lnTo>
                  <a:pt x="2057400" y="1233206"/>
                </a:lnTo>
                <a:lnTo>
                  <a:pt x="1981200" y="1235529"/>
                </a:lnTo>
                <a:lnTo>
                  <a:pt x="1905000" y="1237399"/>
                </a:lnTo>
                <a:lnTo>
                  <a:pt x="1828800" y="1238812"/>
                </a:lnTo>
                <a:lnTo>
                  <a:pt x="1752600" y="1239766"/>
                </a:lnTo>
                <a:lnTo>
                  <a:pt x="1676400" y="1240259"/>
                </a:lnTo>
                <a:lnTo>
                  <a:pt x="1600200" y="1240289"/>
                </a:lnTo>
                <a:lnTo>
                  <a:pt x="1524000" y="1239857"/>
                </a:lnTo>
                <a:lnTo>
                  <a:pt x="1447800" y="1238963"/>
                </a:lnTo>
                <a:lnTo>
                  <a:pt x="1371600" y="1237610"/>
                </a:lnTo>
                <a:lnTo>
                  <a:pt x="1295400" y="1235800"/>
                </a:lnTo>
                <a:lnTo>
                  <a:pt x="1219200" y="1233536"/>
                </a:lnTo>
                <a:lnTo>
                  <a:pt x="1143000" y="1230824"/>
                </a:lnTo>
                <a:lnTo>
                  <a:pt x="1066800" y="1227669"/>
                </a:lnTo>
                <a:lnTo>
                  <a:pt x="990600" y="1224077"/>
                </a:lnTo>
                <a:lnTo>
                  <a:pt x="914400" y="1220056"/>
                </a:lnTo>
                <a:lnTo>
                  <a:pt x="838200" y="1215614"/>
                </a:lnTo>
                <a:lnTo>
                  <a:pt x="762000" y="1210761"/>
                </a:lnTo>
                <a:lnTo>
                  <a:pt x="685800" y="1205505"/>
                </a:lnTo>
                <a:lnTo>
                  <a:pt x="609600" y="1199858"/>
                </a:lnTo>
                <a:lnTo>
                  <a:pt x="533400" y="1193832"/>
                </a:lnTo>
                <a:lnTo>
                  <a:pt x="457200" y="1187439"/>
                </a:lnTo>
                <a:lnTo>
                  <a:pt x="381000" y="1180692"/>
                </a:lnTo>
                <a:lnTo>
                  <a:pt x="304800" y="1173604"/>
                </a:lnTo>
                <a:lnTo>
                  <a:pt x="228600" y="1166191"/>
                </a:lnTo>
                <a:lnTo>
                  <a:pt x="152400" y="1158467"/>
                </a:lnTo>
                <a:lnTo>
                  <a:pt x="76200" y="1150449"/>
                </a:lnTo>
                <a:lnTo>
                  <a:pt x="0" y="1142152"/>
                </a:lnTo>
                <a:close/>
              </a:path>
            </a:pathLst>
          </a:custGeom>
          <a:solidFill>
            <a:srgbClr val="D9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代_2000"/>
          <p:cNvSpPr txBox="1"/>
          <p:nvPr/>
        </p:nvSpPr>
        <p:spPr>
          <a:xfrm>
            <a:off x="2889434" y="4026709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sp>
        <p:nvSpPr>
          <p:cNvPr id="10" name="年代_2010"/>
          <p:cNvSpPr txBox="1"/>
          <p:nvPr/>
        </p:nvSpPr>
        <p:spPr>
          <a:xfrm>
            <a:off x="5567445" y="3734123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sp>
        <p:nvSpPr>
          <p:cNvPr id="11" name="年代_2020"/>
          <p:cNvSpPr txBox="1"/>
          <p:nvPr/>
        </p:nvSpPr>
        <p:spPr>
          <a:xfrm>
            <a:off x="7681665" y="3808875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2020</a:t>
            </a:r>
          </a:p>
        </p:txBody>
      </p:sp>
      <p:cxnSp>
        <p:nvCxnSpPr>
          <p:cNvPr id="12" name="接続線"/>
          <p:cNvCxnSpPr/>
          <p:nvPr/>
        </p:nvCxnSpPr>
        <p:spPr>
          <a:xfrm>
            <a:off x="1620902" y="2790770"/>
            <a:ext cx="0" cy="1240336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接続点"/>
          <p:cNvSpPr/>
          <p:nvPr/>
        </p:nvSpPr>
        <p:spPr>
          <a:xfrm>
            <a:off x="1571570" y="398177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エフビー信州として設立"/>
          <p:cNvSpPr/>
          <p:nvPr/>
        </p:nvSpPr>
        <p:spPr>
          <a:xfrm>
            <a:off x="620171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年タグ"/>
          <p:cNvSpPr/>
          <p:nvPr/>
        </p:nvSpPr>
        <p:spPr>
          <a:xfrm>
            <a:off x="803403" y="1536333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年"/>
          <p:cNvSpPr txBox="1"/>
          <p:nvPr/>
        </p:nvSpPr>
        <p:spPr>
          <a:xfrm>
            <a:off x="803403" y="1536333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1987年4月</a:t>
            </a:r>
          </a:p>
        </p:txBody>
      </p:sp>
      <p:sp>
        <p:nvSpPr>
          <p:cNvPr id="17" name="本文_エフビー信州として設立"/>
          <p:cNvSpPr txBox="1"/>
          <p:nvPr/>
        </p:nvSpPr>
        <p:spPr>
          <a:xfrm>
            <a:off x="803403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エフビー信州として設立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フランスベッドの代理店が原点。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本社は長野県佐久市</a:t>
            </a:r>
          </a:p>
        </p:txBody>
      </p:sp>
      <p:cxnSp>
        <p:nvCxnSpPr>
          <p:cNvPr id="18" name="接続線"/>
          <p:cNvCxnSpPr/>
          <p:nvPr/>
        </p:nvCxnSpPr>
        <p:spPr>
          <a:xfrm>
            <a:off x="3136092" y="4736283"/>
            <a:ext cx="0" cy="29556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接続点"/>
          <p:cNvSpPr/>
          <p:nvPr/>
        </p:nvSpPr>
        <p:spPr>
          <a:xfrm>
            <a:off x="3086761" y="4686951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福祉用具のレンタルを開始"/>
          <p:cNvSpPr/>
          <p:nvPr/>
        </p:nvSpPr>
        <p:spPr>
          <a:xfrm>
            <a:off x="1938035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年タグ"/>
          <p:cNvSpPr/>
          <p:nvPr/>
        </p:nvSpPr>
        <p:spPr>
          <a:xfrm>
            <a:off x="2121267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年"/>
          <p:cNvSpPr txBox="1"/>
          <p:nvPr/>
        </p:nvSpPr>
        <p:spPr>
          <a:xfrm>
            <a:off x="2121267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2000年4月</a:t>
            </a:r>
          </a:p>
        </p:txBody>
      </p:sp>
      <p:sp>
        <p:nvSpPr>
          <p:cNvPr id="23" name="本文_福祉用具のレンタルを開始"/>
          <p:cNvSpPr txBox="1"/>
          <p:nvPr/>
        </p:nvSpPr>
        <p:spPr>
          <a:xfrm>
            <a:off x="2121267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福祉用具のレンタルを開始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福祉用具の取り扱いの範囲を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広げていく</a:t>
            </a:r>
          </a:p>
        </p:txBody>
      </p:sp>
      <p:cxnSp>
        <p:nvCxnSpPr>
          <p:cNvPr id="24" name="接続線"/>
          <p:cNvCxnSpPr/>
          <p:nvPr/>
        </p:nvCxnSpPr>
        <p:spPr>
          <a:xfrm>
            <a:off x="4651283" y="2790770"/>
            <a:ext cx="0" cy="96494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接続点"/>
          <p:cNvSpPr/>
          <p:nvPr/>
        </p:nvSpPr>
        <p:spPr>
          <a:xfrm>
            <a:off x="4601951" y="370638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エフビー介護サービスへ商号変更"/>
          <p:cNvSpPr/>
          <p:nvPr/>
        </p:nvSpPr>
        <p:spPr>
          <a:xfrm>
            <a:off x="3453225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タグ"/>
          <p:cNvSpPr/>
          <p:nvPr/>
        </p:nvSpPr>
        <p:spPr>
          <a:xfrm>
            <a:off x="3636458" y="1536333"/>
            <a:ext cx="126853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年"/>
          <p:cNvSpPr txBox="1"/>
          <p:nvPr/>
        </p:nvSpPr>
        <p:spPr>
          <a:xfrm>
            <a:off x="3636458" y="1536333"/>
            <a:ext cx="126853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2002年10月</a:t>
            </a:r>
          </a:p>
        </p:txBody>
      </p:sp>
      <p:sp>
        <p:nvSpPr>
          <p:cNvPr id="29" name="本文_エフビー介護サービスへ商号変更"/>
          <p:cNvSpPr txBox="1"/>
          <p:nvPr/>
        </p:nvSpPr>
        <p:spPr>
          <a:xfrm>
            <a:off x="3636458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エフビー介護サービスへ商号変更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介護サービスの会社として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歩みを進める</a:t>
            </a:r>
          </a:p>
        </p:txBody>
      </p:sp>
      <p:cxnSp>
        <p:nvCxnSpPr>
          <p:cNvPr id="30" name="接続線"/>
          <p:cNvCxnSpPr/>
          <p:nvPr/>
        </p:nvCxnSpPr>
        <p:spPr>
          <a:xfrm>
            <a:off x="6166474" y="4391564"/>
            <a:ext cx="0" cy="64027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接続点"/>
          <p:cNvSpPr/>
          <p:nvPr/>
        </p:nvSpPr>
        <p:spPr>
          <a:xfrm>
            <a:off x="6117142" y="43422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カード_居宅介護・小規模多機能へ"/>
          <p:cNvSpPr/>
          <p:nvPr/>
        </p:nvSpPr>
        <p:spPr>
          <a:xfrm>
            <a:off x="4968416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年タグ"/>
          <p:cNvSpPr/>
          <p:nvPr/>
        </p:nvSpPr>
        <p:spPr>
          <a:xfrm>
            <a:off x="5151649" y="5186886"/>
            <a:ext cx="1099394" cy="239612"/>
          </a:xfrm>
          <a:prstGeom prst="roundRect">
            <a:avLst>
              <a:gd name="adj" fmla="val 50000"/>
            </a:avLst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年"/>
          <p:cNvSpPr txBox="1"/>
          <p:nvPr/>
        </p:nvSpPr>
        <p:spPr>
          <a:xfrm>
            <a:off x="5151649" y="5186886"/>
            <a:ext cx="1099394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事業の広がり</a:t>
            </a:r>
          </a:p>
        </p:txBody>
      </p:sp>
      <p:sp>
        <p:nvSpPr>
          <p:cNvPr id="35" name="本文_居宅介護・小規模多機能へ"/>
          <p:cNvSpPr txBox="1"/>
          <p:nvPr/>
        </p:nvSpPr>
        <p:spPr>
          <a:xfrm>
            <a:off x="5151649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居宅介護・小規模多機能へ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自宅での生活の支援から、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住まい・通い訪問泊まりへ</a:t>
            </a:r>
          </a:p>
        </p:txBody>
      </p:sp>
      <p:cxnSp>
        <p:nvCxnSpPr>
          <p:cNvPr id="36" name="接続線"/>
          <p:cNvCxnSpPr/>
          <p:nvPr/>
        </p:nvCxnSpPr>
        <p:spPr>
          <a:xfrm>
            <a:off x="7681665" y="2790770"/>
            <a:ext cx="0" cy="81209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接続点"/>
          <p:cNvSpPr/>
          <p:nvPr/>
        </p:nvSpPr>
        <p:spPr>
          <a:xfrm>
            <a:off x="7632333" y="35535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海外人材の受け入れ"/>
          <p:cNvSpPr/>
          <p:nvPr/>
        </p:nvSpPr>
        <p:spPr>
          <a:xfrm>
            <a:off x="6483607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年タグ"/>
          <p:cNvSpPr/>
          <p:nvPr/>
        </p:nvSpPr>
        <p:spPr>
          <a:xfrm>
            <a:off x="6666839" y="1536333"/>
            <a:ext cx="88797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年"/>
          <p:cNvSpPr txBox="1"/>
          <p:nvPr/>
        </p:nvSpPr>
        <p:spPr>
          <a:xfrm>
            <a:off x="6666839" y="1536333"/>
            <a:ext cx="88797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</p:txBody>
      </p:sp>
      <p:sp>
        <p:nvSpPr>
          <p:cNvPr id="41" name="本文_海外人材の受け入れ"/>
          <p:cNvSpPr txBox="1"/>
          <p:nvPr/>
        </p:nvSpPr>
        <p:spPr>
          <a:xfrm>
            <a:off x="6666839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海外人材の受け入れ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ベトナム・ミャンマー・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ネパール・フィリピンなど</a:t>
            </a:r>
          </a:p>
        </p:txBody>
      </p:sp>
      <p:cxnSp>
        <p:nvCxnSpPr>
          <p:cNvPr id="42" name="接続線"/>
          <p:cNvCxnSpPr/>
          <p:nvPr/>
        </p:nvCxnSpPr>
        <p:spPr>
          <a:xfrm>
            <a:off x="9196855" y="4546391"/>
            <a:ext cx="0" cy="485452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接続点"/>
          <p:cNvSpPr/>
          <p:nvPr/>
        </p:nvSpPr>
        <p:spPr>
          <a:xfrm>
            <a:off x="9147524" y="4497059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カード_東証スタンダード市場に上場"/>
          <p:cNvSpPr/>
          <p:nvPr/>
        </p:nvSpPr>
        <p:spPr>
          <a:xfrm>
            <a:off x="7998798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タグ"/>
          <p:cNvSpPr/>
          <p:nvPr/>
        </p:nvSpPr>
        <p:spPr>
          <a:xfrm>
            <a:off x="8182030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年"/>
          <p:cNvSpPr txBox="1"/>
          <p:nvPr/>
        </p:nvSpPr>
        <p:spPr>
          <a:xfrm>
            <a:off x="8182030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</p:txBody>
      </p:sp>
      <p:sp>
        <p:nvSpPr>
          <p:cNvPr id="47" name="本文_東証スタンダード市場に上場"/>
          <p:cNvSpPr txBox="1"/>
          <p:nvPr/>
        </p:nvSpPr>
        <p:spPr>
          <a:xfrm>
            <a:off x="8182030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事業成長の加速へ</a:t>
            </a:r>
          </a:p>
        </p:txBody>
      </p:sp>
      <p:cxnSp>
        <p:nvCxnSpPr>
          <p:cNvPr id="48" name="接続線"/>
          <p:cNvCxnSpPr/>
          <p:nvPr/>
        </p:nvCxnSpPr>
        <p:spPr>
          <a:xfrm>
            <a:off x="10712046" y="2790770"/>
            <a:ext cx="0" cy="115729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接続点"/>
          <p:cNvSpPr/>
          <p:nvPr/>
        </p:nvSpPr>
        <p:spPr>
          <a:xfrm>
            <a:off x="10662714" y="3898728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カード_7種109拠点／1,250名"/>
          <p:cNvSpPr/>
          <p:nvPr/>
        </p:nvSpPr>
        <p:spPr>
          <a:xfrm>
            <a:off x="9175713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年タグ"/>
          <p:cNvSpPr/>
          <p:nvPr/>
        </p:nvSpPr>
        <p:spPr>
          <a:xfrm>
            <a:off x="9358946" y="1536333"/>
            <a:ext cx="507413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年"/>
          <p:cNvSpPr txBox="1"/>
          <p:nvPr/>
        </p:nvSpPr>
        <p:spPr>
          <a:xfrm>
            <a:off x="9358946" y="1536333"/>
            <a:ext cx="507413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</p:txBody>
      </p:sp>
      <p:sp>
        <p:nvSpPr>
          <p:cNvPr id="53" name="本文_7種109拠点／1,250名"/>
          <p:cNvSpPr txBox="1"/>
          <p:nvPr/>
        </p:nvSpPr>
        <p:spPr>
          <a:xfrm>
            <a:off x="9358946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7種109拠点／1,250名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（従業員数は2023年4月時点）</a:t>
            </a:r>
          </a:p>
        </p:txBody>
      </p:sp>
      <p:sp>
        <p:nvSpPr>
          <p:cNvPr id="5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企業説明会資料、経営者ヒアリング、決算説明資料。</a:t>
            </a:r>
          </a:p>
        </p:txBody>
      </p:sp>
      <p:sp>
        <p:nvSpPr>
          <p:cNvPr id="55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カード"/>
          <p:cNvSpPr/>
          <p:nvPr/>
        </p:nvSpPr>
        <p:spPr>
          <a:xfrm>
            <a:off x="6201711" y="1465859"/>
            <a:ext cx="5370118" cy="1846418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拠点見出し"/>
          <p:cNvSpPr txBox="1"/>
          <p:nvPr/>
        </p:nvSpPr>
        <p:spPr>
          <a:xfrm>
            <a:off x="6455417" y="1649091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2" name="数字_拠点"/>
          <p:cNvSpPr txBox="1"/>
          <p:nvPr/>
        </p:nvSpPr>
        <p:spPr>
          <a:xfrm>
            <a:off x="6455417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3" name="区切り"/>
          <p:cNvCxnSpPr/>
          <p:nvPr/>
        </p:nvCxnSpPr>
        <p:spPr>
          <a:xfrm>
            <a:off x="7977655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数字_種のサービス"/>
          <p:cNvSpPr txBox="1"/>
          <p:nvPr/>
        </p:nvSpPr>
        <p:spPr>
          <a:xfrm>
            <a:off x="8076319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9598557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数字_県"/>
          <p:cNvSpPr txBox="1"/>
          <p:nvPr/>
        </p:nvSpPr>
        <p:spPr>
          <a:xfrm>
            <a:off x="9697221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7" name="県別"/>
          <p:cNvSpPr txBox="1"/>
          <p:nvPr/>
        </p:nvSpPr>
        <p:spPr>
          <a:xfrm>
            <a:off x="6455417" y="2889434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長野57・新潟15・埼玉15・群馬12・栃木10</a:t>
            </a:r>
          </a:p>
        </p:txBody>
      </p:sp>
      <p:sp>
        <p:nvSpPr>
          <p:cNvPr id="18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9" name="カード_自宅で暮らし続ける"/>
          <p:cNvSpPr/>
          <p:nvPr/>
        </p:nvSpPr>
        <p:spPr>
          <a:xfrm>
            <a:off x="620171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sp>
        <p:nvSpPr>
          <p:cNvPr id="23" name="タイル_訪問介護"/>
          <p:cNvSpPr/>
          <p:nvPr/>
        </p:nvSpPr>
        <p:spPr>
          <a:xfrm>
            <a:off x="761119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sp>
        <p:nvSpPr>
          <p:cNvPr id="26" name="タイル_訪問看護"/>
          <p:cNvSpPr/>
          <p:nvPr/>
        </p:nvSpPr>
        <p:spPr>
          <a:xfrm>
            <a:off x="761119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9" name="カード_通い・訪問・泊まりで支える"/>
          <p:cNvSpPr/>
          <p:nvPr/>
        </p:nvSpPr>
        <p:spPr>
          <a:xfrm>
            <a:off x="4336499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sp>
        <p:nvSpPr>
          <p:cNvPr id="33" name="タイル_デイサービス"/>
          <p:cNvSpPr/>
          <p:nvPr/>
        </p:nvSpPr>
        <p:spPr>
          <a:xfrm>
            <a:off x="4477447" y="4651283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sp>
        <p:nvSpPr>
          <p:cNvPr id="36" name="タイル_小規模多機能型"/>
          <p:cNvSpPr/>
          <p:nvPr/>
        </p:nvSpPr>
        <p:spPr>
          <a:xfrm>
            <a:off x="4477447" y="5205679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sp>
        <p:nvSpPr>
          <p:cNvPr id="39" name="タイル_看護小規模多機能型"/>
          <p:cNvSpPr/>
          <p:nvPr/>
        </p:nvSpPr>
        <p:spPr>
          <a:xfrm>
            <a:off x="4477447" y="5760074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42" name="カード_住まいで暮らす"/>
          <p:cNvSpPr/>
          <p:nvPr/>
        </p:nvSpPr>
        <p:spPr>
          <a:xfrm>
            <a:off x="8052828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sp>
        <p:nvSpPr>
          <p:cNvPr id="46" name="タイル_有料老人ホーム"/>
          <p:cNvSpPr/>
          <p:nvPr/>
        </p:nvSpPr>
        <p:spPr>
          <a:xfrm>
            <a:off x="8193776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sp>
        <p:nvSpPr>
          <p:cNvPr id="49" name="タイル_グループホーム"/>
          <p:cNvSpPr/>
          <p:nvPr/>
        </p:nvSpPr>
        <p:spPr>
          <a:xfrm>
            <a:off x="8193776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カード"/>
          <p:cNvSpPr/>
          <p:nvPr/>
        </p:nvSpPr>
        <p:spPr>
          <a:xfrm>
            <a:off x="620171" y="1465859"/>
            <a:ext cx="7329295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売上見出し"/>
          <p:cNvSpPr txBox="1"/>
          <p:nvPr/>
        </p:nvSpPr>
        <p:spPr>
          <a:xfrm>
            <a:off x="902067" y="1677281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10" name="凡例_用具"/>
          <p:cNvSpPr/>
          <p:nvPr/>
        </p:nvSpPr>
        <p:spPr>
          <a:xfrm>
            <a:off x="4707662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凡例文字_用具"/>
          <p:cNvSpPr txBox="1"/>
          <p:nvPr/>
        </p:nvSpPr>
        <p:spPr>
          <a:xfrm>
            <a:off x="4933179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2" name="凡例_介護"/>
          <p:cNvSpPr/>
          <p:nvPr/>
        </p:nvSpPr>
        <p:spPr>
          <a:xfrm>
            <a:off x="5694298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凡例文字_介護"/>
          <p:cNvSpPr txBox="1"/>
          <p:nvPr/>
        </p:nvSpPr>
        <p:spPr>
          <a:xfrm>
            <a:off x="5919815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4" name="凡例_居宅"/>
          <p:cNvSpPr/>
          <p:nvPr/>
        </p:nvSpPr>
        <p:spPr>
          <a:xfrm>
            <a:off x="6680934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凡例文字_居宅"/>
          <p:cNvSpPr txBox="1"/>
          <p:nvPr/>
        </p:nvSpPr>
        <p:spPr>
          <a:xfrm>
            <a:off x="6906451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6" name="単位"/>
          <p:cNvSpPr txBox="1"/>
          <p:nvPr/>
        </p:nvSpPr>
        <p:spPr>
          <a:xfrm>
            <a:off x="902067" y="1987366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7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9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1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3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4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8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9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3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4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8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9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3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4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8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9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3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4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8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9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3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4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8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9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1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3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5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6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年"/>
          <p:cNvSpPr/>
          <p:nvPr/>
        </p:nvSpPr>
        <p:spPr>
          <a:xfrm>
            <a:off x="916162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年_2013年"/>
          <p:cNvSpPr txBox="1"/>
          <p:nvPr/>
        </p:nvSpPr>
        <p:spPr>
          <a:xfrm>
            <a:off x="916162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2013年</a:t>
            </a:r>
          </a:p>
        </p:txBody>
      </p:sp>
      <p:sp>
        <p:nvSpPr>
          <p:cNvPr id="79" name="年"/>
          <p:cNvSpPr/>
          <p:nvPr/>
        </p:nvSpPr>
        <p:spPr>
          <a:xfrm>
            <a:off x="6976925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年_2023年"/>
          <p:cNvSpPr txBox="1"/>
          <p:nvPr/>
        </p:nvSpPr>
        <p:spPr>
          <a:xfrm>
            <a:off x="6976925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2023年</a:t>
            </a:r>
          </a:p>
        </p:txBody>
      </p:sp>
      <p:sp>
        <p:nvSpPr>
          <p:cNvPr id="81" name="戦略カード"/>
          <p:cNvSpPr/>
          <p:nvPr/>
        </p:nvSpPr>
        <p:spPr>
          <a:xfrm>
            <a:off x="8174983" y="1465859"/>
            <a:ext cx="3396846" cy="4890895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戦略見出し"/>
          <p:cNvSpPr txBox="1"/>
          <p:nvPr/>
        </p:nvSpPr>
        <p:spPr>
          <a:xfrm>
            <a:off x="8428689" y="1677281"/>
            <a:ext cx="2889434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3" name="タグ"/>
          <p:cNvSpPr/>
          <p:nvPr/>
        </p:nvSpPr>
        <p:spPr>
          <a:xfrm>
            <a:off x="8428689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福祉用具事業"/>
          <p:cNvSpPr txBox="1"/>
          <p:nvPr/>
        </p:nvSpPr>
        <p:spPr>
          <a:xfrm>
            <a:off x="8428689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5" name="戦略_福祉用具事業"/>
          <p:cNvSpPr txBox="1"/>
          <p:nvPr/>
        </p:nvSpPr>
        <p:spPr>
          <a:xfrm>
            <a:off x="8428689" y="2551158"/>
            <a:ext cx="2889434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6" name="タグ"/>
          <p:cNvSpPr/>
          <p:nvPr/>
        </p:nvSpPr>
        <p:spPr>
          <a:xfrm>
            <a:off x="8428689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介護事業"/>
          <p:cNvSpPr txBox="1"/>
          <p:nvPr/>
        </p:nvSpPr>
        <p:spPr>
          <a:xfrm>
            <a:off x="8428689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8" name="戦略_介護事業"/>
          <p:cNvSpPr txBox="1"/>
          <p:nvPr/>
        </p:nvSpPr>
        <p:spPr>
          <a:xfrm>
            <a:off x="8428689" y="3763311"/>
            <a:ext cx="2889434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9" name="タグ"/>
          <p:cNvSpPr/>
          <p:nvPr/>
        </p:nvSpPr>
        <p:spPr>
          <a:xfrm>
            <a:off x="8428689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タグ文字_人と技術"/>
          <p:cNvSpPr txBox="1"/>
          <p:nvPr/>
        </p:nvSpPr>
        <p:spPr>
          <a:xfrm>
            <a:off x="8428689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91" name="戦略_人と技術"/>
          <p:cNvSpPr txBox="1"/>
          <p:nvPr/>
        </p:nvSpPr>
        <p:spPr>
          <a:xfrm>
            <a:off x="8428689" y="5511066"/>
            <a:ext cx="2889434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9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8" name="グラフ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グラフ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10" name="拠点数グラフ"/>
          <p:cNvGraphicFramePr>
            <a:graphicFrameLocks noGrp="1"/>
          </p:cNvGraphicFramePr>
          <p:nvPr/>
        </p:nvGraphicFramePr>
        <p:xfrm>
          <a:off x="831593" y="2057840"/>
          <a:ext cx="5919815" cy="41156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サービスカード"/>
          <p:cNvSpPr/>
          <p:nvPr/>
        </p:nvSpPr>
        <p:spPr>
          <a:xfrm>
            <a:off x="7188347" y="1465859"/>
            <a:ext cx="4383482" cy="21142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見出し"/>
          <p:cNvSpPr txBox="1"/>
          <p:nvPr/>
        </p:nvSpPr>
        <p:spPr>
          <a:xfrm>
            <a:off x="7442053" y="1663186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3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3" name="サービス_有料老人ホーム"/>
          <p:cNvSpPr/>
          <p:nvPr/>
        </p:nvSpPr>
        <p:spPr>
          <a:xfrm>
            <a:off x="7442053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有料老人ホーム"/>
          <p:cNvSpPr txBox="1"/>
          <p:nvPr/>
        </p:nvSpPr>
        <p:spPr>
          <a:xfrm>
            <a:off x="7442053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5" name="サービス_グループホーム"/>
          <p:cNvSpPr/>
          <p:nvPr/>
        </p:nvSpPr>
        <p:spPr>
          <a:xfrm>
            <a:off x="9436467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グループホーム"/>
          <p:cNvSpPr txBox="1"/>
          <p:nvPr/>
        </p:nvSpPr>
        <p:spPr>
          <a:xfrm>
            <a:off x="9436467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7" name="サービス_デイサービス"/>
          <p:cNvSpPr/>
          <p:nvPr/>
        </p:nvSpPr>
        <p:spPr>
          <a:xfrm>
            <a:off x="7442053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デイサービス"/>
          <p:cNvSpPr txBox="1"/>
          <p:nvPr/>
        </p:nvSpPr>
        <p:spPr>
          <a:xfrm>
            <a:off x="7442053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9" name="サービス_小規模多機能"/>
          <p:cNvSpPr/>
          <p:nvPr/>
        </p:nvSpPr>
        <p:spPr>
          <a:xfrm>
            <a:off x="9436467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小規模多機能"/>
          <p:cNvSpPr txBox="1"/>
          <p:nvPr/>
        </p:nvSpPr>
        <p:spPr>
          <a:xfrm>
            <a:off x="9436467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21" name="サービス_看護小規模多機能型"/>
          <p:cNvSpPr/>
          <p:nvPr/>
        </p:nvSpPr>
        <p:spPr>
          <a:xfrm>
            <a:off x="7442053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看護小規模多機能型"/>
          <p:cNvSpPr txBox="1"/>
          <p:nvPr/>
        </p:nvSpPr>
        <p:spPr>
          <a:xfrm>
            <a:off x="7442053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3" name="サービス_訪問介護"/>
          <p:cNvSpPr/>
          <p:nvPr/>
        </p:nvSpPr>
        <p:spPr>
          <a:xfrm>
            <a:off x="9436467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介護"/>
          <p:cNvSpPr txBox="1"/>
          <p:nvPr/>
        </p:nvSpPr>
        <p:spPr>
          <a:xfrm>
            <a:off x="9436467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5" name="サービス_訪問看護"/>
          <p:cNvSpPr/>
          <p:nvPr/>
        </p:nvSpPr>
        <p:spPr>
          <a:xfrm>
            <a:off x="7442053" y="3453225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文字_訪問看護"/>
          <p:cNvSpPr txBox="1"/>
          <p:nvPr/>
        </p:nvSpPr>
        <p:spPr>
          <a:xfrm>
            <a:off x="7442053" y="3453225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7" name="ツアーカード"/>
          <p:cNvSpPr/>
          <p:nvPr/>
        </p:nvSpPr>
        <p:spPr>
          <a:xfrm>
            <a:off x="7188347" y="3805595"/>
            <a:ext cx="4383482" cy="2551158"/>
          </a:xfrm>
          <a:prstGeom prst="roundRect">
            <a:avLst>
              <a:gd name="adj" fmla="val 552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ツアー見出し"/>
          <p:cNvSpPr txBox="1"/>
          <p:nvPr/>
        </p:nvSpPr>
        <p:spPr>
          <a:xfrm>
            <a:off x="7442053" y="4002923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9" name="県"/>
          <p:cNvSpPr/>
          <p:nvPr/>
        </p:nvSpPr>
        <p:spPr>
          <a:xfrm>
            <a:off x="7442053" y="446276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県_長野県"/>
          <p:cNvSpPr txBox="1"/>
          <p:nvPr/>
        </p:nvSpPr>
        <p:spPr>
          <a:xfrm>
            <a:off x="7442053" y="446276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1" name="拠点数_長野県"/>
          <p:cNvSpPr txBox="1"/>
          <p:nvPr/>
        </p:nvSpPr>
        <p:spPr>
          <a:xfrm>
            <a:off x="8485068" y="4397577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2" name="所在地_長野県"/>
          <p:cNvSpPr txBox="1"/>
          <p:nvPr/>
        </p:nvSpPr>
        <p:spPr>
          <a:xfrm>
            <a:off x="9232092" y="4397577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3" name="県"/>
          <p:cNvSpPr/>
          <p:nvPr/>
        </p:nvSpPr>
        <p:spPr>
          <a:xfrm>
            <a:off x="7442053" y="49314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県_新潟県"/>
          <p:cNvSpPr txBox="1"/>
          <p:nvPr/>
        </p:nvSpPr>
        <p:spPr>
          <a:xfrm>
            <a:off x="7442053" y="49314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5" name="拠点数_新潟県"/>
          <p:cNvSpPr txBox="1"/>
          <p:nvPr/>
        </p:nvSpPr>
        <p:spPr>
          <a:xfrm>
            <a:off x="8485068" y="4866229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6" name="所在地_新潟県"/>
          <p:cNvSpPr txBox="1"/>
          <p:nvPr/>
        </p:nvSpPr>
        <p:spPr>
          <a:xfrm>
            <a:off x="9232092" y="4866229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7" name="県"/>
          <p:cNvSpPr/>
          <p:nvPr/>
        </p:nvSpPr>
        <p:spPr>
          <a:xfrm>
            <a:off x="7442053" y="5400069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県_栃木県"/>
          <p:cNvSpPr txBox="1"/>
          <p:nvPr/>
        </p:nvSpPr>
        <p:spPr>
          <a:xfrm>
            <a:off x="7442053" y="5400069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9" name="拠点数_栃木県"/>
          <p:cNvSpPr txBox="1"/>
          <p:nvPr/>
        </p:nvSpPr>
        <p:spPr>
          <a:xfrm>
            <a:off x="8485068" y="5334881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40" name="所在地_栃木県"/>
          <p:cNvSpPr txBox="1"/>
          <p:nvPr/>
        </p:nvSpPr>
        <p:spPr>
          <a:xfrm>
            <a:off x="9232092" y="5334881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1" name="県"/>
          <p:cNvSpPr/>
          <p:nvPr/>
        </p:nvSpPr>
        <p:spPr>
          <a:xfrm>
            <a:off x="7442053" y="5868721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県_埼玉県"/>
          <p:cNvSpPr txBox="1"/>
          <p:nvPr/>
        </p:nvSpPr>
        <p:spPr>
          <a:xfrm>
            <a:off x="7442053" y="5868721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3" name="拠点数_埼玉県"/>
          <p:cNvSpPr txBox="1"/>
          <p:nvPr/>
        </p:nvSpPr>
        <p:spPr>
          <a:xfrm>
            <a:off x="8485068" y="5803533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4" name="所在地_埼玉県"/>
          <p:cNvSpPr txBox="1"/>
          <p:nvPr/>
        </p:nvSpPr>
        <p:spPr>
          <a:xfrm>
            <a:off x="9232092" y="5803533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8" name="コンセプト"/>
          <p:cNvSpPr/>
          <p:nvPr/>
        </p:nvSpPr>
        <p:spPr>
          <a:xfrm>
            <a:off x="620171" y="1465859"/>
            <a:ext cx="4961369" cy="3467320"/>
          </a:xfrm>
          <a:prstGeom prst="roundRect">
            <a:avLst>
              <a:gd name="adj" fmla="val 4878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本文"/>
          <p:cNvSpPr txBox="1"/>
          <p:nvPr/>
        </p:nvSpPr>
        <p:spPr>
          <a:xfrm>
            <a:off x="986636" y="1775945"/>
            <a:ext cx="4228439" cy="2903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776"/>
              </a:spcAft>
            </a:pPr>
            <a:r>
              <a:rPr sz="998" b="1" spc="5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421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1220"/>
              </a:spcAft>
            </a:pPr>
            <a:r>
              <a:rPr sz="4217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  <a:p>
            <a:pPr algn="l">
              <a:lnSpc>
                <a:spcPts val="2164"/>
              </a:lnSpc>
              <a:spcBef>
                <a:spcPts val="0"/>
              </a:spcBef>
              <a:spcAft>
                <a:spcPts val="776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10" name="カード_目的"/>
          <p:cNvSpPr/>
          <p:nvPr/>
        </p:nvSpPr>
        <p:spPr>
          <a:xfrm>
            <a:off x="5807057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文_目的"/>
          <p:cNvSpPr txBox="1"/>
          <p:nvPr/>
        </p:nvSpPr>
        <p:spPr>
          <a:xfrm>
            <a:off x="6046668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2" name="カード_対象"/>
          <p:cNvSpPr/>
          <p:nvPr/>
        </p:nvSpPr>
        <p:spPr>
          <a:xfrm>
            <a:off x="8802201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文_対象"/>
          <p:cNvSpPr txBox="1"/>
          <p:nvPr/>
        </p:nvSpPr>
        <p:spPr>
          <a:xfrm>
            <a:off x="9041813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14" name="カード_費用"/>
          <p:cNvSpPr/>
          <p:nvPr/>
        </p:nvSpPr>
        <p:spPr>
          <a:xfrm>
            <a:off x="5807057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本文_費用"/>
          <p:cNvSpPr txBox="1"/>
          <p:nvPr/>
        </p:nvSpPr>
        <p:spPr>
          <a:xfrm>
            <a:off x="6046668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110"/>
              </a:spcAft>
            </a:pPr>
            <a:r>
              <a:rPr sz="332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16" name="カード_期間・時間"/>
          <p:cNvSpPr/>
          <p:nvPr/>
        </p:nvSpPr>
        <p:spPr>
          <a:xfrm>
            <a:off x="8802201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文_期間・時間"/>
          <p:cNvSpPr txBox="1"/>
          <p:nvPr/>
        </p:nvSpPr>
        <p:spPr>
          <a:xfrm>
            <a:off x="9041813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18" name="カード_拠点"/>
          <p:cNvSpPr/>
          <p:nvPr/>
        </p:nvSpPr>
        <p:spPr>
          <a:xfrm>
            <a:off x="620171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拠点"/>
          <p:cNvSpPr txBox="1"/>
          <p:nvPr/>
        </p:nvSpPr>
        <p:spPr>
          <a:xfrm>
            <a:off x="859783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拠点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20" name="カード_種のサービス"/>
          <p:cNvSpPr/>
          <p:nvPr/>
        </p:nvSpPr>
        <p:spPr>
          <a:xfrm>
            <a:off x="3414465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本文_種のサービス"/>
          <p:cNvSpPr txBox="1"/>
          <p:nvPr/>
        </p:nvSpPr>
        <p:spPr>
          <a:xfrm>
            <a:off x="3654076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種のサービス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22" name="カード_つのプログラム"/>
          <p:cNvSpPr/>
          <p:nvPr/>
        </p:nvSpPr>
        <p:spPr>
          <a:xfrm>
            <a:off x="6208758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文_つのプログラム"/>
          <p:cNvSpPr txBox="1"/>
          <p:nvPr/>
        </p:nvSpPr>
        <p:spPr>
          <a:xfrm>
            <a:off x="6448370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つのプログラム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24" name="カード_事業所"/>
          <p:cNvSpPr/>
          <p:nvPr/>
        </p:nvSpPr>
        <p:spPr>
          <a:xfrm>
            <a:off x="9003052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事業所"/>
          <p:cNvSpPr txBox="1"/>
          <p:nvPr/>
        </p:nvSpPr>
        <p:spPr>
          <a:xfrm>
            <a:off x="9242664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事業所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2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日程・内容は調整中です。決まり次第ご案内します。</a:t>
            </a:r>
          </a:p>
        </p:txBody>
      </p:sp>
      <p:sp>
        <p:nvSpPr>
          <p:cNvPr id="2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