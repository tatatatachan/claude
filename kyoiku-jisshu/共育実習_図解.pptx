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63" r:id="rId15"/>
    <p:sldId id="264" r:id="rId16"/>
    <p:sldId id="265" r:id="rId17"/>
    <p:sldId id="259" r:id="rId11"/>
    <p:sldId id="260" r:id="rId12"/>
    <p:sldId id="261" r:id="rId13"/>
    <p:sldId id="262" r:id="rId14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拠点数</c:v>
                </c:pt>
              </c:strCache>
            </c:strRef>
          </c:tx>
          <c:dPt>
            <c:idx val="0"/>
            <c:spPr>
              <a:solidFill>
                <a:srgbClr val="F28C3C"/>
              </a:solidFill>
            </c:spPr>
          </c:dPt>
          <c:dPt>
            <c:idx val="1"/>
            <c:spPr>
              <a:solidFill>
                <a:srgbClr val="3FB39D"/>
              </a:solidFill>
            </c:spPr>
          </c:dPt>
          <c:dPt>
            <c:idx val="2"/>
            <c:spPr>
              <a:solidFill>
                <a:srgbClr val="3FB39D"/>
              </a:solidFill>
            </c:spPr>
          </c:dPt>
          <c:dPt>
            <c:idx val="3"/>
            <c:spPr>
              <a:solidFill>
                <a:srgbClr val="3FB39D"/>
              </a:solidFill>
            </c:spPr>
          </c:dPt>
          <c:dPt>
            <c:idx val="4"/>
            <c:spPr>
              <a:solidFill>
                <a:srgbClr val="3FB39D"/>
              </a:solidFill>
            </c:spPr>
          </c:dPt>
          <c:cat>
            <c:strRef>
              <c:f>Sheet1!$A$2:$A$6</c:f>
              <c:strCache>
                <c:ptCount val="5"/>
                <c:pt idx="0">
                  <c:v>長野県</c:v>
                </c:pt>
                <c:pt idx="1">
                  <c:v>新潟県</c:v>
                </c:pt>
                <c:pt idx="2">
                  <c:v>埼玉県</c:v>
                </c:pt>
                <c:pt idx="3">
                  <c:v>群馬県</c:v>
                </c:pt>
                <c:pt idx="4">
                  <c:v>栃木県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15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600" b="1">
                  <a:latin typeface="游ゴシック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6D1"/>
            </a:solidFill>
          </a:ln>
        </c:spPr>
        <c:txPr>
          <a:bodyPr/>
          <a:lstStyle/>
          <a:p>
            <a:pPr>
              <a:defRPr sz="2200">
                <a:latin typeface="游ゴシック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実習ブランドが育つ循環：共育実習を行う→声が集まる→実習サイトに載せる→見て、動く→次の共育実習へ。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エフビー介護サービス 実習応募サイト（制作中）の概要。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実習サイト「エフビー流の学び」の循環図を整理。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1DAY（9:30〜15:00ごろ）と5DAYS（5日間）。内容は調整中。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申込から振り返りまでの4ステップと、サイトのコンテンツ構成。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7種109拠点。長野57・新潟15・埼玉15・群馬12・栃木10。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創業からの想いと、介護で大切にしている姿勢。出典：エフビー介護サービス 企業説明会資料、経営者ヒアリング。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わたしたちのちょっとしたこだわり。小規模な施設をメインに、信越・北関東に7種109拠点。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福祉用具レンタル・販売と各種介護サービスの2本柱で拡大。2022年4月東証スタンダード上場。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6" name="矢印_1から2"/>
          <p:cNvSpPr/>
          <p:nvPr/>
        </p:nvSpPr>
        <p:spPr>
          <a:xfrm>
            <a:off x="4228439" y="1677280"/>
            <a:ext cx="3735121" cy="451033"/>
          </a:xfrm>
          <a:prstGeom prst="rightArrow">
            <a:avLst>
              <a:gd name="adj1" fmla="val 50000"/>
              <a:gd name="adj2" fmla="val 5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矢印_2から3"/>
          <p:cNvSpPr/>
          <p:nvPr/>
        </p:nvSpPr>
        <p:spPr>
          <a:xfrm>
            <a:off x="9711315" y="2579347"/>
            <a:ext cx="394654" cy="944351"/>
          </a:xfrm>
          <a:prstGeom prst="downArrow">
            <a:avLst>
              <a:gd name="adj1" fmla="val 50000"/>
              <a:gd name="adj2" fmla="val 55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矢印_3から4"/>
          <p:cNvSpPr/>
          <p:nvPr/>
        </p:nvSpPr>
        <p:spPr>
          <a:xfrm>
            <a:off x="4228439" y="4045206"/>
            <a:ext cx="3735121" cy="451033"/>
          </a:xfrm>
          <a:prstGeom prst="leftArrow">
            <a:avLst>
              <a:gd name="adj1" fmla="val 50000"/>
              <a:gd name="adj2" fmla="val 5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矢印_4から1"/>
          <p:cNvSpPr/>
          <p:nvPr/>
        </p:nvSpPr>
        <p:spPr>
          <a:xfrm>
            <a:off x="2086030" y="2579347"/>
            <a:ext cx="394654" cy="944351"/>
          </a:xfrm>
          <a:prstGeom prst="upArrow">
            <a:avLst>
              <a:gd name="adj1" fmla="val 50000"/>
              <a:gd name="adj2" fmla="val 55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循環ラベル"/>
          <p:cNvSpPr txBox="1"/>
          <p:nvPr/>
        </p:nvSpPr>
        <p:spPr>
          <a:xfrm>
            <a:off x="2621632" y="2917623"/>
            <a:ext cx="3241803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次の共育実習につながる</a:t>
            </a:r>
          </a:p>
        </p:txBody>
      </p:sp>
      <p:sp>
        <p:nvSpPr>
          <p:cNvPr id="11" name="広がる輪"/>
          <p:cNvSpPr/>
          <p:nvPr/>
        </p:nvSpPr>
        <p:spPr>
          <a:xfrm>
            <a:off x="5306691" y="2156504"/>
            <a:ext cx="1578617" cy="1578617"/>
          </a:xfrm>
          <a:prstGeom prst="ellipse">
            <a:avLst/>
          </a:prstGeom>
          <a:solidFill>
            <a:srgbClr val="D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広がる輪"/>
          <p:cNvSpPr/>
          <p:nvPr/>
        </p:nvSpPr>
        <p:spPr>
          <a:xfrm>
            <a:off x="5489923" y="2339736"/>
            <a:ext cx="1212152" cy="1212152"/>
          </a:xfrm>
          <a:prstGeom prst="ellipse">
            <a:avLst/>
          </a:prstGeom>
          <a:solidFill>
            <a:srgbClr val="A9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広がる輪"/>
          <p:cNvSpPr/>
          <p:nvPr/>
        </p:nvSpPr>
        <p:spPr>
          <a:xfrm>
            <a:off x="5673156" y="2522968"/>
            <a:ext cx="845687" cy="845687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中央1"/>
          <p:cNvSpPr txBox="1"/>
          <p:nvPr/>
        </p:nvSpPr>
        <p:spPr>
          <a:xfrm>
            <a:off x="5616776" y="2706201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</a:t>
            </a:r>
          </a:p>
        </p:txBody>
      </p:sp>
      <p:sp>
        <p:nvSpPr>
          <p:cNvPr id="15" name="中央2"/>
          <p:cNvSpPr txBox="1"/>
          <p:nvPr/>
        </p:nvSpPr>
        <p:spPr>
          <a:xfrm>
            <a:off x="5616776" y="2917623"/>
            <a:ext cx="958446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ブランド</a:t>
            </a:r>
          </a:p>
        </p:txBody>
      </p:sp>
      <p:sp>
        <p:nvSpPr>
          <p:cNvPr id="16" name="帯"/>
          <p:cNvSpPr/>
          <p:nvPr/>
        </p:nvSpPr>
        <p:spPr>
          <a:xfrm>
            <a:off x="5461734" y="3763310"/>
            <a:ext cx="1268531" cy="23961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帯文字"/>
          <p:cNvSpPr txBox="1"/>
          <p:nvPr/>
        </p:nvSpPr>
        <p:spPr>
          <a:xfrm>
            <a:off x="5461734" y="3763310"/>
            <a:ext cx="1268531" cy="2396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回るほど育つ</a:t>
            </a:r>
          </a:p>
        </p:txBody>
      </p:sp>
      <p:sp>
        <p:nvSpPr>
          <p:cNvPr id="18" name="カード_共育実習を行う"/>
          <p:cNvSpPr/>
          <p:nvPr/>
        </p:nvSpPr>
        <p:spPr>
          <a:xfrm>
            <a:off x="451033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"/>
          <p:cNvSpPr/>
          <p:nvPr/>
        </p:nvSpPr>
        <p:spPr>
          <a:xfrm>
            <a:off x="676550" y="1451764"/>
            <a:ext cx="366464" cy="36646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1"/>
          <p:cNvSpPr txBox="1"/>
          <p:nvPr/>
        </p:nvSpPr>
        <p:spPr>
          <a:xfrm>
            <a:off x="676550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2" name="要点_共育実習を行う"/>
          <p:cNvSpPr txBox="1"/>
          <p:nvPr/>
        </p:nvSpPr>
        <p:spPr>
          <a:xfrm>
            <a:off x="1169868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23" name="説明_共育実習を行う"/>
          <p:cNvSpPr txBox="1"/>
          <p:nvPr/>
        </p:nvSpPr>
        <p:spPr>
          <a:xfrm>
            <a:off x="704739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4" name="カード_声が集まる"/>
          <p:cNvSpPr/>
          <p:nvPr/>
        </p:nvSpPr>
        <p:spPr>
          <a:xfrm>
            <a:off x="8076319" y="1268531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"/>
          <p:cNvSpPr/>
          <p:nvPr/>
        </p:nvSpPr>
        <p:spPr>
          <a:xfrm>
            <a:off x="8301835" y="1451764"/>
            <a:ext cx="366464" cy="366464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番号文字2"/>
          <p:cNvSpPr txBox="1"/>
          <p:nvPr/>
        </p:nvSpPr>
        <p:spPr>
          <a:xfrm>
            <a:off x="8301835" y="1451764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8" name="要点_声が集まる"/>
          <p:cNvSpPr txBox="1"/>
          <p:nvPr/>
        </p:nvSpPr>
        <p:spPr>
          <a:xfrm>
            <a:off x="8795153" y="1479953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9" name="説明_声が集まる"/>
          <p:cNvSpPr txBox="1"/>
          <p:nvPr/>
        </p:nvSpPr>
        <p:spPr>
          <a:xfrm>
            <a:off x="8330025" y="1945082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30" name="カード_実習サイトに載せる"/>
          <p:cNvSpPr/>
          <p:nvPr/>
        </p:nvSpPr>
        <p:spPr>
          <a:xfrm>
            <a:off x="8076319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番号"/>
          <p:cNvSpPr/>
          <p:nvPr/>
        </p:nvSpPr>
        <p:spPr>
          <a:xfrm>
            <a:off x="8301835" y="3819690"/>
            <a:ext cx="366464" cy="36646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番号文字3"/>
          <p:cNvSpPr txBox="1"/>
          <p:nvPr/>
        </p:nvSpPr>
        <p:spPr>
          <a:xfrm>
            <a:off x="8301835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4" name="要点_実習サイトに載せる"/>
          <p:cNvSpPr txBox="1"/>
          <p:nvPr/>
        </p:nvSpPr>
        <p:spPr>
          <a:xfrm>
            <a:off x="8795153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5" name="説明_実習サイトに載せる"/>
          <p:cNvSpPr txBox="1"/>
          <p:nvPr/>
        </p:nvSpPr>
        <p:spPr>
          <a:xfrm>
            <a:off x="8330025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6" name="カード_見て、動く"/>
          <p:cNvSpPr/>
          <p:nvPr/>
        </p:nvSpPr>
        <p:spPr>
          <a:xfrm>
            <a:off x="451033" y="3636457"/>
            <a:ext cx="3664647" cy="11980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"/>
          <p:cNvSpPr/>
          <p:nvPr/>
        </p:nvSpPr>
        <p:spPr>
          <a:xfrm>
            <a:off x="676550" y="3819690"/>
            <a:ext cx="366464" cy="366464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番号文字4"/>
          <p:cNvSpPr txBox="1"/>
          <p:nvPr/>
        </p:nvSpPr>
        <p:spPr>
          <a:xfrm>
            <a:off x="676550" y="3819690"/>
            <a:ext cx="366464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40" name="要点_見て、動く"/>
          <p:cNvSpPr txBox="1"/>
          <p:nvPr/>
        </p:nvSpPr>
        <p:spPr>
          <a:xfrm>
            <a:off x="1169868" y="3847879"/>
            <a:ext cx="2818959" cy="3100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41" name="説明_見て、動く"/>
          <p:cNvSpPr txBox="1"/>
          <p:nvPr/>
        </p:nvSpPr>
        <p:spPr>
          <a:xfrm>
            <a:off x="704739" y="4313008"/>
            <a:ext cx="331227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2" name="ボックス_サイトに載せるもの"/>
          <p:cNvSpPr/>
          <p:nvPr/>
        </p:nvSpPr>
        <p:spPr>
          <a:xfrm>
            <a:off x="451033" y="5179838"/>
            <a:ext cx="5778867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51033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サイトに載せるもの_見出し"/>
          <p:cNvSpPr txBox="1"/>
          <p:nvPr/>
        </p:nvSpPr>
        <p:spPr>
          <a:xfrm>
            <a:off x="690645" y="5313738"/>
            <a:ext cx="535602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</p:txBody>
      </p:sp>
      <p:sp>
        <p:nvSpPr>
          <p:cNvPr id="45" name="サイトに載せるもの_本文"/>
          <p:cNvSpPr txBox="1"/>
          <p:nvPr/>
        </p:nvSpPr>
        <p:spPr>
          <a:xfrm>
            <a:off x="690645" y="5609729"/>
            <a:ext cx="5356023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学生が参加を決められる状態にする。</a:t>
            </a:r>
          </a:p>
        </p:txBody>
      </p:sp>
      <p:sp>
        <p:nvSpPr>
          <p:cNvPr id="46" name="ボックス_ほかの施策"/>
          <p:cNvSpPr/>
          <p:nvPr/>
        </p:nvSpPr>
        <p:spPr>
          <a:xfrm>
            <a:off x="6413132" y="5179838"/>
            <a:ext cx="5327833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413132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B8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ほかの施策_見出し"/>
          <p:cNvSpPr txBox="1"/>
          <p:nvPr/>
        </p:nvSpPr>
        <p:spPr>
          <a:xfrm>
            <a:off x="6652744" y="5313738"/>
            <a:ext cx="490498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</p:txBody>
      </p:sp>
      <p:sp>
        <p:nvSpPr>
          <p:cNvPr id="49" name="ほかの施策_本文"/>
          <p:cNvSpPr txBox="1"/>
          <p:nvPr/>
        </p:nvSpPr>
        <p:spPr>
          <a:xfrm>
            <a:off x="6652744" y="5609729"/>
            <a:ext cx="4904989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・関連大学・専門学校を増やす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・対応地域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・産官学で連携（次世代の育成を地域のみなさんで実施）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実習応募サイト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実習応募サイトの全体像</a:t>
            </a:r>
          </a:p>
        </p:txBody>
      </p:sp>
      <p:sp>
        <p:nvSpPr>
          <p:cNvPr id="6" name="コンセプト"/>
          <p:cNvSpPr/>
          <p:nvPr/>
        </p:nvSpPr>
        <p:spPr>
          <a:xfrm>
            <a:off x="451033" y="1268531"/>
            <a:ext cx="4933179" cy="3100855"/>
          </a:xfrm>
          <a:prstGeom prst="roundRect">
            <a:avLst>
              <a:gd name="adj" fmla="val 7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英字"/>
          <p:cNvSpPr txBox="1"/>
          <p:nvPr/>
        </p:nvSpPr>
        <p:spPr>
          <a:xfrm>
            <a:off x="732929" y="1451764"/>
            <a:ext cx="436938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6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CARE PRACTICE</a:t>
            </a:r>
          </a:p>
        </p:txBody>
      </p:sp>
      <p:sp>
        <p:nvSpPr>
          <p:cNvPr id="8" name="コピー1"/>
          <p:cNvSpPr txBox="1"/>
          <p:nvPr/>
        </p:nvSpPr>
        <p:spPr>
          <a:xfrm>
            <a:off x="732929" y="1691375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FUN LIFE!</a:t>
            </a:r>
          </a:p>
        </p:txBody>
      </p:sp>
      <p:sp>
        <p:nvSpPr>
          <p:cNvPr id="9" name="コピー2"/>
          <p:cNvSpPr txBox="1"/>
          <p:nvPr/>
        </p:nvSpPr>
        <p:spPr>
          <a:xfrm>
            <a:off x="732929" y="2297452"/>
            <a:ext cx="4369387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FFE08A"/>
                </a:solidFill>
                <a:latin typeface="游ゴシック"/>
                <a:ea typeface="游ゴシック"/>
                <a:cs typeface="游ゴシック"/>
              </a:rPr>
              <a:t>FUN LOCAL!</a:t>
            </a:r>
          </a:p>
        </p:txBody>
      </p:sp>
      <p:sp>
        <p:nvSpPr>
          <p:cNvPr id="10" name="サブコピー"/>
          <p:cNvSpPr txBox="1"/>
          <p:nvPr/>
        </p:nvSpPr>
        <p:spPr>
          <a:xfrm>
            <a:off x="732929" y="3044476"/>
            <a:ext cx="4369387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生きがい、持ち寄る。地域の未来。</a:t>
            </a:r>
          </a:p>
        </p:txBody>
      </p:sp>
      <p:sp>
        <p:nvSpPr>
          <p:cNvPr id="11" name="メッセージ"/>
          <p:cNvSpPr txBox="1"/>
          <p:nvPr/>
        </p:nvSpPr>
        <p:spPr>
          <a:xfrm>
            <a:off x="732929" y="3481415"/>
            <a:ext cx="4369387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介護や老後の話は、なんだか暗い。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そんなイメージを、一緒にひっくり返したい。</a:t>
            </a:r>
          </a:p>
          <a:p>
            <a:pPr algn="l">
              <a:lnSpc>
                <a:spcPct val="125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日本一長寿の県・長野から、最高に楽しい仕事を。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37919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ラベル_目的"/>
          <p:cNvSpPr txBox="1"/>
          <p:nvPr/>
        </p:nvSpPr>
        <p:spPr>
          <a:xfrm>
            <a:off x="5891625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目的</a:t>
            </a:r>
          </a:p>
        </p:txBody>
      </p:sp>
      <p:sp>
        <p:nvSpPr>
          <p:cNvPr id="15" name="値_目的"/>
          <p:cNvSpPr txBox="1"/>
          <p:nvPr/>
        </p:nvSpPr>
        <p:spPr>
          <a:xfrm>
            <a:off x="5891625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介護の現場を実際に体験し、</a:t>
            </a:r>
          </a:p>
          <a:p>
            <a:pPr algn="l">
              <a:lnSpc>
                <a:spcPct val="12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仕事のイメージをつかむ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96490" y="1268531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ラベル_対象"/>
          <p:cNvSpPr txBox="1"/>
          <p:nvPr/>
        </p:nvSpPr>
        <p:spPr>
          <a:xfrm>
            <a:off x="8950196" y="1451764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対象</a:t>
            </a:r>
          </a:p>
        </p:txBody>
      </p:sp>
      <p:sp>
        <p:nvSpPr>
          <p:cNvPr id="19" name="値_対象"/>
          <p:cNvSpPr txBox="1"/>
          <p:nvPr/>
        </p:nvSpPr>
        <p:spPr>
          <a:xfrm>
            <a:off x="8950196" y="1733660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学生のみなさん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保護者・先生もご覧ください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37919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ラベル_費用"/>
          <p:cNvSpPr txBox="1"/>
          <p:nvPr/>
        </p:nvSpPr>
        <p:spPr>
          <a:xfrm>
            <a:off x="5891625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費用</a:t>
            </a:r>
          </a:p>
        </p:txBody>
      </p:sp>
      <p:sp>
        <p:nvSpPr>
          <p:cNvPr id="23" name="値_費用"/>
          <p:cNvSpPr txBox="1"/>
          <p:nvPr/>
        </p:nvSpPr>
        <p:spPr>
          <a:xfrm>
            <a:off x="5891625" y="3298182"/>
            <a:ext cx="2396115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55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無償</a:t>
            </a:r>
          </a:p>
        </p:txBody>
      </p:sp>
      <p:sp>
        <p:nvSpPr>
          <p:cNvPr id="24" name="値_費用補足"/>
          <p:cNvSpPr txBox="1"/>
          <p:nvPr/>
        </p:nvSpPr>
        <p:spPr>
          <a:xfrm>
            <a:off x="5891625" y="3890164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実習は無料で参加できます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96490" y="2861243"/>
            <a:ext cx="2889433" cy="142357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ラベル_期間・時間"/>
          <p:cNvSpPr txBox="1"/>
          <p:nvPr/>
        </p:nvSpPr>
        <p:spPr>
          <a:xfrm>
            <a:off x="8950196" y="3044476"/>
            <a:ext cx="2396115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期間・時間</a:t>
            </a:r>
          </a:p>
        </p:txBody>
      </p:sp>
      <p:sp>
        <p:nvSpPr>
          <p:cNvPr id="28" name="値_期間・時間"/>
          <p:cNvSpPr txBox="1"/>
          <p:nvPr/>
        </p:nvSpPr>
        <p:spPr>
          <a:xfrm>
            <a:off x="8950196" y="3326372"/>
            <a:ext cx="2466589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1DAY　9:30〜15:00ごろ</a:t>
            </a:r>
          </a:p>
          <a:p>
            <a:pPr algn="l">
              <a:lnSpc>
                <a:spcPct val="125000"/>
              </a:lnSpc>
            </a:pPr>
            <a:r>
              <a:rPr sz="1276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5DAYS　5日間じっくり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033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数字_拠点"/>
          <p:cNvSpPr txBox="1"/>
          <p:nvPr/>
        </p:nvSpPr>
        <p:spPr>
          <a:xfrm>
            <a:off x="662455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</p:txBody>
      </p:sp>
      <p:sp>
        <p:nvSpPr>
          <p:cNvPr id="31" name="単位_拠点"/>
          <p:cNvSpPr txBox="1"/>
          <p:nvPr/>
        </p:nvSpPr>
        <p:spPr>
          <a:xfrm>
            <a:off x="1691375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32" name="補足_拠点"/>
          <p:cNvSpPr txBox="1"/>
          <p:nvPr/>
        </p:nvSpPr>
        <p:spPr>
          <a:xfrm>
            <a:off x="662455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信越・北関東に展開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19324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数字_種のサービス"/>
          <p:cNvSpPr txBox="1"/>
          <p:nvPr/>
        </p:nvSpPr>
        <p:spPr>
          <a:xfrm>
            <a:off x="3530746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7</a:t>
            </a:r>
          </a:p>
        </p:txBody>
      </p:sp>
      <p:sp>
        <p:nvSpPr>
          <p:cNvPr id="35" name="単位_種のサービス"/>
          <p:cNvSpPr txBox="1"/>
          <p:nvPr/>
        </p:nvSpPr>
        <p:spPr>
          <a:xfrm>
            <a:off x="3911306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種のサービス</a:t>
            </a:r>
          </a:p>
        </p:txBody>
      </p:sp>
      <p:sp>
        <p:nvSpPr>
          <p:cNvPr id="36" name="補足_種のサービス"/>
          <p:cNvSpPr txBox="1"/>
          <p:nvPr/>
        </p:nvSpPr>
        <p:spPr>
          <a:xfrm>
            <a:off x="3530746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ホーム・デイ・訪問など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87616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数字_つのプログラム"/>
          <p:cNvSpPr txBox="1"/>
          <p:nvPr/>
        </p:nvSpPr>
        <p:spPr>
          <a:xfrm>
            <a:off x="6399038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9" name="単位_つのプログラム"/>
          <p:cNvSpPr txBox="1"/>
          <p:nvPr/>
        </p:nvSpPr>
        <p:spPr>
          <a:xfrm>
            <a:off x="6779597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つのプログラム</a:t>
            </a:r>
          </a:p>
        </p:txBody>
      </p:sp>
      <p:sp>
        <p:nvSpPr>
          <p:cNvPr id="40" name="補足_つのプログラム"/>
          <p:cNvSpPr txBox="1"/>
          <p:nvPr/>
        </p:nvSpPr>
        <p:spPr>
          <a:xfrm>
            <a:off x="6399038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1DAY と 5DAYS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5907" y="4623093"/>
            <a:ext cx="2678011" cy="146585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数字_事業所"/>
          <p:cNvSpPr txBox="1"/>
          <p:nvPr/>
        </p:nvSpPr>
        <p:spPr>
          <a:xfrm>
            <a:off x="9267329" y="4764041"/>
            <a:ext cx="140947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17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</a:t>
            </a:r>
          </a:p>
        </p:txBody>
      </p:sp>
      <p:sp>
        <p:nvSpPr>
          <p:cNvPr id="43" name="単位_事業所"/>
          <p:cNvSpPr txBox="1"/>
          <p:nvPr/>
        </p:nvSpPr>
        <p:spPr>
          <a:xfrm>
            <a:off x="9647889" y="5074127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</a:t>
            </a:r>
          </a:p>
        </p:txBody>
      </p:sp>
      <p:sp>
        <p:nvSpPr>
          <p:cNvPr id="44" name="補足_事業所"/>
          <p:cNvSpPr txBox="1"/>
          <p:nvPr/>
        </p:nvSpPr>
        <p:spPr>
          <a:xfrm>
            <a:off x="9267329" y="5609729"/>
            <a:ext cx="239611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360°ツアーで見学できる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対象・期間・時間などはサイト上でも仮・調整中の内容です。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エフビー流の学び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介護の現場を体験して学ぶ、4つのステップ</a:t>
            </a:r>
          </a:p>
        </p:txBody>
      </p:sp>
      <p:sp>
        <p:nvSpPr>
          <p:cNvPr id="6" name="帯"/>
          <p:cNvSpPr/>
          <p:nvPr/>
        </p:nvSpPr>
        <p:spPr>
          <a:xfrm>
            <a:off x="3981780" y="1240342"/>
            <a:ext cx="4228439" cy="45103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帯文字"/>
          <p:cNvSpPr txBox="1"/>
          <p:nvPr/>
        </p:nvSpPr>
        <p:spPr>
          <a:xfrm>
            <a:off x="3981780" y="1240342"/>
            <a:ext cx="4228439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介護の現場を体験して学ぶ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1033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番号"/>
          <p:cNvSpPr/>
          <p:nvPr/>
        </p:nvSpPr>
        <p:spPr>
          <a:xfrm>
            <a:off x="648360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番号文字1"/>
          <p:cNvSpPr txBox="1"/>
          <p:nvPr/>
        </p:nvSpPr>
        <p:spPr>
          <a:xfrm>
            <a:off x="648360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2" name="見出し_話して知る"/>
          <p:cNvSpPr txBox="1"/>
          <p:nvPr/>
        </p:nvSpPr>
        <p:spPr>
          <a:xfrm>
            <a:off x="1198057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話して知る</a:t>
            </a:r>
          </a:p>
        </p:txBody>
      </p:sp>
      <p:sp>
        <p:nvSpPr>
          <p:cNvPr id="13" name="小見出し_話して知る"/>
          <p:cNvSpPr txBox="1"/>
          <p:nvPr/>
        </p:nvSpPr>
        <p:spPr>
          <a:xfrm>
            <a:off x="662455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利用者さんの人生にふれる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455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内容_話して知る"/>
          <p:cNvSpPr txBox="1"/>
          <p:nvPr/>
        </p:nvSpPr>
        <p:spPr>
          <a:xfrm>
            <a:off x="662455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・昔の暮らしや仕事の話を聴く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・笑顔が生まれる瞬間を見る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・「ありがとう」をもらう手応え</a:t>
            </a:r>
          </a:p>
        </p:txBody>
      </p:sp>
      <p:sp>
        <p:nvSpPr>
          <p:cNvPr id="16" name="矢印"/>
          <p:cNvSpPr/>
          <p:nvPr/>
        </p:nvSpPr>
        <p:spPr>
          <a:xfrm>
            <a:off x="3100855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0467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番号"/>
          <p:cNvSpPr/>
          <p:nvPr/>
        </p:nvSpPr>
        <p:spPr>
          <a:xfrm>
            <a:off x="3537794" y="2156504"/>
            <a:ext cx="422843" cy="422843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番号文字2"/>
          <p:cNvSpPr txBox="1"/>
          <p:nvPr/>
        </p:nvSpPr>
        <p:spPr>
          <a:xfrm>
            <a:off x="3537794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21" name="見出し_見て学ぶ"/>
          <p:cNvSpPr txBox="1"/>
          <p:nvPr/>
        </p:nvSpPr>
        <p:spPr>
          <a:xfrm>
            <a:off x="4087491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見て学ぶ</a:t>
            </a:r>
          </a:p>
        </p:txBody>
      </p:sp>
      <p:sp>
        <p:nvSpPr>
          <p:cNvPr id="22" name="小見出し_見て学ぶ"/>
          <p:cNvSpPr txBox="1"/>
          <p:nvPr/>
        </p:nvSpPr>
        <p:spPr>
          <a:xfrm>
            <a:off x="3551889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職員の仕事を観察する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51889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内容_見て学ぶ"/>
          <p:cNvSpPr txBox="1"/>
          <p:nvPr/>
        </p:nvSpPr>
        <p:spPr>
          <a:xfrm>
            <a:off x="3551889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・声かけ・見守りの基本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・介護職の一日の流れと仕事の幅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・看護師など他職種との連携</a:t>
            </a:r>
          </a:p>
        </p:txBody>
      </p:sp>
      <p:sp>
        <p:nvSpPr>
          <p:cNvPr id="25" name="矢印"/>
          <p:cNvSpPr/>
          <p:nvPr/>
        </p:nvSpPr>
        <p:spPr>
          <a:xfrm>
            <a:off x="5990289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29900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番号"/>
          <p:cNvSpPr/>
          <p:nvPr/>
        </p:nvSpPr>
        <p:spPr>
          <a:xfrm>
            <a:off x="6427227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番号文字3"/>
          <p:cNvSpPr txBox="1"/>
          <p:nvPr/>
        </p:nvSpPr>
        <p:spPr>
          <a:xfrm>
            <a:off x="6427227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0" name="見出し_やってみる"/>
          <p:cNvSpPr txBox="1"/>
          <p:nvPr/>
        </p:nvSpPr>
        <p:spPr>
          <a:xfrm>
            <a:off x="6976924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やってみる</a:t>
            </a:r>
          </a:p>
        </p:txBody>
      </p:sp>
      <p:sp>
        <p:nvSpPr>
          <p:cNvPr id="31" name="小見出し_やってみる"/>
          <p:cNvSpPr txBox="1"/>
          <p:nvPr/>
        </p:nvSpPr>
        <p:spPr>
          <a:xfrm>
            <a:off x="6441322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できることから体験する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41322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内容_やってみる"/>
          <p:cNvSpPr txBox="1"/>
          <p:nvPr/>
        </p:nvSpPr>
        <p:spPr>
          <a:xfrm>
            <a:off x="6441322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・食事・レクのお手伝い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・畑や行事など、地域にふれる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・職員がそばでサポート</a:t>
            </a:r>
          </a:p>
        </p:txBody>
      </p:sp>
      <p:sp>
        <p:nvSpPr>
          <p:cNvPr id="34" name="矢印"/>
          <p:cNvSpPr/>
          <p:nvPr/>
        </p:nvSpPr>
        <p:spPr>
          <a:xfrm>
            <a:off x="8879722" y="324180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19334" y="1916892"/>
            <a:ext cx="2621632" cy="303038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番号"/>
          <p:cNvSpPr/>
          <p:nvPr/>
        </p:nvSpPr>
        <p:spPr>
          <a:xfrm>
            <a:off x="9316661" y="2156504"/>
            <a:ext cx="422843" cy="422843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番号文字4"/>
          <p:cNvSpPr txBox="1"/>
          <p:nvPr/>
        </p:nvSpPr>
        <p:spPr>
          <a:xfrm>
            <a:off x="9316661" y="2156504"/>
            <a:ext cx="422843" cy="422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</a:t>
            </a:r>
          </a:p>
        </p:txBody>
      </p:sp>
      <p:sp>
        <p:nvSpPr>
          <p:cNvPr id="39" name="見出し_振り返る"/>
          <p:cNvSpPr txBox="1"/>
          <p:nvPr/>
        </p:nvSpPr>
        <p:spPr>
          <a:xfrm>
            <a:off x="9866358" y="2184693"/>
            <a:ext cx="1761849" cy="366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86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振り返る</a:t>
            </a:r>
          </a:p>
        </p:txBody>
      </p:sp>
      <p:sp>
        <p:nvSpPr>
          <p:cNvPr id="40" name="小見出し_振り返る"/>
          <p:cNvSpPr txBox="1"/>
          <p:nvPr/>
        </p:nvSpPr>
        <p:spPr>
          <a:xfrm>
            <a:off x="9330756" y="2762580"/>
            <a:ext cx="2255167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気づきから、キャリアを考える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330756" y="3255898"/>
            <a:ext cx="2198788" cy="0"/>
          </a:xfrm>
          <a:prstGeom prst="line">
            <a:avLst/>
          </a:prstGeom>
          <a:ln w="19050">
            <a:solidFill>
              <a:srgbClr val="D7E6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内容_振り返る"/>
          <p:cNvSpPr txBox="1"/>
          <p:nvPr/>
        </p:nvSpPr>
        <p:spPr>
          <a:xfrm>
            <a:off x="9330756" y="3425035"/>
            <a:ext cx="2255167" cy="2114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・感じたことを職員と話し合う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・資格や仕事の道すじを知る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・これからのキャリアを考える</a:t>
            </a:r>
          </a:p>
          <a:p>
            <a:pPr algn="l">
              <a:lnSpc>
                <a:spcPct val="170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・自分に向いているかの見極め</a:t>
            </a:r>
          </a:p>
        </p:txBody>
      </p:sp>
      <p:sp>
        <p:nvSpPr>
          <p:cNvPr id="43" name="戻り矢印"/>
          <p:cNvSpPr/>
          <p:nvPr/>
        </p:nvSpPr>
        <p:spPr>
          <a:xfrm>
            <a:off x="451033" y="5285549"/>
            <a:ext cx="11289932" cy="451033"/>
          </a:xfrm>
          <a:prstGeom prst="leftArrow">
            <a:avLst>
              <a:gd name="adj1" fmla="val 50000"/>
              <a:gd name="adj2" fmla="val 90000"/>
            </a:avLst>
          </a:prstGeom>
          <a:solidFill>
            <a:srgbClr val="BF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戻り矢印文字"/>
          <p:cNvSpPr txBox="1"/>
          <p:nvPr/>
        </p:nvSpPr>
        <p:spPr>
          <a:xfrm>
            <a:off x="1550427" y="5285549"/>
            <a:ext cx="9373040" cy="4510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④ 振り返りから、次の ① へ　体験をくり返しながら、学びを深めていく</a:t>
            </a:r>
          </a:p>
        </p:txBody>
      </p:sp>
      <p:sp>
        <p:nvSpPr>
          <p:cNvPr id="45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文章はサイト上でも仮の内容です（決まり次第、差し替え）。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実習プログラム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1日で、5日間で。目的に合わせて選べる2つのプログラム</a:t>
            </a:r>
          </a:p>
        </p:txBody>
      </p:sp>
      <p:sp>
        <p:nvSpPr>
          <p:cNvPr id="6" name="帯_1DAY"/>
          <p:cNvSpPr/>
          <p:nvPr/>
        </p:nvSpPr>
        <p:spPr>
          <a:xfrm>
            <a:off x="451033" y="1212152"/>
            <a:ext cx="5708393" cy="535602"/>
          </a:xfrm>
          <a:prstGeom prst="roundRect">
            <a:avLst>
              <a:gd name="adj" fmla="val 3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1DAY"/>
          <p:cNvSpPr txBox="1"/>
          <p:nvPr/>
        </p:nvSpPr>
        <p:spPr>
          <a:xfrm>
            <a:off x="648360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1DAY</a:t>
            </a:r>
          </a:p>
        </p:txBody>
      </p:sp>
      <p:sp>
        <p:nvSpPr>
          <p:cNvPr id="8" name="1DAY_見出し"/>
          <p:cNvSpPr txBox="1"/>
          <p:nvPr/>
        </p:nvSpPr>
        <p:spPr>
          <a:xfrm>
            <a:off x="1930987" y="1282626"/>
            <a:ext cx="4087491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1日で、現場をのぞいてみる</a:t>
            </a:r>
          </a:p>
        </p:txBody>
      </p:sp>
      <p:sp>
        <p:nvSpPr>
          <p:cNvPr id="9" name="1DAY_補足"/>
          <p:cNvSpPr txBox="1"/>
          <p:nvPr/>
        </p:nvSpPr>
        <p:spPr>
          <a:xfrm>
            <a:off x="1930987" y="1522238"/>
            <a:ext cx="4087491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9:30〜15:00ごろ　はじめての方に</a:t>
            </a:r>
          </a:p>
        </p:txBody>
      </p:sp>
      <p:sp>
        <p:nvSpPr>
          <p:cNvPr id="10" name="帯_5DAYS"/>
          <p:cNvSpPr/>
          <p:nvPr/>
        </p:nvSpPr>
        <p:spPr>
          <a:xfrm>
            <a:off x="6370848" y="1212152"/>
            <a:ext cx="5370117" cy="535602"/>
          </a:xfrm>
          <a:prstGeom prst="roundRect">
            <a:avLst>
              <a:gd name="adj" fmla="val 3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5DAYS"/>
          <p:cNvSpPr txBox="1"/>
          <p:nvPr/>
        </p:nvSpPr>
        <p:spPr>
          <a:xfrm>
            <a:off x="6568175" y="1212152"/>
            <a:ext cx="1409479" cy="5356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108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5DAYS</a:t>
            </a:r>
          </a:p>
        </p:txBody>
      </p:sp>
      <p:sp>
        <p:nvSpPr>
          <p:cNvPr id="12" name="5DAYS_見出し"/>
          <p:cNvSpPr txBox="1"/>
          <p:nvPr/>
        </p:nvSpPr>
        <p:spPr>
          <a:xfrm>
            <a:off x="7850802" y="1282626"/>
            <a:ext cx="3749216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5日間で、じっくり向き合う</a:t>
            </a:r>
          </a:p>
        </p:txBody>
      </p:sp>
      <p:sp>
        <p:nvSpPr>
          <p:cNvPr id="13" name="5DAYS_補足"/>
          <p:cNvSpPr txBox="1"/>
          <p:nvPr/>
        </p:nvSpPr>
        <p:spPr>
          <a:xfrm>
            <a:off x="7850802" y="1522238"/>
            <a:ext cx="3749216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DAY1〜DAY5　じっくり学びたい方に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033" y="1874608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時刻"/>
          <p:cNvSpPr/>
          <p:nvPr/>
        </p:nvSpPr>
        <p:spPr>
          <a:xfrm>
            <a:off x="648360" y="2086030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時刻_9:30"/>
          <p:cNvSpPr txBox="1"/>
          <p:nvPr/>
        </p:nvSpPr>
        <p:spPr>
          <a:xfrm>
            <a:off x="648360" y="2086030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9:30</a:t>
            </a:r>
          </a:p>
        </p:txBody>
      </p:sp>
      <p:sp>
        <p:nvSpPr>
          <p:cNvPr id="18" name="要点_受付とオープニング"/>
          <p:cNvSpPr txBox="1"/>
          <p:nvPr/>
        </p:nvSpPr>
        <p:spPr>
          <a:xfrm>
            <a:off x="1663186" y="1959176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受付とオープニング</a:t>
            </a:r>
          </a:p>
        </p:txBody>
      </p:sp>
      <p:sp>
        <p:nvSpPr>
          <p:cNvPr id="19" name="説明_受付とオープニング"/>
          <p:cNvSpPr txBox="1"/>
          <p:nvPr/>
        </p:nvSpPr>
        <p:spPr>
          <a:xfrm>
            <a:off x="1663186" y="2226978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メンターが温かく出迎え。会社紹介のショート動画で雰囲気を共有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1033" y="2720295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時刻"/>
          <p:cNvSpPr/>
          <p:nvPr/>
        </p:nvSpPr>
        <p:spPr>
          <a:xfrm>
            <a:off x="648360" y="2931717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時刻_10:00"/>
          <p:cNvSpPr txBox="1"/>
          <p:nvPr/>
        </p:nvSpPr>
        <p:spPr>
          <a:xfrm>
            <a:off x="648360" y="2931717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10:00</a:t>
            </a:r>
          </a:p>
        </p:txBody>
      </p:sp>
      <p:sp>
        <p:nvSpPr>
          <p:cNvPr id="24" name="要点_現場シャドーイング＆伴走体験"/>
          <p:cNvSpPr txBox="1"/>
          <p:nvPr/>
        </p:nvSpPr>
        <p:spPr>
          <a:xfrm>
            <a:off x="1663186" y="2804864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現場シャドーイング＆伴走体験</a:t>
            </a:r>
          </a:p>
        </p:txBody>
      </p:sp>
      <p:sp>
        <p:nvSpPr>
          <p:cNvPr id="25" name="説明_現場シャドーイング＆伴走体験"/>
          <p:cNvSpPr txBox="1"/>
          <p:nvPr/>
        </p:nvSpPr>
        <p:spPr>
          <a:xfrm>
            <a:off x="1663186" y="3072665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介護現場のリアルを体験。利用者様との「対話・人生のお話の傾聴」が中心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1033" y="3565983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時刻"/>
          <p:cNvSpPr/>
          <p:nvPr/>
        </p:nvSpPr>
        <p:spPr>
          <a:xfrm>
            <a:off x="648360" y="377740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時刻_12:00"/>
          <p:cNvSpPr txBox="1"/>
          <p:nvPr/>
        </p:nvSpPr>
        <p:spPr>
          <a:xfrm>
            <a:off x="648360" y="377740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12:00</a:t>
            </a:r>
          </a:p>
        </p:txBody>
      </p:sp>
      <p:sp>
        <p:nvSpPr>
          <p:cNvPr id="30" name="要点_ランチセッション"/>
          <p:cNvSpPr txBox="1"/>
          <p:nvPr/>
        </p:nvSpPr>
        <p:spPr>
          <a:xfrm>
            <a:off x="1663186" y="3650552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ランチセッション</a:t>
            </a:r>
          </a:p>
        </p:txBody>
      </p:sp>
      <p:sp>
        <p:nvSpPr>
          <p:cNvPr id="31" name="説明_ランチセッション"/>
          <p:cNvSpPr txBox="1"/>
          <p:nvPr/>
        </p:nvSpPr>
        <p:spPr>
          <a:xfrm>
            <a:off x="1663186" y="3918353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美味しいご飯と、先輩社員の地方暮らし・働き方のホンネトーク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1033" y="4411671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時刻"/>
          <p:cNvSpPr/>
          <p:nvPr/>
        </p:nvSpPr>
        <p:spPr>
          <a:xfrm>
            <a:off x="648360" y="4623093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時刻_13:00"/>
          <p:cNvSpPr txBox="1"/>
          <p:nvPr/>
        </p:nvSpPr>
        <p:spPr>
          <a:xfrm>
            <a:off x="648360" y="4623093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13:00</a:t>
            </a:r>
          </a:p>
        </p:txBody>
      </p:sp>
      <p:sp>
        <p:nvSpPr>
          <p:cNvPr id="36" name="要点_対話ワーク『100歳までの履歴書』"/>
          <p:cNvSpPr txBox="1"/>
          <p:nvPr/>
        </p:nvSpPr>
        <p:spPr>
          <a:xfrm>
            <a:off x="1663186" y="4496240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対話ワーク『100歳までの履歴書』</a:t>
            </a:r>
          </a:p>
        </p:txBody>
      </p:sp>
      <p:sp>
        <p:nvSpPr>
          <p:cNvPr id="37" name="説明_対話ワーク『100歳までの履歴書』"/>
          <p:cNvSpPr txBox="1"/>
          <p:nvPr/>
        </p:nvSpPr>
        <p:spPr>
          <a:xfrm>
            <a:off x="1663186" y="4764041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「どんな大人になっていたいか」から逆算し、大切にしたい「CARE」を言語化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1033" y="5257359"/>
            <a:ext cx="5708393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時刻"/>
          <p:cNvSpPr/>
          <p:nvPr/>
        </p:nvSpPr>
        <p:spPr>
          <a:xfrm>
            <a:off x="648360" y="546878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時刻_14:30"/>
          <p:cNvSpPr txBox="1"/>
          <p:nvPr/>
        </p:nvSpPr>
        <p:spPr>
          <a:xfrm>
            <a:off x="648360" y="546878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14:30</a:t>
            </a:r>
          </a:p>
        </p:txBody>
      </p:sp>
      <p:sp>
        <p:nvSpPr>
          <p:cNvPr id="42" name="要点_リフレクション＆フィードバック"/>
          <p:cNvSpPr txBox="1"/>
          <p:nvPr/>
        </p:nvSpPr>
        <p:spPr>
          <a:xfrm>
            <a:off x="1663186" y="5341928"/>
            <a:ext cx="4369387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87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リフレクション＆フィードバック</a:t>
            </a:r>
          </a:p>
        </p:txBody>
      </p:sp>
      <p:sp>
        <p:nvSpPr>
          <p:cNvPr id="43" name="説明_リフレクション＆フィードバック"/>
          <p:cNvSpPr txBox="1"/>
          <p:nvPr/>
        </p:nvSpPr>
        <p:spPr>
          <a:xfrm>
            <a:off x="1663186" y="5609729"/>
            <a:ext cx="4369387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メンターからの応援メッセージとフィードバックシートをお渡し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70848" y="1874608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日"/>
          <p:cNvSpPr/>
          <p:nvPr/>
        </p:nvSpPr>
        <p:spPr>
          <a:xfrm>
            <a:off x="6568175" y="2086030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日_DAY1"/>
          <p:cNvSpPr txBox="1"/>
          <p:nvPr/>
        </p:nvSpPr>
        <p:spPr>
          <a:xfrm>
            <a:off x="6568175" y="2086030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DAY1</a:t>
            </a:r>
          </a:p>
        </p:txBody>
      </p:sp>
      <p:sp>
        <p:nvSpPr>
          <p:cNvPr id="48" name="要点_インストール"/>
          <p:cNvSpPr txBox="1"/>
          <p:nvPr/>
        </p:nvSpPr>
        <p:spPr>
          <a:xfrm>
            <a:off x="7611190" y="1959176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インストール</a:t>
            </a:r>
          </a:p>
        </p:txBody>
      </p:sp>
      <p:sp>
        <p:nvSpPr>
          <p:cNvPr id="49" name="説明_インストール"/>
          <p:cNvSpPr txBox="1"/>
          <p:nvPr/>
        </p:nvSpPr>
        <p:spPr>
          <a:xfrm>
            <a:off x="7611190" y="2226978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オリエンテーション・動画鑑賞・メンターと「実習中の目標」設定。利用者様の人生のお話に耳を傾ける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848" y="2720295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日"/>
          <p:cNvSpPr/>
          <p:nvPr/>
        </p:nvSpPr>
        <p:spPr>
          <a:xfrm>
            <a:off x="6568175" y="2931717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日_DAY2-3"/>
          <p:cNvSpPr txBox="1"/>
          <p:nvPr/>
        </p:nvSpPr>
        <p:spPr>
          <a:xfrm>
            <a:off x="6568175" y="2931717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DAY2-3</a:t>
            </a:r>
          </a:p>
        </p:txBody>
      </p:sp>
      <p:sp>
        <p:nvSpPr>
          <p:cNvPr id="54" name="要点_現場ケアと人間関係の構築"/>
          <p:cNvSpPr txBox="1"/>
          <p:nvPr/>
        </p:nvSpPr>
        <p:spPr>
          <a:xfrm>
            <a:off x="7611190" y="2804864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現場ケアと人間関係の構築</a:t>
            </a:r>
          </a:p>
        </p:txBody>
      </p:sp>
      <p:sp>
        <p:nvSpPr>
          <p:cNvPr id="55" name="説明_現場ケアと人間関係の構築"/>
          <p:cNvSpPr txBox="1"/>
          <p:nvPr/>
        </p:nvSpPr>
        <p:spPr>
          <a:xfrm>
            <a:off x="7611190" y="3072665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現場業務のサポートと利用者様との対話。メンターと毎日の振り返り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70848" y="3565983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日"/>
          <p:cNvSpPr/>
          <p:nvPr/>
        </p:nvSpPr>
        <p:spPr>
          <a:xfrm>
            <a:off x="6568175" y="3777405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日_DAY4"/>
          <p:cNvSpPr txBox="1"/>
          <p:nvPr/>
        </p:nvSpPr>
        <p:spPr>
          <a:xfrm>
            <a:off x="6568175" y="3777405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DAY4</a:t>
            </a:r>
          </a:p>
        </p:txBody>
      </p:sp>
      <p:sp>
        <p:nvSpPr>
          <p:cNvPr id="60" name="要点_笑顔を届けるプチ企画"/>
          <p:cNvSpPr txBox="1"/>
          <p:nvPr/>
        </p:nvSpPr>
        <p:spPr>
          <a:xfrm>
            <a:off x="7611190" y="3650552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笑顔を届けるプチ企画</a:t>
            </a:r>
          </a:p>
        </p:txBody>
      </p:sp>
      <p:sp>
        <p:nvSpPr>
          <p:cNvPr id="61" name="説明_笑顔を届けるプチ企画"/>
          <p:cNvSpPr txBox="1"/>
          <p:nvPr/>
        </p:nvSpPr>
        <p:spPr>
          <a:xfrm>
            <a:off x="7611190" y="3918353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学生が考えた「利用者様を喜ばせる小さな企画」（お茶会・手書きメッセージ等）を実践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70848" y="4411671"/>
            <a:ext cx="5370117" cy="761119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日"/>
          <p:cNvSpPr/>
          <p:nvPr/>
        </p:nvSpPr>
        <p:spPr>
          <a:xfrm>
            <a:off x="6568175" y="4623093"/>
            <a:ext cx="90206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日_DAY5"/>
          <p:cNvSpPr txBox="1"/>
          <p:nvPr/>
        </p:nvSpPr>
        <p:spPr>
          <a:xfrm>
            <a:off x="6568175" y="4623093"/>
            <a:ext cx="90206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DAY5</a:t>
            </a:r>
          </a:p>
        </p:txBody>
      </p:sp>
      <p:sp>
        <p:nvSpPr>
          <p:cNvPr id="66" name="要点_履歴書の発表会＆結びのランチ"/>
          <p:cNvSpPr txBox="1"/>
          <p:nvPr/>
        </p:nvSpPr>
        <p:spPr>
          <a:xfrm>
            <a:off x="7611190" y="4496240"/>
            <a:ext cx="394654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履歴書の発表会＆結びのランチ</a:t>
            </a:r>
          </a:p>
        </p:txBody>
      </p:sp>
      <p:sp>
        <p:nvSpPr>
          <p:cNvPr id="67" name="説明_履歴書の発表会＆結びのランチ"/>
          <p:cNvSpPr txBox="1"/>
          <p:nvPr/>
        </p:nvSpPr>
        <p:spPr>
          <a:xfrm>
            <a:off x="7611190" y="4764041"/>
            <a:ext cx="3946543" cy="36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43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「100歳までの履歴書」の発表、メンター全員からのメッセージ、修了式</a:t>
            </a:r>
          </a:p>
        </p:txBody>
      </p:sp>
      <p:sp>
        <p:nvSpPr>
          <p:cNvPr id="68" name="掲載ボックス"/>
          <p:cNvSpPr/>
          <p:nvPr/>
        </p:nvSpPr>
        <p:spPr>
          <a:xfrm>
            <a:off x="6370848" y="5257359"/>
            <a:ext cx="5370117" cy="831593"/>
          </a:xfrm>
          <a:prstGeom prst="roundRect">
            <a:avLst>
              <a:gd name="adj" fmla="val 14000"/>
            </a:avLst>
          </a:prstGeom>
          <a:solidFill>
            <a:srgbClr val="FFF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掲載_見出し"/>
          <p:cNvSpPr txBox="1"/>
          <p:nvPr/>
        </p:nvSpPr>
        <p:spPr>
          <a:xfrm>
            <a:off x="6596365" y="5370117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実習の体験は、実習サイトへ</a:t>
            </a:r>
          </a:p>
        </p:txBody>
      </p:sp>
      <p:sp>
        <p:nvSpPr>
          <p:cNvPr id="70" name="掲載_本文"/>
          <p:cNvSpPr txBox="1"/>
          <p:nvPr/>
        </p:nvSpPr>
        <p:spPr>
          <a:xfrm>
            <a:off x="6596365" y="5652013"/>
            <a:ext cx="4933179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実習の体験・感想を後日サイトに掲載。</a:t>
            </a:r>
          </a:p>
          <a:p>
            <a:pPr algn="l">
              <a:lnSpc>
                <a:spcPct val="12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Web掲載用の声としてストックします。</a:t>
            </a:r>
          </a:p>
        </p:txBody>
      </p:sp>
      <p:sp>
        <p:nvSpPr>
          <p:cNvPr id="71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プログラムの内容・日程はサイト上でも「調整中」です。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実習の流れ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はじめてでも安心。4つのステップと、サイトで届ける内容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1033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1033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EP1"/>
          <p:cNvSpPr txBox="1"/>
          <p:nvPr/>
        </p:nvSpPr>
        <p:spPr>
          <a:xfrm>
            <a:off x="634265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01</a:t>
            </a:r>
          </a:p>
        </p:txBody>
      </p:sp>
      <p:sp>
        <p:nvSpPr>
          <p:cNvPr id="10" name="見出し_申し込む"/>
          <p:cNvSpPr txBox="1"/>
          <p:nvPr/>
        </p:nvSpPr>
        <p:spPr>
          <a:xfrm>
            <a:off x="15081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申し込む</a:t>
            </a:r>
          </a:p>
        </p:txBody>
      </p:sp>
      <p:sp>
        <p:nvSpPr>
          <p:cNvPr id="11" name="説明_申し込む"/>
          <p:cNvSpPr txBox="1"/>
          <p:nvPr/>
        </p:nvSpPr>
        <p:spPr>
          <a:xfrm>
            <a:off x="648360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フォームから、行きたい日と事業所を選んで申込。質問だけでも大丈夫です。</a:t>
            </a:r>
          </a:p>
        </p:txBody>
      </p:sp>
      <p:sp>
        <p:nvSpPr>
          <p:cNvPr id="12" name="矢印"/>
          <p:cNvSpPr/>
          <p:nvPr/>
        </p:nvSpPr>
        <p:spPr>
          <a:xfrm>
            <a:off x="3100855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40467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40467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0467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2"/>
          <p:cNvSpPr txBox="1"/>
          <p:nvPr/>
        </p:nvSpPr>
        <p:spPr>
          <a:xfrm>
            <a:off x="3523699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02</a:t>
            </a:r>
          </a:p>
        </p:txBody>
      </p:sp>
      <p:sp>
        <p:nvSpPr>
          <p:cNvPr id="17" name="見出し_事前の連絡"/>
          <p:cNvSpPr txBox="1"/>
          <p:nvPr/>
        </p:nvSpPr>
        <p:spPr>
          <a:xfrm>
            <a:off x="4397576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事前の連絡</a:t>
            </a:r>
          </a:p>
        </p:txBody>
      </p:sp>
      <p:sp>
        <p:nvSpPr>
          <p:cNvPr id="18" name="説明_事前の連絡"/>
          <p:cNvSpPr txBox="1"/>
          <p:nvPr/>
        </p:nvSpPr>
        <p:spPr>
          <a:xfrm>
            <a:off x="3537794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持ち物や服装、当日の集合場所をお知らせします。</a:t>
            </a:r>
          </a:p>
        </p:txBody>
      </p:sp>
      <p:sp>
        <p:nvSpPr>
          <p:cNvPr id="19" name="矢印"/>
          <p:cNvSpPr/>
          <p:nvPr/>
        </p:nvSpPr>
        <p:spPr>
          <a:xfrm>
            <a:off x="5990289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9900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29900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9900" y="1479953"/>
            <a:ext cx="2621632" cy="281895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3"/>
          <p:cNvSpPr txBox="1"/>
          <p:nvPr/>
        </p:nvSpPr>
        <p:spPr>
          <a:xfrm>
            <a:off x="6413132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03</a:t>
            </a:r>
          </a:p>
        </p:txBody>
      </p:sp>
      <p:sp>
        <p:nvSpPr>
          <p:cNvPr id="24" name="見出し_実習の当日"/>
          <p:cNvSpPr txBox="1"/>
          <p:nvPr/>
        </p:nvSpPr>
        <p:spPr>
          <a:xfrm>
            <a:off x="7287010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実習の当日</a:t>
            </a:r>
          </a:p>
        </p:txBody>
      </p:sp>
      <p:sp>
        <p:nvSpPr>
          <p:cNvPr id="25" name="説明_実習の当日"/>
          <p:cNvSpPr txBox="1"/>
          <p:nvPr/>
        </p:nvSpPr>
        <p:spPr>
          <a:xfrm>
            <a:off x="6427227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職員がそばでサポート。利用者さんとおしゃべりしながら、現場を体験。</a:t>
            </a:r>
          </a:p>
        </p:txBody>
      </p:sp>
      <p:sp>
        <p:nvSpPr>
          <p:cNvPr id="26" name="矢印"/>
          <p:cNvSpPr/>
          <p:nvPr/>
        </p:nvSpPr>
        <p:spPr>
          <a:xfrm>
            <a:off x="8879722" y="1888702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19334" y="1212152"/>
            <a:ext cx="2621632" cy="169137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19334" y="1212152"/>
            <a:ext cx="2621632" cy="549697"/>
          </a:xfrm>
          <a:prstGeom prst="roundRect">
            <a:avLst>
              <a:gd name="adj" fmla="val 25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19334" y="1479953"/>
            <a:ext cx="2621632" cy="281895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4"/>
          <p:cNvSpPr txBox="1"/>
          <p:nvPr/>
        </p:nvSpPr>
        <p:spPr>
          <a:xfrm>
            <a:off x="9302566" y="1254436"/>
            <a:ext cx="916161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 spc="1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STEP 04</a:t>
            </a:r>
          </a:p>
        </p:txBody>
      </p:sp>
      <p:sp>
        <p:nvSpPr>
          <p:cNvPr id="31" name="見出し_振り返り"/>
          <p:cNvSpPr txBox="1"/>
          <p:nvPr/>
        </p:nvSpPr>
        <p:spPr>
          <a:xfrm>
            <a:off x="10176443" y="1254436"/>
            <a:ext cx="1479953" cy="465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6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振り返り</a:t>
            </a:r>
          </a:p>
        </p:txBody>
      </p:sp>
      <p:sp>
        <p:nvSpPr>
          <p:cNvPr id="32" name="説明_振り返り"/>
          <p:cNvSpPr txBox="1"/>
          <p:nvPr/>
        </p:nvSpPr>
        <p:spPr>
          <a:xfrm>
            <a:off x="9316661" y="1930987"/>
            <a:ext cx="2226978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感じたことや気づいたことを、職員と話し合います。</a:t>
            </a:r>
          </a:p>
        </p:txBody>
      </p:sp>
      <p:sp>
        <p:nvSpPr>
          <p:cNvPr id="33" name="見出し_サイト"/>
          <p:cNvSpPr txBox="1"/>
          <p:nvPr/>
        </p:nvSpPr>
        <p:spPr>
          <a:xfrm>
            <a:off x="451033" y="3086760"/>
            <a:ext cx="6342658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64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実習サイトで届ける内容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033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タイル_実習レポート"/>
          <p:cNvSpPr txBox="1"/>
          <p:nvPr/>
        </p:nvSpPr>
        <p:spPr>
          <a:xfrm>
            <a:off x="634265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実習レポート</a:t>
            </a:r>
          </a:p>
        </p:txBody>
      </p:sp>
      <p:sp>
        <p:nvSpPr>
          <p:cNvPr id="37" name="タイル説明_実習レポート"/>
          <p:cNvSpPr txBox="1"/>
          <p:nvPr/>
        </p:nvSpPr>
        <p:spPr>
          <a:xfrm>
            <a:off x="634265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実習の1日の流れをたどる記事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35383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イル_職員の声"/>
          <p:cNvSpPr txBox="1"/>
          <p:nvPr/>
        </p:nvSpPr>
        <p:spPr>
          <a:xfrm>
            <a:off x="2537063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職員の声</a:t>
            </a:r>
          </a:p>
        </p:txBody>
      </p:sp>
      <p:sp>
        <p:nvSpPr>
          <p:cNvPr id="41" name="タイル説明_職員の声"/>
          <p:cNvSpPr txBox="1"/>
          <p:nvPr/>
        </p:nvSpPr>
        <p:spPr>
          <a:xfrm>
            <a:off x="2537063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仕事のやりがいと、実習生へのメッセージ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56628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タイル_人生の先輩の"/>
          <p:cNvSpPr txBox="1"/>
          <p:nvPr/>
        </p:nvSpPr>
        <p:spPr>
          <a:xfrm>
            <a:off x="4439861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人生の先輩の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メッセージ</a:t>
            </a:r>
          </a:p>
        </p:txBody>
      </p:sp>
      <p:sp>
        <p:nvSpPr>
          <p:cNvPr id="45" name="タイル説明_人生の先輩の"/>
          <p:cNvSpPr txBox="1"/>
          <p:nvPr/>
        </p:nvSpPr>
        <p:spPr>
          <a:xfrm>
            <a:off x="4439861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ご利用者さんから、実習に来るみなさんへのひとこと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59426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タイル_お知らせ"/>
          <p:cNvSpPr txBox="1"/>
          <p:nvPr/>
        </p:nvSpPr>
        <p:spPr>
          <a:xfrm>
            <a:off x="6342658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お知らせ</a:t>
            </a:r>
          </a:p>
        </p:txBody>
      </p:sp>
      <p:sp>
        <p:nvSpPr>
          <p:cNvPr id="49" name="タイル説明_お知らせ"/>
          <p:cNvSpPr txBox="1"/>
          <p:nvPr/>
        </p:nvSpPr>
        <p:spPr>
          <a:xfrm>
            <a:off x="6342658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実習受け入れ拠点の追加など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2224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タイル_事業所の"/>
          <p:cNvSpPr txBox="1"/>
          <p:nvPr/>
        </p:nvSpPr>
        <p:spPr>
          <a:xfrm>
            <a:off x="8245456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事業所の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</a:t>
            </a:r>
          </a:p>
        </p:txBody>
      </p:sp>
      <p:sp>
        <p:nvSpPr>
          <p:cNvPr id="53" name="タイル説明_事業所の"/>
          <p:cNvSpPr txBox="1"/>
          <p:nvPr/>
        </p:nvSpPr>
        <p:spPr>
          <a:xfrm>
            <a:off x="8245456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事業所の中の様子をのぞける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65021" y="3453225"/>
            <a:ext cx="1761849" cy="16349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タイル_経営者"/>
          <p:cNvSpPr txBox="1"/>
          <p:nvPr/>
        </p:nvSpPr>
        <p:spPr>
          <a:xfrm>
            <a:off x="10148254" y="3608268"/>
            <a:ext cx="1451764" cy="5215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経営者</a:t>
            </a:r>
          </a:p>
          <a:p>
            <a:pPr algn="l">
              <a:lnSpc>
                <a:spcPct val="115000"/>
              </a:lnSpc>
            </a:pPr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インタビュー</a:t>
            </a:r>
          </a:p>
        </p:txBody>
      </p:sp>
      <p:sp>
        <p:nvSpPr>
          <p:cNvPr id="57" name="タイル説明_経営者"/>
          <p:cNvSpPr txBox="1"/>
          <p:nvPr/>
        </p:nvSpPr>
        <p:spPr>
          <a:xfrm>
            <a:off x="10148254" y="4214344"/>
            <a:ext cx="1451764" cy="789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98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社長に聞いた、これからのまちのカタチ（visions）</a:t>
            </a:r>
          </a:p>
        </p:txBody>
      </p:sp>
      <p:sp>
        <p:nvSpPr>
          <p:cNvPr id="58" name="そのほか"/>
          <p:cNvSpPr/>
          <p:nvPr/>
        </p:nvSpPr>
        <p:spPr>
          <a:xfrm>
            <a:off x="451033" y="5299643"/>
            <a:ext cx="11289932" cy="78930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1033" y="5468781"/>
            <a:ext cx="56379" cy="45103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そのほか_見出し"/>
          <p:cNvSpPr txBox="1"/>
          <p:nvPr/>
        </p:nvSpPr>
        <p:spPr>
          <a:xfrm>
            <a:off x="704739" y="5412402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そのほか</a:t>
            </a:r>
          </a:p>
        </p:txBody>
      </p:sp>
      <p:sp>
        <p:nvSpPr>
          <p:cNvPr id="61" name="そのほか_本文"/>
          <p:cNvSpPr txBox="1"/>
          <p:nvPr/>
        </p:nvSpPr>
        <p:spPr>
          <a:xfrm>
            <a:off x="704739" y="5680203"/>
            <a:ext cx="10852994" cy="352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よくある質問　／　個人情報の取扱い（プライバシーポリシー）　／　気になるキーワードから記事を探す　／　実習の申込フォーム</a:t>
            </a:r>
          </a:p>
        </p:txBody>
      </p:sp>
      <p:sp>
        <p:nvSpPr>
          <p:cNvPr id="62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申込フォーム・SNS・問い合わせ先は準備中です。記事の内容はサンプルです。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長野を中心に、信越・北関東に109の拠点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6201710" cy="486270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グラフ見出し"/>
          <p:cNvSpPr txBox="1"/>
          <p:nvPr/>
        </p:nvSpPr>
        <p:spPr>
          <a:xfrm>
            <a:off x="704739" y="1381290"/>
            <a:ext cx="49331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都県別の拠点数（計109拠点）</a:t>
            </a:r>
          </a:p>
        </p:txBody>
      </p:sp>
      <p:graphicFrame>
        <p:nvGraphicFramePr>
          <p:cNvPr id="8" name="拠点数グラフ"/>
          <p:cNvGraphicFramePr>
            <a:graphicFrameLocks noGrp="1"/>
          </p:cNvGraphicFramePr>
          <p:nvPr/>
        </p:nvGraphicFramePr>
        <p:xfrm>
          <a:off x="620171" y="1733660"/>
          <a:ext cx="5863435" cy="422843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906450" y="1240342"/>
            <a:ext cx="4834515" cy="184641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サービス見出し"/>
          <p:cNvSpPr txBox="1"/>
          <p:nvPr/>
        </p:nvSpPr>
        <p:spPr>
          <a:xfrm>
            <a:off x="7160157" y="1381290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提供しているサービス　7種</a:t>
            </a:r>
          </a:p>
        </p:txBody>
      </p:sp>
      <p:sp>
        <p:nvSpPr>
          <p:cNvPr id="11" name="サービス_有料老人ホーム"/>
          <p:cNvSpPr/>
          <p:nvPr/>
        </p:nvSpPr>
        <p:spPr>
          <a:xfrm>
            <a:off x="7160157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サービス文字_有料老人ホーム"/>
          <p:cNvSpPr txBox="1"/>
          <p:nvPr/>
        </p:nvSpPr>
        <p:spPr>
          <a:xfrm>
            <a:off x="7160157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有料老人ホーム</a:t>
            </a:r>
          </a:p>
        </p:txBody>
      </p:sp>
      <p:sp>
        <p:nvSpPr>
          <p:cNvPr id="13" name="サービス_グループホーム"/>
          <p:cNvSpPr/>
          <p:nvPr/>
        </p:nvSpPr>
        <p:spPr>
          <a:xfrm>
            <a:off x="8654205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サービス文字_グループホーム"/>
          <p:cNvSpPr txBox="1"/>
          <p:nvPr/>
        </p:nvSpPr>
        <p:spPr>
          <a:xfrm>
            <a:off x="8654205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グループホーム</a:t>
            </a:r>
          </a:p>
        </p:txBody>
      </p:sp>
      <p:sp>
        <p:nvSpPr>
          <p:cNvPr id="15" name="サービス_デイサービス"/>
          <p:cNvSpPr/>
          <p:nvPr/>
        </p:nvSpPr>
        <p:spPr>
          <a:xfrm>
            <a:off x="10148254" y="1775944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サービス文字_デイサービス"/>
          <p:cNvSpPr txBox="1"/>
          <p:nvPr/>
        </p:nvSpPr>
        <p:spPr>
          <a:xfrm>
            <a:off x="10148254" y="1775944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デイサービス</a:t>
            </a:r>
          </a:p>
        </p:txBody>
      </p:sp>
      <p:sp>
        <p:nvSpPr>
          <p:cNvPr id="17" name="サービス_小規模多機能"/>
          <p:cNvSpPr/>
          <p:nvPr/>
        </p:nvSpPr>
        <p:spPr>
          <a:xfrm>
            <a:off x="7160157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サービス文字_小規模多機能"/>
          <p:cNvSpPr txBox="1"/>
          <p:nvPr/>
        </p:nvSpPr>
        <p:spPr>
          <a:xfrm>
            <a:off x="7160157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小規模多機能</a:t>
            </a:r>
          </a:p>
        </p:txBody>
      </p:sp>
      <p:sp>
        <p:nvSpPr>
          <p:cNvPr id="19" name="サービス_看護小規模多機能型"/>
          <p:cNvSpPr/>
          <p:nvPr/>
        </p:nvSpPr>
        <p:spPr>
          <a:xfrm>
            <a:off x="8654205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サービス文字_看護小規模多機能型"/>
          <p:cNvSpPr txBox="1"/>
          <p:nvPr/>
        </p:nvSpPr>
        <p:spPr>
          <a:xfrm>
            <a:off x="8654205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9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看護小規模多機能型</a:t>
            </a:r>
          </a:p>
        </p:txBody>
      </p:sp>
      <p:sp>
        <p:nvSpPr>
          <p:cNvPr id="21" name="サービス_訪問介護"/>
          <p:cNvSpPr/>
          <p:nvPr/>
        </p:nvSpPr>
        <p:spPr>
          <a:xfrm>
            <a:off x="10148254" y="2212883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サービス文字_訪問介護"/>
          <p:cNvSpPr txBox="1"/>
          <p:nvPr/>
        </p:nvSpPr>
        <p:spPr>
          <a:xfrm>
            <a:off x="10148254" y="2212883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訪問介護</a:t>
            </a:r>
          </a:p>
        </p:txBody>
      </p:sp>
      <p:sp>
        <p:nvSpPr>
          <p:cNvPr id="23" name="サービス_訪問看護"/>
          <p:cNvSpPr/>
          <p:nvPr/>
        </p:nvSpPr>
        <p:spPr>
          <a:xfrm>
            <a:off x="7160157" y="2649821"/>
            <a:ext cx="1409479" cy="352369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サービス文字_訪問看護"/>
          <p:cNvSpPr txBox="1"/>
          <p:nvPr/>
        </p:nvSpPr>
        <p:spPr>
          <a:xfrm>
            <a:off x="7160157" y="2649821"/>
            <a:ext cx="1409479" cy="352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訪問看護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6450" y="3255898"/>
            <a:ext cx="4834515" cy="284714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ツアー見出し"/>
          <p:cNvSpPr txBox="1"/>
          <p:nvPr/>
        </p:nvSpPr>
        <p:spPr>
          <a:xfrm>
            <a:off x="7160157" y="3425035"/>
            <a:ext cx="4369387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360°ツアーで見学できる事業所　9拠点</a:t>
            </a:r>
          </a:p>
        </p:txBody>
      </p:sp>
      <p:sp>
        <p:nvSpPr>
          <p:cNvPr id="28" name="県"/>
          <p:cNvSpPr/>
          <p:nvPr/>
        </p:nvSpPr>
        <p:spPr>
          <a:xfrm>
            <a:off x="7160157" y="3890164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県_長野県"/>
          <p:cNvSpPr txBox="1"/>
          <p:nvPr/>
        </p:nvSpPr>
        <p:spPr>
          <a:xfrm>
            <a:off x="7160157" y="3890164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30" name="拠点数_長野県"/>
          <p:cNvSpPr txBox="1"/>
          <p:nvPr/>
        </p:nvSpPr>
        <p:spPr>
          <a:xfrm>
            <a:off x="8104508" y="3890164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5拠点</a:t>
            </a:r>
          </a:p>
        </p:txBody>
      </p:sp>
      <p:sp>
        <p:nvSpPr>
          <p:cNvPr id="31" name="所在地_長野県"/>
          <p:cNvSpPr txBox="1"/>
          <p:nvPr/>
        </p:nvSpPr>
        <p:spPr>
          <a:xfrm>
            <a:off x="8809248" y="3890164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安曇野・松本・佐久・諏訪・上田</a:t>
            </a:r>
          </a:p>
        </p:txBody>
      </p:sp>
      <p:sp>
        <p:nvSpPr>
          <p:cNvPr id="32" name="県"/>
          <p:cNvSpPr/>
          <p:nvPr/>
        </p:nvSpPr>
        <p:spPr>
          <a:xfrm>
            <a:off x="7160157" y="4439861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県_新潟県"/>
          <p:cNvSpPr txBox="1"/>
          <p:nvPr/>
        </p:nvSpPr>
        <p:spPr>
          <a:xfrm>
            <a:off x="7160157" y="4439861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34" name="拠点数_新潟県"/>
          <p:cNvSpPr txBox="1"/>
          <p:nvPr/>
        </p:nvSpPr>
        <p:spPr>
          <a:xfrm>
            <a:off x="8104508" y="4439861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35" name="所在地_新潟県"/>
          <p:cNvSpPr txBox="1"/>
          <p:nvPr/>
        </p:nvSpPr>
        <p:spPr>
          <a:xfrm>
            <a:off x="8809248" y="4439861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糸魚川</a:t>
            </a:r>
          </a:p>
        </p:txBody>
      </p:sp>
      <p:sp>
        <p:nvSpPr>
          <p:cNvPr id="36" name="県"/>
          <p:cNvSpPr/>
          <p:nvPr/>
        </p:nvSpPr>
        <p:spPr>
          <a:xfrm>
            <a:off x="7160157" y="4989558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県_栃木県"/>
          <p:cNvSpPr txBox="1"/>
          <p:nvPr/>
        </p:nvSpPr>
        <p:spPr>
          <a:xfrm>
            <a:off x="7160157" y="4989558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38" name="拠点数_栃木県"/>
          <p:cNvSpPr txBox="1"/>
          <p:nvPr/>
        </p:nvSpPr>
        <p:spPr>
          <a:xfrm>
            <a:off x="8104508" y="4989558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2拠点</a:t>
            </a:r>
          </a:p>
        </p:txBody>
      </p:sp>
      <p:sp>
        <p:nvSpPr>
          <p:cNvPr id="39" name="所在地_栃木県"/>
          <p:cNvSpPr txBox="1"/>
          <p:nvPr/>
        </p:nvSpPr>
        <p:spPr>
          <a:xfrm>
            <a:off x="8809248" y="4989558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宇都宮・小山</a:t>
            </a:r>
          </a:p>
        </p:txBody>
      </p:sp>
      <p:sp>
        <p:nvSpPr>
          <p:cNvPr id="40" name="県"/>
          <p:cNvSpPr/>
          <p:nvPr/>
        </p:nvSpPr>
        <p:spPr>
          <a:xfrm>
            <a:off x="7160157" y="5539255"/>
            <a:ext cx="845687" cy="338275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県_埼玉県"/>
          <p:cNvSpPr txBox="1"/>
          <p:nvPr/>
        </p:nvSpPr>
        <p:spPr>
          <a:xfrm>
            <a:off x="7160157" y="5539255"/>
            <a:ext cx="845687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42" name="拠点数_埼玉県"/>
          <p:cNvSpPr txBox="1"/>
          <p:nvPr/>
        </p:nvSpPr>
        <p:spPr>
          <a:xfrm>
            <a:off x="8104508" y="5539255"/>
            <a:ext cx="63426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20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1拠点</a:t>
            </a:r>
          </a:p>
        </p:txBody>
      </p:sp>
      <p:sp>
        <p:nvSpPr>
          <p:cNvPr id="43" name="所在地_埼玉県"/>
          <p:cNvSpPr txBox="1"/>
          <p:nvPr/>
        </p:nvSpPr>
        <p:spPr>
          <a:xfrm>
            <a:off x="8809248" y="5539255"/>
            <a:ext cx="2748485" cy="338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9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羽生</a:t>
            </a:r>
          </a:p>
        </p:txBody>
      </p:sp>
      <p:sp>
        <p:nvSpPr>
          <p:cNvPr id="44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出典：エフビー介護サービス コーポレートサイト（360°ツアー）ほか、実習サイトの掲載内容。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介護への考え方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エフビー介護サービスの、介護への考え方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11289932" cy="105710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夢ラベル"/>
          <p:cNvSpPr txBox="1"/>
          <p:nvPr/>
        </p:nvSpPr>
        <p:spPr>
          <a:xfrm>
            <a:off x="732929" y="1353100"/>
            <a:ext cx="2818959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わたしたちの夢</a:t>
            </a:r>
          </a:p>
        </p:txBody>
      </p:sp>
      <p:sp>
        <p:nvSpPr>
          <p:cNvPr id="8" name="夢"/>
          <p:cNvSpPr txBox="1"/>
          <p:nvPr/>
        </p:nvSpPr>
        <p:spPr>
          <a:xfrm>
            <a:off x="732929" y="1564522"/>
            <a:ext cx="10571098" cy="3946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1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人生の最終ステージを、利用者様の幸せと満足で元気にする</a:t>
            </a:r>
          </a:p>
        </p:txBody>
      </p:sp>
      <p:sp>
        <p:nvSpPr>
          <p:cNvPr id="9" name="夢補足"/>
          <p:cNvSpPr txBox="1"/>
          <p:nvPr/>
        </p:nvSpPr>
        <p:spPr>
          <a:xfrm>
            <a:off x="732929" y="2001461"/>
            <a:ext cx="1057109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利用者様の笑顔と、数多くの「ありがとう」を求め、喜ばれること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033" y="2438400"/>
            <a:ext cx="5496971" cy="36364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見出し_創業からの想い"/>
          <p:cNvSpPr txBox="1"/>
          <p:nvPr/>
        </p:nvSpPr>
        <p:spPr>
          <a:xfrm>
            <a:off x="704739" y="2565253"/>
            <a:ext cx="4989558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創業からの想い</a:t>
            </a:r>
          </a:p>
        </p:txBody>
      </p:sp>
      <p:sp>
        <p:nvSpPr>
          <p:cNvPr id="12" name="番号"/>
          <p:cNvSpPr/>
          <p:nvPr/>
        </p:nvSpPr>
        <p:spPr>
          <a:xfrm>
            <a:off x="704739" y="3044476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番号文字1"/>
          <p:cNvSpPr txBox="1"/>
          <p:nvPr/>
        </p:nvSpPr>
        <p:spPr>
          <a:xfrm>
            <a:off x="704739" y="304447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14" name="創業からの想い_1"/>
          <p:cNvSpPr txBox="1"/>
          <p:nvPr/>
        </p:nvSpPr>
        <p:spPr>
          <a:xfrm>
            <a:off x="1268531" y="2974002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経営理念と介護方針を基本として、利用者様とご家族の安心感と満足を目指します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4739" y="3890164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番号"/>
          <p:cNvSpPr/>
          <p:nvPr/>
        </p:nvSpPr>
        <p:spPr>
          <a:xfrm>
            <a:off x="704739" y="4059301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番号文字2"/>
          <p:cNvSpPr txBox="1"/>
          <p:nvPr/>
        </p:nvSpPr>
        <p:spPr>
          <a:xfrm>
            <a:off x="704739" y="405930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18" name="創業からの想い_2"/>
          <p:cNvSpPr txBox="1"/>
          <p:nvPr/>
        </p:nvSpPr>
        <p:spPr>
          <a:xfrm>
            <a:off x="1268531" y="3988827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心の温かい法人、事業所、そして心の優しい人間の集団になります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04739" y="4904989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番号"/>
          <p:cNvSpPr/>
          <p:nvPr/>
        </p:nvSpPr>
        <p:spPr>
          <a:xfrm>
            <a:off x="704739" y="5074127"/>
            <a:ext cx="394654" cy="394654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番号文字3"/>
          <p:cNvSpPr txBox="1"/>
          <p:nvPr/>
        </p:nvSpPr>
        <p:spPr>
          <a:xfrm>
            <a:off x="704739" y="5074127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22" name="創業からの想い_3"/>
          <p:cNvSpPr txBox="1"/>
          <p:nvPr/>
        </p:nvSpPr>
        <p:spPr>
          <a:xfrm>
            <a:off x="1268531" y="5003653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利用者様に喜ばれる介護サービスと介護用品を提供し、スピーディーな対応に専心する社員になります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3995" y="2438400"/>
            <a:ext cx="5496971" cy="363645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見出し_大切にしている姿勢"/>
          <p:cNvSpPr txBox="1"/>
          <p:nvPr/>
        </p:nvSpPr>
        <p:spPr>
          <a:xfrm>
            <a:off x="6497701" y="2565253"/>
            <a:ext cx="4989558" cy="2537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大切にしている姿勢</a:t>
            </a:r>
          </a:p>
        </p:txBody>
      </p:sp>
      <p:sp>
        <p:nvSpPr>
          <p:cNvPr id="25" name="番号"/>
          <p:cNvSpPr/>
          <p:nvPr/>
        </p:nvSpPr>
        <p:spPr>
          <a:xfrm>
            <a:off x="6497701" y="3044476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番号文字1"/>
          <p:cNvSpPr txBox="1"/>
          <p:nvPr/>
        </p:nvSpPr>
        <p:spPr>
          <a:xfrm>
            <a:off x="6497701" y="3044476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</a:t>
            </a:r>
          </a:p>
        </p:txBody>
      </p:sp>
      <p:sp>
        <p:nvSpPr>
          <p:cNvPr id="27" name="大切にしている姿勢_1"/>
          <p:cNvSpPr txBox="1"/>
          <p:nvPr/>
        </p:nvSpPr>
        <p:spPr>
          <a:xfrm>
            <a:off x="7061493" y="2974002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利用者様を「お客様」として敬い、その人としての尊厳を大切にします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97701" y="3890164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番号"/>
          <p:cNvSpPr/>
          <p:nvPr/>
        </p:nvSpPr>
        <p:spPr>
          <a:xfrm>
            <a:off x="6497701" y="4059301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番号文字2"/>
          <p:cNvSpPr txBox="1"/>
          <p:nvPr/>
        </p:nvSpPr>
        <p:spPr>
          <a:xfrm>
            <a:off x="6497701" y="4059301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</a:t>
            </a:r>
          </a:p>
        </p:txBody>
      </p:sp>
      <p:sp>
        <p:nvSpPr>
          <p:cNvPr id="31" name="大切にしている姿勢_2"/>
          <p:cNvSpPr txBox="1"/>
          <p:nvPr/>
        </p:nvSpPr>
        <p:spPr>
          <a:xfrm>
            <a:off x="7061493" y="3988827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「自分の親を面倒見るつもりで」。笑顔・言葉づかい・態度の接遇に力を入れています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97701" y="4904989"/>
            <a:ext cx="4989559" cy="0"/>
          </a:xfrm>
          <a:prstGeom prst="line">
            <a:avLst/>
          </a:prstGeom>
          <a:ln w="15240">
            <a:solidFill>
              <a:srgbClr val="E3EC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番号"/>
          <p:cNvSpPr/>
          <p:nvPr/>
        </p:nvSpPr>
        <p:spPr>
          <a:xfrm>
            <a:off x="6497701" y="5074127"/>
            <a:ext cx="394654" cy="394654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番号文字3"/>
          <p:cNvSpPr txBox="1"/>
          <p:nvPr/>
        </p:nvSpPr>
        <p:spPr>
          <a:xfrm>
            <a:off x="6497701" y="5074127"/>
            <a:ext cx="394654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</a:t>
            </a:r>
          </a:p>
        </p:txBody>
      </p:sp>
      <p:sp>
        <p:nvSpPr>
          <p:cNvPr id="35" name="大切にしている姿勢_3"/>
          <p:cNvSpPr txBox="1"/>
          <p:nvPr/>
        </p:nvSpPr>
        <p:spPr>
          <a:xfrm>
            <a:off x="7061493" y="5003653"/>
            <a:ext cx="4369387" cy="845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76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介護する人・される人の区別なく、できることを持ち寄る。「誰かのためにはたらき、笑顔とありがとうをいただく」ことが生きがいになります</a:t>
            </a:r>
          </a:p>
        </p:txBody>
      </p:sp>
      <p:sp>
        <p:nvSpPr>
          <p:cNvPr id="36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出典：エフビー介護サービス 企業説明会資料／経営者ヒアリング（2025年）。文言は要約しています。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事業の展開（1）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大規模ではなく、小規模な施設を、地域ごとに広げる</a:t>
            </a:r>
          </a:p>
        </p:txBody>
      </p:sp>
      <p:sp>
        <p:nvSpPr>
          <p:cNvPr id="6" name="こだわり"/>
          <p:cNvSpPr/>
          <p:nvPr/>
        </p:nvSpPr>
        <p:spPr>
          <a:xfrm>
            <a:off x="451033" y="1240342"/>
            <a:ext cx="5637919" cy="2396115"/>
          </a:xfrm>
          <a:prstGeom prst="roundRect">
            <a:avLst>
              <a:gd name="adj" fmla="val 6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こだわりラベル"/>
          <p:cNvSpPr txBox="1"/>
          <p:nvPr/>
        </p:nvSpPr>
        <p:spPr>
          <a:xfrm>
            <a:off x="732929" y="1409479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 spc="2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わたしたちのちょっとしたこだわり</a:t>
            </a:r>
          </a:p>
        </p:txBody>
      </p:sp>
      <p:sp>
        <p:nvSpPr>
          <p:cNvPr id="8" name="こだわり本文"/>
          <p:cNvSpPr txBox="1"/>
          <p:nvPr/>
        </p:nvSpPr>
        <p:spPr>
          <a:xfrm>
            <a:off x="732929" y="1691375"/>
            <a:ext cx="5074127" cy="9161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3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大規模な施設ではなく、</a:t>
            </a:r>
          </a:p>
          <a:p>
            <a:pPr algn="l">
              <a:lnSpc>
                <a:spcPct val="120000"/>
              </a:lnSpc>
            </a:pPr>
            <a:r>
              <a:rPr sz="2330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小規模な施設をメインに展開する。</a:t>
            </a:r>
          </a:p>
        </p:txBody>
      </p:sp>
      <p:sp>
        <p:nvSpPr>
          <p:cNvPr id="9" name="こだわり補足"/>
          <p:cNvSpPr txBox="1"/>
          <p:nvPr/>
        </p:nvSpPr>
        <p:spPr>
          <a:xfrm>
            <a:off x="732929" y="2762580"/>
            <a:ext cx="5074127" cy="7752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地域に深く根ざし、地域の文化・風土を取り入れた、</a:t>
            </a:r>
          </a:p>
          <a:p>
            <a:pPr algn="l">
              <a:lnSpc>
                <a:spcPct val="14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きめ細やかなサービスを届けています。</a:t>
            </a:r>
          </a:p>
          <a:p>
            <a:pPr algn="l">
              <a:lnSpc>
                <a:spcPct val="140000"/>
              </a:lnSpc>
            </a:pPr>
            <a:r>
              <a:rPr sz="1165" b="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住み慣れた地元で、長く生活できる環境が「生きる力」に。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42658" y="1240342"/>
            <a:ext cx="5398307" cy="2396115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多拠点見出し"/>
          <p:cNvSpPr txBox="1"/>
          <p:nvPr/>
        </p:nvSpPr>
        <p:spPr>
          <a:xfrm>
            <a:off x="6624554" y="1381290"/>
            <a:ext cx="422843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多拠点で、地域に根ざす</a:t>
            </a:r>
          </a:p>
        </p:txBody>
      </p:sp>
      <p:sp>
        <p:nvSpPr>
          <p:cNvPr id="12" name="拠点数"/>
          <p:cNvSpPr txBox="1"/>
          <p:nvPr/>
        </p:nvSpPr>
        <p:spPr>
          <a:xfrm>
            <a:off x="6624554" y="1691375"/>
            <a:ext cx="1409479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328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109</a:t>
            </a:r>
          </a:p>
        </p:txBody>
      </p:sp>
      <p:sp>
        <p:nvSpPr>
          <p:cNvPr id="13" name="拠点単位"/>
          <p:cNvSpPr txBox="1"/>
          <p:nvPr/>
        </p:nvSpPr>
        <p:spPr>
          <a:xfrm>
            <a:off x="7752138" y="1959176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拠点</a:t>
            </a:r>
          </a:p>
        </p:txBody>
      </p:sp>
      <p:sp>
        <p:nvSpPr>
          <p:cNvPr id="14" name="サービス数"/>
          <p:cNvSpPr txBox="1"/>
          <p:nvPr/>
        </p:nvSpPr>
        <p:spPr>
          <a:xfrm>
            <a:off x="9020670" y="1846418"/>
            <a:ext cx="2537063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7種のサービス</a:t>
            </a:r>
          </a:p>
        </p:txBody>
      </p:sp>
      <p:sp>
        <p:nvSpPr>
          <p:cNvPr id="15" name="県_長野県"/>
          <p:cNvSpPr/>
          <p:nvPr/>
        </p:nvSpPr>
        <p:spPr>
          <a:xfrm>
            <a:off x="6624554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県名_長野県"/>
          <p:cNvSpPr txBox="1"/>
          <p:nvPr/>
        </p:nvSpPr>
        <p:spPr>
          <a:xfrm>
            <a:off x="6624554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長野県</a:t>
            </a:r>
          </a:p>
        </p:txBody>
      </p:sp>
      <p:sp>
        <p:nvSpPr>
          <p:cNvPr id="17" name="県数_長野県"/>
          <p:cNvSpPr txBox="1"/>
          <p:nvPr/>
        </p:nvSpPr>
        <p:spPr>
          <a:xfrm>
            <a:off x="6624554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57</a:t>
            </a:r>
          </a:p>
        </p:txBody>
      </p:sp>
      <p:sp>
        <p:nvSpPr>
          <p:cNvPr id="18" name="県_新潟県"/>
          <p:cNvSpPr/>
          <p:nvPr/>
        </p:nvSpPr>
        <p:spPr>
          <a:xfrm>
            <a:off x="7625285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県名_新潟県"/>
          <p:cNvSpPr txBox="1"/>
          <p:nvPr/>
        </p:nvSpPr>
        <p:spPr>
          <a:xfrm>
            <a:off x="7625285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新潟県</a:t>
            </a:r>
          </a:p>
        </p:txBody>
      </p:sp>
      <p:sp>
        <p:nvSpPr>
          <p:cNvPr id="20" name="県数_新潟県"/>
          <p:cNvSpPr txBox="1"/>
          <p:nvPr/>
        </p:nvSpPr>
        <p:spPr>
          <a:xfrm>
            <a:off x="7625285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15</a:t>
            </a:r>
          </a:p>
        </p:txBody>
      </p:sp>
      <p:sp>
        <p:nvSpPr>
          <p:cNvPr id="21" name="県_埼玉県"/>
          <p:cNvSpPr/>
          <p:nvPr/>
        </p:nvSpPr>
        <p:spPr>
          <a:xfrm>
            <a:off x="8626016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県名_埼玉県"/>
          <p:cNvSpPr txBox="1"/>
          <p:nvPr/>
        </p:nvSpPr>
        <p:spPr>
          <a:xfrm>
            <a:off x="8626016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埼玉県</a:t>
            </a:r>
          </a:p>
        </p:txBody>
      </p:sp>
      <p:sp>
        <p:nvSpPr>
          <p:cNvPr id="23" name="県数_埼玉県"/>
          <p:cNvSpPr txBox="1"/>
          <p:nvPr/>
        </p:nvSpPr>
        <p:spPr>
          <a:xfrm>
            <a:off x="8626016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15</a:t>
            </a:r>
          </a:p>
        </p:txBody>
      </p:sp>
      <p:sp>
        <p:nvSpPr>
          <p:cNvPr id="24" name="県_群馬県"/>
          <p:cNvSpPr/>
          <p:nvPr/>
        </p:nvSpPr>
        <p:spPr>
          <a:xfrm>
            <a:off x="9626746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県名_群馬県"/>
          <p:cNvSpPr txBox="1"/>
          <p:nvPr/>
        </p:nvSpPr>
        <p:spPr>
          <a:xfrm>
            <a:off x="9626746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群馬県</a:t>
            </a:r>
          </a:p>
        </p:txBody>
      </p:sp>
      <p:sp>
        <p:nvSpPr>
          <p:cNvPr id="26" name="県数_群馬県"/>
          <p:cNvSpPr txBox="1"/>
          <p:nvPr/>
        </p:nvSpPr>
        <p:spPr>
          <a:xfrm>
            <a:off x="9626746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12</a:t>
            </a:r>
          </a:p>
        </p:txBody>
      </p:sp>
      <p:sp>
        <p:nvSpPr>
          <p:cNvPr id="27" name="県_栃木県"/>
          <p:cNvSpPr/>
          <p:nvPr/>
        </p:nvSpPr>
        <p:spPr>
          <a:xfrm>
            <a:off x="10627477" y="2607537"/>
            <a:ext cx="902067" cy="775213"/>
          </a:xfrm>
          <a:prstGeom prst="roundRect">
            <a:avLst>
              <a:gd name="adj" fmla="val 18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県名_栃木県"/>
          <p:cNvSpPr txBox="1"/>
          <p:nvPr/>
        </p:nvSpPr>
        <p:spPr>
          <a:xfrm>
            <a:off x="10627477" y="2678011"/>
            <a:ext cx="9020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栃木県</a:t>
            </a:r>
          </a:p>
        </p:txBody>
      </p:sp>
      <p:sp>
        <p:nvSpPr>
          <p:cNvPr id="29" name="県数_栃木県"/>
          <p:cNvSpPr txBox="1"/>
          <p:nvPr/>
        </p:nvSpPr>
        <p:spPr>
          <a:xfrm>
            <a:off x="10627477" y="2889433"/>
            <a:ext cx="902067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4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10</a:t>
            </a:r>
          </a:p>
        </p:txBody>
      </p:sp>
      <p:sp>
        <p:nvSpPr>
          <p:cNvPr id="30" name="3つのかたち見出し"/>
          <p:cNvSpPr txBox="1"/>
          <p:nvPr/>
        </p:nvSpPr>
        <p:spPr>
          <a:xfrm>
            <a:off x="451033" y="3805595"/>
            <a:ext cx="7047398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暮らし方に合わせて選べる、3つのかたち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1033" y="4129775"/>
            <a:ext cx="3622363" cy="19591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見出し_自宅で暮らし続ける"/>
          <p:cNvSpPr txBox="1"/>
          <p:nvPr/>
        </p:nvSpPr>
        <p:spPr>
          <a:xfrm>
            <a:off x="831593" y="4270723"/>
            <a:ext cx="3100855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自宅で暮らし続ける</a:t>
            </a:r>
          </a:p>
        </p:txBody>
      </p:sp>
      <p:sp>
        <p:nvSpPr>
          <p:cNvPr id="34" name="補足_自宅で暮らし続ける"/>
          <p:cNvSpPr txBox="1"/>
          <p:nvPr/>
        </p:nvSpPr>
        <p:spPr>
          <a:xfrm>
            <a:off x="831593" y="4524430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自宅での生活を支援</a:t>
            </a:r>
          </a:p>
        </p:txBody>
      </p:sp>
      <p:sp>
        <p:nvSpPr>
          <p:cNvPr id="35" name="内容_自宅で暮らし続ける"/>
          <p:cNvSpPr txBox="1"/>
          <p:nvPr/>
        </p:nvSpPr>
        <p:spPr>
          <a:xfrm>
            <a:off x="704739" y="4933179"/>
            <a:ext cx="3171329" cy="10571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・居宅介護支援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・訪問介護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4818" y="4129775"/>
            <a:ext cx="3622363" cy="19591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見出し_住まいで暮らす"/>
          <p:cNvSpPr txBox="1"/>
          <p:nvPr/>
        </p:nvSpPr>
        <p:spPr>
          <a:xfrm>
            <a:off x="4665378" y="4270723"/>
            <a:ext cx="3100855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住まいで暮らす</a:t>
            </a:r>
          </a:p>
        </p:txBody>
      </p:sp>
      <p:sp>
        <p:nvSpPr>
          <p:cNvPr id="39" name="補足_住まいで暮らす"/>
          <p:cNvSpPr txBox="1"/>
          <p:nvPr/>
        </p:nvSpPr>
        <p:spPr>
          <a:xfrm>
            <a:off x="4665378" y="4524430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居住いただき、支援する</a:t>
            </a:r>
          </a:p>
        </p:txBody>
      </p:sp>
      <p:sp>
        <p:nvSpPr>
          <p:cNvPr id="40" name="内容_住まいで暮らす"/>
          <p:cNvSpPr txBox="1"/>
          <p:nvPr/>
        </p:nvSpPr>
        <p:spPr>
          <a:xfrm>
            <a:off x="4538524" y="4933179"/>
            <a:ext cx="3171329" cy="10571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・有料老人ホーム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・グループホーム（少人数で暮らす、家庭的な雰囲気）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18603" y="4129775"/>
            <a:ext cx="3622363" cy="19591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見出し_通い・訪問・泊まりを組み合わせる"/>
          <p:cNvSpPr txBox="1"/>
          <p:nvPr/>
        </p:nvSpPr>
        <p:spPr>
          <a:xfrm>
            <a:off x="8499163" y="4270723"/>
            <a:ext cx="3100855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通い・訪問・泊まりを組み合わせる</a:t>
            </a:r>
          </a:p>
        </p:txBody>
      </p:sp>
      <p:sp>
        <p:nvSpPr>
          <p:cNvPr id="44" name="補足_通い・訪問・泊まりを組み合わせる"/>
          <p:cNvSpPr txBox="1"/>
          <p:nvPr/>
        </p:nvSpPr>
        <p:spPr>
          <a:xfrm>
            <a:off x="8499163" y="4524430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小規模多機能で、暮らしを支える</a:t>
            </a:r>
          </a:p>
        </p:txBody>
      </p:sp>
      <p:sp>
        <p:nvSpPr>
          <p:cNvPr id="45" name="内容_通い・訪問・泊まりを組み合わせる"/>
          <p:cNvSpPr txBox="1"/>
          <p:nvPr/>
        </p:nvSpPr>
        <p:spPr>
          <a:xfrm>
            <a:off x="8372309" y="4933179"/>
            <a:ext cx="3171329" cy="10571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・小規模多機能型居宅介護</a:t>
            </a:r>
          </a:p>
          <a:p>
            <a:pPr algn="l">
              <a:lnSpc>
                <a:spcPct val="15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・看護小規模多機能型（看護も組み合わせ）</a:t>
            </a:r>
          </a:p>
        </p:txBody>
      </p:sp>
      <p:sp>
        <p:nvSpPr>
          <p:cNvPr id="46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このほか、デイサービス（通い）・訪問看護で7種。出典：企業説明会資料、経営者ヒアリング、実習サイトの掲載内容。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13489"/>
          </a:xfrm>
          <a:custGeom>
            <a:avLst/>
            <a:gdLst/>
            <a:ahLst/>
            <a:cxnLst/>
            <a:rect l="l" t="t" r="r" b="b"/>
            <a:pathLst>
              <a:path w="12192000" h="1113489">
                <a:moveTo>
                  <a:pt x="0" y="0"/>
                </a:moveTo>
                <a:lnTo>
                  <a:pt x="12192000" y="0"/>
                </a:lnTo>
                <a:lnTo>
                  <a:pt x="12192000" y="1028920"/>
                </a:lnTo>
                <a:lnTo>
                  <a:pt x="12141200" y="1026706"/>
                </a:lnTo>
                <a:lnTo>
                  <a:pt x="12090400" y="1024494"/>
                </a:lnTo>
                <a:lnTo>
                  <a:pt x="12039600" y="1022285"/>
                </a:lnTo>
                <a:lnTo>
                  <a:pt x="11988800" y="1020080"/>
                </a:lnTo>
                <a:lnTo>
                  <a:pt x="11938000" y="1017881"/>
                </a:lnTo>
                <a:lnTo>
                  <a:pt x="11887200" y="1015690"/>
                </a:lnTo>
                <a:lnTo>
                  <a:pt x="11836400" y="1013508"/>
                </a:lnTo>
                <a:lnTo>
                  <a:pt x="11785600" y="1011337"/>
                </a:lnTo>
                <a:lnTo>
                  <a:pt x="11734800" y="1009178"/>
                </a:lnTo>
                <a:lnTo>
                  <a:pt x="11684000" y="1007032"/>
                </a:lnTo>
                <a:lnTo>
                  <a:pt x="11633200" y="1004901"/>
                </a:lnTo>
                <a:lnTo>
                  <a:pt x="11582400" y="1002787"/>
                </a:lnTo>
                <a:lnTo>
                  <a:pt x="11531600" y="1000690"/>
                </a:lnTo>
                <a:lnTo>
                  <a:pt x="11480800" y="998613"/>
                </a:lnTo>
                <a:lnTo>
                  <a:pt x="11430000" y="996557"/>
                </a:lnTo>
                <a:lnTo>
                  <a:pt x="11379200" y="994523"/>
                </a:lnTo>
                <a:lnTo>
                  <a:pt x="11328400" y="992512"/>
                </a:lnTo>
                <a:lnTo>
                  <a:pt x="11277600" y="990526"/>
                </a:lnTo>
                <a:lnTo>
                  <a:pt x="11226800" y="988567"/>
                </a:lnTo>
                <a:lnTo>
                  <a:pt x="11176000" y="986635"/>
                </a:lnTo>
                <a:lnTo>
                  <a:pt x="11125200" y="984733"/>
                </a:lnTo>
                <a:lnTo>
                  <a:pt x="11074400" y="982860"/>
                </a:lnTo>
                <a:lnTo>
                  <a:pt x="11023600" y="981019"/>
                </a:lnTo>
                <a:lnTo>
                  <a:pt x="10972800" y="979211"/>
                </a:lnTo>
                <a:lnTo>
                  <a:pt x="10922000" y="977438"/>
                </a:lnTo>
                <a:lnTo>
                  <a:pt x="10871200" y="975699"/>
                </a:lnTo>
                <a:lnTo>
                  <a:pt x="10820400" y="973997"/>
                </a:lnTo>
                <a:lnTo>
                  <a:pt x="10769600" y="972332"/>
                </a:lnTo>
                <a:lnTo>
                  <a:pt x="10718800" y="970706"/>
                </a:lnTo>
                <a:lnTo>
                  <a:pt x="10668000" y="969121"/>
                </a:lnTo>
                <a:lnTo>
                  <a:pt x="10617200" y="967576"/>
                </a:lnTo>
                <a:lnTo>
                  <a:pt x="10566400" y="966073"/>
                </a:lnTo>
                <a:lnTo>
                  <a:pt x="10515600" y="964613"/>
                </a:lnTo>
                <a:lnTo>
                  <a:pt x="10464800" y="963197"/>
                </a:lnTo>
                <a:lnTo>
                  <a:pt x="10414000" y="961827"/>
                </a:lnTo>
                <a:lnTo>
                  <a:pt x="10363200" y="960502"/>
                </a:lnTo>
                <a:lnTo>
                  <a:pt x="10312400" y="959224"/>
                </a:lnTo>
                <a:lnTo>
                  <a:pt x="10261600" y="957994"/>
                </a:lnTo>
                <a:lnTo>
                  <a:pt x="10210800" y="956813"/>
                </a:lnTo>
                <a:lnTo>
                  <a:pt x="10160000" y="955681"/>
                </a:lnTo>
                <a:lnTo>
                  <a:pt x="10109200" y="954599"/>
                </a:lnTo>
                <a:lnTo>
                  <a:pt x="10058400" y="953568"/>
                </a:lnTo>
                <a:lnTo>
                  <a:pt x="10007600" y="952589"/>
                </a:lnTo>
                <a:lnTo>
                  <a:pt x="9956800" y="951662"/>
                </a:lnTo>
                <a:lnTo>
                  <a:pt x="9906000" y="950788"/>
                </a:lnTo>
                <a:lnTo>
                  <a:pt x="9855200" y="949968"/>
                </a:lnTo>
                <a:lnTo>
                  <a:pt x="9804400" y="949202"/>
                </a:lnTo>
                <a:lnTo>
                  <a:pt x="9753600" y="948490"/>
                </a:lnTo>
                <a:lnTo>
                  <a:pt x="9702800" y="947834"/>
                </a:lnTo>
                <a:lnTo>
                  <a:pt x="9652000" y="947233"/>
                </a:lnTo>
                <a:lnTo>
                  <a:pt x="9601200" y="946688"/>
                </a:lnTo>
                <a:lnTo>
                  <a:pt x="9550400" y="946199"/>
                </a:lnTo>
                <a:lnTo>
                  <a:pt x="9499600" y="945767"/>
                </a:lnTo>
                <a:lnTo>
                  <a:pt x="9448800" y="945392"/>
                </a:lnTo>
                <a:lnTo>
                  <a:pt x="9398000" y="945074"/>
                </a:lnTo>
                <a:lnTo>
                  <a:pt x="9347200" y="944814"/>
                </a:lnTo>
                <a:lnTo>
                  <a:pt x="9296400" y="944612"/>
                </a:lnTo>
                <a:lnTo>
                  <a:pt x="9245600" y="944467"/>
                </a:lnTo>
                <a:lnTo>
                  <a:pt x="9194800" y="944380"/>
                </a:lnTo>
                <a:lnTo>
                  <a:pt x="9144000" y="944351"/>
                </a:lnTo>
                <a:lnTo>
                  <a:pt x="9093200" y="944380"/>
                </a:lnTo>
                <a:lnTo>
                  <a:pt x="9042400" y="944467"/>
                </a:lnTo>
                <a:lnTo>
                  <a:pt x="8991600" y="944612"/>
                </a:lnTo>
                <a:lnTo>
                  <a:pt x="8940800" y="944814"/>
                </a:lnTo>
                <a:lnTo>
                  <a:pt x="8890000" y="945074"/>
                </a:lnTo>
                <a:lnTo>
                  <a:pt x="8839200" y="945392"/>
                </a:lnTo>
                <a:lnTo>
                  <a:pt x="8788400" y="945767"/>
                </a:lnTo>
                <a:lnTo>
                  <a:pt x="8737600" y="946199"/>
                </a:lnTo>
                <a:lnTo>
                  <a:pt x="8686800" y="946688"/>
                </a:lnTo>
                <a:lnTo>
                  <a:pt x="8636000" y="947233"/>
                </a:lnTo>
                <a:lnTo>
                  <a:pt x="8585200" y="947834"/>
                </a:lnTo>
                <a:lnTo>
                  <a:pt x="8534400" y="948490"/>
                </a:lnTo>
                <a:lnTo>
                  <a:pt x="8483599" y="949202"/>
                </a:lnTo>
                <a:lnTo>
                  <a:pt x="8432800" y="949968"/>
                </a:lnTo>
                <a:lnTo>
                  <a:pt x="8382000" y="950788"/>
                </a:lnTo>
                <a:lnTo>
                  <a:pt x="8331199" y="951662"/>
                </a:lnTo>
                <a:lnTo>
                  <a:pt x="8280400" y="952589"/>
                </a:lnTo>
                <a:lnTo>
                  <a:pt x="8229600" y="953568"/>
                </a:lnTo>
                <a:lnTo>
                  <a:pt x="8178799" y="954599"/>
                </a:lnTo>
                <a:lnTo>
                  <a:pt x="8128000" y="955681"/>
                </a:lnTo>
                <a:lnTo>
                  <a:pt x="8077200" y="956813"/>
                </a:lnTo>
                <a:lnTo>
                  <a:pt x="8026399" y="957994"/>
                </a:lnTo>
                <a:lnTo>
                  <a:pt x="7975600" y="959224"/>
                </a:lnTo>
                <a:lnTo>
                  <a:pt x="7924800" y="960502"/>
                </a:lnTo>
                <a:lnTo>
                  <a:pt x="7873999" y="961827"/>
                </a:lnTo>
                <a:lnTo>
                  <a:pt x="7823200" y="963197"/>
                </a:lnTo>
                <a:lnTo>
                  <a:pt x="7772400" y="964613"/>
                </a:lnTo>
                <a:lnTo>
                  <a:pt x="7721599" y="966073"/>
                </a:lnTo>
                <a:lnTo>
                  <a:pt x="7670800" y="967576"/>
                </a:lnTo>
                <a:lnTo>
                  <a:pt x="7620000" y="969121"/>
                </a:lnTo>
                <a:lnTo>
                  <a:pt x="7569199" y="970706"/>
                </a:lnTo>
                <a:lnTo>
                  <a:pt x="7518400" y="972332"/>
                </a:lnTo>
                <a:lnTo>
                  <a:pt x="7467600" y="973997"/>
                </a:lnTo>
                <a:lnTo>
                  <a:pt x="7416799" y="975699"/>
                </a:lnTo>
                <a:lnTo>
                  <a:pt x="7366000" y="977438"/>
                </a:lnTo>
                <a:lnTo>
                  <a:pt x="7315200" y="979211"/>
                </a:lnTo>
                <a:lnTo>
                  <a:pt x="7264399" y="981019"/>
                </a:lnTo>
                <a:lnTo>
                  <a:pt x="7213600" y="982860"/>
                </a:lnTo>
                <a:lnTo>
                  <a:pt x="7162800" y="984733"/>
                </a:lnTo>
                <a:lnTo>
                  <a:pt x="7112000" y="986635"/>
                </a:lnTo>
                <a:lnTo>
                  <a:pt x="7061200" y="988567"/>
                </a:lnTo>
                <a:lnTo>
                  <a:pt x="7010400" y="990526"/>
                </a:lnTo>
                <a:lnTo>
                  <a:pt x="6959600" y="992512"/>
                </a:lnTo>
                <a:lnTo>
                  <a:pt x="6908800" y="994523"/>
                </a:lnTo>
                <a:lnTo>
                  <a:pt x="6858000" y="996557"/>
                </a:lnTo>
                <a:lnTo>
                  <a:pt x="6807200" y="998613"/>
                </a:lnTo>
                <a:lnTo>
                  <a:pt x="6756400" y="1000690"/>
                </a:lnTo>
                <a:lnTo>
                  <a:pt x="6705600" y="1002787"/>
                </a:lnTo>
                <a:lnTo>
                  <a:pt x="6654800" y="1004901"/>
                </a:lnTo>
                <a:lnTo>
                  <a:pt x="6604000" y="1007032"/>
                </a:lnTo>
                <a:lnTo>
                  <a:pt x="6553200" y="1009178"/>
                </a:lnTo>
                <a:lnTo>
                  <a:pt x="6502400" y="1011337"/>
                </a:lnTo>
                <a:lnTo>
                  <a:pt x="6451600" y="1013508"/>
                </a:lnTo>
                <a:lnTo>
                  <a:pt x="6400800" y="1015690"/>
                </a:lnTo>
                <a:lnTo>
                  <a:pt x="6350000" y="1017881"/>
                </a:lnTo>
                <a:lnTo>
                  <a:pt x="6299200" y="1020080"/>
                </a:lnTo>
                <a:lnTo>
                  <a:pt x="6248400" y="1022285"/>
                </a:lnTo>
                <a:lnTo>
                  <a:pt x="6197600" y="1024494"/>
                </a:lnTo>
                <a:lnTo>
                  <a:pt x="6146800" y="1026706"/>
                </a:lnTo>
                <a:lnTo>
                  <a:pt x="6096000" y="1028920"/>
                </a:lnTo>
                <a:lnTo>
                  <a:pt x="6045200" y="1031133"/>
                </a:lnTo>
                <a:lnTo>
                  <a:pt x="5994400" y="1033346"/>
                </a:lnTo>
                <a:lnTo>
                  <a:pt x="5943600" y="1035555"/>
                </a:lnTo>
                <a:lnTo>
                  <a:pt x="5892800" y="1037760"/>
                </a:lnTo>
                <a:lnTo>
                  <a:pt x="5842000" y="1039958"/>
                </a:lnTo>
                <a:lnTo>
                  <a:pt x="5791200" y="1042149"/>
                </a:lnTo>
                <a:lnTo>
                  <a:pt x="5740400" y="1044331"/>
                </a:lnTo>
                <a:lnTo>
                  <a:pt x="5689600" y="1046503"/>
                </a:lnTo>
                <a:lnTo>
                  <a:pt x="5638800" y="1048662"/>
                </a:lnTo>
                <a:lnTo>
                  <a:pt x="5588000" y="1050808"/>
                </a:lnTo>
                <a:lnTo>
                  <a:pt x="5537200" y="1052939"/>
                </a:lnTo>
                <a:lnTo>
                  <a:pt x="5486400" y="1055053"/>
                </a:lnTo>
                <a:lnTo>
                  <a:pt x="5435600" y="1057149"/>
                </a:lnTo>
                <a:lnTo>
                  <a:pt x="5384800" y="1059226"/>
                </a:lnTo>
                <a:lnTo>
                  <a:pt x="5334000" y="1061283"/>
                </a:lnTo>
                <a:lnTo>
                  <a:pt x="5283200" y="1063317"/>
                </a:lnTo>
                <a:lnTo>
                  <a:pt x="5232400" y="1065328"/>
                </a:lnTo>
                <a:lnTo>
                  <a:pt x="5181600" y="1067313"/>
                </a:lnTo>
                <a:lnTo>
                  <a:pt x="5130800" y="1069272"/>
                </a:lnTo>
                <a:lnTo>
                  <a:pt x="5080000" y="1071204"/>
                </a:lnTo>
                <a:lnTo>
                  <a:pt x="5029200" y="1073107"/>
                </a:lnTo>
                <a:lnTo>
                  <a:pt x="4978400" y="1074979"/>
                </a:lnTo>
                <a:lnTo>
                  <a:pt x="4927599" y="1076820"/>
                </a:lnTo>
                <a:lnTo>
                  <a:pt x="4876800" y="1078628"/>
                </a:lnTo>
                <a:lnTo>
                  <a:pt x="4826000" y="1080402"/>
                </a:lnTo>
                <a:lnTo>
                  <a:pt x="4775199" y="1082141"/>
                </a:lnTo>
                <a:lnTo>
                  <a:pt x="4724400" y="1083843"/>
                </a:lnTo>
                <a:lnTo>
                  <a:pt x="4673600" y="1085507"/>
                </a:lnTo>
                <a:lnTo>
                  <a:pt x="4622799" y="1087133"/>
                </a:lnTo>
                <a:lnTo>
                  <a:pt x="4572000" y="1088719"/>
                </a:lnTo>
                <a:lnTo>
                  <a:pt x="4521200" y="1090264"/>
                </a:lnTo>
                <a:lnTo>
                  <a:pt x="4470399" y="1091767"/>
                </a:lnTo>
                <a:lnTo>
                  <a:pt x="4419600" y="1093226"/>
                </a:lnTo>
                <a:lnTo>
                  <a:pt x="4368800" y="1094642"/>
                </a:lnTo>
                <a:lnTo>
                  <a:pt x="4317999" y="1096013"/>
                </a:lnTo>
                <a:lnTo>
                  <a:pt x="4267200" y="1097337"/>
                </a:lnTo>
                <a:lnTo>
                  <a:pt x="4216400" y="1098615"/>
                </a:lnTo>
                <a:lnTo>
                  <a:pt x="4165599" y="1099845"/>
                </a:lnTo>
                <a:lnTo>
                  <a:pt x="4114800" y="1101026"/>
                </a:lnTo>
                <a:lnTo>
                  <a:pt x="4064000" y="1102158"/>
                </a:lnTo>
                <a:lnTo>
                  <a:pt x="4013199" y="1103240"/>
                </a:lnTo>
                <a:lnTo>
                  <a:pt x="3962400" y="1104271"/>
                </a:lnTo>
                <a:lnTo>
                  <a:pt x="3911600" y="1105250"/>
                </a:lnTo>
                <a:lnTo>
                  <a:pt x="3860799" y="1106177"/>
                </a:lnTo>
                <a:lnTo>
                  <a:pt x="3810000" y="1107051"/>
                </a:lnTo>
                <a:lnTo>
                  <a:pt x="3759200" y="1107871"/>
                </a:lnTo>
                <a:lnTo>
                  <a:pt x="3708399" y="1108638"/>
                </a:lnTo>
                <a:lnTo>
                  <a:pt x="3657600" y="1109349"/>
                </a:lnTo>
                <a:lnTo>
                  <a:pt x="3606800" y="1110006"/>
                </a:lnTo>
                <a:lnTo>
                  <a:pt x="3555999" y="1110607"/>
                </a:lnTo>
                <a:lnTo>
                  <a:pt x="3505200" y="1111152"/>
                </a:lnTo>
                <a:lnTo>
                  <a:pt x="3454400" y="1111640"/>
                </a:lnTo>
                <a:lnTo>
                  <a:pt x="3403599" y="1112072"/>
                </a:lnTo>
                <a:lnTo>
                  <a:pt x="3352800" y="1112447"/>
                </a:lnTo>
                <a:lnTo>
                  <a:pt x="3302000" y="1112765"/>
                </a:lnTo>
                <a:lnTo>
                  <a:pt x="3251199" y="1113025"/>
                </a:lnTo>
                <a:lnTo>
                  <a:pt x="3200400" y="1113228"/>
                </a:lnTo>
                <a:lnTo>
                  <a:pt x="3149600" y="1113373"/>
                </a:lnTo>
                <a:lnTo>
                  <a:pt x="3098799" y="1113460"/>
                </a:lnTo>
                <a:lnTo>
                  <a:pt x="3048000" y="1113489"/>
                </a:lnTo>
                <a:lnTo>
                  <a:pt x="2997200" y="1113460"/>
                </a:lnTo>
                <a:lnTo>
                  <a:pt x="2946399" y="1113373"/>
                </a:lnTo>
                <a:lnTo>
                  <a:pt x="2895600" y="1113228"/>
                </a:lnTo>
                <a:lnTo>
                  <a:pt x="2844800" y="1113025"/>
                </a:lnTo>
                <a:lnTo>
                  <a:pt x="2793999" y="1112765"/>
                </a:lnTo>
                <a:lnTo>
                  <a:pt x="2743200" y="1112447"/>
                </a:lnTo>
                <a:lnTo>
                  <a:pt x="2692400" y="1112072"/>
                </a:lnTo>
                <a:lnTo>
                  <a:pt x="2641599" y="1111640"/>
                </a:lnTo>
                <a:lnTo>
                  <a:pt x="2590800" y="1111152"/>
                </a:lnTo>
                <a:lnTo>
                  <a:pt x="2540000" y="1110607"/>
                </a:lnTo>
                <a:lnTo>
                  <a:pt x="2489199" y="1110006"/>
                </a:lnTo>
                <a:lnTo>
                  <a:pt x="2438400" y="1109349"/>
                </a:lnTo>
                <a:lnTo>
                  <a:pt x="2387600" y="1108638"/>
                </a:lnTo>
                <a:lnTo>
                  <a:pt x="2336799" y="1107871"/>
                </a:lnTo>
                <a:lnTo>
                  <a:pt x="2286000" y="1107051"/>
                </a:lnTo>
                <a:lnTo>
                  <a:pt x="2235200" y="1106177"/>
                </a:lnTo>
                <a:lnTo>
                  <a:pt x="2184399" y="1105250"/>
                </a:lnTo>
                <a:lnTo>
                  <a:pt x="2133600" y="1104271"/>
                </a:lnTo>
                <a:lnTo>
                  <a:pt x="2082800" y="1103240"/>
                </a:lnTo>
                <a:lnTo>
                  <a:pt x="2031999" y="1102158"/>
                </a:lnTo>
                <a:lnTo>
                  <a:pt x="1981200" y="1101026"/>
                </a:lnTo>
                <a:lnTo>
                  <a:pt x="1930400" y="1099845"/>
                </a:lnTo>
                <a:lnTo>
                  <a:pt x="1879599" y="1098615"/>
                </a:lnTo>
                <a:lnTo>
                  <a:pt x="1828800" y="1097337"/>
                </a:lnTo>
                <a:lnTo>
                  <a:pt x="1778000" y="1096013"/>
                </a:lnTo>
                <a:lnTo>
                  <a:pt x="1727199" y="1094642"/>
                </a:lnTo>
                <a:lnTo>
                  <a:pt x="1676400" y="1093226"/>
                </a:lnTo>
                <a:lnTo>
                  <a:pt x="1625600" y="1091767"/>
                </a:lnTo>
                <a:lnTo>
                  <a:pt x="1574799" y="1090264"/>
                </a:lnTo>
                <a:lnTo>
                  <a:pt x="1524000" y="1088719"/>
                </a:lnTo>
                <a:lnTo>
                  <a:pt x="1473200" y="1087133"/>
                </a:lnTo>
                <a:lnTo>
                  <a:pt x="1422399" y="1085507"/>
                </a:lnTo>
                <a:lnTo>
                  <a:pt x="1371600" y="1083843"/>
                </a:lnTo>
                <a:lnTo>
                  <a:pt x="1320800" y="1082141"/>
                </a:lnTo>
                <a:lnTo>
                  <a:pt x="1269999" y="1080402"/>
                </a:lnTo>
                <a:lnTo>
                  <a:pt x="1219200" y="1078628"/>
                </a:lnTo>
                <a:lnTo>
                  <a:pt x="1168400" y="1076820"/>
                </a:lnTo>
                <a:lnTo>
                  <a:pt x="1117599" y="1074979"/>
                </a:lnTo>
                <a:lnTo>
                  <a:pt x="1066800" y="1073107"/>
                </a:lnTo>
                <a:lnTo>
                  <a:pt x="1016000" y="1071204"/>
                </a:lnTo>
                <a:lnTo>
                  <a:pt x="965199" y="1069272"/>
                </a:lnTo>
                <a:lnTo>
                  <a:pt x="914400" y="1067313"/>
                </a:lnTo>
                <a:lnTo>
                  <a:pt x="863600" y="1065328"/>
                </a:lnTo>
                <a:lnTo>
                  <a:pt x="812799" y="1063317"/>
                </a:lnTo>
                <a:lnTo>
                  <a:pt x="762000" y="1061283"/>
                </a:lnTo>
                <a:lnTo>
                  <a:pt x="711200" y="1059226"/>
                </a:lnTo>
                <a:lnTo>
                  <a:pt x="660399" y="1057149"/>
                </a:lnTo>
                <a:lnTo>
                  <a:pt x="609600" y="1055053"/>
                </a:lnTo>
                <a:lnTo>
                  <a:pt x="558800" y="1052939"/>
                </a:lnTo>
                <a:lnTo>
                  <a:pt x="507999" y="1050808"/>
                </a:lnTo>
                <a:lnTo>
                  <a:pt x="457200" y="1048662"/>
                </a:lnTo>
                <a:lnTo>
                  <a:pt x="406400" y="1046503"/>
                </a:lnTo>
                <a:lnTo>
                  <a:pt x="355599" y="1044331"/>
                </a:lnTo>
                <a:lnTo>
                  <a:pt x="304800" y="1042149"/>
                </a:lnTo>
                <a:lnTo>
                  <a:pt x="254000" y="1039958"/>
                </a:lnTo>
                <a:lnTo>
                  <a:pt x="203199" y="1037760"/>
                </a:lnTo>
                <a:lnTo>
                  <a:pt x="152400" y="1035555"/>
                </a:lnTo>
                <a:lnTo>
                  <a:pt x="101600" y="1033346"/>
                </a:lnTo>
                <a:lnTo>
                  <a:pt x="50799" y="1031133"/>
                </a:lnTo>
                <a:lnTo>
                  <a:pt x="0" y="1028920"/>
                </a:lnTo>
                <a:close/>
              </a:path>
            </a:pathLst>
          </a:custGeom>
          <a:solidFill>
            <a:srgbClr val="74C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ヘッダー山1"/>
          <p:cNvSpPr/>
          <p:nvPr/>
        </p:nvSpPr>
        <p:spPr>
          <a:xfrm>
            <a:off x="8315930" y="352369"/>
            <a:ext cx="2078983" cy="591982"/>
          </a:xfrm>
          <a:custGeom>
            <a:avLst/>
            <a:gdLst/>
            <a:ahLst/>
            <a:cxnLst/>
            <a:rect l="l" t="t" r="r" b="b"/>
            <a:pathLst>
              <a:path w="2078983" h="591982">
                <a:moveTo>
                  <a:pt x="0" y="591982"/>
                </a:moveTo>
                <a:lnTo>
                  <a:pt x="1141679" y="0"/>
                </a:lnTo>
                <a:lnTo>
                  <a:pt x="2078983" y="591982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ヘッダー山2"/>
          <p:cNvSpPr/>
          <p:nvPr/>
        </p:nvSpPr>
        <p:spPr>
          <a:xfrm>
            <a:off x="9866358" y="591981"/>
            <a:ext cx="2043746" cy="352370"/>
          </a:xfrm>
          <a:custGeom>
            <a:avLst/>
            <a:gdLst/>
            <a:ahLst/>
            <a:cxnLst/>
            <a:rect l="l" t="t" r="r" b="b"/>
            <a:pathLst>
              <a:path w="2043746" h="352370">
                <a:moveTo>
                  <a:pt x="0" y="352370"/>
                </a:moveTo>
                <a:lnTo>
                  <a:pt x="1021873" y="0"/>
                </a:lnTo>
                <a:lnTo>
                  <a:pt x="2043746" y="352370"/>
                </a:lnTo>
                <a:close/>
              </a:path>
            </a:pathLst>
          </a:custGeom>
          <a:solidFill>
            <a:srgbClr val="8ACF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6342658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EAF8F4"/>
                </a:solidFill>
                <a:latin typeface="游ゴシック"/>
                <a:ea typeface="游ゴシック"/>
                <a:cs typeface="游ゴシック"/>
              </a:rPr>
              <a:t>事業の展開（2）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1057109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福祉用具から介護サービスへ。事業を広げてきた歩み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033" y="1240342"/>
            <a:ext cx="2621632" cy="21142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時期_1"/>
          <p:cNvSpPr txBox="1"/>
          <p:nvPr/>
        </p:nvSpPr>
        <p:spPr>
          <a:xfrm>
            <a:off x="662455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はじまり</a:t>
            </a:r>
          </a:p>
        </p:txBody>
      </p:sp>
      <p:sp>
        <p:nvSpPr>
          <p:cNvPr id="9" name="見出し_1"/>
          <p:cNvSpPr txBox="1"/>
          <p:nvPr/>
        </p:nvSpPr>
        <p:spPr>
          <a:xfrm>
            <a:off x="662455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福祉用具のレンタル・販売</a:t>
            </a:r>
          </a:p>
        </p:txBody>
      </p:sp>
      <p:sp>
        <p:nvSpPr>
          <p:cNvPr id="10" name="説明_1"/>
          <p:cNvSpPr txBox="1"/>
          <p:nvPr/>
        </p:nvSpPr>
        <p:spPr>
          <a:xfrm>
            <a:off x="662455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フランスベッドの代理店が原点。2000年に福祉レンタルを開始</a:t>
            </a:r>
          </a:p>
        </p:txBody>
      </p:sp>
      <p:sp>
        <p:nvSpPr>
          <p:cNvPr id="11" name="矢印"/>
          <p:cNvSpPr/>
          <p:nvPr/>
        </p:nvSpPr>
        <p:spPr>
          <a:xfrm>
            <a:off x="3100855" y="218469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40467" y="1240342"/>
            <a:ext cx="2621632" cy="21142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時期_2"/>
          <p:cNvSpPr txBox="1"/>
          <p:nvPr/>
        </p:nvSpPr>
        <p:spPr>
          <a:xfrm>
            <a:off x="3551889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自宅を支える</a:t>
            </a:r>
          </a:p>
        </p:txBody>
      </p:sp>
      <p:sp>
        <p:nvSpPr>
          <p:cNvPr id="15" name="見出し_2"/>
          <p:cNvSpPr txBox="1"/>
          <p:nvPr/>
        </p:nvSpPr>
        <p:spPr>
          <a:xfrm>
            <a:off x="3551889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居宅介護支援・訪問介護</a:t>
            </a:r>
          </a:p>
        </p:txBody>
      </p:sp>
      <p:sp>
        <p:nvSpPr>
          <p:cNvPr id="16" name="説明_2"/>
          <p:cNvSpPr txBox="1"/>
          <p:nvPr/>
        </p:nvSpPr>
        <p:spPr>
          <a:xfrm>
            <a:off x="3551889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自宅での生活を支援するサービスへ</a:t>
            </a:r>
          </a:p>
        </p:txBody>
      </p:sp>
      <p:sp>
        <p:nvSpPr>
          <p:cNvPr id="17" name="矢印"/>
          <p:cNvSpPr/>
          <p:nvPr/>
        </p:nvSpPr>
        <p:spPr>
          <a:xfrm>
            <a:off x="5990289" y="218469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29900" y="1240342"/>
            <a:ext cx="2621632" cy="21142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時期_3"/>
          <p:cNvSpPr txBox="1"/>
          <p:nvPr/>
        </p:nvSpPr>
        <p:spPr>
          <a:xfrm>
            <a:off x="6441322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住まいと暮らしを支える</a:t>
            </a:r>
          </a:p>
        </p:txBody>
      </p:sp>
      <p:sp>
        <p:nvSpPr>
          <p:cNvPr id="21" name="見出し_3"/>
          <p:cNvSpPr txBox="1"/>
          <p:nvPr/>
        </p:nvSpPr>
        <p:spPr>
          <a:xfrm>
            <a:off x="6441322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老人ホーム・グループホーム・小規模多機能</a:t>
            </a:r>
          </a:p>
        </p:txBody>
      </p:sp>
      <p:sp>
        <p:nvSpPr>
          <p:cNvPr id="22" name="説明_3"/>
          <p:cNvSpPr txBox="1"/>
          <p:nvPr/>
        </p:nvSpPr>
        <p:spPr>
          <a:xfrm>
            <a:off x="6441322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居住の支援と、通い・訪問・泊まりの組み合わせへ</a:t>
            </a:r>
          </a:p>
        </p:txBody>
      </p:sp>
      <p:sp>
        <p:nvSpPr>
          <p:cNvPr id="23" name="矢印"/>
          <p:cNvSpPr/>
          <p:nvPr/>
        </p:nvSpPr>
        <p:spPr>
          <a:xfrm>
            <a:off x="8879722" y="2184693"/>
            <a:ext cx="211421" cy="310085"/>
          </a:xfrm>
          <a:prstGeom prst="rightArrow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19334" y="1240342"/>
            <a:ext cx="2621632" cy="211421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時期_4"/>
          <p:cNvSpPr txBox="1"/>
          <p:nvPr/>
        </p:nvSpPr>
        <p:spPr>
          <a:xfrm>
            <a:off x="9330756" y="1564522"/>
            <a:ext cx="2255167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2022年4月</a:t>
            </a:r>
          </a:p>
        </p:txBody>
      </p:sp>
      <p:sp>
        <p:nvSpPr>
          <p:cNvPr id="27" name="見出し_4"/>
          <p:cNvSpPr txBox="1"/>
          <p:nvPr/>
        </p:nvSpPr>
        <p:spPr>
          <a:xfrm>
            <a:off x="9330756" y="1818228"/>
            <a:ext cx="2226978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31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東証スタンダード市場に上場</a:t>
            </a:r>
          </a:p>
        </p:txBody>
      </p:sp>
      <p:sp>
        <p:nvSpPr>
          <p:cNvPr id="28" name="説明_4"/>
          <p:cNvSpPr txBox="1"/>
          <p:nvPr/>
        </p:nvSpPr>
        <p:spPr>
          <a:xfrm>
            <a:off x="9330756" y="2621632"/>
            <a:ext cx="2226978" cy="634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事業成長の加速へ。信越・北関東に7種109拠点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1033" y="3551889"/>
            <a:ext cx="5496971" cy="253706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売上見出し"/>
          <p:cNvSpPr txBox="1"/>
          <p:nvPr/>
        </p:nvSpPr>
        <p:spPr>
          <a:xfrm>
            <a:off x="704739" y="3678742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売上は、10年で約2.4倍に</a:t>
            </a:r>
          </a:p>
        </p:txBody>
      </p:sp>
      <p:sp>
        <p:nvSpPr>
          <p:cNvPr id="31" name="棒_2013年"/>
          <p:cNvSpPr/>
          <p:nvPr/>
        </p:nvSpPr>
        <p:spPr>
          <a:xfrm>
            <a:off x="1127583" y="4989558"/>
            <a:ext cx="1409479" cy="507412"/>
          </a:xfrm>
          <a:prstGeom prst="rect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売上_2013年"/>
          <p:cNvSpPr txBox="1"/>
          <p:nvPr/>
        </p:nvSpPr>
        <p:spPr>
          <a:xfrm>
            <a:off x="1127583" y="4665378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75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39億円</a:t>
            </a:r>
          </a:p>
        </p:txBody>
      </p:sp>
      <p:sp>
        <p:nvSpPr>
          <p:cNvPr id="33" name="年_2013年"/>
          <p:cNvSpPr txBox="1"/>
          <p:nvPr/>
        </p:nvSpPr>
        <p:spPr>
          <a:xfrm>
            <a:off x="1127583" y="5553350"/>
            <a:ext cx="14094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2013年</a:t>
            </a:r>
          </a:p>
        </p:txBody>
      </p:sp>
      <p:sp>
        <p:nvSpPr>
          <p:cNvPr id="34" name="棒_2023年"/>
          <p:cNvSpPr/>
          <p:nvPr/>
        </p:nvSpPr>
        <p:spPr>
          <a:xfrm>
            <a:off x="3241803" y="4298913"/>
            <a:ext cx="1409479" cy="1198057"/>
          </a:xfrm>
          <a:prstGeom prst="rect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売上_2023年"/>
          <p:cNvSpPr txBox="1"/>
          <p:nvPr/>
        </p:nvSpPr>
        <p:spPr>
          <a:xfrm>
            <a:off x="3241803" y="3974732"/>
            <a:ext cx="1409479" cy="2818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75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92億円</a:t>
            </a:r>
          </a:p>
        </p:txBody>
      </p:sp>
      <p:sp>
        <p:nvSpPr>
          <p:cNvPr id="36" name="年_2023年"/>
          <p:cNvSpPr txBox="1"/>
          <p:nvPr/>
        </p:nvSpPr>
        <p:spPr>
          <a:xfrm>
            <a:off x="3241803" y="5553350"/>
            <a:ext cx="14094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9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2023年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9900" y="3551889"/>
            <a:ext cx="5511065" cy="2537063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D5E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戦略見出し"/>
          <p:cNvSpPr txBox="1"/>
          <p:nvPr/>
        </p:nvSpPr>
        <p:spPr>
          <a:xfrm>
            <a:off x="6483606" y="3678742"/>
            <a:ext cx="493317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これからの成長戦略</a:t>
            </a:r>
          </a:p>
        </p:txBody>
      </p:sp>
      <p:sp>
        <p:nvSpPr>
          <p:cNvPr id="39" name="タグ_福祉用具事業"/>
          <p:cNvSpPr/>
          <p:nvPr/>
        </p:nvSpPr>
        <p:spPr>
          <a:xfrm>
            <a:off x="6483606" y="4059301"/>
            <a:ext cx="1057109" cy="295990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タグ文字_福祉用具事業"/>
          <p:cNvSpPr txBox="1"/>
          <p:nvPr/>
        </p:nvSpPr>
        <p:spPr>
          <a:xfrm>
            <a:off x="6483606" y="4059301"/>
            <a:ext cx="1057109" cy="295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福祉用具事業</a:t>
            </a:r>
          </a:p>
        </p:txBody>
      </p:sp>
      <p:sp>
        <p:nvSpPr>
          <p:cNvPr id="41" name="戦略_福祉用具事業"/>
          <p:cNvSpPr txBox="1"/>
          <p:nvPr/>
        </p:nvSpPr>
        <p:spPr>
          <a:xfrm>
            <a:off x="7681664" y="4045206"/>
            <a:ext cx="387606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自社仕入レンタル品販売の拡充／新規利用者様の開拓</a:t>
            </a:r>
          </a:p>
        </p:txBody>
      </p:sp>
      <p:sp>
        <p:nvSpPr>
          <p:cNvPr id="42" name="タグ_介護事業"/>
          <p:cNvSpPr/>
          <p:nvPr/>
        </p:nvSpPr>
        <p:spPr>
          <a:xfrm>
            <a:off x="6483606" y="4651283"/>
            <a:ext cx="1057109" cy="295990"/>
          </a:xfrm>
          <a:prstGeom prst="roundRect">
            <a:avLst>
              <a:gd name="adj" fmla="val 50000"/>
            </a:avLst>
          </a:prstGeom>
          <a:solidFill>
            <a:srgbClr val="E3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タグ文字_介護事業"/>
          <p:cNvSpPr txBox="1"/>
          <p:nvPr/>
        </p:nvSpPr>
        <p:spPr>
          <a:xfrm>
            <a:off x="6483606" y="4651283"/>
            <a:ext cx="1057109" cy="295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介護事業</a:t>
            </a:r>
          </a:p>
        </p:txBody>
      </p:sp>
      <p:sp>
        <p:nvSpPr>
          <p:cNvPr id="44" name="戦略_介護事業"/>
          <p:cNvSpPr txBox="1"/>
          <p:nvPr/>
        </p:nvSpPr>
        <p:spPr>
          <a:xfrm>
            <a:off x="7681664" y="4637188"/>
            <a:ext cx="387606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事業所運営方法の見直し／新たな介護サービスへの挑戦／ニーズにあったきめ細やかなサービスの提供</a:t>
            </a:r>
          </a:p>
        </p:txBody>
      </p:sp>
      <p:sp>
        <p:nvSpPr>
          <p:cNvPr id="45" name="タグ_あわせて"/>
          <p:cNvSpPr/>
          <p:nvPr/>
        </p:nvSpPr>
        <p:spPr>
          <a:xfrm>
            <a:off x="6483606" y="5356023"/>
            <a:ext cx="1057109" cy="295990"/>
          </a:xfrm>
          <a:prstGeom prst="roundRect">
            <a:avLst>
              <a:gd name="adj" fmla="val 50000"/>
            </a:avLst>
          </a:prstGeom>
          <a:solidFill>
            <a:srgbClr val="FDEB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タグ文字_あわせて"/>
          <p:cNvSpPr txBox="1"/>
          <p:nvPr/>
        </p:nvSpPr>
        <p:spPr>
          <a:xfrm>
            <a:off x="6483606" y="5356023"/>
            <a:ext cx="1057109" cy="295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あわせて</a:t>
            </a:r>
          </a:p>
        </p:txBody>
      </p:sp>
      <p:sp>
        <p:nvSpPr>
          <p:cNvPr id="47" name="戦略_あわせて"/>
          <p:cNvSpPr txBox="1"/>
          <p:nvPr/>
        </p:nvSpPr>
        <p:spPr>
          <a:xfrm>
            <a:off x="7681664" y="5341928"/>
            <a:ext cx="3876069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同業種を対象としたM&amp;Aで業績拡大を図る</a:t>
            </a:r>
          </a:p>
        </p:txBody>
      </p:sp>
      <p:sp>
        <p:nvSpPr>
          <p:cNvPr id="48" name="注記"/>
          <p:cNvSpPr txBox="1"/>
          <p:nvPr/>
        </p:nvSpPr>
        <p:spPr>
          <a:xfrm>
            <a:off x="451033" y="6300374"/>
            <a:ext cx="11275838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7" b="0">
                <a:solidFill>
                  <a:srgbClr val="7A8A87"/>
                </a:solidFill>
                <a:latin typeface="游ゴシック"/>
                <a:ea typeface="游ゴシック"/>
                <a:cs typeface="游ゴシック"/>
              </a:rPr>
              <a:t>※ 開始年は経営者ヒアリング、売上は企業説明会資料、成長戦略は2026年3月期 決算説明資料に基づきます（数値は要確認）。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